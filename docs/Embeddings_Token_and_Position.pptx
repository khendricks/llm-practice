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tokenizer turns text into token IDs. But an ID is only a label. This deck shows how a GPT model swaps each ID for a list of learned numbers, called an embedding, and adds information about where each token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becomes token IDs, and a data loader groups those IDs into batches. The very first thing the GPT model does with a batch is pass it through the embedding layer. Every later layer works with the vectors it produces, not with the raw IDs. It combines two things: what each token is, and where it sits in the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IDs are handed out by the tokenizer, like numbered name tags. Two IDs being close, like 10 and 11, does not mean the tokens are alike. Two IDs far apart can belong to tokens with related meanings. So the model needs something better than the raw ID to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 single ID, each token gets a list of numbers called its embedding. After training, tokens used in similar ways end up with similar lists, like cloud and rain here, while unrelated tokens like carrot look different. These numbers are made up for the example. No single number has a human-readable label; the pattern as a whole carries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embedding layer is really just a big table. It has one row for every token in the vocabulary, and each row holds embedding_dim numbers. To embed an ID, the layer goes to that row and copies it out. No math on the ID itself; the ID only says which row to read. For scale, GPT-2 small has 50,257 rows of 768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token table works on a whole batch at once. The input has shape batch size by sequence length: here 2 examples of 3 tokens. Each ID is replaced by its vector of embedding_dim numbers, here 4, so the output has shape 2 by 3 by 4. With 256 tokens per example and 768 numbers per vector, the output would be batch size by 256 by 768.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order changes meaning, but the token table cannot see order. "rain" always gets the same token vector, whether it is the first word or the last. So the model needs a second piece of information: where each token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position table works like the token table, but it is looked up by position number instead of token ID. The layer makes the position numbers itself by counting 0, 1, 2, up to the longest input the model allows (MAX_SEQUENCE_LENGTH). This is called absolute position: each slot number has its own learned vector, no matter which token is in that slot. Position vectors have the same length as token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vectors are added one number at a time: 0.7 plus 0.1 is 0.8, and so on. That only works because both have the same length, embedding_dim. If "rain" were at position 0, a different position vector would be added, so the result would differ. That is how later layers can tell the two apart. Numbers are made up for the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batch has 2 examples of 3 tokens, and each vector has 4 numbers, so the token embeddings have shape 2 by 3 by 4. There is only one set of position vectors, shape 3 by 4, because positions are the same for every example. PyTorch adds that one set to each example. The result keeps the shape 2 by 3 by 4, and that is what the rest of GPT receives.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both tables is learnable. The picture shows token vectors. At first they are random, so the vectors show no pattern. During training, each step adjusts them slightly to help the model predict the next token better. Over time, tokens used in similar ways drift toward similar vectors. The picture squeezes this into two dimensions; real embeddings have hundreds.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731520" y="914400"/>
            <a:ext cx="10698480" cy="1554480"/>
          </a:xfrm>
          <a:prstGeom prst="rect">
            <a:avLst/>
          </a:prstGeom>
          <a:noFill/>
          <a:ln/>
        </p:spPr>
        <p:txBody>
          <a:bodyPr wrap="square" lIns="0" tIns="0" rIns="0" bIns="0" rtlCol="0" anchor="b"/>
          <a:lstStyle/>
          <a:p>
            <a:pPr indent="0" marL="0">
              <a:buNone/>
            </a:pPr>
            <a:r>
              <a:rPr lang="en-US" sz="4400" b="1" dirty="0">
                <a:solidFill>
                  <a:srgbClr val="435466"/>
                </a:solidFill>
                <a:latin typeface="Inter" pitchFamily="34" charset="0"/>
                <a:ea typeface="Inter" pitchFamily="34" charset="-122"/>
                <a:cs typeface="Inter" pitchFamily="34" charset="-120"/>
              </a:rPr>
              <a:t>Embeddings: Giving Token IDs Meaning</a:t>
            </a:r>
            <a:endParaRPr lang="en-US" sz="4400" dirty="0"/>
          </a:p>
        </p:txBody>
      </p:sp>
      <p:sp>
        <p:nvSpPr>
          <p:cNvPr id="3" name="Text 1"/>
          <p:cNvSpPr txBox="1"/>
          <p:nvPr/>
        </p:nvSpPr>
        <p:spPr>
          <a:xfrm>
            <a:off x="731520" y="2606040"/>
            <a:ext cx="10698480" cy="548640"/>
          </a:xfrm>
          <a:prstGeom prst="rect">
            <a:avLst/>
          </a:prstGeom>
          <a:noFill/>
          <a:ln/>
        </p:spPr>
        <p:txBody>
          <a:bodyPr wrap="square" lIns="0" tIns="0" rIns="0" bIns="0" rtlCol="0" anchor="t"/>
          <a:lstStyle/>
          <a:p>
            <a:pPr indent="0" marL="0">
              <a:buNone/>
            </a:pPr>
            <a:r>
              <a:rPr lang="en-US" sz="2200" dirty="0">
                <a:solidFill>
                  <a:srgbClr val="66768A"/>
                </a:solidFill>
                <a:latin typeface="Inter" pitchFamily="34" charset="0"/>
                <a:ea typeface="Inter" pitchFamily="34" charset="-122"/>
                <a:cs typeface="Inter" pitchFamily="34" charset="-120"/>
              </a:rPr>
              <a:t>How a GPT model turns plain numbers into something it can learn from</a:t>
            </a:r>
            <a:endParaRPr lang="en-US" sz="2200" dirty="0"/>
          </a:p>
        </p:txBody>
      </p:sp>
      <p:sp>
        <p:nvSpPr>
          <p:cNvPr id="4" name="Text 2"/>
          <p:cNvSpPr txBox="1"/>
          <p:nvPr/>
        </p:nvSpPr>
        <p:spPr>
          <a:xfrm>
            <a:off x="731520" y="4160520"/>
            <a:ext cx="73152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1</a:t>
            </a:r>
            <a:endParaRPr lang="en-US" sz="2000" dirty="0"/>
          </a:p>
        </p:txBody>
      </p:sp>
      <p:sp>
        <p:nvSpPr>
          <p:cNvPr id="5" name="Text 3"/>
          <p:cNvSpPr txBox="1"/>
          <p:nvPr/>
        </p:nvSpPr>
        <p:spPr>
          <a:xfrm>
            <a:off x="1572768" y="4160520"/>
            <a:ext cx="73152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2</a:t>
            </a:r>
            <a:endParaRPr lang="en-US" sz="2000" dirty="0"/>
          </a:p>
        </p:txBody>
      </p:sp>
      <p:sp>
        <p:nvSpPr>
          <p:cNvPr id="6" name="Text 4"/>
          <p:cNvSpPr txBox="1"/>
          <p:nvPr/>
        </p:nvSpPr>
        <p:spPr>
          <a:xfrm>
            <a:off x="2414016" y="4160520"/>
            <a:ext cx="73152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dirty="0">
                <a:solidFill>
                  <a:srgbClr val="435466"/>
                </a:solidFill>
                <a:latin typeface="Inter" pitchFamily="34" charset="0"/>
                <a:ea typeface="Inter" pitchFamily="34" charset="-122"/>
                <a:cs typeface="Inter" pitchFamily="34" charset="-120"/>
              </a:rPr>
              <a:t>3</a:t>
            </a:r>
            <a:endParaRPr lang="en-US" sz="2000" dirty="0"/>
          </a:p>
        </p:txBody>
      </p:sp>
      <p:sp>
        <p:nvSpPr>
          <p:cNvPr id="7" name="Shape 5"/>
          <p:cNvSpPr/>
          <p:nvPr/>
        </p:nvSpPr>
        <p:spPr>
          <a:xfrm>
            <a:off x="3291840" y="4434840"/>
            <a:ext cx="731520" cy="0"/>
          </a:xfrm>
          <a:prstGeom prst="line">
            <a:avLst/>
          </a:prstGeom>
          <a:noFill/>
          <a:ln w="31750">
            <a:solidFill>
              <a:srgbClr val="A9C0D8"/>
            </a:solidFill>
            <a:prstDash val="solid"/>
            <a:tailEnd type="triangle"/>
          </a:ln>
        </p:spPr>
      </p:sp>
      <p:sp>
        <p:nvSpPr>
          <p:cNvPr id="8" name="Text 6"/>
          <p:cNvSpPr txBox="1"/>
          <p:nvPr/>
        </p:nvSpPr>
        <p:spPr>
          <a:xfrm>
            <a:off x="4160520" y="4023360"/>
            <a:ext cx="2651760" cy="822960"/>
          </a:xfrm>
          <a:prstGeom prst="roundRect">
            <a:avLst>
              <a:gd name="adj" fmla="val 11111"/>
            </a:avLst>
          </a:prstGeom>
          <a:solidFill>
            <a:srgbClr val="A9C0D8"/>
          </a:solidFill>
          <a:ln w="15875">
            <a:solidFill>
              <a:srgbClr val="A9C0D8"/>
            </a:solidFill>
          </a:ln>
        </p:spPr>
        <p:txBody>
          <a:bodyPr wrap="square" lIns="0" tIns="0" rIns="0" bIns="0" rtlCol="0" anchor="ctr"/>
          <a:lstStyle/>
          <a:p>
            <a:pPr algn="ctr" indent="0" marL="0">
              <a:buNone/>
            </a:pPr>
            <a:r>
              <a:rPr lang="en-US" sz="2000" b="1" dirty="0">
                <a:solidFill>
                  <a:srgbClr val="435466"/>
                </a:solidFill>
                <a:latin typeface="Inter" pitchFamily="34" charset="0"/>
                <a:ea typeface="Inter" pitchFamily="34" charset="-122"/>
                <a:cs typeface="Inter" pitchFamily="34" charset="-120"/>
              </a:rPr>
              <a:t>Embedding layer</a:t>
            </a:r>
            <a:endParaRPr lang="en-US" sz="2000" dirty="0"/>
          </a:p>
        </p:txBody>
      </p:sp>
      <p:sp>
        <p:nvSpPr>
          <p:cNvPr id="9" name="Shape 7"/>
          <p:cNvSpPr/>
          <p:nvPr/>
        </p:nvSpPr>
        <p:spPr>
          <a:xfrm>
            <a:off x="6949440" y="4434840"/>
            <a:ext cx="731520" cy="0"/>
          </a:xfrm>
          <a:prstGeom prst="line">
            <a:avLst/>
          </a:prstGeom>
          <a:noFill/>
          <a:ln w="31750">
            <a:solidFill>
              <a:srgbClr val="A9C0D8"/>
            </a:solidFill>
            <a:prstDash val="solid"/>
            <a:tailEnd type="triangle"/>
          </a:ln>
        </p:spPr>
      </p:sp>
      <p:sp>
        <p:nvSpPr>
          <p:cNvPr id="10" name="Shape 8"/>
          <p:cNvSpPr/>
          <p:nvPr/>
        </p:nvSpPr>
        <p:spPr>
          <a:xfrm>
            <a:off x="7863840" y="4005072"/>
            <a:ext cx="548640" cy="182880"/>
          </a:xfrm>
          <a:prstGeom prst="roundRect">
            <a:avLst>
              <a:gd name="adj" fmla="val 20000"/>
            </a:avLst>
          </a:prstGeom>
          <a:solidFill>
            <a:srgbClr val="E4ECE7"/>
          </a:solidFill>
          <a:ln w="12700">
            <a:solidFill>
              <a:srgbClr val="8FA99B"/>
            </a:solidFill>
            <a:prstDash val="solid"/>
          </a:ln>
        </p:spPr>
      </p:sp>
      <p:sp>
        <p:nvSpPr>
          <p:cNvPr id="11" name="Shape 9"/>
          <p:cNvSpPr/>
          <p:nvPr/>
        </p:nvSpPr>
        <p:spPr>
          <a:xfrm>
            <a:off x="7863840" y="4224528"/>
            <a:ext cx="548640" cy="182880"/>
          </a:xfrm>
          <a:prstGeom prst="roundRect">
            <a:avLst>
              <a:gd name="adj" fmla="val 20000"/>
            </a:avLst>
          </a:prstGeom>
          <a:solidFill>
            <a:srgbClr val="E4ECE7"/>
          </a:solidFill>
          <a:ln w="12700">
            <a:solidFill>
              <a:srgbClr val="8FA99B"/>
            </a:solidFill>
            <a:prstDash val="solid"/>
          </a:ln>
        </p:spPr>
      </p:sp>
      <p:sp>
        <p:nvSpPr>
          <p:cNvPr id="12" name="Shape 10"/>
          <p:cNvSpPr/>
          <p:nvPr/>
        </p:nvSpPr>
        <p:spPr>
          <a:xfrm>
            <a:off x="7863840" y="4443984"/>
            <a:ext cx="548640" cy="182880"/>
          </a:xfrm>
          <a:prstGeom prst="roundRect">
            <a:avLst>
              <a:gd name="adj" fmla="val 20000"/>
            </a:avLst>
          </a:prstGeom>
          <a:solidFill>
            <a:srgbClr val="E4ECE7"/>
          </a:solidFill>
          <a:ln w="12700">
            <a:solidFill>
              <a:srgbClr val="8FA99B"/>
            </a:solidFill>
            <a:prstDash val="solid"/>
          </a:ln>
        </p:spPr>
      </p:sp>
      <p:sp>
        <p:nvSpPr>
          <p:cNvPr id="13" name="Shape 11"/>
          <p:cNvSpPr/>
          <p:nvPr/>
        </p:nvSpPr>
        <p:spPr>
          <a:xfrm>
            <a:off x="7863840" y="4663440"/>
            <a:ext cx="548640" cy="182880"/>
          </a:xfrm>
          <a:prstGeom prst="roundRect">
            <a:avLst>
              <a:gd name="adj" fmla="val 20000"/>
            </a:avLst>
          </a:prstGeom>
          <a:solidFill>
            <a:srgbClr val="E4ECE7"/>
          </a:solidFill>
          <a:ln w="12700">
            <a:solidFill>
              <a:srgbClr val="8FA99B"/>
            </a:solidFill>
            <a:prstDash val="solid"/>
          </a:ln>
        </p:spPr>
      </p:sp>
      <p:sp>
        <p:nvSpPr>
          <p:cNvPr id="14" name="Shape 12"/>
          <p:cNvSpPr/>
          <p:nvPr/>
        </p:nvSpPr>
        <p:spPr>
          <a:xfrm>
            <a:off x="8732520" y="4005072"/>
            <a:ext cx="548640" cy="182880"/>
          </a:xfrm>
          <a:prstGeom prst="roundRect">
            <a:avLst>
              <a:gd name="adj" fmla="val 20000"/>
            </a:avLst>
          </a:prstGeom>
          <a:solidFill>
            <a:srgbClr val="E4ECE7"/>
          </a:solidFill>
          <a:ln w="12700">
            <a:solidFill>
              <a:srgbClr val="8FA99B"/>
            </a:solidFill>
            <a:prstDash val="solid"/>
          </a:ln>
        </p:spPr>
      </p:sp>
      <p:sp>
        <p:nvSpPr>
          <p:cNvPr id="15" name="Shape 13"/>
          <p:cNvSpPr/>
          <p:nvPr/>
        </p:nvSpPr>
        <p:spPr>
          <a:xfrm>
            <a:off x="8732520" y="4224528"/>
            <a:ext cx="548640" cy="182880"/>
          </a:xfrm>
          <a:prstGeom prst="roundRect">
            <a:avLst>
              <a:gd name="adj" fmla="val 20000"/>
            </a:avLst>
          </a:prstGeom>
          <a:solidFill>
            <a:srgbClr val="E4ECE7"/>
          </a:solidFill>
          <a:ln w="12700">
            <a:solidFill>
              <a:srgbClr val="8FA99B"/>
            </a:solidFill>
            <a:prstDash val="solid"/>
          </a:ln>
        </p:spPr>
      </p:sp>
      <p:sp>
        <p:nvSpPr>
          <p:cNvPr id="16" name="Shape 14"/>
          <p:cNvSpPr/>
          <p:nvPr/>
        </p:nvSpPr>
        <p:spPr>
          <a:xfrm>
            <a:off x="8732520" y="4443984"/>
            <a:ext cx="548640" cy="182880"/>
          </a:xfrm>
          <a:prstGeom prst="roundRect">
            <a:avLst>
              <a:gd name="adj" fmla="val 20000"/>
            </a:avLst>
          </a:prstGeom>
          <a:solidFill>
            <a:srgbClr val="E4ECE7"/>
          </a:solidFill>
          <a:ln w="12700">
            <a:solidFill>
              <a:srgbClr val="8FA99B"/>
            </a:solidFill>
            <a:prstDash val="solid"/>
          </a:ln>
        </p:spPr>
      </p:sp>
      <p:sp>
        <p:nvSpPr>
          <p:cNvPr id="17" name="Shape 15"/>
          <p:cNvSpPr/>
          <p:nvPr/>
        </p:nvSpPr>
        <p:spPr>
          <a:xfrm>
            <a:off x="8732520" y="4663440"/>
            <a:ext cx="548640" cy="182880"/>
          </a:xfrm>
          <a:prstGeom prst="roundRect">
            <a:avLst>
              <a:gd name="adj" fmla="val 20000"/>
            </a:avLst>
          </a:prstGeom>
          <a:solidFill>
            <a:srgbClr val="E4ECE7"/>
          </a:solidFill>
          <a:ln w="12700">
            <a:solidFill>
              <a:srgbClr val="8FA99B"/>
            </a:solidFill>
            <a:prstDash val="solid"/>
          </a:ln>
        </p:spPr>
      </p:sp>
      <p:sp>
        <p:nvSpPr>
          <p:cNvPr id="18" name="Shape 16"/>
          <p:cNvSpPr/>
          <p:nvPr/>
        </p:nvSpPr>
        <p:spPr>
          <a:xfrm>
            <a:off x="9601200" y="4005072"/>
            <a:ext cx="548640" cy="182880"/>
          </a:xfrm>
          <a:prstGeom prst="roundRect">
            <a:avLst>
              <a:gd name="adj" fmla="val 20000"/>
            </a:avLst>
          </a:prstGeom>
          <a:solidFill>
            <a:srgbClr val="E4ECE7"/>
          </a:solidFill>
          <a:ln w="12700">
            <a:solidFill>
              <a:srgbClr val="8FA99B"/>
            </a:solidFill>
            <a:prstDash val="solid"/>
          </a:ln>
        </p:spPr>
      </p:sp>
      <p:sp>
        <p:nvSpPr>
          <p:cNvPr id="19" name="Shape 17"/>
          <p:cNvSpPr/>
          <p:nvPr/>
        </p:nvSpPr>
        <p:spPr>
          <a:xfrm>
            <a:off x="9601200" y="4224528"/>
            <a:ext cx="548640" cy="182880"/>
          </a:xfrm>
          <a:prstGeom prst="roundRect">
            <a:avLst>
              <a:gd name="adj" fmla="val 20000"/>
            </a:avLst>
          </a:prstGeom>
          <a:solidFill>
            <a:srgbClr val="E4ECE7"/>
          </a:solidFill>
          <a:ln w="12700">
            <a:solidFill>
              <a:srgbClr val="8FA99B"/>
            </a:solidFill>
            <a:prstDash val="solid"/>
          </a:ln>
        </p:spPr>
      </p:sp>
      <p:sp>
        <p:nvSpPr>
          <p:cNvPr id="20" name="Shape 18"/>
          <p:cNvSpPr/>
          <p:nvPr/>
        </p:nvSpPr>
        <p:spPr>
          <a:xfrm>
            <a:off x="9601200" y="4443984"/>
            <a:ext cx="548640" cy="182880"/>
          </a:xfrm>
          <a:prstGeom prst="roundRect">
            <a:avLst>
              <a:gd name="adj" fmla="val 20000"/>
            </a:avLst>
          </a:prstGeom>
          <a:solidFill>
            <a:srgbClr val="E4ECE7"/>
          </a:solidFill>
          <a:ln w="12700">
            <a:solidFill>
              <a:srgbClr val="8FA99B"/>
            </a:solidFill>
            <a:prstDash val="solid"/>
          </a:ln>
        </p:spPr>
      </p:sp>
      <p:sp>
        <p:nvSpPr>
          <p:cNvPr id="21" name="Shape 19"/>
          <p:cNvSpPr/>
          <p:nvPr/>
        </p:nvSpPr>
        <p:spPr>
          <a:xfrm>
            <a:off x="9601200" y="4663440"/>
            <a:ext cx="548640" cy="182880"/>
          </a:xfrm>
          <a:prstGeom prst="roundRect">
            <a:avLst>
              <a:gd name="adj" fmla="val 20000"/>
            </a:avLst>
          </a:prstGeom>
          <a:solidFill>
            <a:srgbClr val="E4ECE7"/>
          </a:solidFill>
          <a:ln w="12700">
            <a:solidFill>
              <a:srgbClr val="8FA99B"/>
            </a:solidFill>
            <a:prstDash val="solid"/>
          </a:ln>
        </p:spPr>
      </p:sp>
      <p:sp>
        <p:nvSpPr>
          <p:cNvPr id="22" name="Text 20"/>
          <p:cNvSpPr txBox="1"/>
          <p:nvPr/>
        </p:nvSpPr>
        <p:spPr>
          <a:xfrm>
            <a:off x="731520" y="4983480"/>
            <a:ext cx="2414016"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token IDs</a:t>
            </a:r>
            <a:endParaRPr lang="en-US" sz="1300" dirty="0"/>
          </a:p>
        </p:txBody>
      </p:sp>
      <p:sp>
        <p:nvSpPr>
          <p:cNvPr id="23" name="Text 21"/>
          <p:cNvSpPr txBox="1"/>
          <p:nvPr/>
        </p:nvSpPr>
        <p:spPr>
          <a:xfrm>
            <a:off x="4160520" y="4983480"/>
            <a:ext cx="265176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looks up a vector</a:t>
            </a:r>
            <a:endParaRPr lang="en-US" sz="1300" dirty="0"/>
          </a:p>
        </p:txBody>
      </p:sp>
      <p:sp>
        <p:nvSpPr>
          <p:cNvPr id="24" name="Text 22"/>
          <p:cNvSpPr txBox="1"/>
          <p:nvPr/>
        </p:nvSpPr>
        <p:spPr>
          <a:xfrm>
            <a:off x="7863840" y="4983480"/>
            <a:ext cx="228600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one vector per ID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2</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Where embeddings fit</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Before a model can learn from text, the text goes through a few steps.</a:t>
            </a:r>
            <a:endParaRPr lang="en-US" sz="1600" dirty="0"/>
          </a:p>
        </p:txBody>
      </p:sp>
      <p:sp>
        <p:nvSpPr>
          <p:cNvPr id="5" name="Text 3"/>
          <p:cNvSpPr txBox="1"/>
          <p:nvPr/>
        </p:nvSpPr>
        <p:spPr>
          <a:xfrm>
            <a:off x="655168" y="2514600"/>
            <a:ext cx="1508760" cy="1005840"/>
          </a:xfrm>
          <a:prstGeom prst="roundRect">
            <a:avLst>
              <a:gd name="adj" fmla="val 13636"/>
            </a:avLst>
          </a:prstGeom>
          <a:solidFill>
            <a:srgbClr val="E4ECE7"/>
          </a:solidFill>
          <a:ln w="15875">
            <a:solidFill>
              <a:srgbClr val="8FA99B"/>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Text</a:t>
            </a:r>
            <a:endParaRPr lang="en-US" sz="1600" dirty="0"/>
          </a:p>
        </p:txBody>
      </p:sp>
      <p:sp>
        <p:nvSpPr>
          <p:cNvPr id="6" name="Text 4"/>
          <p:cNvSpPr txBox="1"/>
          <p:nvPr/>
        </p:nvSpPr>
        <p:spPr>
          <a:xfrm>
            <a:off x="56372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words</a:t>
            </a:r>
            <a:endParaRPr lang="en-US" sz="1400" dirty="0"/>
          </a:p>
        </p:txBody>
      </p:sp>
      <p:sp>
        <p:nvSpPr>
          <p:cNvPr id="7" name="Shape 5"/>
          <p:cNvSpPr/>
          <p:nvPr/>
        </p:nvSpPr>
        <p:spPr>
          <a:xfrm>
            <a:off x="2218792" y="3017520"/>
            <a:ext cx="256032" cy="0"/>
          </a:xfrm>
          <a:prstGeom prst="line">
            <a:avLst/>
          </a:prstGeom>
          <a:noFill/>
          <a:ln w="31750">
            <a:solidFill>
              <a:srgbClr val="A9C0D8"/>
            </a:solidFill>
            <a:prstDash val="solid"/>
            <a:tailEnd type="triangle"/>
          </a:ln>
        </p:spPr>
      </p:sp>
      <p:sp>
        <p:nvSpPr>
          <p:cNvPr id="8" name="Text 6"/>
          <p:cNvSpPr txBox="1"/>
          <p:nvPr/>
        </p:nvSpPr>
        <p:spPr>
          <a:xfrm>
            <a:off x="2529688" y="2514600"/>
            <a:ext cx="150876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Tokenizer</a:t>
            </a:r>
            <a:endParaRPr lang="en-US" sz="1600" dirty="0"/>
          </a:p>
        </p:txBody>
      </p:sp>
      <p:sp>
        <p:nvSpPr>
          <p:cNvPr id="9" name="Text 7"/>
          <p:cNvSpPr txBox="1"/>
          <p:nvPr/>
        </p:nvSpPr>
        <p:spPr>
          <a:xfrm>
            <a:off x="243824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turns text into numbers</a:t>
            </a:r>
            <a:endParaRPr lang="en-US" sz="1400" dirty="0"/>
          </a:p>
        </p:txBody>
      </p:sp>
      <p:sp>
        <p:nvSpPr>
          <p:cNvPr id="10" name="Shape 8"/>
          <p:cNvSpPr/>
          <p:nvPr/>
        </p:nvSpPr>
        <p:spPr>
          <a:xfrm>
            <a:off x="4093312" y="3017520"/>
            <a:ext cx="256032" cy="0"/>
          </a:xfrm>
          <a:prstGeom prst="line">
            <a:avLst/>
          </a:prstGeom>
          <a:noFill/>
          <a:ln w="31750">
            <a:solidFill>
              <a:srgbClr val="A9C0D8"/>
            </a:solidFill>
            <a:prstDash val="solid"/>
            <a:tailEnd type="triangle"/>
          </a:ln>
        </p:spPr>
      </p:sp>
      <p:sp>
        <p:nvSpPr>
          <p:cNvPr id="11" name="Text 9"/>
          <p:cNvSpPr txBox="1"/>
          <p:nvPr/>
        </p:nvSpPr>
        <p:spPr>
          <a:xfrm>
            <a:off x="4404208" y="2514600"/>
            <a:ext cx="1508760" cy="1005840"/>
          </a:xfrm>
          <a:prstGeom prst="roundRect">
            <a:avLst>
              <a:gd name="adj" fmla="val 13636"/>
            </a:avLst>
          </a:prstGeom>
          <a:solidFill>
            <a:srgbClr val="E8EFF7"/>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Token IDs</a:t>
            </a:r>
            <a:endParaRPr lang="en-US" sz="1600" dirty="0"/>
          </a:p>
        </p:txBody>
      </p:sp>
      <p:sp>
        <p:nvSpPr>
          <p:cNvPr id="12" name="Text 10"/>
          <p:cNvSpPr txBox="1"/>
          <p:nvPr/>
        </p:nvSpPr>
        <p:spPr>
          <a:xfrm>
            <a:off x="431276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whole numbers</a:t>
            </a:r>
            <a:endParaRPr lang="en-US" sz="1400" dirty="0"/>
          </a:p>
        </p:txBody>
      </p:sp>
      <p:sp>
        <p:nvSpPr>
          <p:cNvPr id="13" name="Shape 11"/>
          <p:cNvSpPr/>
          <p:nvPr/>
        </p:nvSpPr>
        <p:spPr>
          <a:xfrm>
            <a:off x="5967832" y="3017520"/>
            <a:ext cx="256032" cy="0"/>
          </a:xfrm>
          <a:prstGeom prst="line">
            <a:avLst/>
          </a:prstGeom>
          <a:noFill/>
          <a:ln w="31750">
            <a:solidFill>
              <a:srgbClr val="A9C0D8"/>
            </a:solidFill>
            <a:prstDash val="solid"/>
            <a:tailEnd type="triangle"/>
          </a:ln>
        </p:spPr>
      </p:sp>
      <p:sp>
        <p:nvSpPr>
          <p:cNvPr id="14" name="Text 12"/>
          <p:cNvSpPr txBox="1"/>
          <p:nvPr/>
        </p:nvSpPr>
        <p:spPr>
          <a:xfrm>
            <a:off x="6278728" y="2514600"/>
            <a:ext cx="150876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DataLoader</a:t>
            </a:r>
            <a:endParaRPr lang="en-US" sz="1600" dirty="0"/>
          </a:p>
        </p:txBody>
      </p:sp>
      <p:sp>
        <p:nvSpPr>
          <p:cNvPr id="15" name="Text 13"/>
          <p:cNvSpPr txBox="1"/>
          <p:nvPr/>
        </p:nvSpPr>
        <p:spPr>
          <a:xfrm>
            <a:off x="618728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groups IDs into batches</a:t>
            </a:r>
            <a:endParaRPr lang="en-US" sz="1400" dirty="0"/>
          </a:p>
        </p:txBody>
      </p:sp>
      <p:sp>
        <p:nvSpPr>
          <p:cNvPr id="16" name="Shape 14"/>
          <p:cNvSpPr/>
          <p:nvPr/>
        </p:nvSpPr>
        <p:spPr>
          <a:xfrm>
            <a:off x="7842352" y="3017520"/>
            <a:ext cx="256032" cy="0"/>
          </a:xfrm>
          <a:prstGeom prst="line">
            <a:avLst/>
          </a:prstGeom>
          <a:noFill/>
          <a:ln w="31750">
            <a:solidFill>
              <a:srgbClr val="A9C0D8"/>
            </a:solidFill>
            <a:prstDash val="solid"/>
            <a:tailEnd type="triangle"/>
          </a:ln>
        </p:spPr>
      </p:sp>
      <p:sp>
        <p:nvSpPr>
          <p:cNvPr id="17" name="Text 15"/>
          <p:cNvSpPr txBox="1"/>
          <p:nvPr/>
        </p:nvSpPr>
        <p:spPr>
          <a:xfrm>
            <a:off x="8153248" y="2514600"/>
            <a:ext cx="1508760" cy="1005840"/>
          </a:xfrm>
          <a:prstGeom prst="roundRect">
            <a:avLst>
              <a:gd name="adj" fmla="val 13636"/>
            </a:avLst>
          </a:prstGeom>
          <a:solidFill>
            <a:srgbClr val="A9C0D8"/>
          </a:solidFill>
          <a:ln w="15875">
            <a:solidFill>
              <a:srgbClr val="A9C0D8"/>
            </a:solidFill>
          </a:ln>
        </p:spPr>
        <p:txBody>
          <a:bodyPr wrap="square" lIns="762" tIns="762" rIns="762" bIns="762"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Embedding layer</a:t>
            </a:r>
            <a:endParaRPr lang="en-US" sz="1600" dirty="0"/>
          </a:p>
        </p:txBody>
      </p:sp>
      <p:sp>
        <p:nvSpPr>
          <p:cNvPr id="18" name="Text 16"/>
          <p:cNvSpPr txBox="1"/>
          <p:nvPr/>
        </p:nvSpPr>
        <p:spPr>
          <a:xfrm>
            <a:off x="806180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turns IDs into vectors</a:t>
            </a:r>
            <a:endParaRPr lang="en-US" sz="1400" dirty="0"/>
          </a:p>
        </p:txBody>
      </p:sp>
      <p:sp>
        <p:nvSpPr>
          <p:cNvPr id="19" name="Shape 17"/>
          <p:cNvSpPr/>
          <p:nvPr/>
        </p:nvSpPr>
        <p:spPr>
          <a:xfrm>
            <a:off x="9716872" y="3017520"/>
            <a:ext cx="256032" cy="0"/>
          </a:xfrm>
          <a:prstGeom prst="line">
            <a:avLst/>
          </a:prstGeom>
          <a:noFill/>
          <a:ln w="31750">
            <a:solidFill>
              <a:srgbClr val="A9C0D8"/>
            </a:solidFill>
            <a:prstDash val="solid"/>
            <a:tailEnd type="triangle"/>
          </a:ln>
        </p:spPr>
      </p:sp>
      <p:sp>
        <p:nvSpPr>
          <p:cNvPr id="20" name="Text 18"/>
          <p:cNvSpPr txBox="1"/>
          <p:nvPr/>
        </p:nvSpPr>
        <p:spPr>
          <a:xfrm>
            <a:off x="10027768" y="2514600"/>
            <a:ext cx="1508760" cy="1005840"/>
          </a:xfrm>
          <a:prstGeom prst="roundRect">
            <a:avLst>
              <a:gd name="adj" fmla="val 13636"/>
            </a:avLst>
          </a:prstGeom>
          <a:solidFill>
            <a:srgbClr val="435466"/>
          </a:solidFill>
          <a:ln w="15875">
            <a:solidFill>
              <a:srgbClr val="435466"/>
            </a:solidFill>
          </a:ln>
        </p:spPr>
        <p:txBody>
          <a:bodyPr wrap="square" lIns="762" tIns="762" rIns="762" bIns="762"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Rest of GPT</a:t>
            </a:r>
            <a:endParaRPr lang="en-US" sz="1600" dirty="0"/>
          </a:p>
        </p:txBody>
      </p:sp>
      <p:sp>
        <p:nvSpPr>
          <p:cNvPr id="21" name="Text 19"/>
          <p:cNvSpPr txBox="1"/>
          <p:nvPr/>
        </p:nvSpPr>
        <p:spPr>
          <a:xfrm>
            <a:off x="9936328" y="3657600"/>
            <a:ext cx="1691640" cy="548640"/>
          </a:xfrm>
          <a:prstGeom prst="rect">
            <a:avLst/>
          </a:prstGeom>
          <a:noFill/>
          <a:ln/>
        </p:spPr>
        <p:txBody>
          <a:bodyPr wrap="square" lIns="0" tIns="0" rIns="0" bIns="0" rtlCol="0" anchor="t"/>
          <a:lstStyle/>
          <a:p>
            <a:pPr algn="ctr" indent="0" marL="0">
              <a:buNone/>
            </a:pPr>
            <a:r>
              <a:rPr lang="en-US" sz="1400" dirty="0">
                <a:solidFill>
                  <a:srgbClr val="66768A"/>
                </a:solidFill>
                <a:latin typeface="Inter" pitchFamily="34" charset="0"/>
                <a:ea typeface="Inter" pitchFamily="34" charset="-122"/>
                <a:cs typeface="Inter" pitchFamily="34" charset="-120"/>
              </a:rPr>
              <a:t>learns patterns</a:t>
            </a:r>
            <a:endParaRPr lang="en-US" sz="1400" dirty="0"/>
          </a:p>
        </p:txBody>
      </p:sp>
      <p:sp>
        <p:nvSpPr>
          <p:cNvPr id="22" name="Text 20"/>
          <p:cNvSpPr txBox="1"/>
          <p:nvPr/>
        </p:nvSpPr>
        <p:spPr>
          <a:xfrm>
            <a:off x="7696048" y="2103120"/>
            <a:ext cx="2423160" cy="274320"/>
          </a:xfrm>
          <a:prstGeom prst="rect">
            <a:avLst/>
          </a:prstGeom>
          <a:noFill/>
          <a:ln/>
        </p:spPr>
        <p:txBody>
          <a:bodyPr wrap="square" lIns="0" tIns="0" rIns="0" bIns="0" rtlCol="0" anchor="t"/>
          <a:lstStyle/>
          <a:p>
            <a:pPr algn="ctr" indent="0" marL="0">
              <a:buNone/>
            </a:pPr>
            <a:r>
              <a:rPr lang="en-US" sz="1200" b="1" spc="200" kern="0" dirty="0">
                <a:solidFill>
                  <a:srgbClr val="66768A"/>
                </a:solidFill>
                <a:latin typeface="Inter" pitchFamily="34" charset="0"/>
                <a:ea typeface="Inter" pitchFamily="34" charset="-122"/>
                <a:cs typeface="Inter" pitchFamily="34" charset="-120"/>
              </a:rPr>
              <a:t>FOCUS OF THIS DECK</a:t>
            </a:r>
            <a:endParaRPr lang="en-US" sz="1200" dirty="0"/>
          </a:p>
        </p:txBody>
      </p:sp>
      <p:sp>
        <p:nvSpPr>
          <p:cNvPr id="23" name="Shape 21"/>
          <p:cNvSpPr/>
          <p:nvPr/>
        </p:nvSpPr>
        <p:spPr>
          <a:xfrm>
            <a:off x="655168" y="4754880"/>
            <a:ext cx="10881360" cy="960120"/>
          </a:xfrm>
          <a:prstGeom prst="roundRect">
            <a:avLst>
              <a:gd name="adj" fmla="val 14286"/>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24" name="Shape 22"/>
          <p:cNvSpPr/>
          <p:nvPr/>
        </p:nvSpPr>
        <p:spPr>
          <a:xfrm>
            <a:off x="929488" y="4960620"/>
            <a:ext cx="548640" cy="548640"/>
          </a:xfrm>
          <a:prstGeom prst="ellipse">
            <a:avLst/>
          </a:prstGeom>
          <a:solidFill>
            <a:srgbClr val="FFFFFF"/>
          </a:solidFill>
          <a:ln w="15875">
            <a:solidFill>
              <a:srgbClr val="8FA99B"/>
            </a:solidFill>
            <a:prstDash val="solid"/>
          </a:ln>
        </p:spPr>
      </p:sp>
      <p:pic>
        <p:nvPicPr>
          <p:cNvPr id="25" name="Image 0" descr="preencoded.png">    </p:cNvPr>
          <p:cNvPicPr>
            <a:picLocks noChangeAspect="1"/>
          </p:cNvPicPr>
          <p:nvPr/>
        </p:nvPicPr>
        <p:blipFill>
          <a:blip r:embed="rId1"/>
          <a:stretch>
            <a:fillRect/>
          </a:stretch>
        </p:blipFill>
        <p:spPr>
          <a:xfrm>
            <a:off x="1057504" y="5088636"/>
            <a:ext cx="292608" cy="292608"/>
          </a:xfrm>
          <a:prstGeom prst="rect">
            <a:avLst/>
          </a:prstGeom>
        </p:spPr>
      </p:pic>
      <p:sp>
        <p:nvSpPr>
          <p:cNvPr id="26" name="Text 23"/>
          <p:cNvSpPr txBox="1"/>
          <p:nvPr/>
        </p:nvSpPr>
        <p:spPr>
          <a:xfrm>
            <a:off x="1706728" y="4864608"/>
            <a:ext cx="9601200" cy="74066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The embedding layer is the first step inside the model.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3</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A token ID is just a label</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A token ID is a whole number that points to one token in the vocabulary. (Example IDs below.)</a:t>
            </a:r>
            <a:endParaRPr lang="en-US" sz="1600" dirty="0"/>
          </a:p>
        </p:txBody>
      </p:sp>
      <p:sp>
        <p:nvSpPr>
          <p:cNvPr id="5" name="Shape 3"/>
          <p:cNvSpPr/>
          <p:nvPr/>
        </p:nvSpPr>
        <p:spPr>
          <a:xfrm>
            <a:off x="640080" y="1691640"/>
            <a:ext cx="5257800" cy="3017520"/>
          </a:xfrm>
          <a:prstGeom prst="roundRect">
            <a:avLst>
              <a:gd name="adj" fmla="val 454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920240"/>
            <a:ext cx="461772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Close numbers</a:t>
            </a:r>
            <a:endParaRPr lang="en-US" sz="2000" dirty="0"/>
          </a:p>
        </p:txBody>
      </p:sp>
      <p:sp>
        <p:nvSpPr>
          <p:cNvPr id="7" name="Text 5"/>
          <p:cNvSpPr txBox="1"/>
          <p:nvPr/>
        </p:nvSpPr>
        <p:spPr>
          <a:xfrm>
            <a:off x="1783080" y="2560320"/>
            <a:ext cx="10972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b="1" dirty="0">
                <a:solidFill>
                  <a:srgbClr val="435466"/>
                </a:solidFill>
                <a:latin typeface="Inter" pitchFamily="34" charset="0"/>
                <a:ea typeface="Inter" pitchFamily="34" charset="-122"/>
                <a:cs typeface="Inter" pitchFamily="34" charset="-120"/>
              </a:rPr>
              <a:t>10</a:t>
            </a:r>
            <a:endParaRPr lang="en-US" sz="2000" dirty="0"/>
          </a:p>
        </p:txBody>
      </p:sp>
      <p:sp>
        <p:nvSpPr>
          <p:cNvPr id="8" name="Shape 6"/>
          <p:cNvSpPr/>
          <p:nvPr/>
        </p:nvSpPr>
        <p:spPr>
          <a:xfrm>
            <a:off x="2331720" y="3154680"/>
            <a:ext cx="0" cy="274320"/>
          </a:xfrm>
          <a:prstGeom prst="line">
            <a:avLst/>
          </a:prstGeom>
          <a:noFill/>
          <a:ln w="31750">
            <a:solidFill>
              <a:srgbClr val="A9C0D8"/>
            </a:solidFill>
            <a:prstDash val="solid"/>
            <a:tailEnd type="triangle"/>
          </a:ln>
        </p:spPr>
      </p:sp>
      <p:sp>
        <p:nvSpPr>
          <p:cNvPr id="9" name="Text 7"/>
          <p:cNvSpPr txBox="1"/>
          <p:nvPr/>
        </p:nvSpPr>
        <p:spPr>
          <a:xfrm>
            <a:off x="1600200" y="3474720"/>
            <a:ext cx="146304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"cloud"</a:t>
            </a:r>
            <a:endParaRPr lang="en-US" sz="1700" dirty="0"/>
          </a:p>
        </p:txBody>
      </p:sp>
      <p:sp>
        <p:nvSpPr>
          <p:cNvPr id="10" name="Text 8"/>
          <p:cNvSpPr txBox="1"/>
          <p:nvPr/>
        </p:nvSpPr>
        <p:spPr>
          <a:xfrm>
            <a:off x="3657600" y="2560320"/>
            <a:ext cx="10972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b="1" dirty="0">
                <a:solidFill>
                  <a:srgbClr val="435466"/>
                </a:solidFill>
                <a:latin typeface="Inter" pitchFamily="34" charset="0"/>
                <a:ea typeface="Inter" pitchFamily="34" charset="-122"/>
                <a:cs typeface="Inter" pitchFamily="34" charset="-120"/>
              </a:rPr>
              <a:t>11</a:t>
            </a:r>
            <a:endParaRPr lang="en-US" sz="2000" dirty="0"/>
          </a:p>
        </p:txBody>
      </p:sp>
      <p:sp>
        <p:nvSpPr>
          <p:cNvPr id="11" name="Shape 9"/>
          <p:cNvSpPr/>
          <p:nvPr/>
        </p:nvSpPr>
        <p:spPr>
          <a:xfrm>
            <a:off x="4206240" y="3154680"/>
            <a:ext cx="0" cy="274320"/>
          </a:xfrm>
          <a:prstGeom prst="line">
            <a:avLst/>
          </a:prstGeom>
          <a:noFill/>
          <a:ln w="31750">
            <a:solidFill>
              <a:srgbClr val="A9C0D8"/>
            </a:solidFill>
            <a:prstDash val="solid"/>
            <a:tailEnd type="triangle"/>
          </a:ln>
        </p:spPr>
      </p:sp>
      <p:sp>
        <p:nvSpPr>
          <p:cNvPr id="12" name="Text 10"/>
          <p:cNvSpPr txBox="1"/>
          <p:nvPr/>
        </p:nvSpPr>
        <p:spPr>
          <a:xfrm>
            <a:off x="3474720" y="3474720"/>
            <a:ext cx="146304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"carrot"</a:t>
            </a:r>
            <a:endParaRPr lang="en-US" sz="1700" dirty="0"/>
          </a:p>
        </p:txBody>
      </p:sp>
      <p:sp>
        <p:nvSpPr>
          <p:cNvPr id="13" name="Text 11"/>
          <p:cNvSpPr txBox="1"/>
          <p:nvPr/>
        </p:nvSpPr>
        <p:spPr>
          <a:xfrm>
            <a:off x="1828800" y="4160520"/>
            <a:ext cx="2880360" cy="411480"/>
          </a:xfrm>
          <a:prstGeom prst="roundRect">
            <a:avLst>
              <a:gd name="adj" fmla="val 22222"/>
            </a:avLst>
          </a:prstGeom>
          <a:solidFill>
            <a:srgbClr val="F4E4DE"/>
          </a:solidFill>
          <a:ln w="15875">
            <a:solidFill>
              <a:srgbClr val="C98F7D"/>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Not related in meaning</a:t>
            </a:r>
            <a:endParaRPr lang="en-US" sz="1500" dirty="0"/>
          </a:p>
        </p:txBody>
      </p:sp>
      <p:sp>
        <p:nvSpPr>
          <p:cNvPr id="14" name="Shape 12"/>
          <p:cNvSpPr/>
          <p:nvPr/>
        </p:nvSpPr>
        <p:spPr>
          <a:xfrm>
            <a:off x="6291072" y="1691640"/>
            <a:ext cx="5257800" cy="3017520"/>
          </a:xfrm>
          <a:prstGeom prst="roundRect">
            <a:avLst>
              <a:gd name="adj" fmla="val 454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5" name="Text 13"/>
          <p:cNvSpPr txBox="1"/>
          <p:nvPr/>
        </p:nvSpPr>
        <p:spPr>
          <a:xfrm>
            <a:off x="6611112" y="1920240"/>
            <a:ext cx="461772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Far-apart numbers</a:t>
            </a:r>
            <a:endParaRPr lang="en-US" sz="2000" dirty="0"/>
          </a:p>
        </p:txBody>
      </p:sp>
      <p:sp>
        <p:nvSpPr>
          <p:cNvPr id="16" name="Text 14"/>
          <p:cNvSpPr txBox="1"/>
          <p:nvPr/>
        </p:nvSpPr>
        <p:spPr>
          <a:xfrm>
            <a:off x="7434072" y="2560320"/>
            <a:ext cx="10972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b="1" dirty="0">
                <a:solidFill>
                  <a:srgbClr val="435466"/>
                </a:solidFill>
                <a:latin typeface="Inter" pitchFamily="34" charset="0"/>
                <a:ea typeface="Inter" pitchFamily="34" charset="-122"/>
                <a:cs typeface="Inter" pitchFamily="34" charset="-120"/>
              </a:rPr>
              <a:t>10</a:t>
            </a:r>
            <a:endParaRPr lang="en-US" sz="2000" dirty="0"/>
          </a:p>
        </p:txBody>
      </p:sp>
      <p:sp>
        <p:nvSpPr>
          <p:cNvPr id="17" name="Shape 15"/>
          <p:cNvSpPr/>
          <p:nvPr/>
        </p:nvSpPr>
        <p:spPr>
          <a:xfrm>
            <a:off x="7982712" y="3154680"/>
            <a:ext cx="0" cy="274320"/>
          </a:xfrm>
          <a:prstGeom prst="line">
            <a:avLst/>
          </a:prstGeom>
          <a:noFill/>
          <a:ln w="31750">
            <a:solidFill>
              <a:srgbClr val="A9C0D8"/>
            </a:solidFill>
            <a:prstDash val="solid"/>
            <a:tailEnd type="triangle"/>
          </a:ln>
        </p:spPr>
      </p:sp>
      <p:sp>
        <p:nvSpPr>
          <p:cNvPr id="18" name="Text 16"/>
          <p:cNvSpPr txBox="1"/>
          <p:nvPr/>
        </p:nvSpPr>
        <p:spPr>
          <a:xfrm>
            <a:off x="7251192" y="3474720"/>
            <a:ext cx="146304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"cloud"</a:t>
            </a:r>
            <a:endParaRPr lang="en-US" sz="1700" dirty="0"/>
          </a:p>
        </p:txBody>
      </p:sp>
      <p:sp>
        <p:nvSpPr>
          <p:cNvPr id="19" name="Text 17"/>
          <p:cNvSpPr txBox="1"/>
          <p:nvPr/>
        </p:nvSpPr>
        <p:spPr>
          <a:xfrm>
            <a:off x="9308592" y="2560320"/>
            <a:ext cx="10972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000" b="1" dirty="0">
                <a:solidFill>
                  <a:srgbClr val="435466"/>
                </a:solidFill>
                <a:latin typeface="Inter" pitchFamily="34" charset="0"/>
                <a:ea typeface="Inter" pitchFamily="34" charset="-122"/>
                <a:cs typeface="Inter" pitchFamily="34" charset="-120"/>
              </a:rPr>
              <a:t>500</a:t>
            </a:r>
            <a:endParaRPr lang="en-US" sz="2000" dirty="0"/>
          </a:p>
        </p:txBody>
      </p:sp>
      <p:sp>
        <p:nvSpPr>
          <p:cNvPr id="20" name="Shape 18"/>
          <p:cNvSpPr/>
          <p:nvPr/>
        </p:nvSpPr>
        <p:spPr>
          <a:xfrm>
            <a:off x="9857232" y="3154680"/>
            <a:ext cx="0" cy="274320"/>
          </a:xfrm>
          <a:prstGeom prst="line">
            <a:avLst/>
          </a:prstGeom>
          <a:noFill/>
          <a:ln w="31750">
            <a:solidFill>
              <a:srgbClr val="A9C0D8"/>
            </a:solidFill>
            <a:prstDash val="solid"/>
            <a:tailEnd type="triangle"/>
          </a:ln>
        </p:spPr>
      </p:sp>
      <p:sp>
        <p:nvSpPr>
          <p:cNvPr id="21" name="Text 19"/>
          <p:cNvSpPr txBox="1"/>
          <p:nvPr/>
        </p:nvSpPr>
        <p:spPr>
          <a:xfrm>
            <a:off x="9125712" y="3474720"/>
            <a:ext cx="146304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"rain"</a:t>
            </a:r>
            <a:endParaRPr lang="en-US" sz="1700" dirty="0"/>
          </a:p>
        </p:txBody>
      </p:sp>
      <p:sp>
        <p:nvSpPr>
          <p:cNvPr id="22" name="Text 20"/>
          <p:cNvSpPr txBox="1"/>
          <p:nvPr/>
        </p:nvSpPr>
        <p:spPr>
          <a:xfrm>
            <a:off x="7479792" y="4160520"/>
            <a:ext cx="2880360" cy="411480"/>
          </a:xfrm>
          <a:prstGeom prst="roundRect">
            <a:avLst>
              <a:gd name="adj" fmla="val 22222"/>
            </a:avLst>
          </a:prstGeom>
          <a:solidFill>
            <a:srgbClr val="E4ECE7"/>
          </a:solidFill>
          <a:ln w="15875">
            <a:solidFill>
              <a:srgbClr val="8FA99B"/>
            </a:solidFill>
          </a:ln>
        </p:spPr>
        <p:txBody>
          <a:bodyPr wrap="square" lIns="0" tIns="0" rIns="0" bIns="0" rtlCol="0" anchor="ctr"/>
          <a:lstStyle/>
          <a:p>
            <a:pPr algn="ctr" indent="0" marL="0">
              <a:buNone/>
            </a:pPr>
            <a:r>
              <a:rPr lang="en-US" sz="1500" b="1" dirty="0">
                <a:solidFill>
                  <a:srgbClr val="435466"/>
                </a:solidFill>
                <a:latin typeface="Inter" pitchFamily="34" charset="0"/>
                <a:ea typeface="Inter" pitchFamily="34" charset="-122"/>
                <a:cs typeface="Inter" pitchFamily="34" charset="-120"/>
              </a:rPr>
              <a:t>Related in meaning</a:t>
            </a:r>
            <a:endParaRPr lang="en-US" sz="1500" dirty="0"/>
          </a:p>
        </p:txBody>
      </p:sp>
      <p:sp>
        <p:nvSpPr>
          <p:cNvPr id="23" name="Shape 21"/>
          <p:cNvSpPr/>
          <p:nvPr/>
        </p:nvSpPr>
        <p:spPr>
          <a:xfrm>
            <a:off x="640080" y="4983480"/>
            <a:ext cx="10908792" cy="914400"/>
          </a:xfrm>
          <a:prstGeom prst="roundRect">
            <a:avLst>
              <a:gd name="adj" fmla="val 15000"/>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24" name="Shape 22"/>
          <p:cNvSpPr/>
          <p:nvPr/>
        </p:nvSpPr>
        <p:spPr>
          <a:xfrm>
            <a:off x="914400" y="5166360"/>
            <a:ext cx="548640" cy="548640"/>
          </a:xfrm>
          <a:prstGeom prst="ellipse">
            <a:avLst/>
          </a:prstGeom>
          <a:solidFill>
            <a:srgbClr val="FFFFFF"/>
          </a:solidFill>
          <a:ln w="15875">
            <a:solidFill>
              <a:srgbClr val="8FA99B"/>
            </a:solidFill>
            <a:prstDash val="solid"/>
          </a:ln>
        </p:spPr>
      </p:sp>
      <p:pic>
        <p:nvPicPr>
          <p:cNvPr id="25" name="Image 0" descr="preencoded.png">    </p:cNvPr>
          <p:cNvPicPr>
            <a:picLocks noChangeAspect="1"/>
          </p:cNvPicPr>
          <p:nvPr/>
        </p:nvPicPr>
        <p:blipFill>
          <a:blip r:embed="rId1"/>
          <a:stretch>
            <a:fillRect/>
          </a:stretch>
        </p:blipFill>
        <p:spPr>
          <a:xfrm>
            <a:off x="1042416" y="5294376"/>
            <a:ext cx="292608" cy="292608"/>
          </a:xfrm>
          <a:prstGeom prst="rect">
            <a:avLst/>
          </a:prstGeom>
        </p:spPr>
      </p:pic>
      <p:sp>
        <p:nvSpPr>
          <p:cNvPr id="26" name="Text 23"/>
          <p:cNvSpPr txBox="1"/>
          <p:nvPr/>
        </p:nvSpPr>
        <p:spPr>
          <a:xfrm>
            <a:off x="1691640" y="5093208"/>
            <a:ext cx="9628632" cy="69494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An ID is a name tag. The number says nothing about meaning.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4</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Embeddings: a list of numbers per token</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A vector is a list of numbers. An embedding is the vector the model keeps for one token.</a:t>
            </a:r>
            <a:endParaRPr lang="en-US" sz="1600" dirty="0"/>
          </a:p>
        </p:txBody>
      </p:sp>
      <p:sp>
        <p:nvSpPr>
          <p:cNvPr id="5" name="Shape 3"/>
          <p:cNvSpPr/>
          <p:nvPr/>
        </p:nvSpPr>
        <p:spPr>
          <a:xfrm>
            <a:off x="640080" y="1691640"/>
            <a:ext cx="10908792" cy="3063240"/>
          </a:xfrm>
          <a:prstGeom prst="roundRect">
            <a:avLst>
              <a:gd name="adj" fmla="val 4478"/>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1051560" y="1874520"/>
            <a:ext cx="146304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token</a:t>
            </a:r>
            <a:endParaRPr lang="en-US" sz="1300" dirty="0"/>
          </a:p>
        </p:txBody>
      </p:sp>
      <p:sp>
        <p:nvSpPr>
          <p:cNvPr id="7" name="Text 5"/>
          <p:cNvSpPr txBox="1"/>
          <p:nvPr/>
        </p:nvSpPr>
        <p:spPr>
          <a:xfrm>
            <a:off x="2697480" y="1874520"/>
            <a:ext cx="82296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ID</a:t>
            </a:r>
            <a:endParaRPr lang="en-US" sz="1300" dirty="0"/>
          </a:p>
        </p:txBody>
      </p:sp>
      <p:sp>
        <p:nvSpPr>
          <p:cNvPr id="8" name="Text 6"/>
          <p:cNvSpPr txBox="1"/>
          <p:nvPr/>
        </p:nvSpPr>
        <p:spPr>
          <a:xfrm>
            <a:off x="4617720" y="1874520"/>
            <a:ext cx="448056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embedding (vector)</a:t>
            </a:r>
            <a:endParaRPr lang="en-US" sz="1300" dirty="0"/>
          </a:p>
        </p:txBody>
      </p:sp>
      <p:sp>
        <p:nvSpPr>
          <p:cNvPr id="9" name="Text 7"/>
          <p:cNvSpPr txBox="1"/>
          <p:nvPr/>
        </p:nvSpPr>
        <p:spPr>
          <a:xfrm>
            <a:off x="1051560" y="2240280"/>
            <a:ext cx="146304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"cloud"</a:t>
            </a:r>
            <a:endParaRPr lang="en-US" sz="1700" dirty="0"/>
          </a:p>
        </p:txBody>
      </p:sp>
      <p:sp>
        <p:nvSpPr>
          <p:cNvPr id="10" name="Text 8"/>
          <p:cNvSpPr txBox="1"/>
          <p:nvPr/>
        </p:nvSpPr>
        <p:spPr>
          <a:xfrm>
            <a:off x="2697480" y="2240280"/>
            <a:ext cx="82296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10</a:t>
            </a:r>
            <a:endParaRPr lang="en-US" sz="1700" dirty="0"/>
          </a:p>
        </p:txBody>
      </p:sp>
      <p:sp>
        <p:nvSpPr>
          <p:cNvPr id="11" name="Shape 9"/>
          <p:cNvSpPr/>
          <p:nvPr/>
        </p:nvSpPr>
        <p:spPr>
          <a:xfrm>
            <a:off x="3657600" y="2491740"/>
            <a:ext cx="822960" cy="0"/>
          </a:xfrm>
          <a:prstGeom prst="line">
            <a:avLst/>
          </a:prstGeom>
          <a:noFill/>
          <a:ln w="31750">
            <a:solidFill>
              <a:srgbClr val="A9C0D8"/>
            </a:solidFill>
            <a:prstDash val="solid"/>
            <a:tailEnd type="triangle"/>
          </a:ln>
        </p:spPr>
      </p:sp>
      <p:sp>
        <p:nvSpPr>
          <p:cNvPr id="12" name="Text 10"/>
          <p:cNvSpPr txBox="1"/>
          <p:nvPr/>
        </p:nvSpPr>
        <p:spPr>
          <a:xfrm>
            <a:off x="4617720" y="22402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0.8</a:t>
            </a:r>
            <a:endParaRPr lang="en-US" sz="1600" dirty="0"/>
          </a:p>
        </p:txBody>
      </p:sp>
      <p:sp>
        <p:nvSpPr>
          <p:cNvPr id="13" name="Text 11"/>
          <p:cNvSpPr txBox="1"/>
          <p:nvPr/>
        </p:nvSpPr>
        <p:spPr>
          <a:xfrm>
            <a:off x="5532120" y="22402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0.1</a:t>
            </a:r>
            <a:endParaRPr lang="en-US" sz="1600" dirty="0"/>
          </a:p>
        </p:txBody>
      </p:sp>
      <p:sp>
        <p:nvSpPr>
          <p:cNvPr id="14" name="Text 12"/>
          <p:cNvSpPr txBox="1"/>
          <p:nvPr/>
        </p:nvSpPr>
        <p:spPr>
          <a:xfrm>
            <a:off x="6446520" y="22402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-0.6</a:t>
            </a:r>
            <a:endParaRPr lang="en-US" sz="1600" dirty="0"/>
          </a:p>
        </p:txBody>
      </p:sp>
      <p:sp>
        <p:nvSpPr>
          <p:cNvPr id="15" name="Text 13"/>
          <p:cNvSpPr txBox="1"/>
          <p:nvPr/>
        </p:nvSpPr>
        <p:spPr>
          <a:xfrm>
            <a:off x="7360920" y="22402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0.5</a:t>
            </a:r>
            <a:endParaRPr lang="en-US" sz="1600" dirty="0"/>
          </a:p>
        </p:txBody>
      </p:sp>
      <p:sp>
        <p:nvSpPr>
          <p:cNvPr id="16" name="Text 14"/>
          <p:cNvSpPr txBox="1"/>
          <p:nvPr/>
        </p:nvSpPr>
        <p:spPr>
          <a:xfrm>
            <a:off x="8275320" y="22402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0.3</a:t>
            </a:r>
            <a:endParaRPr lang="en-US" sz="1600" dirty="0"/>
          </a:p>
        </p:txBody>
      </p:sp>
      <p:sp>
        <p:nvSpPr>
          <p:cNvPr id="17" name="Text 15"/>
          <p:cNvSpPr txBox="1"/>
          <p:nvPr/>
        </p:nvSpPr>
        <p:spPr>
          <a:xfrm>
            <a:off x="1051560" y="2926080"/>
            <a:ext cx="146304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"rain"</a:t>
            </a:r>
            <a:endParaRPr lang="en-US" sz="1700" dirty="0"/>
          </a:p>
        </p:txBody>
      </p:sp>
      <p:sp>
        <p:nvSpPr>
          <p:cNvPr id="18" name="Text 16"/>
          <p:cNvSpPr txBox="1"/>
          <p:nvPr/>
        </p:nvSpPr>
        <p:spPr>
          <a:xfrm>
            <a:off x="2697480" y="2926080"/>
            <a:ext cx="82296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500</a:t>
            </a:r>
            <a:endParaRPr lang="en-US" sz="1700" dirty="0"/>
          </a:p>
        </p:txBody>
      </p:sp>
      <p:sp>
        <p:nvSpPr>
          <p:cNvPr id="19" name="Shape 17"/>
          <p:cNvSpPr/>
          <p:nvPr/>
        </p:nvSpPr>
        <p:spPr>
          <a:xfrm>
            <a:off x="3657600" y="3177540"/>
            <a:ext cx="822960" cy="0"/>
          </a:xfrm>
          <a:prstGeom prst="line">
            <a:avLst/>
          </a:prstGeom>
          <a:noFill/>
          <a:ln w="31750">
            <a:solidFill>
              <a:srgbClr val="A9C0D8"/>
            </a:solidFill>
            <a:prstDash val="solid"/>
            <a:tailEnd type="triangle"/>
          </a:ln>
        </p:spPr>
      </p:sp>
      <p:sp>
        <p:nvSpPr>
          <p:cNvPr id="20" name="Text 18"/>
          <p:cNvSpPr txBox="1"/>
          <p:nvPr/>
        </p:nvSpPr>
        <p:spPr>
          <a:xfrm>
            <a:off x="4617720" y="29260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0.7</a:t>
            </a:r>
            <a:endParaRPr lang="en-US" sz="1600" dirty="0"/>
          </a:p>
        </p:txBody>
      </p:sp>
      <p:sp>
        <p:nvSpPr>
          <p:cNvPr id="21" name="Text 19"/>
          <p:cNvSpPr txBox="1"/>
          <p:nvPr/>
        </p:nvSpPr>
        <p:spPr>
          <a:xfrm>
            <a:off x="5532120" y="29260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0.2</a:t>
            </a:r>
            <a:endParaRPr lang="en-US" sz="1600" dirty="0"/>
          </a:p>
        </p:txBody>
      </p:sp>
      <p:sp>
        <p:nvSpPr>
          <p:cNvPr id="22" name="Text 20"/>
          <p:cNvSpPr txBox="1"/>
          <p:nvPr/>
        </p:nvSpPr>
        <p:spPr>
          <a:xfrm>
            <a:off x="6446520" y="29260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-0.5</a:t>
            </a:r>
            <a:endParaRPr lang="en-US" sz="1600" dirty="0"/>
          </a:p>
        </p:txBody>
      </p:sp>
      <p:sp>
        <p:nvSpPr>
          <p:cNvPr id="23" name="Text 21"/>
          <p:cNvSpPr txBox="1"/>
          <p:nvPr/>
        </p:nvSpPr>
        <p:spPr>
          <a:xfrm>
            <a:off x="7360920" y="29260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0.6</a:t>
            </a:r>
            <a:endParaRPr lang="en-US" sz="1600" dirty="0"/>
          </a:p>
        </p:txBody>
      </p:sp>
      <p:sp>
        <p:nvSpPr>
          <p:cNvPr id="24" name="Text 22"/>
          <p:cNvSpPr txBox="1"/>
          <p:nvPr/>
        </p:nvSpPr>
        <p:spPr>
          <a:xfrm>
            <a:off x="8275320" y="29260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0.2</a:t>
            </a:r>
            <a:endParaRPr lang="en-US" sz="1600" dirty="0"/>
          </a:p>
        </p:txBody>
      </p:sp>
      <p:sp>
        <p:nvSpPr>
          <p:cNvPr id="25" name="Text 23"/>
          <p:cNvSpPr txBox="1"/>
          <p:nvPr/>
        </p:nvSpPr>
        <p:spPr>
          <a:xfrm>
            <a:off x="1051560" y="3611880"/>
            <a:ext cx="146304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"carrot"</a:t>
            </a:r>
            <a:endParaRPr lang="en-US" sz="1700" dirty="0"/>
          </a:p>
        </p:txBody>
      </p:sp>
      <p:sp>
        <p:nvSpPr>
          <p:cNvPr id="26" name="Text 24"/>
          <p:cNvSpPr txBox="1"/>
          <p:nvPr/>
        </p:nvSpPr>
        <p:spPr>
          <a:xfrm>
            <a:off x="2697480" y="3611880"/>
            <a:ext cx="82296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11</a:t>
            </a:r>
            <a:endParaRPr lang="en-US" sz="1700" dirty="0"/>
          </a:p>
        </p:txBody>
      </p:sp>
      <p:sp>
        <p:nvSpPr>
          <p:cNvPr id="27" name="Shape 25"/>
          <p:cNvSpPr/>
          <p:nvPr/>
        </p:nvSpPr>
        <p:spPr>
          <a:xfrm>
            <a:off x="3657600" y="3863340"/>
            <a:ext cx="822960" cy="0"/>
          </a:xfrm>
          <a:prstGeom prst="line">
            <a:avLst/>
          </a:prstGeom>
          <a:noFill/>
          <a:ln w="31750">
            <a:solidFill>
              <a:srgbClr val="A9C0D8"/>
            </a:solidFill>
            <a:prstDash val="solid"/>
            <a:tailEnd type="triangle"/>
          </a:ln>
        </p:spPr>
      </p:sp>
      <p:sp>
        <p:nvSpPr>
          <p:cNvPr id="28" name="Text 26"/>
          <p:cNvSpPr txBox="1"/>
          <p:nvPr/>
        </p:nvSpPr>
        <p:spPr>
          <a:xfrm>
            <a:off x="4617720" y="36118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-0.4</a:t>
            </a:r>
            <a:endParaRPr lang="en-US" sz="1600" dirty="0"/>
          </a:p>
        </p:txBody>
      </p:sp>
      <p:sp>
        <p:nvSpPr>
          <p:cNvPr id="29" name="Text 27"/>
          <p:cNvSpPr txBox="1"/>
          <p:nvPr/>
        </p:nvSpPr>
        <p:spPr>
          <a:xfrm>
            <a:off x="5532120" y="36118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0.9</a:t>
            </a:r>
            <a:endParaRPr lang="en-US" sz="1600" dirty="0"/>
          </a:p>
        </p:txBody>
      </p:sp>
      <p:sp>
        <p:nvSpPr>
          <p:cNvPr id="30" name="Text 28"/>
          <p:cNvSpPr txBox="1"/>
          <p:nvPr/>
        </p:nvSpPr>
        <p:spPr>
          <a:xfrm>
            <a:off x="6446520" y="36118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0.3</a:t>
            </a:r>
            <a:endParaRPr lang="en-US" sz="1600" dirty="0"/>
          </a:p>
        </p:txBody>
      </p:sp>
      <p:sp>
        <p:nvSpPr>
          <p:cNvPr id="31" name="Text 29"/>
          <p:cNvSpPr txBox="1"/>
          <p:nvPr/>
        </p:nvSpPr>
        <p:spPr>
          <a:xfrm>
            <a:off x="7360920" y="36118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-0.7</a:t>
            </a:r>
            <a:endParaRPr lang="en-US" sz="1600" dirty="0"/>
          </a:p>
        </p:txBody>
      </p:sp>
      <p:sp>
        <p:nvSpPr>
          <p:cNvPr id="32" name="Text 30"/>
          <p:cNvSpPr txBox="1"/>
          <p:nvPr/>
        </p:nvSpPr>
        <p:spPr>
          <a:xfrm>
            <a:off x="8275320" y="3611880"/>
            <a:ext cx="8229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600" dirty="0">
                <a:solidFill>
                  <a:srgbClr val="435466"/>
                </a:solidFill>
                <a:latin typeface="Inter" pitchFamily="34" charset="0"/>
                <a:ea typeface="Inter" pitchFamily="34" charset="-122"/>
                <a:cs typeface="Inter" pitchFamily="34" charset="-120"/>
              </a:rPr>
              <a:t>0.8</a:t>
            </a:r>
            <a:endParaRPr lang="en-US" sz="1600" dirty="0"/>
          </a:p>
        </p:txBody>
      </p:sp>
      <p:sp>
        <p:nvSpPr>
          <p:cNvPr id="33" name="Text 31"/>
          <p:cNvSpPr txBox="1"/>
          <p:nvPr/>
        </p:nvSpPr>
        <p:spPr>
          <a:xfrm>
            <a:off x="9555480" y="2240280"/>
            <a:ext cx="1463040" cy="1188720"/>
          </a:xfrm>
          <a:prstGeom prst="roundRect">
            <a:avLst>
              <a:gd name="adj" fmla="val 7692"/>
            </a:avLst>
          </a:prstGeom>
          <a:solidFill>
            <a:srgbClr val="E4ECE7"/>
          </a:solidFill>
          <a:ln w="15875">
            <a:solidFill>
              <a:srgbClr val="8FA99B"/>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similar</a:t>
            </a:r>
            <a:endParaRPr lang="en-US" sz="1600" dirty="0"/>
          </a:p>
        </p:txBody>
      </p:sp>
      <p:sp>
        <p:nvSpPr>
          <p:cNvPr id="34" name="Text 32"/>
          <p:cNvSpPr txBox="1"/>
          <p:nvPr/>
        </p:nvSpPr>
        <p:spPr>
          <a:xfrm>
            <a:off x="9555480" y="3611880"/>
            <a:ext cx="1463040" cy="502920"/>
          </a:xfrm>
          <a:prstGeom prst="roundRect">
            <a:avLst>
              <a:gd name="adj" fmla="val 18182"/>
            </a:avLst>
          </a:prstGeom>
          <a:solidFill>
            <a:srgbClr val="F4E4DE"/>
          </a:solidFill>
          <a:ln w="15875">
            <a:solidFill>
              <a:srgbClr val="C98F7D"/>
            </a:solidFill>
          </a:ln>
        </p:spPr>
        <p:txBody>
          <a:bodyPr wrap="square" lIns="0" tIns="0" rIns="0" bIns="0" rtlCol="0" anchor="ctr"/>
          <a:lstStyle/>
          <a:p>
            <a:pPr algn="ctr" indent="0" marL="0">
              <a:buNone/>
            </a:pPr>
            <a:r>
              <a:rPr lang="en-US" sz="1600" b="1" dirty="0">
                <a:solidFill>
                  <a:srgbClr val="435466"/>
                </a:solidFill>
                <a:latin typeface="Inter" pitchFamily="34" charset="0"/>
                <a:ea typeface="Inter" pitchFamily="34" charset="-122"/>
                <a:cs typeface="Inter" pitchFamily="34" charset="-120"/>
              </a:rPr>
              <a:t>different</a:t>
            </a:r>
            <a:endParaRPr lang="en-US" sz="1600" dirty="0"/>
          </a:p>
        </p:txBody>
      </p:sp>
      <p:sp>
        <p:nvSpPr>
          <p:cNvPr id="35" name="Text 33"/>
          <p:cNvSpPr txBox="1"/>
          <p:nvPr/>
        </p:nvSpPr>
        <p:spPr>
          <a:xfrm>
            <a:off x="1051560" y="4297680"/>
            <a:ext cx="10085832" cy="320040"/>
          </a:xfrm>
          <a:prstGeom prst="rect">
            <a:avLst/>
          </a:prstGeom>
          <a:noFill/>
          <a:ln/>
        </p:spPr>
        <p:txBody>
          <a:bodyPr wrap="square" lIns="0" tIns="0" rIns="0" bIns="0" rtlCol="0" anchor="t"/>
          <a:lstStyle/>
          <a:p>
            <a:pPr indent="0" marL="0">
              <a:buNone/>
            </a:pPr>
            <a:r>
              <a:rPr lang="en-US" sz="1400" dirty="0">
                <a:solidFill>
                  <a:srgbClr val="66768A"/>
                </a:solidFill>
                <a:latin typeface="Inter" pitchFamily="34" charset="0"/>
                <a:ea typeface="Inter" pitchFamily="34" charset="-122"/>
                <a:cs typeface="Inter" pitchFamily="34" charset="-120"/>
              </a:rPr>
              <a:t>Example numbers. Real embeddings have hundreds of numbers per token.</a:t>
            </a:r>
            <a:endParaRPr lang="en-US" sz="1400" dirty="0"/>
          </a:p>
        </p:txBody>
      </p:sp>
      <p:sp>
        <p:nvSpPr>
          <p:cNvPr id="36" name="Shape 34"/>
          <p:cNvSpPr/>
          <p:nvPr/>
        </p:nvSpPr>
        <p:spPr>
          <a:xfrm>
            <a:off x="640080" y="4983480"/>
            <a:ext cx="10908792" cy="914400"/>
          </a:xfrm>
          <a:prstGeom prst="roundRect">
            <a:avLst>
              <a:gd name="adj" fmla="val 15000"/>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37" name="Shape 35"/>
          <p:cNvSpPr/>
          <p:nvPr/>
        </p:nvSpPr>
        <p:spPr>
          <a:xfrm>
            <a:off x="914400" y="5166360"/>
            <a:ext cx="548640" cy="548640"/>
          </a:xfrm>
          <a:prstGeom prst="ellipse">
            <a:avLst/>
          </a:prstGeom>
          <a:solidFill>
            <a:srgbClr val="FFFFFF"/>
          </a:solidFill>
          <a:ln w="15875">
            <a:solidFill>
              <a:srgbClr val="8FA99B"/>
            </a:solidFill>
            <a:prstDash val="solid"/>
          </a:ln>
        </p:spPr>
      </p:sp>
      <p:pic>
        <p:nvPicPr>
          <p:cNvPr id="38" name="Image 0" descr="preencoded.png">    </p:cNvPr>
          <p:cNvPicPr>
            <a:picLocks noChangeAspect="1"/>
          </p:cNvPicPr>
          <p:nvPr/>
        </p:nvPicPr>
        <p:blipFill>
          <a:blip r:embed="rId1"/>
          <a:stretch>
            <a:fillRect/>
          </a:stretch>
        </p:blipFill>
        <p:spPr>
          <a:xfrm>
            <a:off x="1042416" y="5294376"/>
            <a:ext cx="292608" cy="292608"/>
          </a:xfrm>
          <a:prstGeom prst="rect">
            <a:avLst/>
          </a:prstGeom>
        </p:spPr>
      </p:pic>
      <p:sp>
        <p:nvSpPr>
          <p:cNvPr id="39" name="Text 36"/>
          <p:cNvSpPr txBox="1"/>
          <p:nvPr/>
        </p:nvSpPr>
        <p:spPr>
          <a:xfrm>
            <a:off x="1691640" y="5093208"/>
            <a:ext cx="9628632" cy="69494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After training, tokens with similar meanings get similar vectors.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5</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The token embedding table</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The token table has one row per token ID. Looking up an ID means picking its row.</a:t>
            </a:r>
            <a:endParaRPr lang="en-US" sz="1600" dirty="0"/>
          </a:p>
        </p:txBody>
      </p:sp>
      <p:sp>
        <p:nvSpPr>
          <p:cNvPr id="5" name="Shape 3"/>
          <p:cNvSpPr/>
          <p:nvPr/>
        </p:nvSpPr>
        <p:spPr>
          <a:xfrm>
            <a:off x="640080" y="1645920"/>
            <a:ext cx="6035040" cy="3611880"/>
          </a:xfrm>
          <a:prstGeom prst="roundRect">
            <a:avLst>
              <a:gd name="adj" fmla="val 3797"/>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1005840" y="1828800"/>
            <a:ext cx="68580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ID</a:t>
            </a:r>
            <a:endParaRPr lang="en-US" sz="1300" dirty="0"/>
          </a:p>
        </p:txBody>
      </p:sp>
      <p:sp>
        <p:nvSpPr>
          <p:cNvPr id="7" name="Text 5"/>
          <p:cNvSpPr txBox="1"/>
          <p:nvPr/>
        </p:nvSpPr>
        <p:spPr>
          <a:xfrm>
            <a:off x="1965960" y="1828800"/>
            <a:ext cx="425196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vector (embedding_dim numbers)</a:t>
            </a:r>
            <a:endParaRPr lang="en-US" sz="1300" dirty="0"/>
          </a:p>
        </p:txBody>
      </p:sp>
      <p:sp>
        <p:nvSpPr>
          <p:cNvPr id="8" name="Text 6"/>
          <p:cNvSpPr txBox="1"/>
          <p:nvPr/>
        </p:nvSpPr>
        <p:spPr>
          <a:xfrm>
            <a:off x="1005840" y="2194560"/>
            <a:ext cx="685800" cy="347472"/>
          </a:xfrm>
          <a:prstGeom prst="roundRect">
            <a:avLst>
              <a:gd name="adj" fmla="val 26316"/>
            </a:avLst>
          </a:prstGeom>
          <a:solidFill>
            <a:srgbClr val="E8EFF7"/>
          </a:solidFill>
          <a:ln w="15875">
            <a:solidFill>
              <a:srgbClr val="A9C0D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0</a:t>
            </a:r>
            <a:endParaRPr lang="en-US" sz="1400" dirty="0"/>
          </a:p>
        </p:txBody>
      </p:sp>
      <p:sp>
        <p:nvSpPr>
          <p:cNvPr id="9" name="Text 7"/>
          <p:cNvSpPr txBox="1"/>
          <p:nvPr/>
        </p:nvSpPr>
        <p:spPr>
          <a:xfrm>
            <a:off x="1965960" y="2194560"/>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0.1</a:t>
            </a:r>
            <a:endParaRPr lang="en-US" sz="1300" dirty="0"/>
          </a:p>
        </p:txBody>
      </p:sp>
      <p:sp>
        <p:nvSpPr>
          <p:cNvPr id="10" name="Text 8"/>
          <p:cNvSpPr txBox="1"/>
          <p:nvPr/>
        </p:nvSpPr>
        <p:spPr>
          <a:xfrm>
            <a:off x="2834640" y="2194560"/>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-0.3</a:t>
            </a:r>
            <a:endParaRPr lang="en-US" sz="1300" dirty="0"/>
          </a:p>
        </p:txBody>
      </p:sp>
      <p:sp>
        <p:nvSpPr>
          <p:cNvPr id="11" name="Text 9"/>
          <p:cNvSpPr txBox="1"/>
          <p:nvPr/>
        </p:nvSpPr>
        <p:spPr>
          <a:xfrm>
            <a:off x="3703320" y="2194560"/>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0.9</a:t>
            </a:r>
            <a:endParaRPr lang="en-US" sz="1300" dirty="0"/>
          </a:p>
        </p:txBody>
      </p:sp>
      <p:sp>
        <p:nvSpPr>
          <p:cNvPr id="12" name="Text 10"/>
          <p:cNvSpPr txBox="1"/>
          <p:nvPr/>
        </p:nvSpPr>
        <p:spPr>
          <a:xfrm>
            <a:off x="4572000" y="2194560"/>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0.2</a:t>
            </a:r>
            <a:endParaRPr lang="en-US" sz="1300" dirty="0"/>
          </a:p>
        </p:txBody>
      </p:sp>
      <p:sp>
        <p:nvSpPr>
          <p:cNvPr id="13" name="Text 11"/>
          <p:cNvSpPr txBox="1"/>
          <p:nvPr/>
        </p:nvSpPr>
        <p:spPr>
          <a:xfrm>
            <a:off x="5440680" y="2194560"/>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-0.5</a:t>
            </a:r>
            <a:endParaRPr lang="en-US" sz="1300" dirty="0"/>
          </a:p>
        </p:txBody>
      </p:sp>
      <p:sp>
        <p:nvSpPr>
          <p:cNvPr id="14" name="Text 12"/>
          <p:cNvSpPr txBox="1"/>
          <p:nvPr/>
        </p:nvSpPr>
        <p:spPr>
          <a:xfrm>
            <a:off x="1005840" y="2624328"/>
            <a:ext cx="685800" cy="347472"/>
          </a:xfrm>
          <a:prstGeom prst="roundRect">
            <a:avLst>
              <a:gd name="adj" fmla="val 26316"/>
            </a:avLst>
          </a:prstGeom>
          <a:solidFill>
            <a:srgbClr val="E8EFF7"/>
          </a:solidFill>
          <a:ln w="15875">
            <a:solidFill>
              <a:srgbClr val="A9C0D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1</a:t>
            </a:r>
            <a:endParaRPr lang="en-US" sz="1400" dirty="0"/>
          </a:p>
        </p:txBody>
      </p:sp>
      <p:sp>
        <p:nvSpPr>
          <p:cNvPr id="15" name="Text 13"/>
          <p:cNvSpPr txBox="1"/>
          <p:nvPr/>
        </p:nvSpPr>
        <p:spPr>
          <a:xfrm>
            <a:off x="1965960" y="262432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0.4</a:t>
            </a:r>
            <a:endParaRPr lang="en-US" sz="1300" dirty="0"/>
          </a:p>
        </p:txBody>
      </p:sp>
      <p:sp>
        <p:nvSpPr>
          <p:cNvPr id="16" name="Text 14"/>
          <p:cNvSpPr txBox="1"/>
          <p:nvPr/>
        </p:nvSpPr>
        <p:spPr>
          <a:xfrm>
            <a:off x="2834640" y="262432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0.7</a:t>
            </a:r>
            <a:endParaRPr lang="en-US" sz="1300" dirty="0"/>
          </a:p>
        </p:txBody>
      </p:sp>
      <p:sp>
        <p:nvSpPr>
          <p:cNvPr id="17" name="Text 15"/>
          <p:cNvSpPr txBox="1"/>
          <p:nvPr/>
        </p:nvSpPr>
        <p:spPr>
          <a:xfrm>
            <a:off x="3703320" y="262432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-0.2</a:t>
            </a:r>
            <a:endParaRPr lang="en-US" sz="1300" dirty="0"/>
          </a:p>
        </p:txBody>
      </p:sp>
      <p:sp>
        <p:nvSpPr>
          <p:cNvPr id="18" name="Text 16"/>
          <p:cNvSpPr txBox="1"/>
          <p:nvPr/>
        </p:nvSpPr>
        <p:spPr>
          <a:xfrm>
            <a:off x="4572000" y="262432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0.0</a:t>
            </a:r>
            <a:endParaRPr lang="en-US" sz="1300" dirty="0"/>
          </a:p>
        </p:txBody>
      </p:sp>
      <p:sp>
        <p:nvSpPr>
          <p:cNvPr id="19" name="Text 17"/>
          <p:cNvSpPr txBox="1"/>
          <p:nvPr/>
        </p:nvSpPr>
        <p:spPr>
          <a:xfrm>
            <a:off x="5440680" y="262432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0.6</a:t>
            </a:r>
            <a:endParaRPr lang="en-US" sz="1300" dirty="0"/>
          </a:p>
        </p:txBody>
      </p:sp>
      <p:sp>
        <p:nvSpPr>
          <p:cNvPr id="20" name="Shape 18"/>
          <p:cNvSpPr/>
          <p:nvPr/>
        </p:nvSpPr>
        <p:spPr>
          <a:xfrm>
            <a:off x="868680" y="3008376"/>
            <a:ext cx="5577840" cy="438912"/>
          </a:xfrm>
          <a:prstGeom prst="roundRect">
            <a:avLst>
              <a:gd name="adj" fmla="val 16667"/>
            </a:avLst>
          </a:prstGeom>
          <a:solidFill>
            <a:srgbClr val="E4ECE7"/>
          </a:solidFill>
          <a:ln w="15875">
            <a:solidFill>
              <a:srgbClr val="8FA99B"/>
            </a:solidFill>
            <a:prstDash val="solid"/>
          </a:ln>
        </p:spPr>
      </p:sp>
      <p:sp>
        <p:nvSpPr>
          <p:cNvPr id="21" name="Text 19"/>
          <p:cNvSpPr txBox="1"/>
          <p:nvPr/>
        </p:nvSpPr>
        <p:spPr>
          <a:xfrm>
            <a:off x="1005840" y="3054096"/>
            <a:ext cx="685800" cy="347472"/>
          </a:xfrm>
          <a:prstGeom prst="roundRect">
            <a:avLst>
              <a:gd name="adj" fmla="val 26316"/>
            </a:avLst>
          </a:prstGeom>
          <a:solidFill>
            <a:srgbClr val="E8EFF7"/>
          </a:solidFill>
          <a:ln w="15875">
            <a:solidFill>
              <a:srgbClr val="A9C0D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2</a:t>
            </a:r>
            <a:endParaRPr lang="en-US" sz="1400" dirty="0"/>
          </a:p>
        </p:txBody>
      </p:sp>
      <p:sp>
        <p:nvSpPr>
          <p:cNvPr id="22" name="Text 20"/>
          <p:cNvSpPr txBox="1"/>
          <p:nvPr/>
        </p:nvSpPr>
        <p:spPr>
          <a:xfrm>
            <a:off x="1965960" y="3054096"/>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-0.8</a:t>
            </a:r>
            <a:endParaRPr lang="en-US" sz="1300" dirty="0"/>
          </a:p>
        </p:txBody>
      </p:sp>
      <p:sp>
        <p:nvSpPr>
          <p:cNvPr id="23" name="Text 21"/>
          <p:cNvSpPr txBox="1"/>
          <p:nvPr/>
        </p:nvSpPr>
        <p:spPr>
          <a:xfrm>
            <a:off x="2834640" y="3054096"/>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0.3</a:t>
            </a:r>
            <a:endParaRPr lang="en-US" sz="1300" dirty="0"/>
          </a:p>
        </p:txBody>
      </p:sp>
      <p:sp>
        <p:nvSpPr>
          <p:cNvPr id="24" name="Text 22"/>
          <p:cNvSpPr txBox="1"/>
          <p:nvPr/>
        </p:nvSpPr>
        <p:spPr>
          <a:xfrm>
            <a:off x="3703320" y="3054096"/>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0.5</a:t>
            </a:r>
            <a:endParaRPr lang="en-US" sz="1300" dirty="0"/>
          </a:p>
        </p:txBody>
      </p:sp>
      <p:sp>
        <p:nvSpPr>
          <p:cNvPr id="25" name="Text 23"/>
          <p:cNvSpPr txBox="1"/>
          <p:nvPr/>
        </p:nvSpPr>
        <p:spPr>
          <a:xfrm>
            <a:off x="4572000" y="3054096"/>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-0.1</a:t>
            </a:r>
            <a:endParaRPr lang="en-US" sz="1300" dirty="0"/>
          </a:p>
        </p:txBody>
      </p:sp>
      <p:sp>
        <p:nvSpPr>
          <p:cNvPr id="26" name="Text 24"/>
          <p:cNvSpPr txBox="1"/>
          <p:nvPr/>
        </p:nvSpPr>
        <p:spPr>
          <a:xfrm>
            <a:off x="5440680" y="3054096"/>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0.2</a:t>
            </a:r>
            <a:endParaRPr lang="en-US" sz="1300" dirty="0"/>
          </a:p>
        </p:txBody>
      </p:sp>
      <p:sp>
        <p:nvSpPr>
          <p:cNvPr id="27" name="Text 25"/>
          <p:cNvSpPr txBox="1"/>
          <p:nvPr/>
        </p:nvSpPr>
        <p:spPr>
          <a:xfrm>
            <a:off x="1005840" y="3483864"/>
            <a:ext cx="685800" cy="347472"/>
          </a:xfrm>
          <a:prstGeom prst="roundRect">
            <a:avLst>
              <a:gd name="adj" fmla="val 26316"/>
            </a:avLst>
          </a:prstGeom>
          <a:solidFill>
            <a:srgbClr val="E8EFF7"/>
          </a:solidFill>
          <a:ln w="15875">
            <a:solidFill>
              <a:srgbClr val="A9C0D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3</a:t>
            </a:r>
            <a:endParaRPr lang="en-US" sz="1400" dirty="0"/>
          </a:p>
        </p:txBody>
      </p:sp>
      <p:sp>
        <p:nvSpPr>
          <p:cNvPr id="28" name="Text 26"/>
          <p:cNvSpPr txBox="1"/>
          <p:nvPr/>
        </p:nvSpPr>
        <p:spPr>
          <a:xfrm>
            <a:off x="1965960" y="3483864"/>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0.2</a:t>
            </a:r>
            <a:endParaRPr lang="en-US" sz="1300" dirty="0"/>
          </a:p>
        </p:txBody>
      </p:sp>
      <p:sp>
        <p:nvSpPr>
          <p:cNvPr id="29" name="Text 27"/>
          <p:cNvSpPr txBox="1"/>
          <p:nvPr/>
        </p:nvSpPr>
        <p:spPr>
          <a:xfrm>
            <a:off x="2834640" y="3483864"/>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-0.6</a:t>
            </a:r>
            <a:endParaRPr lang="en-US" sz="1300" dirty="0"/>
          </a:p>
        </p:txBody>
      </p:sp>
      <p:sp>
        <p:nvSpPr>
          <p:cNvPr id="30" name="Text 28"/>
          <p:cNvSpPr txBox="1"/>
          <p:nvPr/>
        </p:nvSpPr>
        <p:spPr>
          <a:xfrm>
            <a:off x="3703320" y="3483864"/>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0.1</a:t>
            </a:r>
            <a:endParaRPr lang="en-US" sz="1300" dirty="0"/>
          </a:p>
        </p:txBody>
      </p:sp>
      <p:sp>
        <p:nvSpPr>
          <p:cNvPr id="31" name="Text 29"/>
          <p:cNvSpPr txBox="1"/>
          <p:nvPr/>
        </p:nvSpPr>
        <p:spPr>
          <a:xfrm>
            <a:off x="4572000" y="3483864"/>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0.8</a:t>
            </a:r>
            <a:endParaRPr lang="en-US" sz="1300" dirty="0"/>
          </a:p>
        </p:txBody>
      </p:sp>
      <p:sp>
        <p:nvSpPr>
          <p:cNvPr id="32" name="Text 30"/>
          <p:cNvSpPr txBox="1"/>
          <p:nvPr/>
        </p:nvSpPr>
        <p:spPr>
          <a:xfrm>
            <a:off x="5440680" y="3483864"/>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-0.4</a:t>
            </a:r>
            <a:endParaRPr lang="en-US" sz="1300" dirty="0"/>
          </a:p>
        </p:txBody>
      </p:sp>
      <p:sp>
        <p:nvSpPr>
          <p:cNvPr id="33" name="Text 31"/>
          <p:cNvSpPr txBox="1"/>
          <p:nvPr/>
        </p:nvSpPr>
        <p:spPr>
          <a:xfrm>
            <a:off x="1005840" y="3913632"/>
            <a:ext cx="685800" cy="347472"/>
          </a:xfrm>
          <a:prstGeom prst="roundRect">
            <a:avLst>
              <a:gd name="adj" fmla="val 26316"/>
            </a:avLst>
          </a:prstGeom>
          <a:solidFill>
            <a:srgbClr val="E8EFF7"/>
          </a:solidFill>
          <a:ln w="15875">
            <a:solidFill>
              <a:srgbClr val="A9C0D8"/>
            </a:solidFill>
          </a:ln>
        </p:spPr>
        <p:txBody>
          <a:bodyPr wrap="square" lIns="0" tIns="0" rIns="0" bIns="0" rtlCol="0" anchor="ctr"/>
          <a:lstStyle/>
          <a:p>
            <a:pPr algn="ctr" indent="0" marL="0">
              <a:buNone/>
            </a:pPr>
            <a:r>
              <a:rPr lang="en-US" sz="1400" b="1" dirty="0">
                <a:solidFill>
                  <a:srgbClr val="435466"/>
                </a:solidFill>
                <a:latin typeface="Inter" pitchFamily="34" charset="0"/>
                <a:ea typeface="Inter" pitchFamily="34" charset="-122"/>
                <a:cs typeface="Inter" pitchFamily="34" charset="-120"/>
              </a:rPr>
              <a:t>4</a:t>
            </a:r>
            <a:endParaRPr lang="en-US" sz="1400" dirty="0"/>
          </a:p>
        </p:txBody>
      </p:sp>
      <p:sp>
        <p:nvSpPr>
          <p:cNvPr id="34" name="Text 32"/>
          <p:cNvSpPr txBox="1"/>
          <p:nvPr/>
        </p:nvSpPr>
        <p:spPr>
          <a:xfrm>
            <a:off x="1965960" y="3913632"/>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0.5</a:t>
            </a:r>
            <a:endParaRPr lang="en-US" sz="1300" dirty="0"/>
          </a:p>
        </p:txBody>
      </p:sp>
      <p:sp>
        <p:nvSpPr>
          <p:cNvPr id="35" name="Text 33"/>
          <p:cNvSpPr txBox="1"/>
          <p:nvPr/>
        </p:nvSpPr>
        <p:spPr>
          <a:xfrm>
            <a:off x="2834640" y="3913632"/>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0.0</a:t>
            </a:r>
            <a:endParaRPr lang="en-US" sz="1300" dirty="0"/>
          </a:p>
        </p:txBody>
      </p:sp>
      <p:sp>
        <p:nvSpPr>
          <p:cNvPr id="36" name="Text 34"/>
          <p:cNvSpPr txBox="1"/>
          <p:nvPr/>
        </p:nvSpPr>
        <p:spPr>
          <a:xfrm>
            <a:off x="3703320" y="3913632"/>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-0.7</a:t>
            </a:r>
            <a:endParaRPr lang="en-US" sz="1300" dirty="0"/>
          </a:p>
        </p:txBody>
      </p:sp>
      <p:sp>
        <p:nvSpPr>
          <p:cNvPr id="37" name="Text 35"/>
          <p:cNvSpPr txBox="1"/>
          <p:nvPr/>
        </p:nvSpPr>
        <p:spPr>
          <a:xfrm>
            <a:off x="4572000" y="3913632"/>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0.3</a:t>
            </a:r>
            <a:endParaRPr lang="en-US" sz="1300" dirty="0"/>
          </a:p>
        </p:txBody>
      </p:sp>
      <p:sp>
        <p:nvSpPr>
          <p:cNvPr id="38" name="Text 36"/>
          <p:cNvSpPr txBox="1"/>
          <p:nvPr/>
        </p:nvSpPr>
        <p:spPr>
          <a:xfrm>
            <a:off x="5440680" y="3913632"/>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0.1</a:t>
            </a:r>
            <a:endParaRPr lang="en-US" sz="1300" dirty="0"/>
          </a:p>
        </p:txBody>
      </p:sp>
      <p:sp>
        <p:nvSpPr>
          <p:cNvPr id="39" name="Shape 37"/>
          <p:cNvSpPr/>
          <p:nvPr/>
        </p:nvSpPr>
        <p:spPr>
          <a:xfrm>
            <a:off x="1321308" y="4379976"/>
            <a:ext cx="54864" cy="54864"/>
          </a:xfrm>
          <a:prstGeom prst="ellipse">
            <a:avLst/>
          </a:prstGeom>
          <a:solidFill>
            <a:srgbClr val="66768A"/>
          </a:solidFill>
          <a:ln w="6350">
            <a:solidFill>
              <a:srgbClr val="66768A"/>
            </a:solidFill>
            <a:prstDash val="solid"/>
          </a:ln>
        </p:spPr>
      </p:sp>
      <p:sp>
        <p:nvSpPr>
          <p:cNvPr id="40" name="Shape 38"/>
          <p:cNvSpPr/>
          <p:nvPr/>
        </p:nvSpPr>
        <p:spPr>
          <a:xfrm>
            <a:off x="1321308" y="4480560"/>
            <a:ext cx="54864" cy="54864"/>
          </a:xfrm>
          <a:prstGeom prst="ellipse">
            <a:avLst/>
          </a:prstGeom>
          <a:solidFill>
            <a:srgbClr val="66768A"/>
          </a:solidFill>
          <a:ln w="6350">
            <a:solidFill>
              <a:srgbClr val="66768A"/>
            </a:solidFill>
            <a:prstDash val="solid"/>
          </a:ln>
        </p:spPr>
      </p:sp>
      <p:sp>
        <p:nvSpPr>
          <p:cNvPr id="41" name="Shape 39"/>
          <p:cNvSpPr/>
          <p:nvPr/>
        </p:nvSpPr>
        <p:spPr>
          <a:xfrm>
            <a:off x="1321308" y="4581144"/>
            <a:ext cx="54864" cy="54864"/>
          </a:xfrm>
          <a:prstGeom prst="ellipse">
            <a:avLst/>
          </a:prstGeom>
          <a:solidFill>
            <a:srgbClr val="66768A"/>
          </a:solidFill>
          <a:ln w="6350">
            <a:solidFill>
              <a:srgbClr val="66768A"/>
            </a:solidFill>
            <a:prstDash val="solid"/>
          </a:ln>
        </p:spPr>
      </p:sp>
      <p:sp>
        <p:nvSpPr>
          <p:cNvPr id="42" name="Shape 40"/>
          <p:cNvSpPr/>
          <p:nvPr/>
        </p:nvSpPr>
        <p:spPr>
          <a:xfrm>
            <a:off x="4064508" y="4379976"/>
            <a:ext cx="54864" cy="54864"/>
          </a:xfrm>
          <a:prstGeom prst="ellipse">
            <a:avLst/>
          </a:prstGeom>
          <a:solidFill>
            <a:srgbClr val="66768A"/>
          </a:solidFill>
          <a:ln w="6350">
            <a:solidFill>
              <a:srgbClr val="66768A"/>
            </a:solidFill>
            <a:prstDash val="solid"/>
          </a:ln>
        </p:spPr>
      </p:sp>
      <p:sp>
        <p:nvSpPr>
          <p:cNvPr id="43" name="Shape 41"/>
          <p:cNvSpPr/>
          <p:nvPr/>
        </p:nvSpPr>
        <p:spPr>
          <a:xfrm>
            <a:off x="4064508" y="4480560"/>
            <a:ext cx="54864" cy="54864"/>
          </a:xfrm>
          <a:prstGeom prst="ellipse">
            <a:avLst/>
          </a:prstGeom>
          <a:solidFill>
            <a:srgbClr val="66768A"/>
          </a:solidFill>
          <a:ln w="6350">
            <a:solidFill>
              <a:srgbClr val="66768A"/>
            </a:solidFill>
            <a:prstDash val="solid"/>
          </a:ln>
        </p:spPr>
      </p:sp>
      <p:sp>
        <p:nvSpPr>
          <p:cNvPr id="44" name="Shape 42"/>
          <p:cNvSpPr/>
          <p:nvPr/>
        </p:nvSpPr>
        <p:spPr>
          <a:xfrm>
            <a:off x="4064508" y="4581144"/>
            <a:ext cx="54864" cy="54864"/>
          </a:xfrm>
          <a:prstGeom prst="ellipse">
            <a:avLst/>
          </a:prstGeom>
          <a:solidFill>
            <a:srgbClr val="66768A"/>
          </a:solidFill>
          <a:ln w="6350">
            <a:solidFill>
              <a:srgbClr val="66768A"/>
            </a:solidFill>
            <a:prstDash val="solid"/>
          </a:ln>
        </p:spPr>
      </p:sp>
      <p:sp>
        <p:nvSpPr>
          <p:cNvPr id="45" name="Text 43"/>
          <p:cNvSpPr txBox="1"/>
          <p:nvPr/>
        </p:nvSpPr>
        <p:spPr>
          <a:xfrm>
            <a:off x="1005840" y="4773168"/>
            <a:ext cx="685800" cy="347472"/>
          </a:xfrm>
          <a:prstGeom prst="roundRect">
            <a:avLst>
              <a:gd name="adj" fmla="val 26316"/>
            </a:avLst>
          </a:prstGeom>
          <a:solidFill>
            <a:srgbClr val="E8EFF7"/>
          </a:solidFill>
          <a:ln w="15875">
            <a:solidFill>
              <a:srgbClr val="A9C0D8"/>
            </a:solidFill>
          </a:ln>
        </p:spPr>
        <p:txBody>
          <a:bodyPr wrap="square" lIns="0" tIns="0" rIns="0" bIns="0" rtlCol="0" anchor="ctr"/>
          <a:lstStyle/>
          <a:p>
            <a:pPr algn="ctr" indent="0" marL="0">
              <a:buNone/>
            </a:pPr>
            <a:r>
              <a:rPr lang="en-US" sz="1300" b="1" dirty="0">
                <a:solidFill>
                  <a:srgbClr val="435466"/>
                </a:solidFill>
                <a:latin typeface="Inter" pitchFamily="34" charset="0"/>
                <a:ea typeface="Inter" pitchFamily="34" charset="-122"/>
                <a:cs typeface="Inter" pitchFamily="34" charset="-120"/>
              </a:rPr>
              <a:t>last</a:t>
            </a:r>
            <a:endParaRPr lang="en-US" sz="1300" dirty="0"/>
          </a:p>
        </p:txBody>
      </p:sp>
      <p:sp>
        <p:nvSpPr>
          <p:cNvPr id="46" name="Text 44"/>
          <p:cNvSpPr txBox="1"/>
          <p:nvPr/>
        </p:nvSpPr>
        <p:spPr>
          <a:xfrm>
            <a:off x="1965960" y="477316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0.3</a:t>
            </a:r>
            <a:endParaRPr lang="en-US" sz="1300" dirty="0"/>
          </a:p>
        </p:txBody>
      </p:sp>
      <p:sp>
        <p:nvSpPr>
          <p:cNvPr id="47" name="Text 45"/>
          <p:cNvSpPr txBox="1"/>
          <p:nvPr/>
        </p:nvSpPr>
        <p:spPr>
          <a:xfrm>
            <a:off x="2834640" y="477316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0.2</a:t>
            </a:r>
            <a:endParaRPr lang="en-US" sz="1300" dirty="0"/>
          </a:p>
        </p:txBody>
      </p:sp>
      <p:sp>
        <p:nvSpPr>
          <p:cNvPr id="48" name="Text 46"/>
          <p:cNvSpPr txBox="1"/>
          <p:nvPr/>
        </p:nvSpPr>
        <p:spPr>
          <a:xfrm>
            <a:off x="3703320" y="477316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-0.9</a:t>
            </a:r>
            <a:endParaRPr lang="en-US" sz="1300" dirty="0"/>
          </a:p>
        </p:txBody>
      </p:sp>
      <p:sp>
        <p:nvSpPr>
          <p:cNvPr id="49" name="Text 47"/>
          <p:cNvSpPr txBox="1"/>
          <p:nvPr/>
        </p:nvSpPr>
        <p:spPr>
          <a:xfrm>
            <a:off x="4572000" y="477316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0.4</a:t>
            </a:r>
            <a:endParaRPr lang="en-US" sz="1300" dirty="0"/>
          </a:p>
        </p:txBody>
      </p:sp>
      <p:sp>
        <p:nvSpPr>
          <p:cNvPr id="50" name="Text 48"/>
          <p:cNvSpPr txBox="1"/>
          <p:nvPr/>
        </p:nvSpPr>
        <p:spPr>
          <a:xfrm>
            <a:off x="5440680" y="4773168"/>
            <a:ext cx="777240" cy="347472"/>
          </a:xfrm>
          <a:prstGeom prst="roundRect">
            <a:avLst>
              <a:gd name="adj" fmla="val 26316"/>
            </a:avLst>
          </a:prstGeom>
          <a:solidFill>
            <a:srgbClr val="FFFFFF"/>
          </a:solidFill>
          <a:ln w="15875">
            <a:solidFill>
              <a:srgbClr val="D9E1E8"/>
            </a:solidFill>
          </a:ln>
        </p:spPr>
        <p:txBody>
          <a:bodyPr wrap="square" lIns="0" tIns="0" rIns="0" bIns="0" rtlCol="0" anchor="ctr"/>
          <a:lstStyle/>
          <a:p>
            <a:pPr algn="ctr" indent="0" marL="0">
              <a:buNone/>
            </a:pPr>
            <a:r>
              <a:rPr lang="en-US" sz="1300" dirty="0">
                <a:solidFill>
                  <a:srgbClr val="435466"/>
                </a:solidFill>
                <a:latin typeface="Inter" pitchFamily="34" charset="0"/>
                <a:ea typeface="Inter" pitchFamily="34" charset="-122"/>
                <a:cs typeface="Inter" pitchFamily="34" charset="-120"/>
              </a:rPr>
              <a:t>0.0</a:t>
            </a:r>
            <a:endParaRPr lang="en-US" sz="1300" dirty="0"/>
          </a:p>
        </p:txBody>
      </p:sp>
      <p:sp>
        <p:nvSpPr>
          <p:cNvPr id="51" name="Text 49"/>
          <p:cNvSpPr txBox="1"/>
          <p:nvPr/>
        </p:nvSpPr>
        <p:spPr>
          <a:xfrm>
            <a:off x="7086600" y="1691640"/>
            <a:ext cx="4462272"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Input ID</a:t>
            </a:r>
            <a:endParaRPr lang="en-US" sz="1300" dirty="0"/>
          </a:p>
        </p:txBody>
      </p:sp>
      <p:sp>
        <p:nvSpPr>
          <p:cNvPr id="52" name="Text 50"/>
          <p:cNvSpPr txBox="1"/>
          <p:nvPr/>
        </p:nvSpPr>
        <p:spPr>
          <a:xfrm>
            <a:off x="8860536" y="2011680"/>
            <a:ext cx="91440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2200" b="1" dirty="0">
                <a:solidFill>
                  <a:srgbClr val="435466"/>
                </a:solidFill>
                <a:latin typeface="Inter" pitchFamily="34" charset="0"/>
                <a:ea typeface="Inter" pitchFamily="34" charset="-122"/>
                <a:cs typeface="Inter" pitchFamily="34" charset="-120"/>
              </a:rPr>
              <a:t>2</a:t>
            </a:r>
            <a:endParaRPr lang="en-US" sz="2200" dirty="0"/>
          </a:p>
        </p:txBody>
      </p:sp>
      <p:sp>
        <p:nvSpPr>
          <p:cNvPr id="53" name="Shape 51"/>
          <p:cNvSpPr/>
          <p:nvPr/>
        </p:nvSpPr>
        <p:spPr>
          <a:xfrm>
            <a:off x="9317736" y="2651760"/>
            <a:ext cx="0" cy="457200"/>
          </a:xfrm>
          <a:prstGeom prst="line">
            <a:avLst/>
          </a:prstGeom>
          <a:noFill/>
          <a:ln w="31750">
            <a:solidFill>
              <a:srgbClr val="A9C0D8"/>
            </a:solidFill>
            <a:prstDash val="solid"/>
            <a:tailEnd type="triangle"/>
          </a:ln>
        </p:spPr>
      </p:sp>
      <p:sp>
        <p:nvSpPr>
          <p:cNvPr id="54" name="Text 52"/>
          <p:cNvSpPr txBox="1"/>
          <p:nvPr/>
        </p:nvSpPr>
        <p:spPr>
          <a:xfrm>
            <a:off x="9454896" y="2697480"/>
            <a:ext cx="1188720" cy="365760"/>
          </a:xfrm>
          <a:prstGeom prst="roundRect">
            <a:avLst>
              <a:gd name="adj" fmla="val 25000"/>
            </a:avLst>
          </a:prstGeom>
          <a:solidFill>
            <a:srgbClr val="FFFFFF"/>
          </a:solidFill>
          <a:ln w="15875">
            <a:solidFill>
              <a:srgbClr val="D9E1E8"/>
            </a:solidFill>
          </a:ln>
        </p:spPr>
        <p:txBody>
          <a:bodyPr wrap="square" lIns="0" tIns="0" rIns="0" bIns="0" rtlCol="0" anchor="ctr"/>
          <a:lstStyle/>
          <a:p>
            <a:pPr algn="ctr" indent="0" marL="0">
              <a:buNone/>
            </a:pPr>
            <a:r>
              <a:rPr lang="en-US" sz="1200" b="1" dirty="0">
                <a:solidFill>
                  <a:srgbClr val="435466"/>
                </a:solidFill>
                <a:latin typeface="Inter" pitchFamily="34" charset="0"/>
                <a:ea typeface="Inter" pitchFamily="34" charset="-122"/>
                <a:cs typeface="Inter" pitchFamily="34" charset="-120"/>
              </a:rPr>
              <a:t>pick row 2</a:t>
            </a:r>
            <a:endParaRPr lang="en-US" sz="1200" dirty="0"/>
          </a:p>
        </p:txBody>
      </p:sp>
      <p:sp>
        <p:nvSpPr>
          <p:cNvPr id="55" name="Text 53"/>
          <p:cNvSpPr txBox="1"/>
          <p:nvPr/>
        </p:nvSpPr>
        <p:spPr>
          <a:xfrm>
            <a:off x="7306056" y="3200400"/>
            <a:ext cx="7315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-0.8</a:t>
            </a:r>
            <a:endParaRPr lang="en-US" sz="1400" dirty="0"/>
          </a:p>
        </p:txBody>
      </p:sp>
      <p:sp>
        <p:nvSpPr>
          <p:cNvPr id="56" name="Text 54"/>
          <p:cNvSpPr txBox="1"/>
          <p:nvPr/>
        </p:nvSpPr>
        <p:spPr>
          <a:xfrm>
            <a:off x="8129016" y="3200400"/>
            <a:ext cx="7315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0.3</a:t>
            </a:r>
            <a:endParaRPr lang="en-US" sz="1400" dirty="0"/>
          </a:p>
        </p:txBody>
      </p:sp>
      <p:sp>
        <p:nvSpPr>
          <p:cNvPr id="57" name="Text 55"/>
          <p:cNvSpPr txBox="1"/>
          <p:nvPr/>
        </p:nvSpPr>
        <p:spPr>
          <a:xfrm>
            <a:off x="8951976" y="3200400"/>
            <a:ext cx="7315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0.5</a:t>
            </a:r>
            <a:endParaRPr lang="en-US" sz="1400" dirty="0"/>
          </a:p>
        </p:txBody>
      </p:sp>
      <p:sp>
        <p:nvSpPr>
          <p:cNvPr id="58" name="Text 56"/>
          <p:cNvSpPr txBox="1"/>
          <p:nvPr/>
        </p:nvSpPr>
        <p:spPr>
          <a:xfrm>
            <a:off x="9774936" y="3200400"/>
            <a:ext cx="7315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-0.1</a:t>
            </a:r>
            <a:endParaRPr lang="en-US" sz="1400" dirty="0"/>
          </a:p>
        </p:txBody>
      </p:sp>
      <p:sp>
        <p:nvSpPr>
          <p:cNvPr id="59" name="Text 57"/>
          <p:cNvSpPr txBox="1"/>
          <p:nvPr/>
        </p:nvSpPr>
        <p:spPr>
          <a:xfrm>
            <a:off x="10597896" y="3200400"/>
            <a:ext cx="73152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400" dirty="0">
                <a:solidFill>
                  <a:srgbClr val="435466"/>
                </a:solidFill>
                <a:latin typeface="Inter" pitchFamily="34" charset="0"/>
                <a:ea typeface="Inter" pitchFamily="34" charset="-122"/>
                <a:cs typeface="Inter" pitchFamily="34" charset="-120"/>
              </a:rPr>
              <a:t>0.2</a:t>
            </a:r>
            <a:endParaRPr lang="en-US" sz="1400" dirty="0"/>
          </a:p>
        </p:txBody>
      </p:sp>
      <p:sp>
        <p:nvSpPr>
          <p:cNvPr id="60" name="Text 58"/>
          <p:cNvSpPr txBox="1"/>
          <p:nvPr/>
        </p:nvSpPr>
        <p:spPr>
          <a:xfrm>
            <a:off x="7086600" y="3703320"/>
            <a:ext cx="4462272"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its embedding</a:t>
            </a:r>
            <a:endParaRPr lang="en-US" sz="1300" dirty="0"/>
          </a:p>
        </p:txBody>
      </p:sp>
      <p:sp>
        <p:nvSpPr>
          <p:cNvPr id="61" name="Text 59"/>
          <p:cNvSpPr txBox="1"/>
          <p:nvPr/>
        </p:nvSpPr>
        <p:spPr>
          <a:xfrm>
            <a:off x="7269480" y="4160520"/>
            <a:ext cx="4279392" cy="1188720"/>
          </a:xfrm>
          <a:prstGeom prst="rect">
            <a:avLst/>
          </a:prstGeom>
          <a:noFill/>
          <a:ln/>
        </p:spPr>
        <p:txBody>
          <a:bodyPr wrap="square" lIns="0" tIns="0" rIns="0" bIns="0" rtlCol="0" anchor="t"/>
          <a:lstStyle/>
          <a:p>
            <a:pPr indent="0" marL="0">
              <a:spcAft>
                <a:spcPts val="400"/>
              </a:spcAft>
              <a:buNone/>
            </a:pPr>
            <a:r>
              <a:rPr lang="en-US" sz="1500" b="1" dirty="0">
                <a:solidFill>
                  <a:srgbClr val="435466"/>
                </a:solidFill>
                <a:latin typeface="Inter" pitchFamily="34" charset="0"/>
                <a:ea typeface="Inter" pitchFamily="34" charset="-122"/>
                <a:cs typeface="Inter" pitchFamily="34" charset="-120"/>
              </a:rPr>
              <a:t>vocab_size: </a:t>
            </a:r>
            <a:pPr indent="0" marL="0">
              <a:spcAft>
                <a:spcPts val="400"/>
              </a:spcAft>
              <a:buNone/>
            </a:pPr>
            <a:r>
              <a:rPr lang="en-US" sz="1500" dirty="0">
                <a:solidFill>
                  <a:srgbClr val="435466"/>
                </a:solidFill>
                <a:latin typeface="Inter" pitchFamily="34" charset="0"/>
                <a:ea typeface="Inter" pitchFamily="34" charset="-122"/>
                <a:cs typeface="Inter" pitchFamily="34" charset="-120"/>
              </a:rPr>
              <a:t>number of rows</a:t>
            </a:r>
            <a:endParaRPr lang="en-US" sz="1500" dirty="0"/>
          </a:p>
          <a:p>
            <a:pPr indent="0" marL="0">
              <a:spcAft>
                <a:spcPts val="400"/>
              </a:spcAft>
              <a:buNone/>
            </a:pPr>
            <a:r>
              <a:rPr lang="en-US" sz="1500" b="1" dirty="0">
                <a:solidFill>
                  <a:srgbClr val="435466"/>
                </a:solidFill>
                <a:latin typeface="Inter" pitchFamily="34" charset="0"/>
                <a:ea typeface="Inter" pitchFamily="34" charset="-122"/>
                <a:cs typeface="Inter" pitchFamily="34" charset="-120"/>
              </a:rPr>
              <a:t>embedding_dim: </a:t>
            </a:r>
            <a:pPr indent="0" marL="0">
              <a:spcAft>
                <a:spcPts val="400"/>
              </a:spcAft>
              <a:buNone/>
            </a:pPr>
            <a:r>
              <a:rPr lang="en-US" sz="1500" dirty="0">
                <a:solidFill>
                  <a:srgbClr val="435466"/>
                </a:solidFill>
                <a:latin typeface="Inter" pitchFamily="34" charset="0"/>
                <a:ea typeface="Inter" pitchFamily="34" charset="-122"/>
                <a:cs typeface="Inter" pitchFamily="34" charset="-120"/>
              </a:rPr>
              <a:t>numbers in each row</a:t>
            </a:r>
            <a:endParaRPr lang="en-US" sz="1500" dirty="0"/>
          </a:p>
          <a:p>
            <a:pPr indent="0" marL="0">
              <a:spcAft>
                <a:spcPts val="400"/>
              </a:spcAft>
              <a:buNone/>
            </a:pPr>
            <a:r>
              <a:rPr lang="en-US" sz="1300" dirty="0">
                <a:solidFill>
                  <a:srgbClr val="66768A"/>
                </a:solidFill>
                <a:latin typeface="Inter" pitchFamily="34" charset="0"/>
                <a:ea typeface="Inter" pitchFamily="34" charset="-122"/>
                <a:cs typeface="Inter" pitchFamily="34" charset="-120"/>
              </a:rPr>
              <a:t>Example, GPT-2 small: 50,257 rows × 768 numbers</a:t>
            </a:r>
            <a:endParaRPr lang="en-US" sz="1500" dirty="0"/>
          </a:p>
        </p:txBody>
      </p:sp>
      <p:sp>
        <p:nvSpPr>
          <p:cNvPr id="62" name="Shape 60"/>
          <p:cNvSpPr/>
          <p:nvPr/>
        </p:nvSpPr>
        <p:spPr>
          <a:xfrm>
            <a:off x="640080" y="5532120"/>
            <a:ext cx="10908792" cy="777240"/>
          </a:xfrm>
          <a:prstGeom prst="roundRect">
            <a:avLst>
              <a:gd name="adj" fmla="val 1764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63" name="Shape 61"/>
          <p:cNvSpPr/>
          <p:nvPr/>
        </p:nvSpPr>
        <p:spPr>
          <a:xfrm>
            <a:off x="914400" y="5646420"/>
            <a:ext cx="548640" cy="548640"/>
          </a:xfrm>
          <a:prstGeom prst="ellipse">
            <a:avLst/>
          </a:prstGeom>
          <a:solidFill>
            <a:srgbClr val="FFFFFF"/>
          </a:solidFill>
          <a:ln w="15875">
            <a:solidFill>
              <a:srgbClr val="8FA99B"/>
            </a:solidFill>
            <a:prstDash val="solid"/>
          </a:ln>
        </p:spPr>
      </p:sp>
      <p:pic>
        <p:nvPicPr>
          <p:cNvPr id="64" name="Image 0" descr="preencoded.png">    </p:cNvPr>
          <p:cNvPicPr>
            <a:picLocks noChangeAspect="1"/>
          </p:cNvPicPr>
          <p:nvPr/>
        </p:nvPicPr>
        <p:blipFill>
          <a:blip r:embed="rId1"/>
          <a:stretch>
            <a:fillRect/>
          </a:stretch>
        </p:blipFill>
        <p:spPr>
          <a:xfrm>
            <a:off x="1042416" y="5774436"/>
            <a:ext cx="292608" cy="292608"/>
          </a:xfrm>
          <a:prstGeom prst="rect">
            <a:avLst/>
          </a:prstGeom>
        </p:spPr>
      </p:pic>
      <p:sp>
        <p:nvSpPr>
          <p:cNvPr id="65" name="Text 62"/>
          <p:cNvSpPr txBox="1"/>
          <p:nvPr/>
        </p:nvSpPr>
        <p:spPr>
          <a:xfrm>
            <a:off x="1691640" y="5641848"/>
            <a:ext cx="9628632" cy="55778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Looking up an embedding means picking a row by its ID.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6</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Token embeddings for a whole batch</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Every ID in the batch is swapped for its vector. The shape gains one new dimension.</a:t>
            </a:r>
            <a:endParaRPr lang="en-US" sz="1600" dirty="0"/>
          </a:p>
        </p:txBody>
      </p:sp>
      <p:sp>
        <p:nvSpPr>
          <p:cNvPr id="5" name="Text 3"/>
          <p:cNvSpPr txBox="1"/>
          <p:nvPr/>
        </p:nvSpPr>
        <p:spPr>
          <a:xfrm>
            <a:off x="822960" y="1828800"/>
            <a:ext cx="2139696" cy="274320"/>
          </a:xfrm>
          <a:prstGeom prst="rect">
            <a:avLst/>
          </a:prstGeom>
          <a:noFill/>
          <a:ln/>
        </p:spPr>
        <p:txBody>
          <a:bodyPr wrap="square" lIns="0" tIns="0" rIns="0" bIns="0" rtlCol="0" anchor="t"/>
          <a:lstStyle/>
          <a:p>
            <a:pPr algn="ctr" indent="0" marL="0">
              <a:buNone/>
            </a:pPr>
            <a:r>
              <a:rPr lang="en-US" sz="1500" b="1" dirty="0">
                <a:solidFill>
                  <a:srgbClr val="66768A"/>
                </a:solidFill>
                <a:latin typeface="Inter" pitchFamily="34" charset="0"/>
                <a:ea typeface="Inter" pitchFamily="34" charset="-122"/>
                <a:cs typeface="Inter" pitchFamily="34" charset="-120"/>
              </a:rPr>
              <a:t>Token IDs</a:t>
            </a:r>
            <a:endParaRPr lang="en-US" sz="1500" dirty="0"/>
          </a:p>
        </p:txBody>
      </p:sp>
      <p:sp>
        <p:nvSpPr>
          <p:cNvPr id="6" name="Text 4"/>
          <p:cNvSpPr txBox="1"/>
          <p:nvPr/>
        </p:nvSpPr>
        <p:spPr>
          <a:xfrm>
            <a:off x="822960" y="2596896"/>
            <a:ext cx="6400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1</a:t>
            </a:r>
            <a:endParaRPr lang="en-US" sz="1800" dirty="0"/>
          </a:p>
        </p:txBody>
      </p:sp>
      <p:sp>
        <p:nvSpPr>
          <p:cNvPr id="7" name="Text 5"/>
          <p:cNvSpPr txBox="1"/>
          <p:nvPr/>
        </p:nvSpPr>
        <p:spPr>
          <a:xfrm>
            <a:off x="1572768" y="2596896"/>
            <a:ext cx="6400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2</a:t>
            </a:r>
            <a:endParaRPr lang="en-US" sz="1800" dirty="0"/>
          </a:p>
        </p:txBody>
      </p:sp>
      <p:sp>
        <p:nvSpPr>
          <p:cNvPr id="8" name="Text 6"/>
          <p:cNvSpPr txBox="1"/>
          <p:nvPr/>
        </p:nvSpPr>
        <p:spPr>
          <a:xfrm>
            <a:off x="2322576" y="2596896"/>
            <a:ext cx="6400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3</a:t>
            </a:r>
            <a:endParaRPr lang="en-US" sz="1800" dirty="0"/>
          </a:p>
        </p:txBody>
      </p:sp>
      <p:sp>
        <p:nvSpPr>
          <p:cNvPr id="9" name="Text 7"/>
          <p:cNvSpPr txBox="1"/>
          <p:nvPr/>
        </p:nvSpPr>
        <p:spPr>
          <a:xfrm>
            <a:off x="822960" y="3255264"/>
            <a:ext cx="6400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4</a:t>
            </a:r>
            <a:endParaRPr lang="en-US" sz="1800" dirty="0"/>
          </a:p>
        </p:txBody>
      </p:sp>
      <p:sp>
        <p:nvSpPr>
          <p:cNvPr id="10" name="Text 8"/>
          <p:cNvSpPr txBox="1"/>
          <p:nvPr/>
        </p:nvSpPr>
        <p:spPr>
          <a:xfrm>
            <a:off x="1572768" y="3255264"/>
            <a:ext cx="6400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5</a:t>
            </a:r>
            <a:endParaRPr lang="en-US" sz="1800" dirty="0"/>
          </a:p>
        </p:txBody>
      </p:sp>
      <p:sp>
        <p:nvSpPr>
          <p:cNvPr id="11" name="Text 9"/>
          <p:cNvSpPr txBox="1"/>
          <p:nvPr/>
        </p:nvSpPr>
        <p:spPr>
          <a:xfrm>
            <a:off x="2322576" y="3255264"/>
            <a:ext cx="640080" cy="548640"/>
          </a:xfrm>
          <a:prstGeom prst="roundRect">
            <a:avLst>
              <a:gd name="adj" fmla="val 16667"/>
            </a:avLst>
          </a:prstGeom>
          <a:solidFill>
            <a:srgbClr val="E8EFF7"/>
          </a:solidFill>
          <a:ln w="15875">
            <a:solidFill>
              <a:srgbClr val="A9C0D8"/>
            </a:solid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6</a:t>
            </a:r>
            <a:endParaRPr lang="en-US" sz="1800" dirty="0"/>
          </a:p>
        </p:txBody>
      </p:sp>
      <p:sp>
        <p:nvSpPr>
          <p:cNvPr id="12" name="Text 10"/>
          <p:cNvSpPr txBox="1"/>
          <p:nvPr/>
        </p:nvSpPr>
        <p:spPr>
          <a:xfrm>
            <a:off x="548640" y="4434840"/>
            <a:ext cx="2688336" cy="640080"/>
          </a:xfrm>
          <a:prstGeom prst="rect">
            <a:avLst/>
          </a:prstGeom>
          <a:noFill/>
          <a:ln/>
        </p:spPr>
        <p:txBody>
          <a:bodyPr wrap="square" lIns="0" tIns="0" rIns="0" bIns="0" rtlCol="0" anchor="t"/>
          <a:lstStyle/>
          <a:p>
            <a:pPr algn="ctr" indent="0" marL="0">
              <a:buNone/>
            </a:pPr>
            <a:r>
              <a:rPr lang="en-US" sz="1600" b="1" dirty="0">
                <a:solidFill>
                  <a:srgbClr val="435466"/>
                </a:solidFill>
                <a:latin typeface="Inter" pitchFamily="34" charset="0"/>
                <a:ea typeface="Inter" pitchFamily="34" charset="-122"/>
                <a:cs typeface="Inter" pitchFamily="34" charset="-120"/>
              </a:rPr>
              <a:t>shape (2, 3)</a:t>
            </a:r>
            <a:endParaRPr lang="en-US" sz="1600" dirty="0"/>
          </a:p>
          <a:p>
            <a:pPr algn="ctr" indent="0" marL="0">
              <a:buNone/>
            </a:pPr>
            <a:r>
              <a:rPr lang="en-US" sz="1300" dirty="0">
                <a:solidFill>
                  <a:srgbClr val="66768A"/>
                </a:solidFill>
                <a:latin typeface="Inter" pitchFamily="34" charset="0"/>
                <a:ea typeface="Inter" pitchFamily="34" charset="-122"/>
                <a:cs typeface="Inter" pitchFamily="34" charset="-120"/>
              </a:rPr>
              <a:t>examples × tokens</a:t>
            </a:r>
            <a:endParaRPr lang="en-US" sz="1600" dirty="0"/>
          </a:p>
        </p:txBody>
      </p:sp>
      <p:sp>
        <p:nvSpPr>
          <p:cNvPr id="13" name="Shape 11"/>
          <p:cNvSpPr/>
          <p:nvPr/>
        </p:nvSpPr>
        <p:spPr>
          <a:xfrm>
            <a:off x="3200400" y="3200400"/>
            <a:ext cx="731520" cy="0"/>
          </a:xfrm>
          <a:prstGeom prst="line">
            <a:avLst/>
          </a:prstGeom>
          <a:noFill/>
          <a:ln w="31750">
            <a:solidFill>
              <a:srgbClr val="A9C0D8"/>
            </a:solidFill>
            <a:prstDash val="solid"/>
            <a:tailEnd type="triangle"/>
          </a:ln>
        </p:spPr>
      </p:sp>
      <p:sp>
        <p:nvSpPr>
          <p:cNvPr id="14" name="Text 12"/>
          <p:cNvSpPr txBox="1"/>
          <p:nvPr/>
        </p:nvSpPr>
        <p:spPr>
          <a:xfrm>
            <a:off x="4069080" y="2788920"/>
            <a:ext cx="2377440" cy="822960"/>
          </a:xfrm>
          <a:prstGeom prst="roundRect">
            <a:avLst>
              <a:gd name="adj" fmla="val 11111"/>
            </a:avLst>
          </a:prstGeom>
          <a:solidFill>
            <a:srgbClr val="A9C0D8"/>
          </a:solidFill>
          <a:ln w="15875">
            <a:solidFill>
              <a:srgbClr val="A9C0D8"/>
            </a:solidFill>
          </a:ln>
        </p:spPr>
        <p:txBody>
          <a:bodyPr wrap="square" lIns="0" tIns="0" rIns="0" bIns="0" rtlCol="0" anchor="ctr"/>
          <a:lstStyle/>
          <a:p>
            <a:pPr algn="ctr" indent="0" marL="0">
              <a:buNone/>
            </a:pPr>
            <a:r>
              <a:rPr lang="en-US" sz="1800" b="1" dirty="0">
                <a:solidFill>
                  <a:srgbClr val="435466"/>
                </a:solidFill>
                <a:latin typeface="Inter" pitchFamily="34" charset="0"/>
                <a:ea typeface="Inter" pitchFamily="34" charset="-122"/>
                <a:cs typeface="Inter" pitchFamily="34" charset="-120"/>
              </a:rPr>
              <a:t>Token table</a:t>
            </a:r>
            <a:endParaRPr lang="en-US" sz="1800" dirty="0"/>
          </a:p>
        </p:txBody>
      </p:sp>
      <p:sp>
        <p:nvSpPr>
          <p:cNvPr id="15" name="Shape 13"/>
          <p:cNvSpPr/>
          <p:nvPr/>
        </p:nvSpPr>
        <p:spPr>
          <a:xfrm>
            <a:off x="6583680" y="3200400"/>
            <a:ext cx="731520" cy="0"/>
          </a:xfrm>
          <a:prstGeom prst="line">
            <a:avLst/>
          </a:prstGeom>
          <a:noFill/>
          <a:ln w="31750">
            <a:solidFill>
              <a:srgbClr val="A9C0D8"/>
            </a:solidFill>
            <a:prstDash val="solid"/>
            <a:tailEnd type="triangle"/>
          </a:ln>
        </p:spPr>
      </p:sp>
      <p:sp>
        <p:nvSpPr>
          <p:cNvPr id="16" name="Text 14"/>
          <p:cNvSpPr txBox="1"/>
          <p:nvPr/>
        </p:nvSpPr>
        <p:spPr>
          <a:xfrm>
            <a:off x="6995160" y="1828800"/>
            <a:ext cx="3429000" cy="274320"/>
          </a:xfrm>
          <a:prstGeom prst="rect">
            <a:avLst/>
          </a:prstGeom>
          <a:noFill/>
          <a:ln/>
        </p:spPr>
        <p:txBody>
          <a:bodyPr wrap="square" lIns="0" tIns="0" rIns="0" bIns="0" rtlCol="0" anchor="t"/>
          <a:lstStyle/>
          <a:p>
            <a:pPr algn="ctr" indent="0" marL="0">
              <a:buNone/>
            </a:pPr>
            <a:r>
              <a:rPr lang="en-US" sz="1500" b="1" dirty="0">
                <a:solidFill>
                  <a:srgbClr val="66768A"/>
                </a:solidFill>
                <a:latin typeface="Inter" pitchFamily="34" charset="0"/>
                <a:ea typeface="Inter" pitchFamily="34" charset="-122"/>
                <a:cs typeface="Inter" pitchFamily="34" charset="-120"/>
              </a:rPr>
              <a:t>Token embeddings</a:t>
            </a:r>
            <a:endParaRPr lang="en-US" sz="1500" dirty="0"/>
          </a:p>
        </p:txBody>
      </p:sp>
      <p:sp>
        <p:nvSpPr>
          <p:cNvPr id="17" name="Shape 15"/>
          <p:cNvSpPr/>
          <p:nvPr/>
        </p:nvSpPr>
        <p:spPr>
          <a:xfrm>
            <a:off x="7543800" y="2121408"/>
            <a:ext cx="594360" cy="219456"/>
          </a:xfrm>
          <a:prstGeom prst="roundRect">
            <a:avLst>
              <a:gd name="adj" fmla="val 16667"/>
            </a:avLst>
          </a:prstGeom>
          <a:solidFill>
            <a:srgbClr val="E4ECE7"/>
          </a:solidFill>
          <a:ln w="12700">
            <a:solidFill>
              <a:srgbClr val="8FA99B"/>
            </a:solidFill>
            <a:prstDash val="solid"/>
          </a:ln>
        </p:spPr>
      </p:sp>
      <p:sp>
        <p:nvSpPr>
          <p:cNvPr id="18" name="Shape 16"/>
          <p:cNvSpPr/>
          <p:nvPr/>
        </p:nvSpPr>
        <p:spPr>
          <a:xfrm>
            <a:off x="7543800" y="2377440"/>
            <a:ext cx="594360" cy="219456"/>
          </a:xfrm>
          <a:prstGeom prst="roundRect">
            <a:avLst>
              <a:gd name="adj" fmla="val 16667"/>
            </a:avLst>
          </a:prstGeom>
          <a:solidFill>
            <a:srgbClr val="E4ECE7"/>
          </a:solidFill>
          <a:ln w="12700">
            <a:solidFill>
              <a:srgbClr val="8FA99B"/>
            </a:solidFill>
            <a:prstDash val="solid"/>
          </a:ln>
        </p:spPr>
      </p:sp>
      <p:sp>
        <p:nvSpPr>
          <p:cNvPr id="19" name="Shape 17"/>
          <p:cNvSpPr/>
          <p:nvPr/>
        </p:nvSpPr>
        <p:spPr>
          <a:xfrm>
            <a:off x="7543800" y="2633472"/>
            <a:ext cx="594360" cy="219456"/>
          </a:xfrm>
          <a:prstGeom prst="roundRect">
            <a:avLst>
              <a:gd name="adj" fmla="val 16667"/>
            </a:avLst>
          </a:prstGeom>
          <a:solidFill>
            <a:srgbClr val="E4ECE7"/>
          </a:solidFill>
          <a:ln w="12700">
            <a:solidFill>
              <a:srgbClr val="8FA99B"/>
            </a:solidFill>
            <a:prstDash val="solid"/>
          </a:ln>
        </p:spPr>
      </p:sp>
      <p:sp>
        <p:nvSpPr>
          <p:cNvPr id="20" name="Shape 18"/>
          <p:cNvSpPr/>
          <p:nvPr/>
        </p:nvSpPr>
        <p:spPr>
          <a:xfrm>
            <a:off x="7543800" y="2889504"/>
            <a:ext cx="594360" cy="219456"/>
          </a:xfrm>
          <a:prstGeom prst="roundRect">
            <a:avLst>
              <a:gd name="adj" fmla="val 16667"/>
            </a:avLst>
          </a:prstGeom>
          <a:solidFill>
            <a:srgbClr val="E4ECE7"/>
          </a:solidFill>
          <a:ln w="12700">
            <a:solidFill>
              <a:srgbClr val="8FA99B"/>
            </a:solidFill>
            <a:prstDash val="solid"/>
          </a:ln>
        </p:spPr>
      </p:sp>
      <p:sp>
        <p:nvSpPr>
          <p:cNvPr id="21" name="Shape 19"/>
          <p:cNvSpPr/>
          <p:nvPr/>
        </p:nvSpPr>
        <p:spPr>
          <a:xfrm>
            <a:off x="8412480" y="2121408"/>
            <a:ext cx="594360" cy="219456"/>
          </a:xfrm>
          <a:prstGeom prst="roundRect">
            <a:avLst>
              <a:gd name="adj" fmla="val 16667"/>
            </a:avLst>
          </a:prstGeom>
          <a:solidFill>
            <a:srgbClr val="E4ECE7"/>
          </a:solidFill>
          <a:ln w="12700">
            <a:solidFill>
              <a:srgbClr val="8FA99B"/>
            </a:solidFill>
            <a:prstDash val="solid"/>
          </a:ln>
        </p:spPr>
      </p:sp>
      <p:sp>
        <p:nvSpPr>
          <p:cNvPr id="22" name="Shape 20"/>
          <p:cNvSpPr/>
          <p:nvPr/>
        </p:nvSpPr>
        <p:spPr>
          <a:xfrm>
            <a:off x="8412480" y="2377440"/>
            <a:ext cx="594360" cy="219456"/>
          </a:xfrm>
          <a:prstGeom prst="roundRect">
            <a:avLst>
              <a:gd name="adj" fmla="val 16667"/>
            </a:avLst>
          </a:prstGeom>
          <a:solidFill>
            <a:srgbClr val="E4ECE7"/>
          </a:solidFill>
          <a:ln w="12700">
            <a:solidFill>
              <a:srgbClr val="8FA99B"/>
            </a:solidFill>
            <a:prstDash val="solid"/>
          </a:ln>
        </p:spPr>
      </p:sp>
      <p:sp>
        <p:nvSpPr>
          <p:cNvPr id="23" name="Shape 21"/>
          <p:cNvSpPr/>
          <p:nvPr/>
        </p:nvSpPr>
        <p:spPr>
          <a:xfrm>
            <a:off x="8412480" y="2633472"/>
            <a:ext cx="594360" cy="219456"/>
          </a:xfrm>
          <a:prstGeom prst="roundRect">
            <a:avLst>
              <a:gd name="adj" fmla="val 16667"/>
            </a:avLst>
          </a:prstGeom>
          <a:solidFill>
            <a:srgbClr val="E4ECE7"/>
          </a:solidFill>
          <a:ln w="12700">
            <a:solidFill>
              <a:srgbClr val="8FA99B"/>
            </a:solidFill>
            <a:prstDash val="solid"/>
          </a:ln>
        </p:spPr>
      </p:sp>
      <p:sp>
        <p:nvSpPr>
          <p:cNvPr id="24" name="Shape 22"/>
          <p:cNvSpPr/>
          <p:nvPr/>
        </p:nvSpPr>
        <p:spPr>
          <a:xfrm>
            <a:off x="8412480" y="2889504"/>
            <a:ext cx="594360" cy="219456"/>
          </a:xfrm>
          <a:prstGeom prst="roundRect">
            <a:avLst>
              <a:gd name="adj" fmla="val 16667"/>
            </a:avLst>
          </a:prstGeom>
          <a:solidFill>
            <a:srgbClr val="E4ECE7"/>
          </a:solidFill>
          <a:ln w="12700">
            <a:solidFill>
              <a:srgbClr val="8FA99B"/>
            </a:solidFill>
            <a:prstDash val="solid"/>
          </a:ln>
        </p:spPr>
      </p:sp>
      <p:sp>
        <p:nvSpPr>
          <p:cNvPr id="25" name="Shape 23"/>
          <p:cNvSpPr/>
          <p:nvPr/>
        </p:nvSpPr>
        <p:spPr>
          <a:xfrm>
            <a:off x="9281160" y="2121408"/>
            <a:ext cx="594360" cy="219456"/>
          </a:xfrm>
          <a:prstGeom prst="roundRect">
            <a:avLst>
              <a:gd name="adj" fmla="val 16667"/>
            </a:avLst>
          </a:prstGeom>
          <a:solidFill>
            <a:srgbClr val="E4ECE7"/>
          </a:solidFill>
          <a:ln w="12700">
            <a:solidFill>
              <a:srgbClr val="8FA99B"/>
            </a:solidFill>
            <a:prstDash val="solid"/>
          </a:ln>
        </p:spPr>
      </p:sp>
      <p:sp>
        <p:nvSpPr>
          <p:cNvPr id="26" name="Shape 24"/>
          <p:cNvSpPr/>
          <p:nvPr/>
        </p:nvSpPr>
        <p:spPr>
          <a:xfrm>
            <a:off x="9281160" y="2377440"/>
            <a:ext cx="594360" cy="219456"/>
          </a:xfrm>
          <a:prstGeom prst="roundRect">
            <a:avLst>
              <a:gd name="adj" fmla="val 16667"/>
            </a:avLst>
          </a:prstGeom>
          <a:solidFill>
            <a:srgbClr val="E4ECE7"/>
          </a:solidFill>
          <a:ln w="12700">
            <a:solidFill>
              <a:srgbClr val="8FA99B"/>
            </a:solidFill>
            <a:prstDash val="solid"/>
          </a:ln>
        </p:spPr>
      </p:sp>
      <p:sp>
        <p:nvSpPr>
          <p:cNvPr id="27" name="Shape 25"/>
          <p:cNvSpPr/>
          <p:nvPr/>
        </p:nvSpPr>
        <p:spPr>
          <a:xfrm>
            <a:off x="9281160" y="2633472"/>
            <a:ext cx="594360" cy="219456"/>
          </a:xfrm>
          <a:prstGeom prst="roundRect">
            <a:avLst>
              <a:gd name="adj" fmla="val 16667"/>
            </a:avLst>
          </a:prstGeom>
          <a:solidFill>
            <a:srgbClr val="E4ECE7"/>
          </a:solidFill>
          <a:ln w="12700">
            <a:solidFill>
              <a:srgbClr val="8FA99B"/>
            </a:solidFill>
            <a:prstDash val="solid"/>
          </a:ln>
        </p:spPr>
      </p:sp>
      <p:sp>
        <p:nvSpPr>
          <p:cNvPr id="28" name="Shape 26"/>
          <p:cNvSpPr/>
          <p:nvPr/>
        </p:nvSpPr>
        <p:spPr>
          <a:xfrm>
            <a:off x="9281160" y="2889504"/>
            <a:ext cx="594360" cy="219456"/>
          </a:xfrm>
          <a:prstGeom prst="roundRect">
            <a:avLst>
              <a:gd name="adj" fmla="val 16667"/>
            </a:avLst>
          </a:prstGeom>
          <a:solidFill>
            <a:srgbClr val="E4ECE7"/>
          </a:solidFill>
          <a:ln w="12700">
            <a:solidFill>
              <a:srgbClr val="8FA99B"/>
            </a:solidFill>
            <a:prstDash val="solid"/>
          </a:ln>
        </p:spPr>
      </p:sp>
      <p:sp>
        <p:nvSpPr>
          <p:cNvPr id="29" name="Shape 27"/>
          <p:cNvSpPr/>
          <p:nvPr/>
        </p:nvSpPr>
        <p:spPr>
          <a:xfrm>
            <a:off x="7543800" y="3291840"/>
            <a:ext cx="594360" cy="219456"/>
          </a:xfrm>
          <a:prstGeom prst="roundRect">
            <a:avLst>
              <a:gd name="adj" fmla="val 16667"/>
            </a:avLst>
          </a:prstGeom>
          <a:solidFill>
            <a:srgbClr val="E4ECE7"/>
          </a:solidFill>
          <a:ln w="12700">
            <a:solidFill>
              <a:srgbClr val="8FA99B"/>
            </a:solidFill>
            <a:prstDash val="solid"/>
          </a:ln>
        </p:spPr>
      </p:sp>
      <p:sp>
        <p:nvSpPr>
          <p:cNvPr id="30" name="Shape 28"/>
          <p:cNvSpPr/>
          <p:nvPr/>
        </p:nvSpPr>
        <p:spPr>
          <a:xfrm>
            <a:off x="7543800" y="3547872"/>
            <a:ext cx="594360" cy="219456"/>
          </a:xfrm>
          <a:prstGeom prst="roundRect">
            <a:avLst>
              <a:gd name="adj" fmla="val 16667"/>
            </a:avLst>
          </a:prstGeom>
          <a:solidFill>
            <a:srgbClr val="E4ECE7"/>
          </a:solidFill>
          <a:ln w="12700">
            <a:solidFill>
              <a:srgbClr val="8FA99B"/>
            </a:solidFill>
            <a:prstDash val="solid"/>
          </a:ln>
        </p:spPr>
      </p:sp>
      <p:sp>
        <p:nvSpPr>
          <p:cNvPr id="31" name="Shape 29"/>
          <p:cNvSpPr/>
          <p:nvPr/>
        </p:nvSpPr>
        <p:spPr>
          <a:xfrm>
            <a:off x="7543800" y="3803904"/>
            <a:ext cx="594360" cy="219456"/>
          </a:xfrm>
          <a:prstGeom prst="roundRect">
            <a:avLst>
              <a:gd name="adj" fmla="val 16667"/>
            </a:avLst>
          </a:prstGeom>
          <a:solidFill>
            <a:srgbClr val="E4ECE7"/>
          </a:solidFill>
          <a:ln w="12700">
            <a:solidFill>
              <a:srgbClr val="8FA99B"/>
            </a:solidFill>
            <a:prstDash val="solid"/>
          </a:ln>
        </p:spPr>
      </p:sp>
      <p:sp>
        <p:nvSpPr>
          <p:cNvPr id="32" name="Shape 30"/>
          <p:cNvSpPr/>
          <p:nvPr/>
        </p:nvSpPr>
        <p:spPr>
          <a:xfrm>
            <a:off x="7543800" y="4059936"/>
            <a:ext cx="594360" cy="219456"/>
          </a:xfrm>
          <a:prstGeom prst="roundRect">
            <a:avLst>
              <a:gd name="adj" fmla="val 16667"/>
            </a:avLst>
          </a:prstGeom>
          <a:solidFill>
            <a:srgbClr val="E4ECE7"/>
          </a:solidFill>
          <a:ln w="12700">
            <a:solidFill>
              <a:srgbClr val="8FA99B"/>
            </a:solidFill>
            <a:prstDash val="solid"/>
          </a:ln>
        </p:spPr>
      </p:sp>
      <p:sp>
        <p:nvSpPr>
          <p:cNvPr id="33" name="Shape 31"/>
          <p:cNvSpPr/>
          <p:nvPr/>
        </p:nvSpPr>
        <p:spPr>
          <a:xfrm>
            <a:off x="8412480" y="3291840"/>
            <a:ext cx="594360" cy="219456"/>
          </a:xfrm>
          <a:prstGeom prst="roundRect">
            <a:avLst>
              <a:gd name="adj" fmla="val 16667"/>
            </a:avLst>
          </a:prstGeom>
          <a:solidFill>
            <a:srgbClr val="E4ECE7"/>
          </a:solidFill>
          <a:ln w="12700">
            <a:solidFill>
              <a:srgbClr val="8FA99B"/>
            </a:solidFill>
            <a:prstDash val="solid"/>
          </a:ln>
        </p:spPr>
      </p:sp>
      <p:sp>
        <p:nvSpPr>
          <p:cNvPr id="34" name="Shape 32"/>
          <p:cNvSpPr/>
          <p:nvPr/>
        </p:nvSpPr>
        <p:spPr>
          <a:xfrm>
            <a:off x="8412480" y="3547872"/>
            <a:ext cx="594360" cy="219456"/>
          </a:xfrm>
          <a:prstGeom prst="roundRect">
            <a:avLst>
              <a:gd name="adj" fmla="val 16667"/>
            </a:avLst>
          </a:prstGeom>
          <a:solidFill>
            <a:srgbClr val="E4ECE7"/>
          </a:solidFill>
          <a:ln w="12700">
            <a:solidFill>
              <a:srgbClr val="8FA99B"/>
            </a:solidFill>
            <a:prstDash val="solid"/>
          </a:ln>
        </p:spPr>
      </p:sp>
      <p:sp>
        <p:nvSpPr>
          <p:cNvPr id="35" name="Shape 33"/>
          <p:cNvSpPr/>
          <p:nvPr/>
        </p:nvSpPr>
        <p:spPr>
          <a:xfrm>
            <a:off x="8412480" y="3803904"/>
            <a:ext cx="594360" cy="219456"/>
          </a:xfrm>
          <a:prstGeom prst="roundRect">
            <a:avLst>
              <a:gd name="adj" fmla="val 16667"/>
            </a:avLst>
          </a:prstGeom>
          <a:solidFill>
            <a:srgbClr val="E4ECE7"/>
          </a:solidFill>
          <a:ln w="12700">
            <a:solidFill>
              <a:srgbClr val="8FA99B"/>
            </a:solidFill>
            <a:prstDash val="solid"/>
          </a:ln>
        </p:spPr>
      </p:sp>
      <p:sp>
        <p:nvSpPr>
          <p:cNvPr id="36" name="Shape 34"/>
          <p:cNvSpPr/>
          <p:nvPr/>
        </p:nvSpPr>
        <p:spPr>
          <a:xfrm>
            <a:off x="8412480" y="4059936"/>
            <a:ext cx="594360" cy="219456"/>
          </a:xfrm>
          <a:prstGeom prst="roundRect">
            <a:avLst>
              <a:gd name="adj" fmla="val 16667"/>
            </a:avLst>
          </a:prstGeom>
          <a:solidFill>
            <a:srgbClr val="E4ECE7"/>
          </a:solidFill>
          <a:ln w="12700">
            <a:solidFill>
              <a:srgbClr val="8FA99B"/>
            </a:solidFill>
            <a:prstDash val="solid"/>
          </a:ln>
        </p:spPr>
      </p:sp>
      <p:sp>
        <p:nvSpPr>
          <p:cNvPr id="37" name="Shape 35"/>
          <p:cNvSpPr/>
          <p:nvPr/>
        </p:nvSpPr>
        <p:spPr>
          <a:xfrm>
            <a:off x="9281160" y="3291840"/>
            <a:ext cx="594360" cy="219456"/>
          </a:xfrm>
          <a:prstGeom prst="roundRect">
            <a:avLst>
              <a:gd name="adj" fmla="val 16667"/>
            </a:avLst>
          </a:prstGeom>
          <a:solidFill>
            <a:srgbClr val="E4ECE7"/>
          </a:solidFill>
          <a:ln w="12700">
            <a:solidFill>
              <a:srgbClr val="8FA99B"/>
            </a:solidFill>
            <a:prstDash val="solid"/>
          </a:ln>
        </p:spPr>
      </p:sp>
      <p:sp>
        <p:nvSpPr>
          <p:cNvPr id="38" name="Shape 36"/>
          <p:cNvSpPr/>
          <p:nvPr/>
        </p:nvSpPr>
        <p:spPr>
          <a:xfrm>
            <a:off x="9281160" y="3547872"/>
            <a:ext cx="594360" cy="219456"/>
          </a:xfrm>
          <a:prstGeom prst="roundRect">
            <a:avLst>
              <a:gd name="adj" fmla="val 16667"/>
            </a:avLst>
          </a:prstGeom>
          <a:solidFill>
            <a:srgbClr val="E4ECE7"/>
          </a:solidFill>
          <a:ln w="12700">
            <a:solidFill>
              <a:srgbClr val="8FA99B"/>
            </a:solidFill>
            <a:prstDash val="solid"/>
          </a:ln>
        </p:spPr>
      </p:sp>
      <p:sp>
        <p:nvSpPr>
          <p:cNvPr id="39" name="Shape 37"/>
          <p:cNvSpPr/>
          <p:nvPr/>
        </p:nvSpPr>
        <p:spPr>
          <a:xfrm>
            <a:off x="9281160" y="3803904"/>
            <a:ext cx="594360" cy="219456"/>
          </a:xfrm>
          <a:prstGeom prst="roundRect">
            <a:avLst>
              <a:gd name="adj" fmla="val 16667"/>
            </a:avLst>
          </a:prstGeom>
          <a:solidFill>
            <a:srgbClr val="E4ECE7"/>
          </a:solidFill>
          <a:ln w="12700">
            <a:solidFill>
              <a:srgbClr val="8FA99B"/>
            </a:solidFill>
            <a:prstDash val="solid"/>
          </a:ln>
        </p:spPr>
      </p:sp>
      <p:sp>
        <p:nvSpPr>
          <p:cNvPr id="40" name="Shape 38"/>
          <p:cNvSpPr/>
          <p:nvPr/>
        </p:nvSpPr>
        <p:spPr>
          <a:xfrm>
            <a:off x="9281160" y="4059936"/>
            <a:ext cx="594360" cy="219456"/>
          </a:xfrm>
          <a:prstGeom prst="roundRect">
            <a:avLst>
              <a:gd name="adj" fmla="val 16667"/>
            </a:avLst>
          </a:prstGeom>
          <a:solidFill>
            <a:srgbClr val="E4ECE7"/>
          </a:solidFill>
          <a:ln w="12700">
            <a:solidFill>
              <a:srgbClr val="8FA99B"/>
            </a:solidFill>
            <a:prstDash val="solid"/>
          </a:ln>
        </p:spPr>
      </p:sp>
      <p:sp>
        <p:nvSpPr>
          <p:cNvPr id="41" name="Text 39"/>
          <p:cNvSpPr txBox="1"/>
          <p:nvPr/>
        </p:nvSpPr>
        <p:spPr>
          <a:xfrm>
            <a:off x="6720840" y="4434840"/>
            <a:ext cx="3977640" cy="640080"/>
          </a:xfrm>
          <a:prstGeom prst="rect">
            <a:avLst/>
          </a:prstGeom>
          <a:noFill/>
          <a:ln/>
        </p:spPr>
        <p:txBody>
          <a:bodyPr wrap="square" lIns="0" tIns="0" rIns="0" bIns="0" rtlCol="0" anchor="t"/>
          <a:lstStyle/>
          <a:p>
            <a:pPr algn="ctr" indent="0" marL="0">
              <a:buNone/>
            </a:pPr>
            <a:r>
              <a:rPr lang="en-US" sz="1600" b="1" dirty="0">
                <a:solidFill>
                  <a:srgbClr val="435466"/>
                </a:solidFill>
                <a:latin typeface="Inter" pitchFamily="34" charset="0"/>
                <a:ea typeface="Inter" pitchFamily="34" charset="-122"/>
                <a:cs typeface="Inter" pitchFamily="34" charset="-120"/>
              </a:rPr>
              <a:t>shape (2, 3, 4)</a:t>
            </a:r>
            <a:endParaRPr lang="en-US" sz="1600" dirty="0"/>
          </a:p>
          <a:p>
            <a:pPr algn="ctr" indent="0" marL="0">
              <a:buNone/>
            </a:pPr>
            <a:r>
              <a:rPr lang="en-US" sz="1300" dirty="0">
                <a:solidFill>
                  <a:srgbClr val="66768A"/>
                </a:solidFill>
                <a:latin typeface="Inter" pitchFamily="34" charset="0"/>
                <a:ea typeface="Inter" pitchFamily="34" charset="-122"/>
                <a:cs typeface="Inter" pitchFamily="34" charset="-120"/>
              </a:rPr>
              <a:t>examples × tokens × embedding_dim</a:t>
            </a:r>
            <a:endParaRPr lang="en-US" sz="1600" dirty="0"/>
          </a:p>
        </p:txBody>
      </p:sp>
      <p:sp>
        <p:nvSpPr>
          <p:cNvPr id="42" name="Text 40"/>
          <p:cNvSpPr txBox="1"/>
          <p:nvPr/>
        </p:nvSpPr>
        <p:spPr>
          <a:xfrm>
            <a:off x="10058400" y="2880360"/>
            <a:ext cx="1508760" cy="640080"/>
          </a:xfrm>
          <a:prstGeom prst="rect">
            <a:avLst/>
          </a:prstGeom>
          <a:noFill/>
          <a:ln/>
        </p:spPr>
        <p:txBody>
          <a:bodyPr wrap="square" lIns="0" tIns="0" rIns="0" bIns="0" rtlCol="0" anchor="ctr"/>
          <a:lstStyle/>
          <a:p>
            <a:pPr indent="0" marL="0">
              <a:buNone/>
            </a:pPr>
            <a:r>
              <a:rPr lang="en-US" sz="1300" dirty="0">
                <a:solidFill>
                  <a:srgbClr val="66768A"/>
                </a:solidFill>
                <a:latin typeface="Inter" pitchFamily="34" charset="0"/>
                <a:ea typeface="Inter" pitchFamily="34" charset="-122"/>
                <a:cs typeface="Inter" pitchFamily="34" charset="-120"/>
              </a:rPr>
              <a:t>Each stack is one vector of 4 numbers.</a:t>
            </a:r>
            <a:endParaRPr lang="en-US" sz="1300" dirty="0"/>
          </a:p>
        </p:txBody>
      </p:sp>
      <p:sp>
        <p:nvSpPr>
          <p:cNvPr id="43" name="Shape 41"/>
          <p:cNvSpPr/>
          <p:nvPr/>
        </p:nvSpPr>
        <p:spPr>
          <a:xfrm>
            <a:off x="640080" y="5303520"/>
            <a:ext cx="10908792" cy="914400"/>
          </a:xfrm>
          <a:prstGeom prst="roundRect">
            <a:avLst>
              <a:gd name="adj" fmla="val 15000"/>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44" name="Shape 42"/>
          <p:cNvSpPr/>
          <p:nvPr/>
        </p:nvSpPr>
        <p:spPr>
          <a:xfrm>
            <a:off x="914400" y="5486400"/>
            <a:ext cx="548640" cy="548640"/>
          </a:xfrm>
          <a:prstGeom prst="ellipse">
            <a:avLst/>
          </a:prstGeom>
          <a:solidFill>
            <a:srgbClr val="FFFFFF"/>
          </a:solidFill>
          <a:ln w="15875">
            <a:solidFill>
              <a:srgbClr val="8FA99B"/>
            </a:solidFill>
            <a:prstDash val="solid"/>
          </a:ln>
        </p:spPr>
      </p:sp>
      <p:pic>
        <p:nvPicPr>
          <p:cNvPr id="45" name="Image 0" descr="preencoded.png">    </p:cNvPr>
          <p:cNvPicPr>
            <a:picLocks noChangeAspect="1"/>
          </p:cNvPicPr>
          <p:nvPr/>
        </p:nvPicPr>
        <p:blipFill>
          <a:blip r:embed="rId1"/>
          <a:stretch>
            <a:fillRect/>
          </a:stretch>
        </p:blipFill>
        <p:spPr>
          <a:xfrm>
            <a:off x="1042416" y="5614416"/>
            <a:ext cx="292608" cy="292608"/>
          </a:xfrm>
          <a:prstGeom prst="rect">
            <a:avLst/>
          </a:prstGeom>
        </p:spPr>
      </p:pic>
      <p:sp>
        <p:nvSpPr>
          <p:cNvPr id="46" name="Text 43"/>
          <p:cNvSpPr txBox="1"/>
          <p:nvPr/>
        </p:nvSpPr>
        <p:spPr>
          <a:xfrm>
            <a:off x="1691640" y="5413248"/>
            <a:ext cx="9628632" cy="69494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Each ID becomes a vector, so the shape gets one more number at the end.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7</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Why position matters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Word order changes meaning. But the token table ignores order.</a:t>
            </a:r>
            <a:endParaRPr lang="en-US" sz="1600" dirty="0"/>
          </a:p>
        </p:txBody>
      </p:sp>
      <p:sp>
        <p:nvSpPr>
          <p:cNvPr id="5" name="Shape 3"/>
          <p:cNvSpPr/>
          <p:nvPr/>
        </p:nvSpPr>
        <p:spPr>
          <a:xfrm>
            <a:off x="640080" y="1645920"/>
            <a:ext cx="5257800" cy="2743200"/>
          </a:xfrm>
          <a:prstGeom prst="roundRect">
            <a:avLst>
              <a:gd name="adj" fmla="val 500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828800"/>
            <a:ext cx="461772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rain before sun</a:t>
            </a:r>
            <a:endParaRPr lang="en-US" sz="2000" dirty="0"/>
          </a:p>
        </p:txBody>
      </p:sp>
      <p:sp>
        <p:nvSpPr>
          <p:cNvPr id="7" name="Text 5"/>
          <p:cNvSpPr txBox="1"/>
          <p:nvPr/>
        </p:nvSpPr>
        <p:spPr>
          <a:xfrm>
            <a:off x="960120" y="2377440"/>
            <a:ext cx="141732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position 0</a:t>
            </a:r>
            <a:endParaRPr lang="en-US" sz="1300" dirty="0"/>
          </a:p>
        </p:txBody>
      </p:sp>
      <p:sp>
        <p:nvSpPr>
          <p:cNvPr id="8" name="Text 6"/>
          <p:cNvSpPr txBox="1"/>
          <p:nvPr/>
        </p:nvSpPr>
        <p:spPr>
          <a:xfrm>
            <a:off x="960120" y="2697480"/>
            <a:ext cx="141732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"rain"</a:t>
            </a:r>
            <a:endParaRPr lang="en-US" sz="1700" dirty="0"/>
          </a:p>
        </p:txBody>
      </p:sp>
      <p:sp>
        <p:nvSpPr>
          <p:cNvPr id="9" name="Text 7"/>
          <p:cNvSpPr txBox="1"/>
          <p:nvPr/>
        </p:nvSpPr>
        <p:spPr>
          <a:xfrm>
            <a:off x="2560320" y="2377440"/>
            <a:ext cx="141732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position 1</a:t>
            </a:r>
            <a:endParaRPr lang="en-US" sz="1300" dirty="0"/>
          </a:p>
        </p:txBody>
      </p:sp>
      <p:sp>
        <p:nvSpPr>
          <p:cNvPr id="10" name="Text 8"/>
          <p:cNvSpPr txBox="1"/>
          <p:nvPr/>
        </p:nvSpPr>
        <p:spPr>
          <a:xfrm>
            <a:off x="2560320" y="2697480"/>
            <a:ext cx="141732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"before"</a:t>
            </a:r>
            <a:endParaRPr lang="en-US" sz="1700" dirty="0"/>
          </a:p>
        </p:txBody>
      </p:sp>
      <p:sp>
        <p:nvSpPr>
          <p:cNvPr id="11" name="Text 9"/>
          <p:cNvSpPr txBox="1"/>
          <p:nvPr/>
        </p:nvSpPr>
        <p:spPr>
          <a:xfrm>
            <a:off x="4160520" y="2377440"/>
            <a:ext cx="141732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position 2</a:t>
            </a:r>
            <a:endParaRPr lang="en-US" sz="1300" dirty="0"/>
          </a:p>
        </p:txBody>
      </p:sp>
      <p:sp>
        <p:nvSpPr>
          <p:cNvPr id="12" name="Text 10"/>
          <p:cNvSpPr txBox="1"/>
          <p:nvPr/>
        </p:nvSpPr>
        <p:spPr>
          <a:xfrm>
            <a:off x="4160520" y="2697480"/>
            <a:ext cx="141732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"sun"</a:t>
            </a:r>
            <a:endParaRPr lang="en-US" sz="1700" dirty="0"/>
          </a:p>
        </p:txBody>
      </p:sp>
      <p:sp>
        <p:nvSpPr>
          <p:cNvPr id="13" name="Shape 11"/>
          <p:cNvSpPr/>
          <p:nvPr/>
        </p:nvSpPr>
        <p:spPr>
          <a:xfrm>
            <a:off x="1668780" y="3273552"/>
            <a:ext cx="0" cy="292608"/>
          </a:xfrm>
          <a:prstGeom prst="line">
            <a:avLst/>
          </a:prstGeom>
          <a:noFill/>
          <a:ln w="31750">
            <a:solidFill>
              <a:srgbClr val="A9C0D8"/>
            </a:solidFill>
            <a:prstDash val="solid"/>
            <a:tailEnd type="triangle"/>
          </a:ln>
        </p:spPr>
      </p:sp>
      <p:sp>
        <p:nvSpPr>
          <p:cNvPr id="14" name="Shape 12"/>
          <p:cNvSpPr/>
          <p:nvPr/>
        </p:nvSpPr>
        <p:spPr>
          <a:xfrm>
            <a:off x="960120" y="3639312"/>
            <a:ext cx="320040" cy="365760"/>
          </a:xfrm>
          <a:prstGeom prst="roundRect">
            <a:avLst>
              <a:gd name="adj" fmla="val 14286"/>
            </a:avLst>
          </a:prstGeom>
          <a:solidFill>
            <a:srgbClr val="E4ECE7"/>
          </a:solidFill>
          <a:ln w="12700">
            <a:solidFill>
              <a:srgbClr val="8FA99B"/>
            </a:solidFill>
            <a:prstDash val="solid"/>
          </a:ln>
        </p:spPr>
      </p:sp>
      <p:sp>
        <p:nvSpPr>
          <p:cNvPr id="15" name="Shape 13"/>
          <p:cNvSpPr/>
          <p:nvPr/>
        </p:nvSpPr>
        <p:spPr>
          <a:xfrm>
            <a:off x="1325880" y="3639312"/>
            <a:ext cx="320040" cy="365760"/>
          </a:xfrm>
          <a:prstGeom prst="roundRect">
            <a:avLst>
              <a:gd name="adj" fmla="val 14286"/>
            </a:avLst>
          </a:prstGeom>
          <a:solidFill>
            <a:srgbClr val="E4ECE7"/>
          </a:solidFill>
          <a:ln w="12700">
            <a:solidFill>
              <a:srgbClr val="8FA99B"/>
            </a:solidFill>
            <a:prstDash val="solid"/>
          </a:ln>
        </p:spPr>
      </p:sp>
      <p:sp>
        <p:nvSpPr>
          <p:cNvPr id="16" name="Shape 14"/>
          <p:cNvSpPr/>
          <p:nvPr/>
        </p:nvSpPr>
        <p:spPr>
          <a:xfrm>
            <a:off x="1691640" y="3639312"/>
            <a:ext cx="320040" cy="365760"/>
          </a:xfrm>
          <a:prstGeom prst="roundRect">
            <a:avLst>
              <a:gd name="adj" fmla="val 14286"/>
            </a:avLst>
          </a:prstGeom>
          <a:solidFill>
            <a:srgbClr val="E4ECE7"/>
          </a:solidFill>
          <a:ln w="12700">
            <a:solidFill>
              <a:srgbClr val="8FA99B"/>
            </a:solidFill>
            <a:prstDash val="solid"/>
          </a:ln>
        </p:spPr>
      </p:sp>
      <p:sp>
        <p:nvSpPr>
          <p:cNvPr id="17" name="Shape 15"/>
          <p:cNvSpPr/>
          <p:nvPr/>
        </p:nvSpPr>
        <p:spPr>
          <a:xfrm>
            <a:off x="2057400" y="3639312"/>
            <a:ext cx="320040" cy="365760"/>
          </a:xfrm>
          <a:prstGeom prst="roundRect">
            <a:avLst>
              <a:gd name="adj" fmla="val 14286"/>
            </a:avLst>
          </a:prstGeom>
          <a:solidFill>
            <a:srgbClr val="E4ECE7"/>
          </a:solidFill>
          <a:ln w="12700">
            <a:solidFill>
              <a:srgbClr val="8FA99B"/>
            </a:solidFill>
            <a:prstDash val="solid"/>
          </a:ln>
        </p:spPr>
      </p:sp>
      <p:sp>
        <p:nvSpPr>
          <p:cNvPr id="18" name="Shape 16"/>
          <p:cNvSpPr/>
          <p:nvPr/>
        </p:nvSpPr>
        <p:spPr>
          <a:xfrm>
            <a:off x="6291072" y="1645920"/>
            <a:ext cx="5257800" cy="2743200"/>
          </a:xfrm>
          <a:prstGeom prst="roundRect">
            <a:avLst>
              <a:gd name="adj" fmla="val 5000"/>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9" name="Text 17"/>
          <p:cNvSpPr txBox="1"/>
          <p:nvPr/>
        </p:nvSpPr>
        <p:spPr>
          <a:xfrm>
            <a:off x="6611112" y="1828800"/>
            <a:ext cx="461772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sun before rain</a:t>
            </a:r>
            <a:endParaRPr lang="en-US" sz="2000" dirty="0"/>
          </a:p>
        </p:txBody>
      </p:sp>
      <p:sp>
        <p:nvSpPr>
          <p:cNvPr id="20" name="Text 18"/>
          <p:cNvSpPr txBox="1"/>
          <p:nvPr/>
        </p:nvSpPr>
        <p:spPr>
          <a:xfrm>
            <a:off x="6611112" y="2377440"/>
            <a:ext cx="141732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position 0</a:t>
            </a:r>
            <a:endParaRPr lang="en-US" sz="1300" dirty="0"/>
          </a:p>
        </p:txBody>
      </p:sp>
      <p:sp>
        <p:nvSpPr>
          <p:cNvPr id="21" name="Text 19"/>
          <p:cNvSpPr txBox="1"/>
          <p:nvPr/>
        </p:nvSpPr>
        <p:spPr>
          <a:xfrm>
            <a:off x="6611112" y="2697480"/>
            <a:ext cx="141732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"sun"</a:t>
            </a:r>
            <a:endParaRPr lang="en-US" sz="1700" dirty="0"/>
          </a:p>
        </p:txBody>
      </p:sp>
      <p:sp>
        <p:nvSpPr>
          <p:cNvPr id="22" name="Text 20"/>
          <p:cNvSpPr txBox="1"/>
          <p:nvPr/>
        </p:nvSpPr>
        <p:spPr>
          <a:xfrm>
            <a:off x="8211312" y="2377440"/>
            <a:ext cx="141732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position 1</a:t>
            </a:r>
            <a:endParaRPr lang="en-US" sz="1300" dirty="0"/>
          </a:p>
        </p:txBody>
      </p:sp>
      <p:sp>
        <p:nvSpPr>
          <p:cNvPr id="23" name="Text 21"/>
          <p:cNvSpPr txBox="1"/>
          <p:nvPr/>
        </p:nvSpPr>
        <p:spPr>
          <a:xfrm>
            <a:off x="8211312" y="2697480"/>
            <a:ext cx="141732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"before"</a:t>
            </a:r>
            <a:endParaRPr lang="en-US" sz="1700" dirty="0"/>
          </a:p>
        </p:txBody>
      </p:sp>
      <p:sp>
        <p:nvSpPr>
          <p:cNvPr id="24" name="Text 22"/>
          <p:cNvSpPr txBox="1"/>
          <p:nvPr/>
        </p:nvSpPr>
        <p:spPr>
          <a:xfrm>
            <a:off x="9811512" y="2377440"/>
            <a:ext cx="1417320"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position 2</a:t>
            </a:r>
            <a:endParaRPr lang="en-US" sz="1300" dirty="0"/>
          </a:p>
        </p:txBody>
      </p:sp>
      <p:sp>
        <p:nvSpPr>
          <p:cNvPr id="25" name="Text 23"/>
          <p:cNvSpPr txBox="1"/>
          <p:nvPr/>
        </p:nvSpPr>
        <p:spPr>
          <a:xfrm>
            <a:off x="9811512" y="2697480"/>
            <a:ext cx="1417320" cy="502920"/>
          </a:xfrm>
          <a:prstGeom prst="roundRect">
            <a:avLst>
              <a:gd name="adj" fmla="val 18182"/>
            </a:avLst>
          </a:prstGeom>
          <a:solidFill>
            <a:srgbClr val="E4ECE7"/>
          </a:solidFill>
          <a:ln w="15875">
            <a:solidFill>
              <a:srgbClr val="8FA99B"/>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"rain"</a:t>
            </a:r>
            <a:endParaRPr lang="en-US" sz="1700" dirty="0"/>
          </a:p>
        </p:txBody>
      </p:sp>
      <p:sp>
        <p:nvSpPr>
          <p:cNvPr id="26" name="Shape 24"/>
          <p:cNvSpPr/>
          <p:nvPr/>
        </p:nvSpPr>
        <p:spPr>
          <a:xfrm>
            <a:off x="10520172" y="3273552"/>
            <a:ext cx="0" cy="292608"/>
          </a:xfrm>
          <a:prstGeom prst="line">
            <a:avLst/>
          </a:prstGeom>
          <a:noFill/>
          <a:ln w="31750">
            <a:solidFill>
              <a:srgbClr val="A9C0D8"/>
            </a:solidFill>
            <a:prstDash val="solid"/>
            <a:tailEnd type="triangle"/>
          </a:ln>
        </p:spPr>
      </p:sp>
      <p:sp>
        <p:nvSpPr>
          <p:cNvPr id="27" name="Shape 25"/>
          <p:cNvSpPr/>
          <p:nvPr/>
        </p:nvSpPr>
        <p:spPr>
          <a:xfrm>
            <a:off x="9811512" y="3639312"/>
            <a:ext cx="320040" cy="365760"/>
          </a:xfrm>
          <a:prstGeom prst="roundRect">
            <a:avLst>
              <a:gd name="adj" fmla="val 14286"/>
            </a:avLst>
          </a:prstGeom>
          <a:solidFill>
            <a:srgbClr val="E4ECE7"/>
          </a:solidFill>
          <a:ln w="12700">
            <a:solidFill>
              <a:srgbClr val="8FA99B"/>
            </a:solidFill>
            <a:prstDash val="solid"/>
          </a:ln>
        </p:spPr>
      </p:sp>
      <p:sp>
        <p:nvSpPr>
          <p:cNvPr id="28" name="Shape 26"/>
          <p:cNvSpPr/>
          <p:nvPr/>
        </p:nvSpPr>
        <p:spPr>
          <a:xfrm>
            <a:off x="10177272" y="3639312"/>
            <a:ext cx="320040" cy="365760"/>
          </a:xfrm>
          <a:prstGeom prst="roundRect">
            <a:avLst>
              <a:gd name="adj" fmla="val 14286"/>
            </a:avLst>
          </a:prstGeom>
          <a:solidFill>
            <a:srgbClr val="E4ECE7"/>
          </a:solidFill>
          <a:ln w="12700">
            <a:solidFill>
              <a:srgbClr val="8FA99B"/>
            </a:solidFill>
            <a:prstDash val="solid"/>
          </a:ln>
        </p:spPr>
      </p:sp>
      <p:sp>
        <p:nvSpPr>
          <p:cNvPr id="29" name="Shape 27"/>
          <p:cNvSpPr/>
          <p:nvPr/>
        </p:nvSpPr>
        <p:spPr>
          <a:xfrm>
            <a:off x="10543032" y="3639312"/>
            <a:ext cx="320040" cy="365760"/>
          </a:xfrm>
          <a:prstGeom prst="roundRect">
            <a:avLst>
              <a:gd name="adj" fmla="val 14286"/>
            </a:avLst>
          </a:prstGeom>
          <a:solidFill>
            <a:srgbClr val="E4ECE7"/>
          </a:solidFill>
          <a:ln w="12700">
            <a:solidFill>
              <a:srgbClr val="8FA99B"/>
            </a:solidFill>
            <a:prstDash val="solid"/>
          </a:ln>
        </p:spPr>
      </p:sp>
      <p:sp>
        <p:nvSpPr>
          <p:cNvPr id="30" name="Shape 28"/>
          <p:cNvSpPr/>
          <p:nvPr/>
        </p:nvSpPr>
        <p:spPr>
          <a:xfrm>
            <a:off x="10908792" y="3639312"/>
            <a:ext cx="320040" cy="365760"/>
          </a:xfrm>
          <a:prstGeom prst="roundRect">
            <a:avLst>
              <a:gd name="adj" fmla="val 14286"/>
            </a:avLst>
          </a:prstGeom>
          <a:solidFill>
            <a:srgbClr val="E4ECE7"/>
          </a:solidFill>
          <a:ln w="12700">
            <a:solidFill>
              <a:srgbClr val="8FA99B"/>
            </a:solidFill>
            <a:prstDash val="solid"/>
          </a:ln>
        </p:spPr>
      </p:sp>
      <p:sp>
        <p:nvSpPr>
          <p:cNvPr id="31" name="Text 29"/>
          <p:cNvSpPr txBox="1"/>
          <p:nvPr/>
        </p:nvSpPr>
        <p:spPr>
          <a:xfrm>
            <a:off x="640080" y="4572000"/>
            <a:ext cx="10908792" cy="411480"/>
          </a:xfrm>
          <a:prstGeom prst="rect">
            <a:avLst/>
          </a:prstGeom>
          <a:noFill/>
          <a:ln/>
        </p:spPr>
        <p:txBody>
          <a:bodyPr wrap="square" lIns="0" tIns="0" rIns="0" bIns="0" rtlCol="0" anchor="ctr"/>
          <a:lstStyle/>
          <a:p>
            <a:pPr algn="ctr" indent="0" marL="0">
              <a:buNone/>
            </a:pPr>
            <a:r>
              <a:rPr lang="en-US" sz="1800" dirty="0">
                <a:solidFill>
                  <a:srgbClr val="435466"/>
                </a:solidFill>
                <a:latin typeface="Inter" pitchFamily="34" charset="0"/>
                <a:ea typeface="Inter" pitchFamily="34" charset="-122"/>
                <a:cs typeface="Inter" pitchFamily="34" charset="-120"/>
              </a:rPr>
              <a:t>"rain" gets the same token vector in both sentences.</a:t>
            </a:r>
            <a:endParaRPr lang="en-US" sz="1800" dirty="0"/>
          </a:p>
        </p:txBody>
      </p:sp>
      <p:sp>
        <p:nvSpPr>
          <p:cNvPr id="32" name="Shape 30"/>
          <p:cNvSpPr/>
          <p:nvPr/>
        </p:nvSpPr>
        <p:spPr>
          <a:xfrm>
            <a:off x="640080" y="5212080"/>
            <a:ext cx="10908792" cy="868680"/>
          </a:xfrm>
          <a:prstGeom prst="roundRect">
            <a:avLst>
              <a:gd name="adj" fmla="val 15789"/>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33" name="Shape 31"/>
          <p:cNvSpPr/>
          <p:nvPr/>
        </p:nvSpPr>
        <p:spPr>
          <a:xfrm>
            <a:off x="914400" y="5372100"/>
            <a:ext cx="548640" cy="548640"/>
          </a:xfrm>
          <a:prstGeom prst="ellipse">
            <a:avLst/>
          </a:prstGeom>
          <a:solidFill>
            <a:srgbClr val="FFFFFF"/>
          </a:solidFill>
          <a:ln w="15875">
            <a:solidFill>
              <a:srgbClr val="8FA99B"/>
            </a:solidFill>
            <a:prstDash val="solid"/>
          </a:ln>
        </p:spPr>
      </p:sp>
      <p:pic>
        <p:nvPicPr>
          <p:cNvPr id="34" name="Image 0" descr="preencoded.png">    </p:cNvPr>
          <p:cNvPicPr>
            <a:picLocks noChangeAspect="1"/>
          </p:cNvPicPr>
          <p:nvPr/>
        </p:nvPicPr>
        <p:blipFill>
          <a:blip r:embed="rId1"/>
          <a:stretch>
            <a:fillRect/>
          </a:stretch>
        </p:blipFill>
        <p:spPr>
          <a:xfrm>
            <a:off x="1042416" y="5500116"/>
            <a:ext cx="292608" cy="292608"/>
          </a:xfrm>
          <a:prstGeom prst="rect">
            <a:avLst/>
          </a:prstGeom>
        </p:spPr>
      </p:pic>
      <p:sp>
        <p:nvSpPr>
          <p:cNvPr id="35" name="Text 32"/>
          <p:cNvSpPr txBox="1"/>
          <p:nvPr/>
        </p:nvSpPr>
        <p:spPr>
          <a:xfrm>
            <a:off x="1691640" y="5321808"/>
            <a:ext cx="9628632" cy="64922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A token vector says what a token is, not where it is.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8</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Position vectors</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A second table gives every position its own vector.</a:t>
            </a:r>
            <a:endParaRPr lang="en-US" sz="1600" dirty="0"/>
          </a:p>
        </p:txBody>
      </p:sp>
      <p:sp>
        <p:nvSpPr>
          <p:cNvPr id="5" name="Text 3"/>
          <p:cNvSpPr txBox="1"/>
          <p:nvPr/>
        </p:nvSpPr>
        <p:spPr>
          <a:xfrm>
            <a:off x="640080" y="1737360"/>
            <a:ext cx="2286000" cy="502920"/>
          </a:xfrm>
          <a:prstGeom prst="rect">
            <a:avLst/>
          </a:prstGeom>
          <a:noFill/>
          <a:ln/>
        </p:spPr>
        <p:txBody>
          <a:bodyPr wrap="square" lIns="0" tIns="0" rIns="0" bIns="0" rtlCol="0" anchor="ctr"/>
          <a:lstStyle/>
          <a:p>
            <a:pPr algn="r" indent="0" marL="0">
              <a:buNone/>
            </a:pPr>
            <a:r>
              <a:rPr lang="en-US" sz="1500" dirty="0">
                <a:solidFill>
                  <a:srgbClr val="66768A"/>
                </a:solidFill>
                <a:latin typeface="Inter" pitchFamily="34" charset="0"/>
                <a:ea typeface="Inter" pitchFamily="34" charset="-122"/>
                <a:cs typeface="Inter" pitchFamily="34" charset="-120"/>
              </a:rPr>
              <a:t>token</a:t>
            </a:r>
            <a:endParaRPr lang="en-US" sz="1500" dirty="0"/>
          </a:p>
        </p:txBody>
      </p:sp>
      <p:sp>
        <p:nvSpPr>
          <p:cNvPr id="6" name="Text 4"/>
          <p:cNvSpPr txBox="1"/>
          <p:nvPr/>
        </p:nvSpPr>
        <p:spPr>
          <a:xfrm>
            <a:off x="640080" y="2423160"/>
            <a:ext cx="2286000" cy="502920"/>
          </a:xfrm>
          <a:prstGeom prst="rect">
            <a:avLst/>
          </a:prstGeom>
          <a:noFill/>
          <a:ln/>
        </p:spPr>
        <p:txBody>
          <a:bodyPr wrap="square" lIns="0" tIns="0" rIns="0" bIns="0" rtlCol="0" anchor="ctr"/>
          <a:lstStyle/>
          <a:p>
            <a:pPr algn="r" indent="0" marL="0">
              <a:buNone/>
            </a:pPr>
            <a:r>
              <a:rPr lang="en-US" sz="1500" dirty="0">
                <a:solidFill>
                  <a:srgbClr val="66768A"/>
                </a:solidFill>
                <a:latin typeface="Inter" pitchFamily="34" charset="0"/>
                <a:ea typeface="Inter" pitchFamily="34" charset="-122"/>
                <a:cs typeface="Inter" pitchFamily="34" charset="-120"/>
              </a:rPr>
              <a:t>position</a:t>
            </a:r>
            <a:endParaRPr lang="en-US" sz="1500" dirty="0"/>
          </a:p>
        </p:txBody>
      </p:sp>
      <p:sp>
        <p:nvSpPr>
          <p:cNvPr id="7" name="Text 5"/>
          <p:cNvSpPr txBox="1"/>
          <p:nvPr/>
        </p:nvSpPr>
        <p:spPr>
          <a:xfrm>
            <a:off x="640080" y="3474720"/>
            <a:ext cx="2286000" cy="411480"/>
          </a:xfrm>
          <a:prstGeom prst="rect">
            <a:avLst/>
          </a:prstGeom>
          <a:noFill/>
          <a:ln/>
        </p:spPr>
        <p:txBody>
          <a:bodyPr wrap="square" lIns="0" tIns="0" rIns="0" bIns="0" rtlCol="0" anchor="ctr"/>
          <a:lstStyle/>
          <a:p>
            <a:pPr algn="r" indent="0" marL="0">
              <a:buNone/>
            </a:pPr>
            <a:r>
              <a:rPr lang="en-US" sz="1500" dirty="0">
                <a:solidFill>
                  <a:srgbClr val="66768A"/>
                </a:solidFill>
                <a:latin typeface="Inter" pitchFamily="34" charset="0"/>
                <a:ea typeface="Inter" pitchFamily="34" charset="-122"/>
                <a:cs typeface="Inter" pitchFamily="34" charset="-120"/>
              </a:rPr>
              <a:t>position vector</a:t>
            </a:r>
            <a:endParaRPr lang="en-US" sz="1500" dirty="0"/>
          </a:p>
        </p:txBody>
      </p:sp>
      <p:sp>
        <p:nvSpPr>
          <p:cNvPr id="8" name="Text 6"/>
          <p:cNvSpPr txBox="1"/>
          <p:nvPr/>
        </p:nvSpPr>
        <p:spPr>
          <a:xfrm>
            <a:off x="3108960" y="1737360"/>
            <a:ext cx="21945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"rain"</a:t>
            </a:r>
            <a:endParaRPr lang="en-US" sz="1700" dirty="0"/>
          </a:p>
        </p:txBody>
      </p:sp>
      <p:sp>
        <p:nvSpPr>
          <p:cNvPr id="9" name="Text 7"/>
          <p:cNvSpPr txBox="1"/>
          <p:nvPr/>
        </p:nvSpPr>
        <p:spPr>
          <a:xfrm>
            <a:off x="3108960" y="2423160"/>
            <a:ext cx="219456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1800" b="1" dirty="0">
                <a:solidFill>
                  <a:srgbClr val="435466"/>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206240" y="2999232"/>
            <a:ext cx="0" cy="402336"/>
          </a:xfrm>
          <a:prstGeom prst="line">
            <a:avLst/>
          </a:prstGeom>
          <a:noFill/>
          <a:ln w="31750">
            <a:solidFill>
              <a:srgbClr val="A9C0D8"/>
            </a:solidFill>
            <a:prstDash val="solid"/>
            <a:tailEnd type="triangle"/>
          </a:ln>
        </p:spPr>
      </p:sp>
      <p:sp>
        <p:nvSpPr>
          <p:cNvPr id="11" name="Shape 9"/>
          <p:cNvSpPr/>
          <p:nvPr/>
        </p:nvSpPr>
        <p:spPr>
          <a:xfrm>
            <a:off x="3497580" y="3474720"/>
            <a:ext cx="320040" cy="365760"/>
          </a:xfrm>
          <a:prstGeom prst="roundRect">
            <a:avLst>
              <a:gd name="adj" fmla="val 14286"/>
            </a:avLst>
          </a:prstGeom>
          <a:solidFill>
            <a:srgbClr val="E8EFF7"/>
          </a:solidFill>
          <a:ln w="12700">
            <a:solidFill>
              <a:srgbClr val="A9C0D8"/>
            </a:solidFill>
            <a:prstDash val="solid"/>
          </a:ln>
        </p:spPr>
      </p:sp>
      <p:sp>
        <p:nvSpPr>
          <p:cNvPr id="12" name="Shape 10"/>
          <p:cNvSpPr/>
          <p:nvPr/>
        </p:nvSpPr>
        <p:spPr>
          <a:xfrm>
            <a:off x="3863340" y="3474720"/>
            <a:ext cx="320040" cy="365760"/>
          </a:xfrm>
          <a:prstGeom prst="roundRect">
            <a:avLst>
              <a:gd name="adj" fmla="val 14286"/>
            </a:avLst>
          </a:prstGeom>
          <a:solidFill>
            <a:srgbClr val="E8EFF7"/>
          </a:solidFill>
          <a:ln w="12700">
            <a:solidFill>
              <a:srgbClr val="A9C0D8"/>
            </a:solidFill>
            <a:prstDash val="solid"/>
          </a:ln>
        </p:spPr>
      </p:sp>
      <p:sp>
        <p:nvSpPr>
          <p:cNvPr id="13" name="Shape 11"/>
          <p:cNvSpPr/>
          <p:nvPr/>
        </p:nvSpPr>
        <p:spPr>
          <a:xfrm>
            <a:off x="4229100" y="3474720"/>
            <a:ext cx="320040" cy="365760"/>
          </a:xfrm>
          <a:prstGeom prst="roundRect">
            <a:avLst>
              <a:gd name="adj" fmla="val 14286"/>
            </a:avLst>
          </a:prstGeom>
          <a:solidFill>
            <a:srgbClr val="E8EFF7"/>
          </a:solidFill>
          <a:ln w="12700">
            <a:solidFill>
              <a:srgbClr val="A9C0D8"/>
            </a:solidFill>
            <a:prstDash val="solid"/>
          </a:ln>
        </p:spPr>
      </p:sp>
      <p:sp>
        <p:nvSpPr>
          <p:cNvPr id="14" name="Shape 12"/>
          <p:cNvSpPr/>
          <p:nvPr/>
        </p:nvSpPr>
        <p:spPr>
          <a:xfrm>
            <a:off x="4594860" y="3474720"/>
            <a:ext cx="320040" cy="365760"/>
          </a:xfrm>
          <a:prstGeom prst="roundRect">
            <a:avLst>
              <a:gd name="adj" fmla="val 14286"/>
            </a:avLst>
          </a:prstGeom>
          <a:solidFill>
            <a:srgbClr val="E8EFF7"/>
          </a:solidFill>
          <a:ln w="12700">
            <a:solidFill>
              <a:srgbClr val="A9C0D8"/>
            </a:solidFill>
            <a:prstDash val="solid"/>
          </a:ln>
        </p:spPr>
      </p:sp>
      <p:sp>
        <p:nvSpPr>
          <p:cNvPr id="15" name="Text 13"/>
          <p:cNvSpPr txBox="1"/>
          <p:nvPr/>
        </p:nvSpPr>
        <p:spPr>
          <a:xfrm>
            <a:off x="3108960" y="3877056"/>
            <a:ext cx="2194560" cy="256032"/>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vector for position 0</a:t>
            </a:r>
            <a:endParaRPr lang="en-US" sz="1200" dirty="0"/>
          </a:p>
        </p:txBody>
      </p:sp>
      <p:sp>
        <p:nvSpPr>
          <p:cNvPr id="16" name="Text 14"/>
          <p:cNvSpPr txBox="1"/>
          <p:nvPr/>
        </p:nvSpPr>
        <p:spPr>
          <a:xfrm>
            <a:off x="5852160" y="1737360"/>
            <a:ext cx="21945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"before"</a:t>
            </a:r>
            <a:endParaRPr lang="en-US" sz="1700" dirty="0"/>
          </a:p>
        </p:txBody>
      </p:sp>
      <p:sp>
        <p:nvSpPr>
          <p:cNvPr id="17" name="Text 15"/>
          <p:cNvSpPr txBox="1"/>
          <p:nvPr/>
        </p:nvSpPr>
        <p:spPr>
          <a:xfrm>
            <a:off x="5852160" y="2423160"/>
            <a:ext cx="219456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1800" b="1" dirty="0">
                <a:solidFill>
                  <a:srgbClr val="435466"/>
                </a:solidFill>
                <a:latin typeface="Inter" pitchFamily="34" charset="0"/>
                <a:ea typeface="Inter" pitchFamily="34" charset="-122"/>
                <a:cs typeface="Inter" pitchFamily="34" charset="-120"/>
              </a:rPr>
              <a:t>1</a:t>
            </a:r>
            <a:endParaRPr lang="en-US" sz="1800" dirty="0"/>
          </a:p>
        </p:txBody>
      </p:sp>
      <p:sp>
        <p:nvSpPr>
          <p:cNvPr id="18" name="Shape 16"/>
          <p:cNvSpPr/>
          <p:nvPr/>
        </p:nvSpPr>
        <p:spPr>
          <a:xfrm>
            <a:off x="6949440" y="2999232"/>
            <a:ext cx="0" cy="402336"/>
          </a:xfrm>
          <a:prstGeom prst="line">
            <a:avLst/>
          </a:prstGeom>
          <a:noFill/>
          <a:ln w="31750">
            <a:solidFill>
              <a:srgbClr val="A9C0D8"/>
            </a:solidFill>
            <a:prstDash val="solid"/>
            <a:tailEnd type="triangle"/>
          </a:ln>
        </p:spPr>
      </p:sp>
      <p:sp>
        <p:nvSpPr>
          <p:cNvPr id="19" name="Shape 17"/>
          <p:cNvSpPr/>
          <p:nvPr/>
        </p:nvSpPr>
        <p:spPr>
          <a:xfrm>
            <a:off x="6240780" y="3474720"/>
            <a:ext cx="320040" cy="365760"/>
          </a:xfrm>
          <a:prstGeom prst="roundRect">
            <a:avLst>
              <a:gd name="adj" fmla="val 14286"/>
            </a:avLst>
          </a:prstGeom>
          <a:solidFill>
            <a:srgbClr val="E8EFF7"/>
          </a:solidFill>
          <a:ln w="12700">
            <a:solidFill>
              <a:srgbClr val="A9C0D8"/>
            </a:solidFill>
            <a:prstDash val="solid"/>
          </a:ln>
        </p:spPr>
      </p:sp>
      <p:sp>
        <p:nvSpPr>
          <p:cNvPr id="20" name="Shape 18"/>
          <p:cNvSpPr/>
          <p:nvPr/>
        </p:nvSpPr>
        <p:spPr>
          <a:xfrm>
            <a:off x="6606540" y="3474720"/>
            <a:ext cx="320040" cy="365760"/>
          </a:xfrm>
          <a:prstGeom prst="roundRect">
            <a:avLst>
              <a:gd name="adj" fmla="val 14286"/>
            </a:avLst>
          </a:prstGeom>
          <a:solidFill>
            <a:srgbClr val="E8EFF7"/>
          </a:solidFill>
          <a:ln w="12700">
            <a:solidFill>
              <a:srgbClr val="A9C0D8"/>
            </a:solidFill>
            <a:prstDash val="solid"/>
          </a:ln>
        </p:spPr>
      </p:sp>
      <p:sp>
        <p:nvSpPr>
          <p:cNvPr id="21" name="Shape 19"/>
          <p:cNvSpPr/>
          <p:nvPr/>
        </p:nvSpPr>
        <p:spPr>
          <a:xfrm>
            <a:off x="6972300" y="3474720"/>
            <a:ext cx="320040" cy="365760"/>
          </a:xfrm>
          <a:prstGeom prst="roundRect">
            <a:avLst>
              <a:gd name="adj" fmla="val 14286"/>
            </a:avLst>
          </a:prstGeom>
          <a:solidFill>
            <a:srgbClr val="E8EFF7"/>
          </a:solidFill>
          <a:ln w="12700">
            <a:solidFill>
              <a:srgbClr val="A9C0D8"/>
            </a:solidFill>
            <a:prstDash val="solid"/>
          </a:ln>
        </p:spPr>
      </p:sp>
      <p:sp>
        <p:nvSpPr>
          <p:cNvPr id="22" name="Shape 20"/>
          <p:cNvSpPr/>
          <p:nvPr/>
        </p:nvSpPr>
        <p:spPr>
          <a:xfrm>
            <a:off x="7338060" y="3474720"/>
            <a:ext cx="320040" cy="365760"/>
          </a:xfrm>
          <a:prstGeom prst="roundRect">
            <a:avLst>
              <a:gd name="adj" fmla="val 14286"/>
            </a:avLst>
          </a:prstGeom>
          <a:solidFill>
            <a:srgbClr val="E8EFF7"/>
          </a:solidFill>
          <a:ln w="12700">
            <a:solidFill>
              <a:srgbClr val="A9C0D8"/>
            </a:solidFill>
            <a:prstDash val="solid"/>
          </a:ln>
        </p:spPr>
      </p:sp>
      <p:sp>
        <p:nvSpPr>
          <p:cNvPr id="23" name="Text 21"/>
          <p:cNvSpPr txBox="1"/>
          <p:nvPr/>
        </p:nvSpPr>
        <p:spPr>
          <a:xfrm>
            <a:off x="5852160" y="3877056"/>
            <a:ext cx="2194560" cy="256032"/>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vector for position 1</a:t>
            </a:r>
            <a:endParaRPr lang="en-US" sz="1200" dirty="0"/>
          </a:p>
        </p:txBody>
      </p:sp>
      <p:sp>
        <p:nvSpPr>
          <p:cNvPr id="24" name="Text 22"/>
          <p:cNvSpPr txBox="1"/>
          <p:nvPr/>
        </p:nvSpPr>
        <p:spPr>
          <a:xfrm>
            <a:off x="8595360" y="1737360"/>
            <a:ext cx="2194560" cy="502920"/>
          </a:xfrm>
          <a:prstGeom prst="roundRect">
            <a:avLst>
              <a:gd name="adj" fmla="val 18182"/>
            </a:avLst>
          </a:prstGeom>
          <a:solidFill>
            <a:srgbClr val="FFFFFF"/>
          </a:solidFill>
          <a:ln w="15875">
            <a:solidFill>
              <a:srgbClr val="D9E1E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"sun"</a:t>
            </a:r>
            <a:endParaRPr lang="en-US" sz="1700" dirty="0"/>
          </a:p>
        </p:txBody>
      </p:sp>
      <p:sp>
        <p:nvSpPr>
          <p:cNvPr id="25" name="Text 23"/>
          <p:cNvSpPr txBox="1"/>
          <p:nvPr/>
        </p:nvSpPr>
        <p:spPr>
          <a:xfrm>
            <a:off x="8595360" y="2423160"/>
            <a:ext cx="2194560" cy="502920"/>
          </a:xfrm>
          <a:prstGeom prst="roundRect">
            <a:avLst>
              <a:gd name="adj" fmla="val 18182"/>
            </a:avLst>
          </a:prstGeom>
          <a:solidFill>
            <a:srgbClr val="E8EFF7"/>
          </a:solidFill>
          <a:ln w="15875">
            <a:solidFill>
              <a:srgbClr val="A9C0D8"/>
            </a:solidFill>
          </a:ln>
        </p:spPr>
        <p:txBody>
          <a:bodyPr wrap="square" lIns="0" tIns="0" rIns="0" bIns="0" rtlCol="0" anchor="ctr"/>
          <a:lstStyle/>
          <a:p>
            <a:pPr algn="ctr" indent="0" marL="0">
              <a:buNone/>
            </a:pPr>
            <a:r>
              <a:rPr lang="en-US" sz="1800" b="1" dirty="0">
                <a:solidFill>
                  <a:srgbClr val="435466"/>
                </a:solidFill>
                <a:latin typeface="Inter" pitchFamily="34" charset="0"/>
                <a:ea typeface="Inter" pitchFamily="34" charset="-122"/>
                <a:cs typeface="Inter" pitchFamily="34" charset="-120"/>
              </a:rPr>
              <a:t>2</a:t>
            </a:r>
            <a:endParaRPr lang="en-US" sz="1800" dirty="0"/>
          </a:p>
        </p:txBody>
      </p:sp>
      <p:sp>
        <p:nvSpPr>
          <p:cNvPr id="26" name="Shape 24"/>
          <p:cNvSpPr/>
          <p:nvPr/>
        </p:nvSpPr>
        <p:spPr>
          <a:xfrm>
            <a:off x="9692640" y="2999232"/>
            <a:ext cx="0" cy="402336"/>
          </a:xfrm>
          <a:prstGeom prst="line">
            <a:avLst/>
          </a:prstGeom>
          <a:noFill/>
          <a:ln w="31750">
            <a:solidFill>
              <a:srgbClr val="A9C0D8"/>
            </a:solidFill>
            <a:prstDash val="solid"/>
            <a:tailEnd type="triangle"/>
          </a:ln>
        </p:spPr>
      </p:sp>
      <p:sp>
        <p:nvSpPr>
          <p:cNvPr id="27" name="Shape 25"/>
          <p:cNvSpPr/>
          <p:nvPr/>
        </p:nvSpPr>
        <p:spPr>
          <a:xfrm>
            <a:off x="8983980" y="3474720"/>
            <a:ext cx="320040" cy="365760"/>
          </a:xfrm>
          <a:prstGeom prst="roundRect">
            <a:avLst>
              <a:gd name="adj" fmla="val 14286"/>
            </a:avLst>
          </a:prstGeom>
          <a:solidFill>
            <a:srgbClr val="E8EFF7"/>
          </a:solidFill>
          <a:ln w="12700">
            <a:solidFill>
              <a:srgbClr val="A9C0D8"/>
            </a:solidFill>
            <a:prstDash val="solid"/>
          </a:ln>
        </p:spPr>
      </p:sp>
      <p:sp>
        <p:nvSpPr>
          <p:cNvPr id="28" name="Shape 26"/>
          <p:cNvSpPr/>
          <p:nvPr/>
        </p:nvSpPr>
        <p:spPr>
          <a:xfrm>
            <a:off x="9349740" y="3474720"/>
            <a:ext cx="320040" cy="365760"/>
          </a:xfrm>
          <a:prstGeom prst="roundRect">
            <a:avLst>
              <a:gd name="adj" fmla="val 14286"/>
            </a:avLst>
          </a:prstGeom>
          <a:solidFill>
            <a:srgbClr val="E8EFF7"/>
          </a:solidFill>
          <a:ln w="12700">
            <a:solidFill>
              <a:srgbClr val="A9C0D8"/>
            </a:solidFill>
            <a:prstDash val="solid"/>
          </a:ln>
        </p:spPr>
      </p:sp>
      <p:sp>
        <p:nvSpPr>
          <p:cNvPr id="29" name="Shape 27"/>
          <p:cNvSpPr/>
          <p:nvPr/>
        </p:nvSpPr>
        <p:spPr>
          <a:xfrm>
            <a:off x="9715500" y="3474720"/>
            <a:ext cx="320040" cy="365760"/>
          </a:xfrm>
          <a:prstGeom prst="roundRect">
            <a:avLst>
              <a:gd name="adj" fmla="val 14286"/>
            </a:avLst>
          </a:prstGeom>
          <a:solidFill>
            <a:srgbClr val="E8EFF7"/>
          </a:solidFill>
          <a:ln w="12700">
            <a:solidFill>
              <a:srgbClr val="A9C0D8"/>
            </a:solidFill>
            <a:prstDash val="solid"/>
          </a:ln>
        </p:spPr>
      </p:sp>
      <p:sp>
        <p:nvSpPr>
          <p:cNvPr id="30" name="Shape 28"/>
          <p:cNvSpPr/>
          <p:nvPr/>
        </p:nvSpPr>
        <p:spPr>
          <a:xfrm>
            <a:off x="10081260" y="3474720"/>
            <a:ext cx="320040" cy="365760"/>
          </a:xfrm>
          <a:prstGeom prst="roundRect">
            <a:avLst>
              <a:gd name="adj" fmla="val 14286"/>
            </a:avLst>
          </a:prstGeom>
          <a:solidFill>
            <a:srgbClr val="E8EFF7"/>
          </a:solidFill>
          <a:ln w="12700">
            <a:solidFill>
              <a:srgbClr val="A9C0D8"/>
            </a:solidFill>
            <a:prstDash val="solid"/>
          </a:ln>
        </p:spPr>
      </p:sp>
      <p:sp>
        <p:nvSpPr>
          <p:cNvPr id="31" name="Text 29"/>
          <p:cNvSpPr txBox="1"/>
          <p:nvPr/>
        </p:nvSpPr>
        <p:spPr>
          <a:xfrm>
            <a:off x="8595360" y="3877056"/>
            <a:ext cx="2194560" cy="256032"/>
          </a:xfrm>
          <a:prstGeom prst="rect">
            <a:avLst/>
          </a:prstGeom>
          <a:noFill/>
          <a:ln/>
        </p:spPr>
        <p:txBody>
          <a:bodyPr wrap="square" lIns="0" tIns="0" rIns="0" bIns="0" rtlCol="0" anchor="t"/>
          <a:lstStyle/>
          <a:p>
            <a:pPr algn="ctr" indent="0" marL="0">
              <a:buNone/>
            </a:pPr>
            <a:r>
              <a:rPr lang="en-US" sz="1200" dirty="0">
                <a:solidFill>
                  <a:srgbClr val="66768A"/>
                </a:solidFill>
                <a:latin typeface="Inter" pitchFamily="34" charset="0"/>
                <a:ea typeface="Inter" pitchFamily="34" charset="-122"/>
                <a:cs typeface="Inter" pitchFamily="34" charset="-120"/>
              </a:rPr>
              <a:t>vector for position 2</a:t>
            </a:r>
            <a:endParaRPr lang="en-US" sz="1200" dirty="0"/>
          </a:p>
        </p:txBody>
      </p:sp>
      <p:sp>
        <p:nvSpPr>
          <p:cNvPr id="32" name="Shape 30"/>
          <p:cNvSpPr/>
          <p:nvPr/>
        </p:nvSpPr>
        <p:spPr>
          <a:xfrm>
            <a:off x="640080" y="4251960"/>
            <a:ext cx="10908792" cy="868680"/>
          </a:xfrm>
          <a:prstGeom prst="roundRect">
            <a:avLst>
              <a:gd name="adj" fmla="val 15789"/>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33" name="Text 31"/>
          <p:cNvSpPr txBox="1"/>
          <p:nvPr/>
        </p:nvSpPr>
        <p:spPr>
          <a:xfrm>
            <a:off x="914400" y="4279392"/>
            <a:ext cx="10424160" cy="822960"/>
          </a:xfrm>
          <a:prstGeom prst="rect">
            <a:avLst/>
          </a:prstGeom>
          <a:noFill/>
          <a:ln/>
        </p:spPr>
        <p:txBody>
          <a:bodyPr wrap="square" lIns="0" tIns="0" rIns="0" bIns="0" rtlCol="0" anchor="ctr"/>
          <a:lstStyle/>
          <a:p>
            <a:pPr indent="0" marL="0">
              <a:spcAft>
                <a:spcPts val="400"/>
              </a:spcAft>
              <a:buNone/>
            </a:pPr>
            <a:r>
              <a:rPr lang="en-US" sz="1600" b="1" dirty="0">
                <a:solidFill>
                  <a:srgbClr val="435466"/>
                </a:solidFill>
                <a:latin typeface="Inter" pitchFamily="34" charset="0"/>
                <a:ea typeface="Inter" pitchFamily="34" charset="-122"/>
                <a:cs typeface="Inter" pitchFamily="34" charset="-120"/>
              </a:rPr>
              <a:t>Counted automatically: </a:t>
            </a:r>
            <a:pPr indent="0" marL="0">
              <a:spcAft>
                <a:spcPts val="400"/>
              </a:spcAft>
              <a:buNone/>
            </a:pPr>
            <a:r>
              <a:rPr lang="en-US" sz="1600" dirty="0">
                <a:solidFill>
                  <a:srgbClr val="435466"/>
                </a:solidFill>
                <a:latin typeface="Inter" pitchFamily="34" charset="0"/>
                <a:ea typeface="Inter" pitchFamily="34" charset="-122"/>
                <a:cs typeface="Inter" pitchFamily="34" charset="-120"/>
              </a:rPr>
              <a:t>0, 1, 2 ... up to the longest input allowed.</a:t>
            </a:r>
            <a:endParaRPr lang="en-US" sz="1600" dirty="0"/>
          </a:p>
          <a:p>
            <a:pPr indent="0" marL="0">
              <a:spcAft>
                <a:spcPts val="400"/>
              </a:spcAft>
              <a:buNone/>
            </a:pPr>
            <a:r>
              <a:rPr lang="en-US" sz="1600" b="1" dirty="0">
                <a:solidFill>
                  <a:srgbClr val="435466"/>
                </a:solidFill>
                <a:latin typeface="Inter" pitchFamily="34" charset="0"/>
                <a:ea typeface="Inter" pitchFamily="34" charset="-122"/>
                <a:cs typeface="Inter" pitchFamily="34" charset="-120"/>
              </a:rPr>
              <a:t>Absolute: </a:t>
            </a:r>
            <a:pPr indent="0" marL="0">
              <a:spcAft>
                <a:spcPts val="400"/>
              </a:spcAft>
              <a:buNone/>
            </a:pPr>
            <a:r>
              <a:rPr lang="en-US" sz="1600" dirty="0">
                <a:solidFill>
                  <a:srgbClr val="435466"/>
                </a:solidFill>
                <a:latin typeface="Inter" pitchFamily="34" charset="0"/>
                <a:ea typeface="Inter" pitchFamily="34" charset="-122"/>
                <a:cs typeface="Inter" pitchFamily="34" charset="-120"/>
              </a:rPr>
              <a:t>position 2 always gets the same vector, whatever token sits there.</a:t>
            </a:r>
            <a:endParaRPr lang="en-US" sz="1600" dirty="0"/>
          </a:p>
        </p:txBody>
      </p:sp>
      <p:sp>
        <p:nvSpPr>
          <p:cNvPr id="34" name="Shape 32"/>
          <p:cNvSpPr/>
          <p:nvPr/>
        </p:nvSpPr>
        <p:spPr>
          <a:xfrm>
            <a:off x="640080" y="5303520"/>
            <a:ext cx="10908792" cy="822960"/>
          </a:xfrm>
          <a:prstGeom prst="roundRect">
            <a:avLst>
              <a:gd name="adj" fmla="val 1666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35" name="Shape 33"/>
          <p:cNvSpPr/>
          <p:nvPr/>
        </p:nvSpPr>
        <p:spPr>
          <a:xfrm>
            <a:off x="914400" y="5440680"/>
            <a:ext cx="548640" cy="548640"/>
          </a:xfrm>
          <a:prstGeom prst="ellipse">
            <a:avLst/>
          </a:prstGeom>
          <a:solidFill>
            <a:srgbClr val="FFFFFF"/>
          </a:solidFill>
          <a:ln w="15875">
            <a:solidFill>
              <a:srgbClr val="8FA99B"/>
            </a:solidFill>
            <a:prstDash val="solid"/>
          </a:ln>
        </p:spPr>
      </p:sp>
      <p:pic>
        <p:nvPicPr>
          <p:cNvPr id="36" name="Image 0" descr="preencoded.png">    </p:cNvPr>
          <p:cNvPicPr>
            <a:picLocks noChangeAspect="1"/>
          </p:cNvPicPr>
          <p:nvPr/>
        </p:nvPicPr>
        <p:blipFill>
          <a:blip r:embed="rId1"/>
          <a:stretch>
            <a:fillRect/>
          </a:stretch>
        </p:blipFill>
        <p:spPr>
          <a:xfrm>
            <a:off x="1042416" y="5568696"/>
            <a:ext cx="292608" cy="292608"/>
          </a:xfrm>
          <a:prstGeom prst="rect">
            <a:avLst/>
          </a:prstGeom>
        </p:spPr>
      </p:pic>
      <p:sp>
        <p:nvSpPr>
          <p:cNvPr id="37" name="Text 34"/>
          <p:cNvSpPr txBox="1"/>
          <p:nvPr/>
        </p:nvSpPr>
        <p:spPr>
          <a:xfrm>
            <a:off x="1691640" y="5413248"/>
            <a:ext cx="9628632" cy="60350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A position vector says where a token is.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9</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Adding them together</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Both vectors are the same length, so they are added number by number.</a:t>
            </a:r>
            <a:endParaRPr lang="en-US" sz="1600" dirty="0"/>
          </a:p>
        </p:txBody>
      </p:sp>
      <p:sp>
        <p:nvSpPr>
          <p:cNvPr id="5" name="Shape 3"/>
          <p:cNvSpPr/>
          <p:nvPr/>
        </p:nvSpPr>
        <p:spPr>
          <a:xfrm>
            <a:off x="2103120" y="1645920"/>
            <a:ext cx="7982712" cy="2971800"/>
          </a:xfrm>
          <a:prstGeom prst="roundRect">
            <a:avLst>
              <a:gd name="adj" fmla="val 4615"/>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2423160" y="1828800"/>
            <a:ext cx="7342632"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Example: "rain" at position 2</a:t>
            </a:r>
            <a:endParaRPr lang="en-US" sz="2000" dirty="0"/>
          </a:p>
        </p:txBody>
      </p:sp>
      <p:sp>
        <p:nvSpPr>
          <p:cNvPr id="7" name="Text 5"/>
          <p:cNvSpPr txBox="1"/>
          <p:nvPr/>
        </p:nvSpPr>
        <p:spPr>
          <a:xfrm>
            <a:off x="2377440" y="2350008"/>
            <a:ext cx="2560320" cy="603504"/>
          </a:xfrm>
          <a:prstGeom prst="rect">
            <a:avLst/>
          </a:prstGeom>
          <a:noFill/>
          <a:ln/>
        </p:spPr>
        <p:txBody>
          <a:bodyPr wrap="square" lIns="0" tIns="0" rIns="0" bIns="0" rtlCol="0" anchor="ctr"/>
          <a:lstStyle/>
          <a:p>
            <a:pPr algn="r" indent="0" marL="0">
              <a:buNone/>
            </a:pPr>
            <a:r>
              <a:rPr lang="en-US" sz="1500" b="1" dirty="0">
                <a:solidFill>
                  <a:srgbClr val="435466"/>
                </a:solidFill>
                <a:latin typeface="Inter" pitchFamily="34" charset="0"/>
                <a:ea typeface="Inter" pitchFamily="34" charset="-122"/>
                <a:cs typeface="Inter" pitchFamily="34" charset="-120"/>
              </a:rPr>
              <a:t>token vector</a:t>
            </a:r>
            <a:endParaRPr lang="en-US" sz="1500" dirty="0"/>
          </a:p>
          <a:p>
            <a:pPr algn="r" indent="0" marL="0">
              <a:buNone/>
            </a:pPr>
            <a:r>
              <a:rPr lang="en-US" sz="1200" dirty="0">
                <a:solidFill>
                  <a:srgbClr val="66768A"/>
                </a:solidFill>
                <a:latin typeface="Inter" pitchFamily="34" charset="0"/>
                <a:ea typeface="Inter" pitchFamily="34" charset="-122"/>
                <a:cs typeface="Inter" pitchFamily="34" charset="-120"/>
              </a:rPr>
              <a:t>what: "rain"</a:t>
            </a:r>
            <a:endParaRPr lang="en-US" sz="1500" dirty="0"/>
          </a:p>
        </p:txBody>
      </p:sp>
      <p:sp>
        <p:nvSpPr>
          <p:cNvPr id="8" name="Text 6"/>
          <p:cNvSpPr txBox="1"/>
          <p:nvPr/>
        </p:nvSpPr>
        <p:spPr>
          <a:xfrm>
            <a:off x="5120640" y="2423160"/>
            <a:ext cx="82296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0.7</a:t>
            </a:r>
            <a:endParaRPr lang="en-US" sz="1700" dirty="0"/>
          </a:p>
        </p:txBody>
      </p:sp>
      <p:sp>
        <p:nvSpPr>
          <p:cNvPr id="9" name="Text 7"/>
          <p:cNvSpPr txBox="1"/>
          <p:nvPr/>
        </p:nvSpPr>
        <p:spPr>
          <a:xfrm>
            <a:off x="6080760" y="2423160"/>
            <a:ext cx="82296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0.2</a:t>
            </a:r>
            <a:endParaRPr lang="en-US" sz="1700" dirty="0"/>
          </a:p>
        </p:txBody>
      </p:sp>
      <p:sp>
        <p:nvSpPr>
          <p:cNvPr id="10" name="Text 8"/>
          <p:cNvSpPr txBox="1"/>
          <p:nvPr/>
        </p:nvSpPr>
        <p:spPr>
          <a:xfrm>
            <a:off x="7040880" y="2423160"/>
            <a:ext cx="82296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-0.5</a:t>
            </a:r>
            <a:endParaRPr lang="en-US" sz="1700" dirty="0"/>
          </a:p>
        </p:txBody>
      </p:sp>
      <p:sp>
        <p:nvSpPr>
          <p:cNvPr id="11" name="Text 9"/>
          <p:cNvSpPr txBox="1"/>
          <p:nvPr/>
        </p:nvSpPr>
        <p:spPr>
          <a:xfrm>
            <a:off x="8001000" y="2423160"/>
            <a:ext cx="822960" cy="457200"/>
          </a:xfrm>
          <a:prstGeom prst="roundRect">
            <a:avLst>
              <a:gd name="adj" fmla="val 20000"/>
            </a:avLst>
          </a:prstGeom>
          <a:solidFill>
            <a:srgbClr val="E4ECE7"/>
          </a:solidFill>
          <a:ln w="15875">
            <a:solidFill>
              <a:srgbClr val="8FA99B"/>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0.4</a:t>
            </a:r>
            <a:endParaRPr lang="en-US" sz="1700" dirty="0"/>
          </a:p>
        </p:txBody>
      </p:sp>
      <p:sp>
        <p:nvSpPr>
          <p:cNvPr id="12" name="Text 10"/>
          <p:cNvSpPr txBox="1"/>
          <p:nvPr/>
        </p:nvSpPr>
        <p:spPr>
          <a:xfrm>
            <a:off x="2377440" y="2944368"/>
            <a:ext cx="2560320" cy="603504"/>
          </a:xfrm>
          <a:prstGeom prst="rect">
            <a:avLst/>
          </a:prstGeom>
          <a:noFill/>
          <a:ln/>
        </p:spPr>
        <p:txBody>
          <a:bodyPr wrap="square" lIns="0" tIns="0" rIns="0" bIns="0" rtlCol="0" anchor="ctr"/>
          <a:lstStyle/>
          <a:p>
            <a:pPr algn="r" indent="0" marL="0">
              <a:buNone/>
            </a:pPr>
            <a:r>
              <a:rPr lang="en-US" sz="1500" b="1" dirty="0">
                <a:solidFill>
                  <a:srgbClr val="435466"/>
                </a:solidFill>
                <a:latin typeface="Inter" pitchFamily="34" charset="0"/>
                <a:ea typeface="Inter" pitchFamily="34" charset="-122"/>
                <a:cs typeface="Inter" pitchFamily="34" charset="-120"/>
              </a:rPr>
              <a:t>+ position vector</a:t>
            </a:r>
            <a:endParaRPr lang="en-US" sz="1500" dirty="0"/>
          </a:p>
          <a:p>
            <a:pPr algn="r" indent="0" marL="0">
              <a:buNone/>
            </a:pPr>
            <a:r>
              <a:rPr lang="en-US" sz="1200" dirty="0">
                <a:solidFill>
                  <a:srgbClr val="66768A"/>
                </a:solidFill>
                <a:latin typeface="Inter" pitchFamily="34" charset="0"/>
                <a:ea typeface="Inter" pitchFamily="34" charset="-122"/>
                <a:cs typeface="Inter" pitchFamily="34" charset="-120"/>
              </a:rPr>
              <a:t>where: position 2</a:t>
            </a:r>
            <a:endParaRPr lang="en-US" sz="1500" dirty="0"/>
          </a:p>
        </p:txBody>
      </p:sp>
      <p:sp>
        <p:nvSpPr>
          <p:cNvPr id="13" name="Text 11"/>
          <p:cNvSpPr txBox="1"/>
          <p:nvPr/>
        </p:nvSpPr>
        <p:spPr>
          <a:xfrm>
            <a:off x="5120640" y="3017520"/>
            <a:ext cx="82296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0.1</a:t>
            </a:r>
            <a:endParaRPr lang="en-US" sz="1700" dirty="0"/>
          </a:p>
        </p:txBody>
      </p:sp>
      <p:sp>
        <p:nvSpPr>
          <p:cNvPr id="14" name="Text 12"/>
          <p:cNvSpPr txBox="1"/>
          <p:nvPr/>
        </p:nvSpPr>
        <p:spPr>
          <a:xfrm>
            <a:off x="6080760" y="3017520"/>
            <a:ext cx="82296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-0.3</a:t>
            </a:r>
            <a:endParaRPr lang="en-US" sz="1700" dirty="0"/>
          </a:p>
        </p:txBody>
      </p:sp>
      <p:sp>
        <p:nvSpPr>
          <p:cNvPr id="15" name="Text 13"/>
          <p:cNvSpPr txBox="1"/>
          <p:nvPr/>
        </p:nvSpPr>
        <p:spPr>
          <a:xfrm>
            <a:off x="7040880" y="3017520"/>
            <a:ext cx="82296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0.2</a:t>
            </a:r>
            <a:endParaRPr lang="en-US" sz="1700" dirty="0"/>
          </a:p>
        </p:txBody>
      </p:sp>
      <p:sp>
        <p:nvSpPr>
          <p:cNvPr id="16" name="Text 14"/>
          <p:cNvSpPr txBox="1"/>
          <p:nvPr/>
        </p:nvSpPr>
        <p:spPr>
          <a:xfrm>
            <a:off x="8001000" y="3017520"/>
            <a:ext cx="822960" cy="457200"/>
          </a:xfrm>
          <a:prstGeom prst="roundRect">
            <a:avLst>
              <a:gd name="adj" fmla="val 20000"/>
            </a:avLst>
          </a:prstGeom>
          <a:solidFill>
            <a:srgbClr val="E8EFF7"/>
          </a:solidFill>
          <a:ln w="15875">
            <a:solidFill>
              <a:srgbClr val="A9C0D8"/>
            </a:solidFill>
          </a:ln>
        </p:spPr>
        <p:txBody>
          <a:bodyPr wrap="square" lIns="0" tIns="0" rIns="0" bIns="0" rtlCol="0" anchor="ctr"/>
          <a:lstStyle/>
          <a:p>
            <a:pPr algn="ctr" indent="0" marL="0">
              <a:buNone/>
            </a:pPr>
            <a:r>
              <a:rPr lang="en-US" sz="1700" dirty="0">
                <a:solidFill>
                  <a:srgbClr val="435466"/>
                </a:solidFill>
                <a:latin typeface="Inter" pitchFamily="34" charset="0"/>
                <a:ea typeface="Inter" pitchFamily="34" charset="-122"/>
                <a:cs typeface="Inter" pitchFamily="34" charset="-120"/>
              </a:rPr>
              <a:t>0.0</a:t>
            </a:r>
            <a:endParaRPr lang="en-US" sz="1700" dirty="0"/>
          </a:p>
        </p:txBody>
      </p:sp>
      <p:sp>
        <p:nvSpPr>
          <p:cNvPr id="17" name="Shape 15"/>
          <p:cNvSpPr/>
          <p:nvPr/>
        </p:nvSpPr>
        <p:spPr>
          <a:xfrm>
            <a:off x="5120640" y="3630168"/>
            <a:ext cx="3703320" cy="0"/>
          </a:xfrm>
          <a:prstGeom prst="line">
            <a:avLst/>
          </a:prstGeom>
          <a:noFill/>
          <a:ln w="15875">
            <a:solidFill>
              <a:srgbClr val="435466"/>
            </a:solidFill>
            <a:prstDash val="solid"/>
          </a:ln>
        </p:spPr>
      </p:sp>
      <p:sp>
        <p:nvSpPr>
          <p:cNvPr id="18" name="Text 16"/>
          <p:cNvSpPr txBox="1"/>
          <p:nvPr/>
        </p:nvSpPr>
        <p:spPr>
          <a:xfrm>
            <a:off x="2377440" y="3721608"/>
            <a:ext cx="2560320" cy="603504"/>
          </a:xfrm>
          <a:prstGeom prst="rect">
            <a:avLst/>
          </a:prstGeom>
          <a:noFill/>
          <a:ln/>
        </p:spPr>
        <p:txBody>
          <a:bodyPr wrap="square" lIns="0" tIns="0" rIns="0" bIns="0" rtlCol="0" anchor="ctr"/>
          <a:lstStyle/>
          <a:p>
            <a:pPr algn="r" indent="0" marL="0">
              <a:buNone/>
            </a:pPr>
            <a:r>
              <a:rPr lang="en-US" sz="1500" b="1" dirty="0">
                <a:solidFill>
                  <a:srgbClr val="435466"/>
                </a:solidFill>
                <a:latin typeface="Inter" pitchFamily="34" charset="0"/>
                <a:ea typeface="Inter" pitchFamily="34" charset="-122"/>
                <a:cs typeface="Inter" pitchFamily="34" charset="-120"/>
              </a:rPr>
              <a:t>= input vector</a:t>
            </a:r>
            <a:endParaRPr lang="en-US" sz="1500" dirty="0"/>
          </a:p>
          <a:p>
            <a:pPr algn="r" indent="0" marL="0">
              <a:buNone/>
            </a:pPr>
            <a:r>
              <a:rPr lang="en-US" sz="1200" dirty="0">
                <a:solidFill>
                  <a:srgbClr val="66768A"/>
                </a:solidFill>
                <a:latin typeface="Inter" pitchFamily="34" charset="0"/>
                <a:ea typeface="Inter" pitchFamily="34" charset="-122"/>
                <a:cs typeface="Inter" pitchFamily="34" charset="-120"/>
              </a:rPr>
              <a:t>what + where</a:t>
            </a:r>
            <a:endParaRPr lang="en-US" sz="1500" dirty="0"/>
          </a:p>
        </p:txBody>
      </p:sp>
      <p:sp>
        <p:nvSpPr>
          <p:cNvPr id="19" name="Text 17"/>
          <p:cNvSpPr txBox="1"/>
          <p:nvPr/>
        </p:nvSpPr>
        <p:spPr>
          <a:xfrm>
            <a:off x="5120640" y="3794760"/>
            <a:ext cx="822960" cy="457200"/>
          </a:xfrm>
          <a:prstGeom prst="roundRect">
            <a:avLst>
              <a:gd name="adj" fmla="val 20000"/>
            </a:avLst>
          </a:prstGeom>
          <a:solidFill>
            <a:srgbClr val="FFFFFF"/>
          </a:solidFill>
          <a:ln w="15875">
            <a:solidFill>
              <a:srgbClr val="D9E1E8"/>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0.8</a:t>
            </a:r>
            <a:endParaRPr lang="en-US" sz="1700" dirty="0"/>
          </a:p>
        </p:txBody>
      </p:sp>
      <p:sp>
        <p:nvSpPr>
          <p:cNvPr id="20" name="Text 18"/>
          <p:cNvSpPr txBox="1"/>
          <p:nvPr/>
        </p:nvSpPr>
        <p:spPr>
          <a:xfrm>
            <a:off x="6080760" y="3794760"/>
            <a:ext cx="822960" cy="457200"/>
          </a:xfrm>
          <a:prstGeom prst="roundRect">
            <a:avLst>
              <a:gd name="adj" fmla="val 20000"/>
            </a:avLst>
          </a:prstGeom>
          <a:solidFill>
            <a:srgbClr val="FFFFFF"/>
          </a:solidFill>
          <a:ln w="15875">
            <a:solidFill>
              <a:srgbClr val="D9E1E8"/>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-0.1</a:t>
            </a:r>
            <a:endParaRPr lang="en-US" sz="1700" dirty="0"/>
          </a:p>
        </p:txBody>
      </p:sp>
      <p:sp>
        <p:nvSpPr>
          <p:cNvPr id="21" name="Text 19"/>
          <p:cNvSpPr txBox="1"/>
          <p:nvPr/>
        </p:nvSpPr>
        <p:spPr>
          <a:xfrm>
            <a:off x="7040880" y="3794760"/>
            <a:ext cx="822960" cy="457200"/>
          </a:xfrm>
          <a:prstGeom prst="roundRect">
            <a:avLst>
              <a:gd name="adj" fmla="val 20000"/>
            </a:avLst>
          </a:prstGeom>
          <a:solidFill>
            <a:srgbClr val="FFFFFF"/>
          </a:solidFill>
          <a:ln w="15875">
            <a:solidFill>
              <a:srgbClr val="D9E1E8"/>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-0.3</a:t>
            </a:r>
            <a:endParaRPr lang="en-US" sz="1700" dirty="0"/>
          </a:p>
        </p:txBody>
      </p:sp>
      <p:sp>
        <p:nvSpPr>
          <p:cNvPr id="22" name="Text 20"/>
          <p:cNvSpPr txBox="1"/>
          <p:nvPr/>
        </p:nvSpPr>
        <p:spPr>
          <a:xfrm>
            <a:off x="8001000" y="3794760"/>
            <a:ext cx="822960" cy="457200"/>
          </a:xfrm>
          <a:prstGeom prst="roundRect">
            <a:avLst>
              <a:gd name="adj" fmla="val 20000"/>
            </a:avLst>
          </a:prstGeom>
          <a:solidFill>
            <a:srgbClr val="FFFFFF"/>
          </a:solidFill>
          <a:ln w="15875">
            <a:solidFill>
              <a:srgbClr val="D9E1E8"/>
            </a:solidFill>
          </a:ln>
        </p:spPr>
        <p:txBody>
          <a:bodyPr wrap="square" lIns="0" tIns="0" rIns="0" bIns="0" rtlCol="0" anchor="ctr"/>
          <a:lstStyle/>
          <a:p>
            <a:pPr algn="ctr" indent="0" marL="0">
              <a:buNone/>
            </a:pPr>
            <a:r>
              <a:rPr lang="en-US" sz="1700" b="1" dirty="0">
                <a:solidFill>
                  <a:srgbClr val="435466"/>
                </a:solidFill>
                <a:latin typeface="Inter" pitchFamily="34" charset="0"/>
                <a:ea typeface="Inter" pitchFamily="34" charset="-122"/>
                <a:cs typeface="Inter" pitchFamily="34" charset="-120"/>
              </a:rPr>
              <a:t>0.4</a:t>
            </a:r>
            <a:endParaRPr lang="en-US" sz="1700" dirty="0"/>
          </a:p>
        </p:txBody>
      </p:sp>
      <p:sp>
        <p:nvSpPr>
          <p:cNvPr id="23" name="Text 21"/>
          <p:cNvSpPr txBox="1"/>
          <p:nvPr/>
        </p:nvSpPr>
        <p:spPr>
          <a:xfrm>
            <a:off x="640080" y="4754880"/>
            <a:ext cx="10908792" cy="411480"/>
          </a:xfrm>
          <a:prstGeom prst="rect">
            <a:avLst/>
          </a:prstGeom>
          <a:noFill/>
          <a:ln/>
        </p:spPr>
        <p:txBody>
          <a:bodyPr wrap="square" lIns="0" tIns="0" rIns="0" bIns="0" rtlCol="0" anchor="ctr"/>
          <a:lstStyle/>
          <a:p>
            <a:pPr algn="ctr" indent="0" marL="0">
              <a:buNone/>
            </a:pPr>
            <a:r>
              <a:rPr lang="en-US" sz="1600" dirty="0">
                <a:solidFill>
                  <a:srgbClr val="66768A"/>
                </a:solidFill>
                <a:latin typeface="Inter" pitchFamily="34" charset="0"/>
                <a:ea typeface="Inter" pitchFamily="34" charset="-122"/>
                <a:cs typeface="Inter" pitchFamily="34" charset="-120"/>
              </a:rPr>
              <a:t>"rain" at position 0 would add a different position vector, so it gets a different result.</a:t>
            </a:r>
            <a:endParaRPr lang="en-US" sz="1600" dirty="0"/>
          </a:p>
        </p:txBody>
      </p:sp>
      <p:sp>
        <p:nvSpPr>
          <p:cNvPr id="24" name="Shape 22"/>
          <p:cNvSpPr/>
          <p:nvPr/>
        </p:nvSpPr>
        <p:spPr>
          <a:xfrm>
            <a:off x="640080" y="5303520"/>
            <a:ext cx="10908792" cy="822960"/>
          </a:xfrm>
          <a:prstGeom prst="roundRect">
            <a:avLst>
              <a:gd name="adj" fmla="val 16667"/>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25" name="Shape 23"/>
          <p:cNvSpPr/>
          <p:nvPr/>
        </p:nvSpPr>
        <p:spPr>
          <a:xfrm>
            <a:off x="914400" y="5440680"/>
            <a:ext cx="548640" cy="548640"/>
          </a:xfrm>
          <a:prstGeom prst="ellipse">
            <a:avLst/>
          </a:prstGeom>
          <a:solidFill>
            <a:srgbClr val="FFFFFF"/>
          </a:solidFill>
          <a:ln w="15875">
            <a:solidFill>
              <a:srgbClr val="8FA99B"/>
            </a:solidFill>
            <a:prstDash val="solid"/>
          </a:ln>
        </p:spPr>
      </p:sp>
      <p:pic>
        <p:nvPicPr>
          <p:cNvPr id="26" name="Image 0" descr="preencoded.png">    </p:cNvPr>
          <p:cNvPicPr>
            <a:picLocks noChangeAspect="1"/>
          </p:cNvPicPr>
          <p:nvPr/>
        </p:nvPicPr>
        <p:blipFill>
          <a:blip r:embed="rId1"/>
          <a:stretch>
            <a:fillRect/>
          </a:stretch>
        </p:blipFill>
        <p:spPr>
          <a:xfrm>
            <a:off x="1042416" y="5568696"/>
            <a:ext cx="292608" cy="292608"/>
          </a:xfrm>
          <a:prstGeom prst="rect">
            <a:avLst/>
          </a:prstGeom>
        </p:spPr>
      </p:pic>
      <p:sp>
        <p:nvSpPr>
          <p:cNvPr id="27" name="Text 24"/>
          <p:cNvSpPr txBox="1"/>
          <p:nvPr/>
        </p:nvSpPr>
        <p:spPr>
          <a:xfrm>
            <a:off x="1691640" y="5413248"/>
            <a:ext cx="9628632" cy="60350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The input vector carries both what the token is and where it is.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10</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Doing it for a whole batch</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Each position vector is added to the token in that position, in every example.</a:t>
            </a:r>
            <a:endParaRPr lang="en-US" sz="1600" dirty="0"/>
          </a:p>
        </p:txBody>
      </p:sp>
      <p:sp>
        <p:nvSpPr>
          <p:cNvPr id="5" name="Text 3"/>
          <p:cNvSpPr txBox="1"/>
          <p:nvPr/>
        </p:nvSpPr>
        <p:spPr>
          <a:xfrm>
            <a:off x="3291840" y="1645920"/>
            <a:ext cx="141732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position 0</a:t>
            </a:r>
            <a:endParaRPr lang="en-US" sz="1300" dirty="0"/>
          </a:p>
        </p:txBody>
      </p:sp>
      <p:sp>
        <p:nvSpPr>
          <p:cNvPr id="6" name="Text 4"/>
          <p:cNvSpPr txBox="1"/>
          <p:nvPr/>
        </p:nvSpPr>
        <p:spPr>
          <a:xfrm>
            <a:off x="5257800" y="1645920"/>
            <a:ext cx="141732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position 1</a:t>
            </a:r>
            <a:endParaRPr lang="en-US" sz="1300" dirty="0"/>
          </a:p>
        </p:txBody>
      </p:sp>
      <p:sp>
        <p:nvSpPr>
          <p:cNvPr id="7" name="Text 5"/>
          <p:cNvSpPr txBox="1"/>
          <p:nvPr/>
        </p:nvSpPr>
        <p:spPr>
          <a:xfrm>
            <a:off x="7223760" y="1645920"/>
            <a:ext cx="1417320" cy="274320"/>
          </a:xfrm>
          <a:prstGeom prst="rect">
            <a:avLst/>
          </a:prstGeom>
          <a:noFill/>
          <a:ln/>
        </p:spPr>
        <p:txBody>
          <a:bodyPr wrap="square" lIns="0" tIns="0" rIns="0" bIns="0" rtlCol="0" anchor="t"/>
          <a:lstStyle/>
          <a:p>
            <a:pPr algn="ctr" indent="0" marL="0">
              <a:buNone/>
            </a:pPr>
            <a:r>
              <a:rPr lang="en-US" sz="1300" b="1" dirty="0">
                <a:solidFill>
                  <a:srgbClr val="66768A"/>
                </a:solidFill>
                <a:latin typeface="Inter" pitchFamily="34" charset="0"/>
                <a:ea typeface="Inter" pitchFamily="34" charset="-122"/>
                <a:cs typeface="Inter" pitchFamily="34" charset="-120"/>
              </a:rPr>
              <a:t>position 2</a:t>
            </a:r>
            <a:endParaRPr lang="en-US" sz="1300" dirty="0"/>
          </a:p>
        </p:txBody>
      </p:sp>
      <p:sp>
        <p:nvSpPr>
          <p:cNvPr id="8" name="Text 6"/>
          <p:cNvSpPr txBox="1"/>
          <p:nvPr/>
        </p:nvSpPr>
        <p:spPr>
          <a:xfrm>
            <a:off x="640080" y="2011680"/>
            <a:ext cx="2468880" cy="365760"/>
          </a:xfrm>
          <a:prstGeom prst="rect">
            <a:avLst/>
          </a:prstGeom>
          <a:noFill/>
          <a:ln/>
        </p:spPr>
        <p:txBody>
          <a:bodyPr wrap="square" lIns="0" tIns="0" rIns="0" bIns="0" rtlCol="0" anchor="ctr"/>
          <a:lstStyle/>
          <a:p>
            <a:pPr algn="r" indent="0" marL="0">
              <a:buNone/>
            </a:pPr>
            <a:r>
              <a:rPr lang="en-US" sz="1500" dirty="0">
                <a:solidFill>
                  <a:srgbClr val="66768A"/>
                </a:solidFill>
                <a:latin typeface="Inter" pitchFamily="34" charset="0"/>
                <a:ea typeface="Inter" pitchFamily="34" charset="-122"/>
                <a:cs typeface="Inter" pitchFamily="34" charset="-120"/>
              </a:rPr>
              <a:t>example 1 tokens</a:t>
            </a:r>
            <a:endParaRPr lang="en-US" sz="1500" dirty="0"/>
          </a:p>
        </p:txBody>
      </p:sp>
      <p:sp>
        <p:nvSpPr>
          <p:cNvPr id="9" name="Shape 7"/>
          <p:cNvSpPr/>
          <p:nvPr/>
        </p:nvSpPr>
        <p:spPr>
          <a:xfrm>
            <a:off x="3291840" y="2011680"/>
            <a:ext cx="320040" cy="365760"/>
          </a:xfrm>
          <a:prstGeom prst="roundRect">
            <a:avLst>
              <a:gd name="adj" fmla="val 14286"/>
            </a:avLst>
          </a:prstGeom>
          <a:solidFill>
            <a:srgbClr val="E4ECE7"/>
          </a:solidFill>
          <a:ln w="12700">
            <a:solidFill>
              <a:srgbClr val="8FA99B"/>
            </a:solidFill>
            <a:prstDash val="solid"/>
          </a:ln>
        </p:spPr>
      </p:sp>
      <p:sp>
        <p:nvSpPr>
          <p:cNvPr id="10" name="Shape 8"/>
          <p:cNvSpPr/>
          <p:nvPr/>
        </p:nvSpPr>
        <p:spPr>
          <a:xfrm>
            <a:off x="3657600" y="2011680"/>
            <a:ext cx="320040" cy="365760"/>
          </a:xfrm>
          <a:prstGeom prst="roundRect">
            <a:avLst>
              <a:gd name="adj" fmla="val 14286"/>
            </a:avLst>
          </a:prstGeom>
          <a:solidFill>
            <a:srgbClr val="E4ECE7"/>
          </a:solidFill>
          <a:ln w="12700">
            <a:solidFill>
              <a:srgbClr val="8FA99B"/>
            </a:solidFill>
            <a:prstDash val="solid"/>
          </a:ln>
        </p:spPr>
      </p:sp>
      <p:sp>
        <p:nvSpPr>
          <p:cNvPr id="11" name="Shape 9"/>
          <p:cNvSpPr/>
          <p:nvPr/>
        </p:nvSpPr>
        <p:spPr>
          <a:xfrm>
            <a:off x="4023360" y="2011680"/>
            <a:ext cx="320040" cy="365760"/>
          </a:xfrm>
          <a:prstGeom prst="roundRect">
            <a:avLst>
              <a:gd name="adj" fmla="val 14286"/>
            </a:avLst>
          </a:prstGeom>
          <a:solidFill>
            <a:srgbClr val="E4ECE7"/>
          </a:solidFill>
          <a:ln w="12700">
            <a:solidFill>
              <a:srgbClr val="8FA99B"/>
            </a:solidFill>
            <a:prstDash val="solid"/>
          </a:ln>
        </p:spPr>
      </p:sp>
      <p:sp>
        <p:nvSpPr>
          <p:cNvPr id="12" name="Shape 10"/>
          <p:cNvSpPr/>
          <p:nvPr/>
        </p:nvSpPr>
        <p:spPr>
          <a:xfrm>
            <a:off x="4389120" y="2011680"/>
            <a:ext cx="320040" cy="365760"/>
          </a:xfrm>
          <a:prstGeom prst="roundRect">
            <a:avLst>
              <a:gd name="adj" fmla="val 14286"/>
            </a:avLst>
          </a:prstGeom>
          <a:solidFill>
            <a:srgbClr val="E4ECE7"/>
          </a:solidFill>
          <a:ln w="12700">
            <a:solidFill>
              <a:srgbClr val="8FA99B"/>
            </a:solidFill>
            <a:prstDash val="solid"/>
          </a:ln>
        </p:spPr>
      </p:sp>
      <p:sp>
        <p:nvSpPr>
          <p:cNvPr id="13" name="Shape 11"/>
          <p:cNvSpPr/>
          <p:nvPr/>
        </p:nvSpPr>
        <p:spPr>
          <a:xfrm>
            <a:off x="5257800" y="2011680"/>
            <a:ext cx="320040" cy="365760"/>
          </a:xfrm>
          <a:prstGeom prst="roundRect">
            <a:avLst>
              <a:gd name="adj" fmla="val 14286"/>
            </a:avLst>
          </a:prstGeom>
          <a:solidFill>
            <a:srgbClr val="E4ECE7"/>
          </a:solidFill>
          <a:ln w="12700">
            <a:solidFill>
              <a:srgbClr val="8FA99B"/>
            </a:solidFill>
            <a:prstDash val="solid"/>
          </a:ln>
        </p:spPr>
      </p:sp>
      <p:sp>
        <p:nvSpPr>
          <p:cNvPr id="14" name="Shape 12"/>
          <p:cNvSpPr/>
          <p:nvPr/>
        </p:nvSpPr>
        <p:spPr>
          <a:xfrm>
            <a:off x="5623560" y="2011680"/>
            <a:ext cx="320040" cy="365760"/>
          </a:xfrm>
          <a:prstGeom prst="roundRect">
            <a:avLst>
              <a:gd name="adj" fmla="val 14286"/>
            </a:avLst>
          </a:prstGeom>
          <a:solidFill>
            <a:srgbClr val="E4ECE7"/>
          </a:solidFill>
          <a:ln w="12700">
            <a:solidFill>
              <a:srgbClr val="8FA99B"/>
            </a:solidFill>
            <a:prstDash val="solid"/>
          </a:ln>
        </p:spPr>
      </p:sp>
      <p:sp>
        <p:nvSpPr>
          <p:cNvPr id="15" name="Shape 13"/>
          <p:cNvSpPr/>
          <p:nvPr/>
        </p:nvSpPr>
        <p:spPr>
          <a:xfrm>
            <a:off x="5989320" y="2011680"/>
            <a:ext cx="320040" cy="365760"/>
          </a:xfrm>
          <a:prstGeom prst="roundRect">
            <a:avLst>
              <a:gd name="adj" fmla="val 14286"/>
            </a:avLst>
          </a:prstGeom>
          <a:solidFill>
            <a:srgbClr val="E4ECE7"/>
          </a:solidFill>
          <a:ln w="12700">
            <a:solidFill>
              <a:srgbClr val="8FA99B"/>
            </a:solidFill>
            <a:prstDash val="solid"/>
          </a:ln>
        </p:spPr>
      </p:sp>
      <p:sp>
        <p:nvSpPr>
          <p:cNvPr id="16" name="Shape 14"/>
          <p:cNvSpPr/>
          <p:nvPr/>
        </p:nvSpPr>
        <p:spPr>
          <a:xfrm>
            <a:off x="6355080" y="2011680"/>
            <a:ext cx="320040" cy="365760"/>
          </a:xfrm>
          <a:prstGeom prst="roundRect">
            <a:avLst>
              <a:gd name="adj" fmla="val 14286"/>
            </a:avLst>
          </a:prstGeom>
          <a:solidFill>
            <a:srgbClr val="E4ECE7"/>
          </a:solidFill>
          <a:ln w="12700">
            <a:solidFill>
              <a:srgbClr val="8FA99B"/>
            </a:solidFill>
            <a:prstDash val="solid"/>
          </a:ln>
        </p:spPr>
      </p:sp>
      <p:sp>
        <p:nvSpPr>
          <p:cNvPr id="17" name="Shape 15"/>
          <p:cNvSpPr/>
          <p:nvPr/>
        </p:nvSpPr>
        <p:spPr>
          <a:xfrm>
            <a:off x="7223760" y="2011680"/>
            <a:ext cx="320040" cy="365760"/>
          </a:xfrm>
          <a:prstGeom prst="roundRect">
            <a:avLst>
              <a:gd name="adj" fmla="val 14286"/>
            </a:avLst>
          </a:prstGeom>
          <a:solidFill>
            <a:srgbClr val="E4ECE7"/>
          </a:solidFill>
          <a:ln w="12700">
            <a:solidFill>
              <a:srgbClr val="8FA99B"/>
            </a:solidFill>
            <a:prstDash val="solid"/>
          </a:ln>
        </p:spPr>
      </p:sp>
      <p:sp>
        <p:nvSpPr>
          <p:cNvPr id="18" name="Shape 16"/>
          <p:cNvSpPr/>
          <p:nvPr/>
        </p:nvSpPr>
        <p:spPr>
          <a:xfrm>
            <a:off x="7589520" y="2011680"/>
            <a:ext cx="320040" cy="365760"/>
          </a:xfrm>
          <a:prstGeom prst="roundRect">
            <a:avLst>
              <a:gd name="adj" fmla="val 14286"/>
            </a:avLst>
          </a:prstGeom>
          <a:solidFill>
            <a:srgbClr val="E4ECE7"/>
          </a:solidFill>
          <a:ln w="12700">
            <a:solidFill>
              <a:srgbClr val="8FA99B"/>
            </a:solidFill>
            <a:prstDash val="solid"/>
          </a:ln>
        </p:spPr>
      </p:sp>
      <p:sp>
        <p:nvSpPr>
          <p:cNvPr id="19" name="Shape 17"/>
          <p:cNvSpPr/>
          <p:nvPr/>
        </p:nvSpPr>
        <p:spPr>
          <a:xfrm>
            <a:off x="7955280" y="2011680"/>
            <a:ext cx="320040" cy="365760"/>
          </a:xfrm>
          <a:prstGeom prst="roundRect">
            <a:avLst>
              <a:gd name="adj" fmla="val 14286"/>
            </a:avLst>
          </a:prstGeom>
          <a:solidFill>
            <a:srgbClr val="E4ECE7"/>
          </a:solidFill>
          <a:ln w="12700">
            <a:solidFill>
              <a:srgbClr val="8FA99B"/>
            </a:solidFill>
            <a:prstDash val="solid"/>
          </a:ln>
        </p:spPr>
      </p:sp>
      <p:sp>
        <p:nvSpPr>
          <p:cNvPr id="20" name="Shape 18"/>
          <p:cNvSpPr/>
          <p:nvPr/>
        </p:nvSpPr>
        <p:spPr>
          <a:xfrm>
            <a:off x="8321040" y="2011680"/>
            <a:ext cx="320040" cy="365760"/>
          </a:xfrm>
          <a:prstGeom prst="roundRect">
            <a:avLst>
              <a:gd name="adj" fmla="val 14286"/>
            </a:avLst>
          </a:prstGeom>
          <a:solidFill>
            <a:srgbClr val="E4ECE7"/>
          </a:solidFill>
          <a:ln w="12700">
            <a:solidFill>
              <a:srgbClr val="8FA99B"/>
            </a:solidFill>
            <a:prstDash val="solid"/>
          </a:ln>
        </p:spPr>
      </p:sp>
      <p:sp>
        <p:nvSpPr>
          <p:cNvPr id="21" name="Text 19"/>
          <p:cNvSpPr txBox="1"/>
          <p:nvPr/>
        </p:nvSpPr>
        <p:spPr>
          <a:xfrm>
            <a:off x="640080" y="2468880"/>
            <a:ext cx="2468880" cy="365760"/>
          </a:xfrm>
          <a:prstGeom prst="rect">
            <a:avLst/>
          </a:prstGeom>
          <a:noFill/>
          <a:ln/>
        </p:spPr>
        <p:txBody>
          <a:bodyPr wrap="square" lIns="0" tIns="0" rIns="0" bIns="0" rtlCol="0" anchor="ctr"/>
          <a:lstStyle/>
          <a:p>
            <a:pPr algn="r" indent="0" marL="0">
              <a:buNone/>
            </a:pPr>
            <a:r>
              <a:rPr lang="en-US" sz="1500" dirty="0">
                <a:solidFill>
                  <a:srgbClr val="66768A"/>
                </a:solidFill>
                <a:latin typeface="Inter" pitchFamily="34" charset="0"/>
                <a:ea typeface="Inter" pitchFamily="34" charset="-122"/>
                <a:cs typeface="Inter" pitchFamily="34" charset="-120"/>
              </a:rPr>
              <a:t>example 2 tokens</a:t>
            </a:r>
            <a:endParaRPr lang="en-US" sz="1500" dirty="0"/>
          </a:p>
        </p:txBody>
      </p:sp>
      <p:sp>
        <p:nvSpPr>
          <p:cNvPr id="22" name="Shape 20"/>
          <p:cNvSpPr/>
          <p:nvPr/>
        </p:nvSpPr>
        <p:spPr>
          <a:xfrm>
            <a:off x="3291840" y="2468880"/>
            <a:ext cx="320040" cy="365760"/>
          </a:xfrm>
          <a:prstGeom prst="roundRect">
            <a:avLst>
              <a:gd name="adj" fmla="val 14286"/>
            </a:avLst>
          </a:prstGeom>
          <a:solidFill>
            <a:srgbClr val="E4ECE7"/>
          </a:solidFill>
          <a:ln w="12700">
            <a:solidFill>
              <a:srgbClr val="8FA99B"/>
            </a:solidFill>
            <a:prstDash val="solid"/>
          </a:ln>
        </p:spPr>
      </p:sp>
      <p:sp>
        <p:nvSpPr>
          <p:cNvPr id="23" name="Shape 21"/>
          <p:cNvSpPr/>
          <p:nvPr/>
        </p:nvSpPr>
        <p:spPr>
          <a:xfrm>
            <a:off x="3657600" y="2468880"/>
            <a:ext cx="320040" cy="365760"/>
          </a:xfrm>
          <a:prstGeom prst="roundRect">
            <a:avLst>
              <a:gd name="adj" fmla="val 14286"/>
            </a:avLst>
          </a:prstGeom>
          <a:solidFill>
            <a:srgbClr val="E4ECE7"/>
          </a:solidFill>
          <a:ln w="12700">
            <a:solidFill>
              <a:srgbClr val="8FA99B"/>
            </a:solidFill>
            <a:prstDash val="solid"/>
          </a:ln>
        </p:spPr>
      </p:sp>
      <p:sp>
        <p:nvSpPr>
          <p:cNvPr id="24" name="Shape 22"/>
          <p:cNvSpPr/>
          <p:nvPr/>
        </p:nvSpPr>
        <p:spPr>
          <a:xfrm>
            <a:off x="4023360" y="2468880"/>
            <a:ext cx="320040" cy="365760"/>
          </a:xfrm>
          <a:prstGeom prst="roundRect">
            <a:avLst>
              <a:gd name="adj" fmla="val 14286"/>
            </a:avLst>
          </a:prstGeom>
          <a:solidFill>
            <a:srgbClr val="E4ECE7"/>
          </a:solidFill>
          <a:ln w="12700">
            <a:solidFill>
              <a:srgbClr val="8FA99B"/>
            </a:solidFill>
            <a:prstDash val="solid"/>
          </a:ln>
        </p:spPr>
      </p:sp>
      <p:sp>
        <p:nvSpPr>
          <p:cNvPr id="25" name="Shape 23"/>
          <p:cNvSpPr/>
          <p:nvPr/>
        </p:nvSpPr>
        <p:spPr>
          <a:xfrm>
            <a:off x="4389120" y="2468880"/>
            <a:ext cx="320040" cy="365760"/>
          </a:xfrm>
          <a:prstGeom prst="roundRect">
            <a:avLst>
              <a:gd name="adj" fmla="val 14286"/>
            </a:avLst>
          </a:prstGeom>
          <a:solidFill>
            <a:srgbClr val="E4ECE7"/>
          </a:solidFill>
          <a:ln w="12700">
            <a:solidFill>
              <a:srgbClr val="8FA99B"/>
            </a:solidFill>
            <a:prstDash val="solid"/>
          </a:ln>
        </p:spPr>
      </p:sp>
      <p:sp>
        <p:nvSpPr>
          <p:cNvPr id="26" name="Shape 24"/>
          <p:cNvSpPr/>
          <p:nvPr/>
        </p:nvSpPr>
        <p:spPr>
          <a:xfrm>
            <a:off x="5257800" y="2468880"/>
            <a:ext cx="320040" cy="365760"/>
          </a:xfrm>
          <a:prstGeom prst="roundRect">
            <a:avLst>
              <a:gd name="adj" fmla="val 14286"/>
            </a:avLst>
          </a:prstGeom>
          <a:solidFill>
            <a:srgbClr val="E4ECE7"/>
          </a:solidFill>
          <a:ln w="12700">
            <a:solidFill>
              <a:srgbClr val="8FA99B"/>
            </a:solidFill>
            <a:prstDash val="solid"/>
          </a:ln>
        </p:spPr>
      </p:sp>
      <p:sp>
        <p:nvSpPr>
          <p:cNvPr id="27" name="Shape 25"/>
          <p:cNvSpPr/>
          <p:nvPr/>
        </p:nvSpPr>
        <p:spPr>
          <a:xfrm>
            <a:off x="5623560" y="2468880"/>
            <a:ext cx="320040" cy="365760"/>
          </a:xfrm>
          <a:prstGeom prst="roundRect">
            <a:avLst>
              <a:gd name="adj" fmla="val 14286"/>
            </a:avLst>
          </a:prstGeom>
          <a:solidFill>
            <a:srgbClr val="E4ECE7"/>
          </a:solidFill>
          <a:ln w="12700">
            <a:solidFill>
              <a:srgbClr val="8FA99B"/>
            </a:solidFill>
            <a:prstDash val="solid"/>
          </a:ln>
        </p:spPr>
      </p:sp>
      <p:sp>
        <p:nvSpPr>
          <p:cNvPr id="28" name="Shape 26"/>
          <p:cNvSpPr/>
          <p:nvPr/>
        </p:nvSpPr>
        <p:spPr>
          <a:xfrm>
            <a:off x="5989320" y="2468880"/>
            <a:ext cx="320040" cy="365760"/>
          </a:xfrm>
          <a:prstGeom prst="roundRect">
            <a:avLst>
              <a:gd name="adj" fmla="val 14286"/>
            </a:avLst>
          </a:prstGeom>
          <a:solidFill>
            <a:srgbClr val="E4ECE7"/>
          </a:solidFill>
          <a:ln w="12700">
            <a:solidFill>
              <a:srgbClr val="8FA99B"/>
            </a:solidFill>
            <a:prstDash val="solid"/>
          </a:ln>
        </p:spPr>
      </p:sp>
      <p:sp>
        <p:nvSpPr>
          <p:cNvPr id="29" name="Shape 27"/>
          <p:cNvSpPr/>
          <p:nvPr/>
        </p:nvSpPr>
        <p:spPr>
          <a:xfrm>
            <a:off x="6355080" y="2468880"/>
            <a:ext cx="320040" cy="365760"/>
          </a:xfrm>
          <a:prstGeom prst="roundRect">
            <a:avLst>
              <a:gd name="adj" fmla="val 14286"/>
            </a:avLst>
          </a:prstGeom>
          <a:solidFill>
            <a:srgbClr val="E4ECE7"/>
          </a:solidFill>
          <a:ln w="12700">
            <a:solidFill>
              <a:srgbClr val="8FA99B"/>
            </a:solidFill>
            <a:prstDash val="solid"/>
          </a:ln>
        </p:spPr>
      </p:sp>
      <p:sp>
        <p:nvSpPr>
          <p:cNvPr id="30" name="Shape 28"/>
          <p:cNvSpPr/>
          <p:nvPr/>
        </p:nvSpPr>
        <p:spPr>
          <a:xfrm>
            <a:off x="7223760" y="2468880"/>
            <a:ext cx="320040" cy="365760"/>
          </a:xfrm>
          <a:prstGeom prst="roundRect">
            <a:avLst>
              <a:gd name="adj" fmla="val 14286"/>
            </a:avLst>
          </a:prstGeom>
          <a:solidFill>
            <a:srgbClr val="E4ECE7"/>
          </a:solidFill>
          <a:ln w="12700">
            <a:solidFill>
              <a:srgbClr val="8FA99B"/>
            </a:solidFill>
            <a:prstDash val="solid"/>
          </a:ln>
        </p:spPr>
      </p:sp>
      <p:sp>
        <p:nvSpPr>
          <p:cNvPr id="31" name="Shape 29"/>
          <p:cNvSpPr/>
          <p:nvPr/>
        </p:nvSpPr>
        <p:spPr>
          <a:xfrm>
            <a:off x="7589520" y="2468880"/>
            <a:ext cx="320040" cy="365760"/>
          </a:xfrm>
          <a:prstGeom prst="roundRect">
            <a:avLst>
              <a:gd name="adj" fmla="val 14286"/>
            </a:avLst>
          </a:prstGeom>
          <a:solidFill>
            <a:srgbClr val="E4ECE7"/>
          </a:solidFill>
          <a:ln w="12700">
            <a:solidFill>
              <a:srgbClr val="8FA99B"/>
            </a:solidFill>
            <a:prstDash val="solid"/>
          </a:ln>
        </p:spPr>
      </p:sp>
      <p:sp>
        <p:nvSpPr>
          <p:cNvPr id="32" name="Shape 30"/>
          <p:cNvSpPr/>
          <p:nvPr/>
        </p:nvSpPr>
        <p:spPr>
          <a:xfrm>
            <a:off x="7955280" y="2468880"/>
            <a:ext cx="320040" cy="365760"/>
          </a:xfrm>
          <a:prstGeom prst="roundRect">
            <a:avLst>
              <a:gd name="adj" fmla="val 14286"/>
            </a:avLst>
          </a:prstGeom>
          <a:solidFill>
            <a:srgbClr val="E4ECE7"/>
          </a:solidFill>
          <a:ln w="12700">
            <a:solidFill>
              <a:srgbClr val="8FA99B"/>
            </a:solidFill>
            <a:prstDash val="solid"/>
          </a:ln>
        </p:spPr>
      </p:sp>
      <p:sp>
        <p:nvSpPr>
          <p:cNvPr id="33" name="Shape 31"/>
          <p:cNvSpPr/>
          <p:nvPr/>
        </p:nvSpPr>
        <p:spPr>
          <a:xfrm>
            <a:off x="8321040" y="2468880"/>
            <a:ext cx="320040" cy="365760"/>
          </a:xfrm>
          <a:prstGeom prst="roundRect">
            <a:avLst>
              <a:gd name="adj" fmla="val 14286"/>
            </a:avLst>
          </a:prstGeom>
          <a:solidFill>
            <a:srgbClr val="E4ECE7"/>
          </a:solidFill>
          <a:ln w="12700">
            <a:solidFill>
              <a:srgbClr val="8FA99B"/>
            </a:solidFill>
            <a:prstDash val="solid"/>
          </a:ln>
        </p:spPr>
      </p:sp>
      <p:sp>
        <p:nvSpPr>
          <p:cNvPr id="34" name="Text 32"/>
          <p:cNvSpPr txBox="1"/>
          <p:nvPr/>
        </p:nvSpPr>
        <p:spPr>
          <a:xfrm>
            <a:off x="640080" y="3108960"/>
            <a:ext cx="2468880" cy="365760"/>
          </a:xfrm>
          <a:prstGeom prst="rect">
            <a:avLst/>
          </a:prstGeom>
          <a:noFill/>
          <a:ln/>
        </p:spPr>
        <p:txBody>
          <a:bodyPr wrap="square" lIns="0" tIns="0" rIns="0" bIns="0" rtlCol="0" anchor="ctr"/>
          <a:lstStyle/>
          <a:p>
            <a:pPr algn="r" indent="0" marL="0">
              <a:buNone/>
            </a:pPr>
            <a:r>
              <a:rPr lang="en-US" sz="1500" dirty="0">
                <a:solidFill>
                  <a:srgbClr val="66768A"/>
                </a:solidFill>
                <a:latin typeface="Inter" pitchFamily="34" charset="0"/>
                <a:ea typeface="Inter" pitchFamily="34" charset="-122"/>
                <a:cs typeface="Inter" pitchFamily="34" charset="-120"/>
              </a:rPr>
              <a:t>+ position vectors</a:t>
            </a:r>
            <a:endParaRPr lang="en-US" sz="1500" dirty="0"/>
          </a:p>
        </p:txBody>
      </p:sp>
      <p:sp>
        <p:nvSpPr>
          <p:cNvPr id="35" name="Shape 33"/>
          <p:cNvSpPr/>
          <p:nvPr/>
        </p:nvSpPr>
        <p:spPr>
          <a:xfrm>
            <a:off x="3291840" y="3108960"/>
            <a:ext cx="320040" cy="365760"/>
          </a:xfrm>
          <a:prstGeom prst="roundRect">
            <a:avLst>
              <a:gd name="adj" fmla="val 14286"/>
            </a:avLst>
          </a:prstGeom>
          <a:solidFill>
            <a:srgbClr val="E8EFF7"/>
          </a:solidFill>
          <a:ln w="12700">
            <a:solidFill>
              <a:srgbClr val="A9C0D8"/>
            </a:solidFill>
            <a:prstDash val="solid"/>
          </a:ln>
        </p:spPr>
      </p:sp>
      <p:sp>
        <p:nvSpPr>
          <p:cNvPr id="36" name="Shape 34"/>
          <p:cNvSpPr/>
          <p:nvPr/>
        </p:nvSpPr>
        <p:spPr>
          <a:xfrm>
            <a:off x="3657600" y="3108960"/>
            <a:ext cx="320040" cy="365760"/>
          </a:xfrm>
          <a:prstGeom prst="roundRect">
            <a:avLst>
              <a:gd name="adj" fmla="val 14286"/>
            </a:avLst>
          </a:prstGeom>
          <a:solidFill>
            <a:srgbClr val="E8EFF7"/>
          </a:solidFill>
          <a:ln w="12700">
            <a:solidFill>
              <a:srgbClr val="A9C0D8"/>
            </a:solidFill>
            <a:prstDash val="solid"/>
          </a:ln>
        </p:spPr>
      </p:sp>
      <p:sp>
        <p:nvSpPr>
          <p:cNvPr id="37" name="Shape 35"/>
          <p:cNvSpPr/>
          <p:nvPr/>
        </p:nvSpPr>
        <p:spPr>
          <a:xfrm>
            <a:off x="4023360" y="3108960"/>
            <a:ext cx="320040" cy="365760"/>
          </a:xfrm>
          <a:prstGeom prst="roundRect">
            <a:avLst>
              <a:gd name="adj" fmla="val 14286"/>
            </a:avLst>
          </a:prstGeom>
          <a:solidFill>
            <a:srgbClr val="E8EFF7"/>
          </a:solidFill>
          <a:ln w="12700">
            <a:solidFill>
              <a:srgbClr val="A9C0D8"/>
            </a:solidFill>
            <a:prstDash val="solid"/>
          </a:ln>
        </p:spPr>
      </p:sp>
      <p:sp>
        <p:nvSpPr>
          <p:cNvPr id="38" name="Shape 36"/>
          <p:cNvSpPr/>
          <p:nvPr/>
        </p:nvSpPr>
        <p:spPr>
          <a:xfrm>
            <a:off x="4389120" y="3108960"/>
            <a:ext cx="320040" cy="365760"/>
          </a:xfrm>
          <a:prstGeom prst="roundRect">
            <a:avLst>
              <a:gd name="adj" fmla="val 14286"/>
            </a:avLst>
          </a:prstGeom>
          <a:solidFill>
            <a:srgbClr val="E8EFF7"/>
          </a:solidFill>
          <a:ln w="12700">
            <a:solidFill>
              <a:srgbClr val="A9C0D8"/>
            </a:solidFill>
            <a:prstDash val="solid"/>
          </a:ln>
        </p:spPr>
      </p:sp>
      <p:sp>
        <p:nvSpPr>
          <p:cNvPr id="39" name="Shape 37"/>
          <p:cNvSpPr/>
          <p:nvPr/>
        </p:nvSpPr>
        <p:spPr>
          <a:xfrm>
            <a:off x="5257800" y="3108960"/>
            <a:ext cx="320040" cy="365760"/>
          </a:xfrm>
          <a:prstGeom prst="roundRect">
            <a:avLst>
              <a:gd name="adj" fmla="val 14286"/>
            </a:avLst>
          </a:prstGeom>
          <a:solidFill>
            <a:srgbClr val="E8EFF7"/>
          </a:solidFill>
          <a:ln w="12700">
            <a:solidFill>
              <a:srgbClr val="A9C0D8"/>
            </a:solidFill>
            <a:prstDash val="solid"/>
          </a:ln>
        </p:spPr>
      </p:sp>
      <p:sp>
        <p:nvSpPr>
          <p:cNvPr id="40" name="Shape 38"/>
          <p:cNvSpPr/>
          <p:nvPr/>
        </p:nvSpPr>
        <p:spPr>
          <a:xfrm>
            <a:off x="5623560" y="3108960"/>
            <a:ext cx="320040" cy="365760"/>
          </a:xfrm>
          <a:prstGeom prst="roundRect">
            <a:avLst>
              <a:gd name="adj" fmla="val 14286"/>
            </a:avLst>
          </a:prstGeom>
          <a:solidFill>
            <a:srgbClr val="E8EFF7"/>
          </a:solidFill>
          <a:ln w="12700">
            <a:solidFill>
              <a:srgbClr val="A9C0D8"/>
            </a:solidFill>
            <a:prstDash val="solid"/>
          </a:ln>
        </p:spPr>
      </p:sp>
      <p:sp>
        <p:nvSpPr>
          <p:cNvPr id="41" name="Shape 39"/>
          <p:cNvSpPr/>
          <p:nvPr/>
        </p:nvSpPr>
        <p:spPr>
          <a:xfrm>
            <a:off x="5989320" y="3108960"/>
            <a:ext cx="320040" cy="365760"/>
          </a:xfrm>
          <a:prstGeom prst="roundRect">
            <a:avLst>
              <a:gd name="adj" fmla="val 14286"/>
            </a:avLst>
          </a:prstGeom>
          <a:solidFill>
            <a:srgbClr val="E8EFF7"/>
          </a:solidFill>
          <a:ln w="12700">
            <a:solidFill>
              <a:srgbClr val="A9C0D8"/>
            </a:solidFill>
            <a:prstDash val="solid"/>
          </a:ln>
        </p:spPr>
      </p:sp>
      <p:sp>
        <p:nvSpPr>
          <p:cNvPr id="42" name="Shape 40"/>
          <p:cNvSpPr/>
          <p:nvPr/>
        </p:nvSpPr>
        <p:spPr>
          <a:xfrm>
            <a:off x="6355080" y="3108960"/>
            <a:ext cx="320040" cy="365760"/>
          </a:xfrm>
          <a:prstGeom prst="roundRect">
            <a:avLst>
              <a:gd name="adj" fmla="val 14286"/>
            </a:avLst>
          </a:prstGeom>
          <a:solidFill>
            <a:srgbClr val="E8EFF7"/>
          </a:solidFill>
          <a:ln w="12700">
            <a:solidFill>
              <a:srgbClr val="A9C0D8"/>
            </a:solidFill>
            <a:prstDash val="solid"/>
          </a:ln>
        </p:spPr>
      </p:sp>
      <p:sp>
        <p:nvSpPr>
          <p:cNvPr id="43" name="Shape 41"/>
          <p:cNvSpPr/>
          <p:nvPr/>
        </p:nvSpPr>
        <p:spPr>
          <a:xfrm>
            <a:off x="7223760" y="3108960"/>
            <a:ext cx="320040" cy="365760"/>
          </a:xfrm>
          <a:prstGeom prst="roundRect">
            <a:avLst>
              <a:gd name="adj" fmla="val 14286"/>
            </a:avLst>
          </a:prstGeom>
          <a:solidFill>
            <a:srgbClr val="E8EFF7"/>
          </a:solidFill>
          <a:ln w="12700">
            <a:solidFill>
              <a:srgbClr val="A9C0D8"/>
            </a:solidFill>
            <a:prstDash val="solid"/>
          </a:ln>
        </p:spPr>
      </p:sp>
      <p:sp>
        <p:nvSpPr>
          <p:cNvPr id="44" name="Shape 42"/>
          <p:cNvSpPr/>
          <p:nvPr/>
        </p:nvSpPr>
        <p:spPr>
          <a:xfrm>
            <a:off x="7589520" y="3108960"/>
            <a:ext cx="320040" cy="365760"/>
          </a:xfrm>
          <a:prstGeom prst="roundRect">
            <a:avLst>
              <a:gd name="adj" fmla="val 14286"/>
            </a:avLst>
          </a:prstGeom>
          <a:solidFill>
            <a:srgbClr val="E8EFF7"/>
          </a:solidFill>
          <a:ln w="12700">
            <a:solidFill>
              <a:srgbClr val="A9C0D8"/>
            </a:solidFill>
            <a:prstDash val="solid"/>
          </a:ln>
        </p:spPr>
      </p:sp>
      <p:sp>
        <p:nvSpPr>
          <p:cNvPr id="45" name="Shape 43"/>
          <p:cNvSpPr/>
          <p:nvPr/>
        </p:nvSpPr>
        <p:spPr>
          <a:xfrm>
            <a:off x="7955280" y="3108960"/>
            <a:ext cx="320040" cy="365760"/>
          </a:xfrm>
          <a:prstGeom prst="roundRect">
            <a:avLst>
              <a:gd name="adj" fmla="val 14286"/>
            </a:avLst>
          </a:prstGeom>
          <a:solidFill>
            <a:srgbClr val="E8EFF7"/>
          </a:solidFill>
          <a:ln w="12700">
            <a:solidFill>
              <a:srgbClr val="A9C0D8"/>
            </a:solidFill>
            <a:prstDash val="solid"/>
          </a:ln>
        </p:spPr>
      </p:sp>
      <p:sp>
        <p:nvSpPr>
          <p:cNvPr id="46" name="Shape 44"/>
          <p:cNvSpPr/>
          <p:nvPr/>
        </p:nvSpPr>
        <p:spPr>
          <a:xfrm>
            <a:off x="8321040" y="3108960"/>
            <a:ext cx="320040" cy="365760"/>
          </a:xfrm>
          <a:prstGeom prst="roundRect">
            <a:avLst>
              <a:gd name="adj" fmla="val 14286"/>
            </a:avLst>
          </a:prstGeom>
          <a:solidFill>
            <a:srgbClr val="E8EFF7"/>
          </a:solidFill>
          <a:ln w="12700">
            <a:solidFill>
              <a:srgbClr val="A9C0D8"/>
            </a:solidFill>
            <a:prstDash val="solid"/>
          </a:ln>
        </p:spPr>
      </p:sp>
      <p:sp>
        <p:nvSpPr>
          <p:cNvPr id="47" name="Text 45"/>
          <p:cNvSpPr txBox="1"/>
          <p:nvPr/>
        </p:nvSpPr>
        <p:spPr>
          <a:xfrm>
            <a:off x="640080" y="3977640"/>
            <a:ext cx="2468880" cy="365760"/>
          </a:xfrm>
          <a:prstGeom prst="rect">
            <a:avLst/>
          </a:prstGeom>
          <a:noFill/>
          <a:ln/>
        </p:spPr>
        <p:txBody>
          <a:bodyPr wrap="square" lIns="0" tIns="0" rIns="0" bIns="0" rtlCol="0" anchor="ctr"/>
          <a:lstStyle/>
          <a:p>
            <a:pPr algn="r" indent="0" marL="0">
              <a:buNone/>
            </a:pPr>
            <a:r>
              <a:rPr lang="en-US" sz="1500" dirty="0">
                <a:solidFill>
                  <a:srgbClr val="66768A"/>
                </a:solidFill>
                <a:latin typeface="Inter" pitchFamily="34" charset="0"/>
                <a:ea typeface="Inter" pitchFamily="34" charset="-122"/>
                <a:cs typeface="Inter" pitchFamily="34" charset="-120"/>
              </a:rPr>
              <a:t>= example 1</a:t>
            </a:r>
            <a:endParaRPr lang="en-US" sz="1500" dirty="0"/>
          </a:p>
        </p:txBody>
      </p:sp>
      <p:sp>
        <p:nvSpPr>
          <p:cNvPr id="48" name="Shape 46"/>
          <p:cNvSpPr/>
          <p:nvPr/>
        </p:nvSpPr>
        <p:spPr>
          <a:xfrm>
            <a:off x="3291840" y="3977640"/>
            <a:ext cx="320040" cy="365760"/>
          </a:xfrm>
          <a:prstGeom prst="roundRect">
            <a:avLst>
              <a:gd name="adj" fmla="val 14286"/>
            </a:avLst>
          </a:prstGeom>
          <a:solidFill>
            <a:srgbClr val="FFFFFF"/>
          </a:solidFill>
          <a:ln w="12700">
            <a:solidFill>
              <a:srgbClr val="435466"/>
            </a:solidFill>
            <a:prstDash val="solid"/>
          </a:ln>
        </p:spPr>
      </p:sp>
      <p:sp>
        <p:nvSpPr>
          <p:cNvPr id="49" name="Shape 47"/>
          <p:cNvSpPr/>
          <p:nvPr/>
        </p:nvSpPr>
        <p:spPr>
          <a:xfrm>
            <a:off x="3657600" y="3977640"/>
            <a:ext cx="320040" cy="365760"/>
          </a:xfrm>
          <a:prstGeom prst="roundRect">
            <a:avLst>
              <a:gd name="adj" fmla="val 14286"/>
            </a:avLst>
          </a:prstGeom>
          <a:solidFill>
            <a:srgbClr val="FFFFFF"/>
          </a:solidFill>
          <a:ln w="12700">
            <a:solidFill>
              <a:srgbClr val="435466"/>
            </a:solidFill>
            <a:prstDash val="solid"/>
          </a:ln>
        </p:spPr>
      </p:sp>
      <p:sp>
        <p:nvSpPr>
          <p:cNvPr id="50" name="Shape 48"/>
          <p:cNvSpPr/>
          <p:nvPr/>
        </p:nvSpPr>
        <p:spPr>
          <a:xfrm>
            <a:off x="4023360" y="3977640"/>
            <a:ext cx="320040" cy="365760"/>
          </a:xfrm>
          <a:prstGeom prst="roundRect">
            <a:avLst>
              <a:gd name="adj" fmla="val 14286"/>
            </a:avLst>
          </a:prstGeom>
          <a:solidFill>
            <a:srgbClr val="FFFFFF"/>
          </a:solidFill>
          <a:ln w="12700">
            <a:solidFill>
              <a:srgbClr val="435466"/>
            </a:solidFill>
            <a:prstDash val="solid"/>
          </a:ln>
        </p:spPr>
      </p:sp>
      <p:sp>
        <p:nvSpPr>
          <p:cNvPr id="51" name="Shape 49"/>
          <p:cNvSpPr/>
          <p:nvPr/>
        </p:nvSpPr>
        <p:spPr>
          <a:xfrm>
            <a:off x="4389120" y="3977640"/>
            <a:ext cx="320040" cy="365760"/>
          </a:xfrm>
          <a:prstGeom prst="roundRect">
            <a:avLst>
              <a:gd name="adj" fmla="val 14286"/>
            </a:avLst>
          </a:prstGeom>
          <a:solidFill>
            <a:srgbClr val="FFFFFF"/>
          </a:solidFill>
          <a:ln w="12700">
            <a:solidFill>
              <a:srgbClr val="435466"/>
            </a:solidFill>
            <a:prstDash val="solid"/>
          </a:ln>
        </p:spPr>
      </p:sp>
      <p:sp>
        <p:nvSpPr>
          <p:cNvPr id="52" name="Shape 50"/>
          <p:cNvSpPr/>
          <p:nvPr/>
        </p:nvSpPr>
        <p:spPr>
          <a:xfrm>
            <a:off x="5257800" y="3977640"/>
            <a:ext cx="320040" cy="365760"/>
          </a:xfrm>
          <a:prstGeom prst="roundRect">
            <a:avLst>
              <a:gd name="adj" fmla="val 14286"/>
            </a:avLst>
          </a:prstGeom>
          <a:solidFill>
            <a:srgbClr val="FFFFFF"/>
          </a:solidFill>
          <a:ln w="12700">
            <a:solidFill>
              <a:srgbClr val="435466"/>
            </a:solidFill>
            <a:prstDash val="solid"/>
          </a:ln>
        </p:spPr>
      </p:sp>
      <p:sp>
        <p:nvSpPr>
          <p:cNvPr id="53" name="Shape 51"/>
          <p:cNvSpPr/>
          <p:nvPr/>
        </p:nvSpPr>
        <p:spPr>
          <a:xfrm>
            <a:off x="5623560" y="3977640"/>
            <a:ext cx="320040" cy="365760"/>
          </a:xfrm>
          <a:prstGeom prst="roundRect">
            <a:avLst>
              <a:gd name="adj" fmla="val 14286"/>
            </a:avLst>
          </a:prstGeom>
          <a:solidFill>
            <a:srgbClr val="FFFFFF"/>
          </a:solidFill>
          <a:ln w="12700">
            <a:solidFill>
              <a:srgbClr val="435466"/>
            </a:solidFill>
            <a:prstDash val="solid"/>
          </a:ln>
        </p:spPr>
      </p:sp>
      <p:sp>
        <p:nvSpPr>
          <p:cNvPr id="54" name="Shape 52"/>
          <p:cNvSpPr/>
          <p:nvPr/>
        </p:nvSpPr>
        <p:spPr>
          <a:xfrm>
            <a:off x="5989320" y="3977640"/>
            <a:ext cx="320040" cy="365760"/>
          </a:xfrm>
          <a:prstGeom prst="roundRect">
            <a:avLst>
              <a:gd name="adj" fmla="val 14286"/>
            </a:avLst>
          </a:prstGeom>
          <a:solidFill>
            <a:srgbClr val="FFFFFF"/>
          </a:solidFill>
          <a:ln w="12700">
            <a:solidFill>
              <a:srgbClr val="435466"/>
            </a:solidFill>
            <a:prstDash val="solid"/>
          </a:ln>
        </p:spPr>
      </p:sp>
      <p:sp>
        <p:nvSpPr>
          <p:cNvPr id="55" name="Shape 53"/>
          <p:cNvSpPr/>
          <p:nvPr/>
        </p:nvSpPr>
        <p:spPr>
          <a:xfrm>
            <a:off x="6355080" y="3977640"/>
            <a:ext cx="320040" cy="365760"/>
          </a:xfrm>
          <a:prstGeom prst="roundRect">
            <a:avLst>
              <a:gd name="adj" fmla="val 14286"/>
            </a:avLst>
          </a:prstGeom>
          <a:solidFill>
            <a:srgbClr val="FFFFFF"/>
          </a:solidFill>
          <a:ln w="12700">
            <a:solidFill>
              <a:srgbClr val="435466"/>
            </a:solidFill>
            <a:prstDash val="solid"/>
          </a:ln>
        </p:spPr>
      </p:sp>
      <p:sp>
        <p:nvSpPr>
          <p:cNvPr id="56" name="Shape 54"/>
          <p:cNvSpPr/>
          <p:nvPr/>
        </p:nvSpPr>
        <p:spPr>
          <a:xfrm>
            <a:off x="7223760" y="3977640"/>
            <a:ext cx="320040" cy="365760"/>
          </a:xfrm>
          <a:prstGeom prst="roundRect">
            <a:avLst>
              <a:gd name="adj" fmla="val 14286"/>
            </a:avLst>
          </a:prstGeom>
          <a:solidFill>
            <a:srgbClr val="FFFFFF"/>
          </a:solidFill>
          <a:ln w="12700">
            <a:solidFill>
              <a:srgbClr val="435466"/>
            </a:solidFill>
            <a:prstDash val="solid"/>
          </a:ln>
        </p:spPr>
      </p:sp>
      <p:sp>
        <p:nvSpPr>
          <p:cNvPr id="57" name="Shape 55"/>
          <p:cNvSpPr/>
          <p:nvPr/>
        </p:nvSpPr>
        <p:spPr>
          <a:xfrm>
            <a:off x="7589520" y="3977640"/>
            <a:ext cx="320040" cy="365760"/>
          </a:xfrm>
          <a:prstGeom prst="roundRect">
            <a:avLst>
              <a:gd name="adj" fmla="val 14286"/>
            </a:avLst>
          </a:prstGeom>
          <a:solidFill>
            <a:srgbClr val="FFFFFF"/>
          </a:solidFill>
          <a:ln w="12700">
            <a:solidFill>
              <a:srgbClr val="435466"/>
            </a:solidFill>
            <a:prstDash val="solid"/>
          </a:ln>
        </p:spPr>
      </p:sp>
      <p:sp>
        <p:nvSpPr>
          <p:cNvPr id="58" name="Shape 56"/>
          <p:cNvSpPr/>
          <p:nvPr/>
        </p:nvSpPr>
        <p:spPr>
          <a:xfrm>
            <a:off x="7955280" y="3977640"/>
            <a:ext cx="320040" cy="365760"/>
          </a:xfrm>
          <a:prstGeom prst="roundRect">
            <a:avLst>
              <a:gd name="adj" fmla="val 14286"/>
            </a:avLst>
          </a:prstGeom>
          <a:solidFill>
            <a:srgbClr val="FFFFFF"/>
          </a:solidFill>
          <a:ln w="12700">
            <a:solidFill>
              <a:srgbClr val="435466"/>
            </a:solidFill>
            <a:prstDash val="solid"/>
          </a:ln>
        </p:spPr>
      </p:sp>
      <p:sp>
        <p:nvSpPr>
          <p:cNvPr id="59" name="Shape 57"/>
          <p:cNvSpPr/>
          <p:nvPr/>
        </p:nvSpPr>
        <p:spPr>
          <a:xfrm>
            <a:off x="8321040" y="3977640"/>
            <a:ext cx="320040" cy="365760"/>
          </a:xfrm>
          <a:prstGeom prst="roundRect">
            <a:avLst>
              <a:gd name="adj" fmla="val 14286"/>
            </a:avLst>
          </a:prstGeom>
          <a:solidFill>
            <a:srgbClr val="FFFFFF"/>
          </a:solidFill>
          <a:ln w="12700">
            <a:solidFill>
              <a:srgbClr val="435466"/>
            </a:solidFill>
            <a:prstDash val="solid"/>
          </a:ln>
        </p:spPr>
      </p:sp>
      <p:sp>
        <p:nvSpPr>
          <p:cNvPr id="60" name="Text 58"/>
          <p:cNvSpPr txBox="1"/>
          <p:nvPr/>
        </p:nvSpPr>
        <p:spPr>
          <a:xfrm>
            <a:off x="640080" y="4434840"/>
            <a:ext cx="2468880" cy="365760"/>
          </a:xfrm>
          <a:prstGeom prst="rect">
            <a:avLst/>
          </a:prstGeom>
          <a:noFill/>
          <a:ln/>
        </p:spPr>
        <p:txBody>
          <a:bodyPr wrap="square" lIns="0" tIns="0" rIns="0" bIns="0" rtlCol="0" anchor="ctr"/>
          <a:lstStyle/>
          <a:p>
            <a:pPr algn="r" indent="0" marL="0">
              <a:buNone/>
            </a:pPr>
            <a:r>
              <a:rPr lang="en-US" sz="1500" dirty="0">
                <a:solidFill>
                  <a:srgbClr val="66768A"/>
                </a:solidFill>
                <a:latin typeface="Inter" pitchFamily="34" charset="0"/>
                <a:ea typeface="Inter" pitchFamily="34" charset="-122"/>
                <a:cs typeface="Inter" pitchFamily="34" charset="-120"/>
              </a:rPr>
              <a:t>= example 2</a:t>
            </a:r>
            <a:endParaRPr lang="en-US" sz="1500" dirty="0"/>
          </a:p>
        </p:txBody>
      </p:sp>
      <p:sp>
        <p:nvSpPr>
          <p:cNvPr id="61" name="Shape 59"/>
          <p:cNvSpPr/>
          <p:nvPr/>
        </p:nvSpPr>
        <p:spPr>
          <a:xfrm>
            <a:off x="3291840" y="4434840"/>
            <a:ext cx="320040" cy="365760"/>
          </a:xfrm>
          <a:prstGeom prst="roundRect">
            <a:avLst>
              <a:gd name="adj" fmla="val 14286"/>
            </a:avLst>
          </a:prstGeom>
          <a:solidFill>
            <a:srgbClr val="FFFFFF"/>
          </a:solidFill>
          <a:ln w="12700">
            <a:solidFill>
              <a:srgbClr val="435466"/>
            </a:solidFill>
            <a:prstDash val="solid"/>
          </a:ln>
        </p:spPr>
      </p:sp>
      <p:sp>
        <p:nvSpPr>
          <p:cNvPr id="62" name="Shape 60"/>
          <p:cNvSpPr/>
          <p:nvPr/>
        </p:nvSpPr>
        <p:spPr>
          <a:xfrm>
            <a:off x="3657600" y="4434840"/>
            <a:ext cx="320040" cy="365760"/>
          </a:xfrm>
          <a:prstGeom prst="roundRect">
            <a:avLst>
              <a:gd name="adj" fmla="val 14286"/>
            </a:avLst>
          </a:prstGeom>
          <a:solidFill>
            <a:srgbClr val="FFFFFF"/>
          </a:solidFill>
          <a:ln w="12700">
            <a:solidFill>
              <a:srgbClr val="435466"/>
            </a:solidFill>
            <a:prstDash val="solid"/>
          </a:ln>
        </p:spPr>
      </p:sp>
      <p:sp>
        <p:nvSpPr>
          <p:cNvPr id="63" name="Shape 61"/>
          <p:cNvSpPr/>
          <p:nvPr/>
        </p:nvSpPr>
        <p:spPr>
          <a:xfrm>
            <a:off x="4023360" y="4434840"/>
            <a:ext cx="320040" cy="365760"/>
          </a:xfrm>
          <a:prstGeom prst="roundRect">
            <a:avLst>
              <a:gd name="adj" fmla="val 14286"/>
            </a:avLst>
          </a:prstGeom>
          <a:solidFill>
            <a:srgbClr val="FFFFFF"/>
          </a:solidFill>
          <a:ln w="12700">
            <a:solidFill>
              <a:srgbClr val="435466"/>
            </a:solidFill>
            <a:prstDash val="solid"/>
          </a:ln>
        </p:spPr>
      </p:sp>
      <p:sp>
        <p:nvSpPr>
          <p:cNvPr id="64" name="Shape 62"/>
          <p:cNvSpPr/>
          <p:nvPr/>
        </p:nvSpPr>
        <p:spPr>
          <a:xfrm>
            <a:off x="4389120" y="4434840"/>
            <a:ext cx="320040" cy="365760"/>
          </a:xfrm>
          <a:prstGeom prst="roundRect">
            <a:avLst>
              <a:gd name="adj" fmla="val 14286"/>
            </a:avLst>
          </a:prstGeom>
          <a:solidFill>
            <a:srgbClr val="FFFFFF"/>
          </a:solidFill>
          <a:ln w="12700">
            <a:solidFill>
              <a:srgbClr val="435466"/>
            </a:solidFill>
            <a:prstDash val="solid"/>
          </a:ln>
        </p:spPr>
      </p:sp>
      <p:sp>
        <p:nvSpPr>
          <p:cNvPr id="65" name="Shape 63"/>
          <p:cNvSpPr/>
          <p:nvPr/>
        </p:nvSpPr>
        <p:spPr>
          <a:xfrm>
            <a:off x="5257800" y="4434840"/>
            <a:ext cx="320040" cy="365760"/>
          </a:xfrm>
          <a:prstGeom prst="roundRect">
            <a:avLst>
              <a:gd name="adj" fmla="val 14286"/>
            </a:avLst>
          </a:prstGeom>
          <a:solidFill>
            <a:srgbClr val="FFFFFF"/>
          </a:solidFill>
          <a:ln w="12700">
            <a:solidFill>
              <a:srgbClr val="435466"/>
            </a:solidFill>
            <a:prstDash val="solid"/>
          </a:ln>
        </p:spPr>
      </p:sp>
      <p:sp>
        <p:nvSpPr>
          <p:cNvPr id="66" name="Shape 64"/>
          <p:cNvSpPr/>
          <p:nvPr/>
        </p:nvSpPr>
        <p:spPr>
          <a:xfrm>
            <a:off x="5623560" y="4434840"/>
            <a:ext cx="320040" cy="365760"/>
          </a:xfrm>
          <a:prstGeom prst="roundRect">
            <a:avLst>
              <a:gd name="adj" fmla="val 14286"/>
            </a:avLst>
          </a:prstGeom>
          <a:solidFill>
            <a:srgbClr val="FFFFFF"/>
          </a:solidFill>
          <a:ln w="12700">
            <a:solidFill>
              <a:srgbClr val="435466"/>
            </a:solidFill>
            <a:prstDash val="solid"/>
          </a:ln>
        </p:spPr>
      </p:sp>
      <p:sp>
        <p:nvSpPr>
          <p:cNvPr id="67" name="Shape 65"/>
          <p:cNvSpPr/>
          <p:nvPr/>
        </p:nvSpPr>
        <p:spPr>
          <a:xfrm>
            <a:off x="5989320" y="4434840"/>
            <a:ext cx="320040" cy="365760"/>
          </a:xfrm>
          <a:prstGeom prst="roundRect">
            <a:avLst>
              <a:gd name="adj" fmla="val 14286"/>
            </a:avLst>
          </a:prstGeom>
          <a:solidFill>
            <a:srgbClr val="FFFFFF"/>
          </a:solidFill>
          <a:ln w="12700">
            <a:solidFill>
              <a:srgbClr val="435466"/>
            </a:solidFill>
            <a:prstDash val="solid"/>
          </a:ln>
        </p:spPr>
      </p:sp>
      <p:sp>
        <p:nvSpPr>
          <p:cNvPr id="68" name="Shape 66"/>
          <p:cNvSpPr/>
          <p:nvPr/>
        </p:nvSpPr>
        <p:spPr>
          <a:xfrm>
            <a:off x="6355080" y="4434840"/>
            <a:ext cx="320040" cy="365760"/>
          </a:xfrm>
          <a:prstGeom prst="roundRect">
            <a:avLst>
              <a:gd name="adj" fmla="val 14286"/>
            </a:avLst>
          </a:prstGeom>
          <a:solidFill>
            <a:srgbClr val="FFFFFF"/>
          </a:solidFill>
          <a:ln w="12700">
            <a:solidFill>
              <a:srgbClr val="435466"/>
            </a:solidFill>
            <a:prstDash val="solid"/>
          </a:ln>
        </p:spPr>
      </p:sp>
      <p:sp>
        <p:nvSpPr>
          <p:cNvPr id="69" name="Shape 67"/>
          <p:cNvSpPr/>
          <p:nvPr/>
        </p:nvSpPr>
        <p:spPr>
          <a:xfrm>
            <a:off x="7223760" y="4434840"/>
            <a:ext cx="320040" cy="365760"/>
          </a:xfrm>
          <a:prstGeom prst="roundRect">
            <a:avLst>
              <a:gd name="adj" fmla="val 14286"/>
            </a:avLst>
          </a:prstGeom>
          <a:solidFill>
            <a:srgbClr val="FFFFFF"/>
          </a:solidFill>
          <a:ln w="12700">
            <a:solidFill>
              <a:srgbClr val="435466"/>
            </a:solidFill>
            <a:prstDash val="solid"/>
          </a:ln>
        </p:spPr>
      </p:sp>
      <p:sp>
        <p:nvSpPr>
          <p:cNvPr id="70" name="Shape 68"/>
          <p:cNvSpPr/>
          <p:nvPr/>
        </p:nvSpPr>
        <p:spPr>
          <a:xfrm>
            <a:off x="7589520" y="4434840"/>
            <a:ext cx="320040" cy="365760"/>
          </a:xfrm>
          <a:prstGeom prst="roundRect">
            <a:avLst>
              <a:gd name="adj" fmla="val 14286"/>
            </a:avLst>
          </a:prstGeom>
          <a:solidFill>
            <a:srgbClr val="FFFFFF"/>
          </a:solidFill>
          <a:ln w="12700">
            <a:solidFill>
              <a:srgbClr val="435466"/>
            </a:solidFill>
            <a:prstDash val="solid"/>
          </a:ln>
        </p:spPr>
      </p:sp>
      <p:sp>
        <p:nvSpPr>
          <p:cNvPr id="71" name="Shape 69"/>
          <p:cNvSpPr/>
          <p:nvPr/>
        </p:nvSpPr>
        <p:spPr>
          <a:xfrm>
            <a:off x="7955280" y="4434840"/>
            <a:ext cx="320040" cy="365760"/>
          </a:xfrm>
          <a:prstGeom prst="roundRect">
            <a:avLst>
              <a:gd name="adj" fmla="val 14286"/>
            </a:avLst>
          </a:prstGeom>
          <a:solidFill>
            <a:srgbClr val="FFFFFF"/>
          </a:solidFill>
          <a:ln w="12700">
            <a:solidFill>
              <a:srgbClr val="435466"/>
            </a:solidFill>
            <a:prstDash val="solid"/>
          </a:ln>
        </p:spPr>
      </p:sp>
      <p:sp>
        <p:nvSpPr>
          <p:cNvPr id="72" name="Shape 70"/>
          <p:cNvSpPr/>
          <p:nvPr/>
        </p:nvSpPr>
        <p:spPr>
          <a:xfrm>
            <a:off x="8321040" y="4434840"/>
            <a:ext cx="320040" cy="365760"/>
          </a:xfrm>
          <a:prstGeom prst="roundRect">
            <a:avLst>
              <a:gd name="adj" fmla="val 14286"/>
            </a:avLst>
          </a:prstGeom>
          <a:solidFill>
            <a:srgbClr val="FFFFFF"/>
          </a:solidFill>
          <a:ln w="12700">
            <a:solidFill>
              <a:srgbClr val="435466"/>
            </a:solidFill>
            <a:prstDash val="solid"/>
          </a:ln>
        </p:spPr>
      </p:sp>
      <p:sp>
        <p:nvSpPr>
          <p:cNvPr id="73" name="Shape 71"/>
          <p:cNvSpPr/>
          <p:nvPr/>
        </p:nvSpPr>
        <p:spPr>
          <a:xfrm>
            <a:off x="3291840" y="3749040"/>
            <a:ext cx="5349240" cy="0"/>
          </a:xfrm>
          <a:prstGeom prst="line">
            <a:avLst/>
          </a:prstGeom>
          <a:noFill/>
          <a:ln w="15875">
            <a:solidFill>
              <a:srgbClr val="435466"/>
            </a:solidFill>
            <a:prstDash val="solid"/>
          </a:ln>
        </p:spPr>
      </p:sp>
      <p:sp>
        <p:nvSpPr>
          <p:cNvPr id="74" name="Text 72"/>
          <p:cNvSpPr txBox="1"/>
          <p:nvPr/>
        </p:nvSpPr>
        <p:spPr>
          <a:xfrm>
            <a:off x="9418320" y="2240280"/>
            <a:ext cx="2103120" cy="365760"/>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(2, 3, 4)</a:t>
            </a:r>
            <a:endParaRPr lang="en-US" sz="1500" dirty="0"/>
          </a:p>
        </p:txBody>
      </p:sp>
      <p:sp>
        <p:nvSpPr>
          <p:cNvPr id="75" name="Text 73"/>
          <p:cNvSpPr txBox="1"/>
          <p:nvPr/>
        </p:nvSpPr>
        <p:spPr>
          <a:xfrm>
            <a:off x="9418320" y="3108960"/>
            <a:ext cx="2103120" cy="365760"/>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(3, 4)</a:t>
            </a:r>
            <a:endParaRPr lang="en-US" sz="1500" dirty="0"/>
          </a:p>
        </p:txBody>
      </p:sp>
      <p:sp>
        <p:nvSpPr>
          <p:cNvPr id="76" name="Text 74"/>
          <p:cNvSpPr txBox="1"/>
          <p:nvPr/>
        </p:nvSpPr>
        <p:spPr>
          <a:xfrm>
            <a:off x="9418320" y="4206240"/>
            <a:ext cx="2103120" cy="365760"/>
          </a:xfrm>
          <a:prstGeom prst="rect">
            <a:avLst/>
          </a:prstGeom>
          <a:noFill/>
          <a:ln/>
        </p:spPr>
        <p:txBody>
          <a:bodyPr wrap="square" lIns="0" tIns="0" rIns="0" bIns="0" rtlCol="0" anchor="ctr"/>
          <a:lstStyle/>
          <a:p>
            <a:pPr indent="0" marL="0">
              <a:buNone/>
            </a:pPr>
            <a:r>
              <a:rPr lang="en-US" sz="1500" b="1" dirty="0">
                <a:solidFill>
                  <a:srgbClr val="435466"/>
                </a:solidFill>
                <a:latin typeface="Inter" pitchFamily="34" charset="0"/>
                <a:ea typeface="Inter" pitchFamily="34" charset="-122"/>
                <a:cs typeface="Inter" pitchFamily="34" charset="-120"/>
              </a:rPr>
              <a:t>(2, 3, 4)</a:t>
            </a:r>
            <a:endParaRPr lang="en-US" sz="1500" dirty="0"/>
          </a:p>
        </p:txBody>
      </p:sp>
      <p:sp>
        <p:nvSpPr>
          <p:cNvPr id="77" name="Shape 75"/>
          <p:cNvSpPr/>
          <p:nvPr/>
        </p:nvSpPr>
        <p:spPr>
          <a:xfrm>
            <a:off x="640080" y="5257800"/>
            <a:ext cx="10908792" cy="868680"/>
          </a:xfrm>
          <a:prstGeom prst="roundRect">
            <a:avLst>
              <a:gd name="adj" fmla="val 15789"/>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78" name="Shape 76"/>
          <p:cNvSpPr/>
          <p:nvPr/>
        </p:nvSpPr>
        <p:spPr>
          <a:xfrm>
            <a:off x="914400" y="5417820"/>
            <a:ext cx="548640" cy="548640"/>
          </a:xfrm>
          <a:prstGeom prst="ellipse">
            <a:avLst/>
          </a:prstGeom>
          <a:solidFill>
            <a:srgbClr val="FFFFFF"/>
          </a:solidFill>
          <a:ln w="15875">
            <a:solidFill>
              <a:srgbClr val="8FA99B"/>
            </a:solidFill>
            <a:prstDash val="solid"/>
          </a:ln>
        </p:spPr>
      </p:sp>
      <p:pic>
        <p:nvPicPr>
          <p:cNvPr id="79" name="Image 0" descr="preencoded.png">    </p:cNvPr>
          <p:cNvPicPr>
            <a:picLocks noChangeAspect="1"/>
          </p:cNvPicPr>
          <p:nvPr/>
        </p:nvPicPr>
        <p:blipFill>
          <a:blip r:embed="rId1"/>
          <a:stretch>
            <a:fillRect/>
          </a:stretch>
        </p:blipFill>
        <p:spPr>
          <a:xfrm>
            <a:off x="1042416" y="5545836"/>
            <a:ext cx="292608" cy="292608"/>
          </a:xfrm>
          <a:prstGeom prst="rect">
            <a:avLst/>
          </a:prstGeom>
        </p:spPr>
      </p:pic>
      <p:sp>
        <p:nvSpPr>
          <p:cNvPr id="80" name="Text 77"/>
          <p:cNvSpPr txBox="1"/>
          <p:nvPr/>
        </p:nvSpPr>
        <p:spPr>
          <a:xfrm>
            <a:off x="1691640" y="5367528"/>
            <a:ext cx="9628632" cy="64922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KEY IDEA</a:t>
            </a:r>
            <a:endParaRPr lang="en-US" sz="1800" dirty="0"/>
          </a:p>
          <a:p>
            <a:pPr indent="0" marL="0">
              <a:buNone/>
            </a:pPr>
            <a:r>
              <a:rPr lang="en-US" sz="2000" dirty="0">
                <a:solidFill>
                  <a:srgbClr val="435466"/>
                </a:solidFill>
                <a:latin typeface="Inter" pitchFamily="34" charset="0"/>
                <a:ea typeface="Inter" pitchFamily="34" charset="-122"/>
                <a:cs typeface="Inter" pitchFamily="34" charset="-120"/>
              </a:rPr>
              <a:t>The shape stays (batch_size, sequence_length, embedding_dim).</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11155680" y="6446520"/>
            <a:ext cx="548640" cy="228600"/>
          </a:xfrm>
          <a:prstGeom prst="rect">
            <a:avLst/>
          </a:prstGeom>
          <a:noFill/>
          <a:ln/>
        </p:spPr>
        <p:txBody>
          <a:bodyPr wrap="square" lIns="0" tIns="0" rIns="0" bIns="0" rtlCol="0" anchor="ctr"/>
          <a:lstStyle/>
          <a:p>
            <a:pPr algn="r" indent="0" marL="0">
              <a:buNone/>
            </a:pPr>
            <a:r>
              <a:rPr lang="en-US" sz="1100" dirty="0">
                <a:solidFill>
                  <a:srgbClr val="66768A"/>
                </a:solidFill>
                <a:latin typeface="Inter" pitchFamily="34" charset="0"/>
                <a:ea typeface="Inter" pitchFamily="34" charset="-122"/>
                <a:cs typeface="Inter" pitchFamily="34" charset="-120"/>
              </a:rPr>
              <a:t>11</a:t>
            </a:r>
            <a:endParaRPr lang="en-US" sz="1100" dirty="0"/>
          </a:p>
        </p:txBody>
      </p:sp>
      <p:sp>
        <p:nvSpPr>
          <p:cNvPr id="3" name="Text 1"/>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600" b="1" dirty="0">
                <a:solidFill>
                  <a:srgbClr val="435466"/>
                </a:solidFill>
                <a:latin typeface="Inter" pitchFamily="34" charset="0"/>
                <a:ea typeface="Inter" pitchFamily="34" charset="-122"/>
                <a:cs typeface="Inter" pitchFamily="34" charset="-120"/>
              </a:rPr>
              <a:t>The vectors are learned</a:t>
            </a:r>
            <a:endParaRPr lang="en-US" sz="3600" dirty="0"/>
          </a:p>
        </p:txBody>
      </p:sp>
      <p:sp>
        <p:nvSpPr>
          <p:cNvPr id="4" name="Text 2"/>
          <p:cNvSpPr txBox="1"/>
          <p:nvPr/>
        </p:nvSpPr>
        <p:spPr>
          <a:xfrm>
            <a:off x="640080" y="1097280"/>
            <a:ext cx="10881360" cy="320040"/>
          </a:xfrm>
          <a:prstGeom prst="rect">
            <a:avLst/>
          </a:prstGeom>
          <a:noFill/>
          <a:ln/>
        </p:spPr>
        <p:txBody>
          <a:bodyPr wrap="square" lIns="0" tIns="0" rIns="0" bIns="0" rtlCol="0" anchor="t"/>
          <a:lstStyle/>
          <a:p>
            <a:pPr indent="0" marL="0">
              <a:buNone/>
            </a:pPr>
            <a:r>
              <a:rPr lang="en-US" sz="1600" dirty="0">
                <a:solidFill>
                  <a:srgbClr val="66768A"/>
                </a:solidFill>
                <a:latin typeface="Inter" pitchFamily="34" charset="0"/>
                <a:ea typeface="Inter" pitchFamily="34" charset="-122"/>
                <a:cs typeface="Inter" pitchFamily="34" charset="-120"/>
              </a:rPr>
              <a:t>Both tables start as random numbers. Each training step nudges them a little.</a:t>
            </a:r>
            <a:endParaRPr lang="en-US" sz="1600" dirty="0"/>
          </a:p>
        </p:txBody>
      </p:sp>
      <p:sp>
        <p:nvSpPr>
          <p:cNvPr id="5" name="Shape 3"/>
          <p:cNvSpPr/>
          <p:nvPr/>
        </p:nvSpPr>
        <p:spPr>
          <a:xfrm>
            <a:off x="640080" y="1645920"/>
            <a:ext cx="5257800" cy="3200400"/>
          </a:xfrm>
          <a:prstGeom prst="roundRect">
            <a:avLst>
              <a:gd name="adj" fmla="val 4286"/>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6" name="Text 4"/>
          <p:cNvSpPr txBox="1"/>
          <p:nvPr/>
        </p:nvSpPr>
        <p:spPr>
          <a:xfrm>
            <a:off x="960120" y="1828800"/>
            <a:ext cx="461772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Before training</a:t>
            </a:r>
            <a:endParaRPr lang="en-US" sz="2000" dirty="0"/>
          </a:p>
        </p:txBody>
      </p:sp>
      <p:sp>
        <p:nvSpPr>
          <p:cNvPr id="7" name="Text 5"/>
          <p:cNvSpPr txBox="1"/>
          <p:nvPr/>
        </p:nvSpPr>
        <p:spPr>
          <a:xfrm>
            <a:off x="960120" y="2212848"/>
            <a:ext cx="4617720" cy="274320"/>
          </a:xfrm>
          <a:prstGeom prst="rect">
            <a:avLst/>
          </a:prstGeom>
          <a:noFill/>
          <a:ln/>
        </p:spPr>
        <p:txBody>
          <a:bodyPr wrap="square" lIns="0" tIns="0" rIns="0" bIns="0" rtlCol="0" anchor="t"/>
          <a:lstStyle/>
          <a:p>
            <a:pPr indent="0" marL="0">
              <a:buNone/>
            </a:pPr>
            <a:r>
              <a:rPr lang="en-US" sz="1400" dirty="0">
                <a:solidFill>
                  <a:srgbClr val="66768A"/>
                </a:solidFill>
                <a:latin typeface="Inter" pitchFamily="34" charset="0"/>
                <a:ea typeface="Inter" pitchFamily="34" charset="-122"/>
                <a:cs typeface="Inter" pitchFamily="34" charset="-120"/>
              </a:rPr>
              <a:t>Random: no pattern yet</a:t>
            </a:r>
            <a:endParaRPr lang="en-US" sz="1400" dirty="0"/>
          </a:p>
        </p:txBody>
      </p:sp>
      <p:sp>
        <p:nvSpPr>
          <p:cNvPr id="8" name="Shape 6"/>
          <p:cNvSpPr/>
          <p:nvPr/>
        </p:nvSpPr>
        <p:spPr>
          <a:xfrm>
            <a:off x="1632204" y="2962656"/>
            <a:ext cx="182880" cy="182880"/>
          </a:xfrm>
          <a:prstGeom prst="ellipse">
            <a:avLst/>
          </a:prstGeom>
          <a:solidFill>
            <a:srgbClr val="8FA99B"/>
          </a:solidFill>
          <a:ln w="12700">
            <a:solidFill>
              <a:srgbClr val="8FA99B"/>
            </a:solidFill>
            <a:prstDash val="solid"/>
          </a:ln>
        </p:spPr>
      </p:sp>
      <p:sp>
        <p:nvSpPr>
          <p:cNvPr id="9" name="Text 7"/>
          <p:cNvSpPr txBox="1"/>
          <p:nvPr/>
        </p:nvSpPr>
        <p:spPr>
          <a:xfrm>
            <a:off x="1860804" y="2898648"/>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cloud</a:t>
            </a:r>
            <a:endParaRPr lang="en-US" sz="1400" dirty="0"/>
          </a:p>
        </p:txBody>
      </p:sp>
      <p:sp>
        <p:nvSpPr>
          <p:cNvPr id="10" name="Shape 8"/>
          <p:cNvSpPr/>
          <p:nvPr/>
        </p:nvSpPr>
        <p:spPr>
          <a:xfrm>
            <a:off x="3236976" y="2873502"/>
            <a:ext cx="182880" cy="182880"/>
          </a:xfrm>
          <a:prstGeom prst="ellipse">
            <a:avLst/>
          </a:prstGeom>
          <a:solidFill>
            <a:srgbClr val="8FA99B"/>
          </a:solidFill>
          <a:ln w="12700">
            <a:solidFill>
              <a:srgbClr val="8FA99B"/>
            </a:solidFill>
            <a:prstDash val="solid"/>
          </a:ln>
        </p:spPr>
      </p:sp>
      <p:sp>
        <p:nvSpPr>
          <p:cNvPr id="11" name="Text 9"/>
          <p:cNvSpPr txBox="1"/>
          <p:nvPr/>
        </p:nvSpPr>
        <p:spPr>
          <a:xfrm>
            <a:off x="3465576" y="2809494"/>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carrot</a:t>
            </a:r>
            <a:endParaRPr lang="en-US" sz="1400" dirty="0"/>
          </a:p>
        </p:txBody>
      </p:sp>
      <p:sp>
        <p:nvSpPr>
          <p:cNvPr id="12" name="Shape 10"/>
          <p:cNvSpPr/>
          <p:nvPr/>
        </p:nvSpPr>
        <p:spPr>
          <a:xfrm>
            <a:off x="3771900" y="3943350"/>
            <a:ext cx="182880" cy="182880"/>
          </a:xfrm>
          <a:prstGeom prst="ellipse">
            <a:avLst/>
          </a:prstGeom>
          <a:solidFill>
            <a:srgbClr val="8FA99B"/>
          </a:solidFill>
          <a:ln w="12700">
            <a:solidFill>
              <a:srgbClr val="8FA99B"/>
            </a:solidFill>
            <a:prstDash val="solid"/>
          </a:ln>
        </p:spPr>
      </p:sp>
      <p:sp>
        <p:nvSpPr>
          <p:cNvPr id="13" name="Text 11"/>
          <p:cNvSpPr txBox="1"/>
          <p:nvPr/>
        </p:nvSpPr>
        <p:spPr>
          <a:xfrm>
            <a:off x="4000500" y="3879342"/>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rain</a:t>
            </a:r>
            <a:endParaRPr lang="en-US" sz="1400" dirty="0"/>
          </a:p>
        </p:txBody>
      </p:sp>
      <p:sp>
        <p:nvSpPr>
          <p:cNvPr id="14" name="Shape 12"/>
          <p:cNvSpPr/>
          <p:nvPr/>
        </p:nvSpPr>
        <p:spPr>
          <a:xfrm>
            <a:off x="1810512" y="3854196"/>
            <a:ext cx="182880" cy="182880"/>
          </a:xfrm>
          <a:prstGeom prst="ellipse">
            <a:avLst/>
          </a:prstGeom>
          <a:solidFill>
            <a:srgbClr val="8FA99B"/>
          </a:solidFill>
          <a:ln w="12700">
            <a:solidFill>
              <a:srgbClr val="8FA99B"/>
            </a:solidFill>
            <a:prstDash val="solid"/>
          </a:ln>
        </p:spPr>
      </p:sp>
      <p:sp>
        <p:nvSpPr>
          <p:cNvPr id="15" name="Text 13"/>
          <p:cNvSpPr txBox="1"/>
          <p:nvPr/>
        </p:nvSpPr>
        <p:spPr>
          <a:xfrm>
            <a:off x="2039112" y="3790188"/>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potato</a:t>
            </a:r>
            <a:endParaRPr lang="en-US" sz="1400" dirty="0"/>
          </a:p>
        </p:txBody>
      </p:sp>
      <p:sp>
        <p:nvSpPr>
          <p:cNvPr id="16" name="Shape 14"/>
          <p:cNvSpPr/>
          <p:nvPr/>
        </p:nvSpPr>
        <p:spPr>
          <a:xfrm>
            <a:off x="2702052" y="3408426"/>
            <a:ext cx="182880" cy="182880"/>
          </a:xfrm>
          <a:prstGeom prst="ellipse">
            <a:avLst/>
          </a:prstGeom>
          <a:solidFill>
            <a:srgbClr val="8FA99B"/>
          </a:solidFill>
          <a:ln w="12700">
            <a:solidFill>
              <a:srgbClr val="8FA99B"/>
            </a:solidFill>
            <a:prstDash val="solid"/>
          </a:ln>
        </p:spPr>
      </p:sp>
      <p:sp>
        <p:nvSpPr>
          <p:cNvPr id="17" name="Text 15"/>
          <p:cNvSpPr txBox="1"/>
          <p:nvPr/>
        </p:nvSpPr>
        <p:spPr>
          <a:xfrm>
            <a:off x="2930652" y="3344418"/>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storm</a:t>
            </a:r>
            <a:endParaRPr lang="en-US" sz="1400" dirty="0"/>
          </a:p>
        </p:txBody>
      </p:sp>
      <p:sp>
        <p:nvSpPr>
          <p:cNvPr id="18" name="Shape 16"/>
          <p:cNvSpPr/>
          <p:nvPr/>
        </p:nvSpPr>
        <p:spPr>
          <a:xfrm>
            <a:off x="6291072" y="1645920"/>
            <a:ext cx="5257800" cy="3200400"/>
          </a:xfrm>
          <a:prstGeom prst="roundRect">
            <a:avLst>
              <a:gd name="adj" fmla="val 4286"/>
            </a:avLst>
          </a:prstGeom>
          <a:solidFill>
            <a:srgbClr val="FFFFFF"/>
          </a:solidFill>
          <a:ln w="15875">
            <a:solidFill>
              <a:srgbClr val="D9E1E8"/>
            </a:solidFill>
            <a:prstDash val="solid"/>
          </a:ln>
          <a:effectLst>
            <a:outerShdw sx="100000" sy="100000" kx="0" ky="0" algn="bl" rotWithShape="0" blurRad="101600" dist="25400" dir="5400000">
              <a:srgbClr val="435466">
                <a:alpha val="8000"/>
              </a:srgbClr>
            </a:outerShdw>
          </a:effectLst>
        </p:spPr>
      </p:sp>
      <p:sp>
        <p:nvSpPr>
          <p:cNvPr id="19" name="Text 17"/>
          <p:cNvSpPr txBox="1"/>
          <p:nvPr/>
        </p:nvSpPr>
        <p:spPr>
          <a:xfrm>
            <a:off x="6611112" y="1828800"/>
            <a:ext cx="4617720" cy="411480"/>
          </a:xfrm>
          <a:prstGeom prst="rect">
            <a:avLst/>
          </a:prstGeom>
          <a:noFill/>
          <a:ln/>
        </p:spPr>
        <p:txBody>
          <a:bodyPr wrap="square" lIns="0" tIns="0" rIns="0" bIns="0" rtlCol="0" anchor="ctr"/>
          <a:lstStyle/>
          <a:p>
            <a:pPr indent="0" marL="0">
              <a:buNone/>
            </a:pPr>
            <a:r>
              <a:rPr lang="en-US" sz="2000" b="1" dirty="0">
                <a:solidFill>
                  <a:srgbClr val="435466"/>
                </a:solidFill>
                <a:latin typeface="Inter" pitchFamily="34" charset="0"/>
                <a:ea typeface="Inter" pitchFamily="34" charset="-122"/>
                <a:cs typeface="Inter" pitchFamily="34" charset="-120"/>
              </a:rPr>
              <a:t>After training</a:t>
            </a:r>
            <a:endParaRPr lang="en-US" sz="2000" dirty="0"/>
          </a:p>
        </p:txBody>
      </p:sp>
      <p:sp>
        <p:nvSpPr>
          <p:cNvPr id="20" name="Text 18"/>
          <p:cNvSpPr txBox="1"/>
          <p:nvPr/>
        </p:nvSpPr>
        <p:spPr>
          <a:xfrm>
            <a:off x="6611112" y="2212848"/>
            <a:ext cx="4617720" cy="274320"/>
          </a:xfrm>
          <a:prstGeom prst="rect">
            <a:avLst/>
          </a:prstGeom>
          <a:noFill/>
          <a:ln/>
        </p:spPr>
        <p:txBody>
          <a:bodyPr wrap="square" lIns="0" tIns="0" rIns="0" bIns="0" rtlCol="0" anchor="t"/>
          <a:lstStyle/>
          <a:p>
            <a:pPr indent="0" marL="0">
              <a:buNone/>
            </a:pPr>
            <a:r>
              <a:rPr lang="en-US" sz="1400" dirty="0">
                <a:solidFill>
                  <a:srgbClr val="66768A"/>
                </a:solidFill>
                <a:latin typeface="Inter" pitchFamily="34" charset="0"/>
                <a:ea typeface="Inter" pitchFamily="34" charset="-122"/>
                <a:cs typeface="Inter" pitchFamily="34" charset="-120"/>
              </a:rPr>
              <a:t>Similar tokens sit close together</a:t>
            </a:r>
            <a:endParaRPr lang="en-US" sz="1400" dirty="0"/>
          </a:p>
        </p:txBody>
      </p:sp>
      <p:sp>
        <p:nvSpPr>
          <p:cNvPr id="21" name="Shape 19"/>
          <p:cNvSpPr/>
          <p:nvPr/>
        </p:nvSpPr>
        <p:spPr>
          <a:xfrm>
            <a:off x="6656832" y="2788920"/>
            <a:ext cx="1783080" cy="1005840"/>
          </a:xfrm>
          <a:prstGeom prst="roundRect">
            <a:avLst>
              <a:gd name="adj" fmla="val 18182"/>
            </a:avLst>
          </a:prstGeom>
          <a:solidFill>
            <a:srgbClr val="FAF7F2"/>
          </a:solidFill>
          <a:ln w="12700">
            <a:solidFill>
              <a:srgbClr val="D9E1E8"/>
            </a:solidFill>
            <a:prstDash val="solid"/>
          </a:ln>
        </p:spPr>
      </p:sp>
      <p:sp>
        <p:nvSpPr>
          <p:cNvPr id="22" name="Shape 20"/>
          <p:cNvSpPr/>
          <p:nvPr/>
        </p:nvSpPr>
        <p:spPr>
          <a:xfrm>
            <a:off x="8805672" y="3611880"/>
            <a:ext cx="1920240" cy="777240"/>
          </a:xfrm>
          <a:prstGeom prst="roundRect">
            <a:avLst>
              <a:gd name="adj" fmla="val 23529"/>
            </a:avLst>
          </a:prstGeom>
          <a:solidFill>
            <a:srgbClr val="FAF7F2"/>
          </a:solidFill>
          <a:ln w="12700">
            <a:solidFill>
              <a:srgbClr val="D9E1E8"/>
            </a:solidFill>
            <a:prstDash val="solid"/>
          </a:ln>
        </p:spPr>
      </p:sp>
      <p:sp>
        <p:nvSpPr>
          <p:cNvPr id="23" name="Text 21"/>
          <p:cNvSpPr txBox="1"/>
          <p:nvPr/>
        </p:nvSpPr>
        <p:spPr>
          <a:xfrm>
            <a:off x="8485632" y="2788920"/>
            <a:ext cx="914400" cy="274320"/>
          </a:xfrm>
          <a:prstGeom prst="rect">
            <a:avLst/>
          </a:prstGeom>
          <a:noFill/>
          <a:ln/>
        </p:spPr>
        <p:txBody>
          <a:bodyPr wrap="square" lIns="0" tIns="0" rIns="0" bIns="0" rtlCol="0" anchor="t"/>
          <a:lstStyle/>
          <a:p>
            <a:pPr indent="0" marL="0">
              <a:buNone/>
            </a:pPr>
            <a:r>
              <a:rPr lang="en-US" sz="1200" i="1" dirty="0">
                <a:solidFill>
                  <a:srgbClr val="66768A"/>
                </a:solidFill>
                <a:latin typeface="Inter" pitchFamily="34" charset="0"/>
                <a:ea typeface="Inter" pitchFamily="34" charset="-122"/>
                <a:cs typeface="Inter" pitchFamily="34" charset="-120"/>
              </a:rPr>
              <a:t>weather</a:t>
            </a:r>
            <a:endParaRPr lang="en-US" sz="1200" dirty="0"/>
          </a:p>
        </p:txBody>
      </p:sp>
      <p:sp>
        <p:nvSpPr>
          <p:cNvPr id="24" name="Text 22"/>
          <p:cNvSpPr txBox="1"/>
          <p:nvPr/>
        </p:nvSpPr>
        <p:spPr>
          <a:xfrm>
            <a:off x="8211312" y="4114800"/>
            <a:ext cx="594360" cy="274320"/>
          </a:xfrm>
          <a:prstGeom prst="rect">
            <a:avLst/>
          </a:prstGeom>
          <a:noFill/>
          <a:ln/>
        </p:spPr>
        <p:txBody>
          <a:bodyPr wrap="square" lIns="0" tIns="0" rIns="0" bIns="0" rtlCol="0" anchor="t"/>
          <a:lstStyle/>
          <a:p>
            <a:pPr algn="r" indent="0" marL="0">
              <a:buNone/>
            </a:pPr>
            <a:r>
              <a:rPr lang="en-US" sz="1200" i="1" dirty="0">
                <a:solidFill>
                  <a:srgbClr val="66768A"/>
                </a:solidFill>
                <a:latin typeface="Inter" pitchFamily="34" charset="0"/>
                <a:ea typeface="Inter" pitchFamily="34" charset="-122"/>
                <a:cs typeface="Inter" pitchFamily="34" charset="-120"/>
              </a:rPr>
              <a:t>food</a:t>
            </a:r>
            <a:endParaRPr lang="en-US" sz="1200" dirty="0"/>
          </a:p>
        </p:txBody>
      </p:sp>
      <p:sp>
        <p:nvSpPr>
          <p:cNvPr id="25" name="Shape 23"/>
          <p:cNvSpPr/>
          <p:nvPr/>
        </p:nvSpPr>
        <p:spPr>
          <a:xfrm>
            <a:off x="7176211" y="2962656"/>
            <a:ext cx="182880" cy="182880"/>
          </a:xfrm>
          <a:prstGeom prst="ellipse">
            <a:avLst/>
          </a:prstGeom>
          <a:solidFill>
            <a:srgbClr val="8FA99B"/>
          </a:solidFill>
          <a:ln w="12700">
            <a:solidFill>
              <a:srgbClr val="8FA99B"/>
            </a:solidFill>
            <a:prstDash val="solid"/>
          </a:ln>
        </p:spPr>
      </p:sp>
      <p:sp>
        <p:nvSpPr>
          <p:cNvPr id="26" name="Text 24"/>
          <p:cNvSpPr txBox="1"/>
          <p:nvPr/>
        </p:nvSpPr>
        <p:spPr>
          <a:xfrm>
            <a:off x="7404811" y="2898648"/>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cloud</a:t>
            </a:r>
            <a:endParaRPr lang="en-US" sz="1400" dirty="0"/>
          </a:p>
        </p:txBody>
      </p:sp>
      <p:sp>
        <p:nvSpPr>
          <p:cNvPr id="27" name="Shape 25"/>
          <p:cNvSpPr/>
          <p:nvPr/>
        </p:nvSpPr>
        <p:spPr>
          <a:xfrm>
            <a:off x="7746797" y="3230118"/>
            <a:ext cx="182880" cy="182880"/>
          </a:xfrm>
          <a:prstGeom prst="ellipse">
            <a:avLst/>
          </a:prstGeom>
          <a:solidFill>
            <a:srgbClr val="8FA99B"/>
          </a:solidFill>
          <a:ln w="12700">
            <a:solidFill>
              <a:srgbClr val="8FA99B"/>
            </a:solidFill>
            <a:prstDash val="solid"/>
          </a:ln>
        </p:spPr>
      </p:sp>
      <p:sp>
        <p:nvSpPr>
          <p:cNvPr id="28" name="Text 26"/>
          <p:cNvSpPr txBox="1"/>
          <p:nvPr/>
        </p:nvSpPr>
        <p:spPr>
          <a:xfrm>
            <a:off x="7975397" y="3166110"/>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rain</a:t>
            </a:r>
            <a:endParaRPr lang="en-US" sz="1400" dirty="0"/>
          </a:p>
        </p:txBody>
      </p:sp>
      <p:sp>
        <p:nvSpPr>
          <p:cNvPr id="29" name="Shape 27"/>
          <p:cNvSpPr/>
          <p:nvPr/>
        </p:nvSpPr>
        <p:spPr>
          <a:xfrm>
            <a:off x="7104888" y="3497580"/>
            <a:ext cx="182880" cy="182880"/>
          </a:xfrm>
          <a:prstGeom prst="ellipse">
            <a:avLst/>
          </a:prstGeom>
          <a:solidFill>
            <a:srgbClr val="8FA99B"/>
          </a:solidFill>
          <a:ln w="12700">
            <a:solidFill>
              <a:srgbClr val="8FA99B"/>
            </a:solidFill>
            <a:prstDash val="solid"/>
          </a:ln>
        </p:spPr>
      </p:sp>
      <p:sp>
        <p:nvSpPr>
          <p:cNvPr id="30" name="Text 28"/>
          <p:cNvSpPr txBox="1"/>
          <p:nvPr/>
        </p:nvSpPr>
        <p:spPr>
          <a:xfrm>
            <a:off x="7333488" y="3433572"/>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storm</a:t>
            </a:r>
            <a:endParaRPr lang="en-US" sz="1400" dirty="0"/>
          </a:p>
        </p:txBody>
      </p:sp>
      <p:sp>
        <p:nvSpPr>
          <p:cNvPr id="31" name="Shape 29"/>
          <p:cNvSpPr/>
          <p:nvPr/>
        </p:nvSpPr>
        <p:spPr>
          <a:xfrm>
            <a:off x="8959291" y="3711550"/>
            <a:ext cx="182880" cy="182880"/>
          </a:xfrm>
          <a:prstGeom prst="ellipse">
            <a:avLst/>
          </a:prstGeom>
          <a:solidFill>
            <a:srgbClr val="8FA99B"/>
          </a:solidFill>
          <a:ln w="12700">
            <a:solidFill>
              <a:srgbClr val="8FA99B"/>
            </a:solidFill>
            <a:prstDash val="solid"/>
          </a:ln>
        </p:spPr>
      </p:sp>
      <p:sp>
        <p:nvSpPr>
          <p:cNvPr id="32" name="Text 30"/>
          <p:cNvSpPr txBox="1"/>
          <p:nvPr/>
        </p:nvSpPr>
        <p:spPr>
          <a:xfrm>
            <a:off x="9187891" y="3647542"/>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carrot</a:t>
            </a:r>
            <a:endParaRPr lang="en-US" sz="1400" dirty="0"/>
          </a:p>
        </p:txBody>
      </p:sp>
      <p:sp>
        <p:nvSpPr>
          <p:cNvPr id="33" name="Shape 31"/>
          <p:cNvSpPr/>
          <p:nvPr/>
        </p:nvSpPr>
        <p:spPr>
          <a:xfrm>
            <a:off x="9422892" y="4032504"/>
            <a:ext cx="182880" cy="182880"/>
          </a:xfrm>
          <a:prstGeom prst="ellipse">
            <a:avLst/>
          </a:prstGeom>
          <a:solidFill>
            <a:srgbClr val="8FA99B"/>
          </a:solidFill>
          <a:ln w="12700">
            <a:solidFill>
              <a:srgbClr val="8FA99B"/>
            </a:solidFill>
            <a:prstDash val="solid"/>
          </a:ln>
        </p:spPr>
      </p:sp>
      <p:sp>
        <p:nvSpPr>
          <p:cNvPr id="34" name="Text 32"/>
          <p:cNvSpPr txBox="1"/>
          <p:nvPr/>
        </p:nvSpPr>
        <p:spPr>
          <a:xfrm>
            <a:off x="9651492" y="3968496"/>
            <a:ext cx="1005840" cy="310896"/>
          </a:xfrm>
          <a:prstGeom prst="rect">
            <a:avLst/>
          </a:prstGeom>
          <a:noFill/>
          <a:ln/>
        </p:spPr>
        <p:txBody>
          <a:bodyPr wrap="square" lIns="0" tIns="0" rIns="0" bIns="0" rtlCol="0" anchor="ctr"/>
          <a:lstStyle/>
          <a:p>
            <a:pPr indent="0" marL="0">
              <a:buNone/>
            </a:pPr>
            <a:r>
              <a:rPr lang="en-US" sz="1400" dirty="0">
                <a:solidFill>
                  <a:srgbClr val="435466"/>
                </a:solidFill>
                <a:latin typeface="Inter" pitchFamily="34" charset="0"/>
                <a:ea typeface="Inter" pitchFamily="34" charset="-122"/>
                <a:cs typeface="Inter" pitchFamily="34" charset="-120"/>
              </a:rPr>
              <a:t>potato</a:t>
            </a:r>
            <a:endParaRPr lang="en-US" sz="1400" dirty="0"/>
          </a:p>
        </p:txBody>
      </p:sp>
      <p:sp>
        <p:nvSpPr>
          <p:cNvPr id="35" name="Text 33"/>
          <p:cNvSpPr txBox="1"/>
          <p:nvPr/>
        </p:nvSpPr>
        <p:spPr>
          <a:xfrm>
            <a:off x="640080" y="4892040"/>
            <a:ext cx="10908792" cy="274320"/>
          </a:xfrm>
          <a:prstGeom prst="rect">
            <a:avLst/>
          </a:prstGeom>
          <a:noFill/>
          <a:ln/>
        </p:spPr>
        <p:txBody>
          <a:bodyPr wrap="square" lIns="0" tIns="0" rIns="0" bIns="0" rtlCol="0" anchor="t"/>
          <a:lstStyle/>
          <a:p>
            <a:pPr algn="ctr" indent="0" marL="0">
              <a:buNone/>
            </a:pPr>
            <a:r>
              <a:rPr lang="en-US" sz="1300" dirty="0">
                <a:solidFill>
                  <a:srgbClr val="66768A"/>
                </a:solidFill>
                <a:latin typeface="Inter" pitchFamily="34" charset="0"/>
                <a:ea typeface="Inter" pitchFamily="34" charset="-122"/>
                <a:cs typeface="Inter" pitchFamily="34" charset="-120"/>
              </a:rPr>
              <a:t>A 2-D sketch. Real embeddings have hundreds of numbers each.</a:t>
            </a:r>
            <a:endParaRPr lang="en-US" sz="1300" dirty="0"/>
          </a:p>
        </p:txBody>
      </p:sp>
      <p:sp>
        <p:nvSpPr>
          <p:cNvPr id="36" name="Shape 34"/>
          <p:cNvSpPr/>
          <p:nvPr/>
        </p:nvSpPr>
        <p:spPr>
          <a:xfrm>
            <a:off x="640080" y="5303520"/>
            <a:ext cx="10908792" cy="914400"/>
          </a:xfrm>
          <a:prstGeom prst="roundRect">
            <a:avLst>
              <a:gd name="adj" fmla="val 15000"/>
            </a:avLst>
          </a:prstGeom>
          <a:solidFill>
            <a:srgbClr val="E4ECE7"/>
          </a:solidFill>
          <a:ln w="15875">
            <a:solidFill>
              <a:srgbClr val="8FA99B"/>
            </a:solidFill>
            <a:prstDash val="solid"/>
          </a:ln>
          <a:effectLst>
            <a:outerShdw sx="100000" sy="100000" kx="0" ky="0" algn="bl" rotWithShape="0" blurRad="101600" dist="25400" dir="5400000">
              <a:srgbClr val="435466">
                <a:alpha val="8000"/>
              </a:srgbClr>
            </a:outerShdw>
          </a:effectLst>
        </p:spPr>
      </p:sp>
      <p:sp>
        <p:nvSpPr>
          <p:cNvPr id="37" name="Shape 35"/>
          <p:cNvSpPr/>
          <p:nvPr/>
        </p:nvSpPr>
        <p:spPr>
          <a:xfrm>
            <a:off x="914400" y="5486400"/>
            <a:ext cx="548640" cy="548640"/>
          </a:xfrm>
          <a:prstGeom prst="ellipse">
            <a:avLst/>
          </a:prstGeom>
          <a:solidFill>
            <a:srgbClr val="FFFFFF"/>
          </a:solidFill>
          <a:ln w="15875">
            <a:solidFill>
              <a:srgbClr val="8FA99B"/>
            </a:solidFill>
            <a:prstDash val="solid"/>
          </a:ln>
        </p:spPr>
      </p:sp>
      <p:pic>
        <p:nvPicPr>
          <p:cNvPr id="38" name="Image 0" descr="preencoded.png">    </p:cNvPr>
          <p:cNvPicPr>
            <a:picLocks noChangeAspect="1"/>
          </p:cNvPicPr>
          <p:nvPr/>
        </p:nvPicPr>
        <p:blipFill>
          <a:blip r:embed="rId1"/>
          <a:stretch>
            <a:fillRect/>
          </a:stretch>
        </p:blipFill>
        <p:spPr>
          <a:xfrm>
            <a:off x="1042416" y="5614416"/>
            <a:ext cx="292608" cy="292608"/>
          </a:xfrm>
          <a:prstGeom prst="rect">
            <a:avLst/>
          </a:prstGeom>
        </p:spPr>
      </p:pic>
      <p:sp>
        <p:nvSpPr>
          <p:cNvPr id="39" name="Text 36"/>
          <p:cNvSpPr txBox="1"/>
          <p:nvPr/>
        </p:nvSpPr>
        <p:spPr>
          <a:xfrm>
            <a:off x="1691640" y="5413248"/>
            <a:ext cx="9628632" cy="694944"/>
          </a:xfrm>
          <a:prstGeom prst="rect">
            <a:avLst/>
          </a:prstGeom>
          <a:noFill/>
          <a:ln/>
        </p:spPr>
        <p:txBody>
          <a:bodyPr wrap="square" lIns="0" tIns="0" rIns="0" bIns="0" rtlCol="0" anchor="ctr"/>
          <a:lstStyle/>
          <a:p>
            <a:pPr indent="0" marL="0">
              <a:buNone/>
            </a:pPr>
            <a:r>
              <a:rPr lang="en-US" sz="1200" b="1" spc="200" kern="0" dirty="0">
                <a:solidFill>
                  <a:srgbClr val="435466"/>
                </a:solidFill>
                <a:latin typeface="Inter" pitchFamily="34" charset="0"/>
                <a:ea typeface="Inter" pitchFamily="34" charset="-122"/>
                <a:cs typeface="Inter" pitchFamily="34" charset="-120"/>
              </a:rPr>
              <a:t>TAKEAWAY</a:t>
            </a:r>
            <a:endParaRPr lang="en-US" sz="1800" dirty="0"/>
          </a:p>
          <a:p>
            <a:pPr indent="0" marL="0">
              <a:buNone/>
            </a:pPr>
            <a:r>
              <a:rPr lang="en-US" sz="1900" dirty="0">
                <a:solidFill>
                  <a:srgbClr val="435466"/>
                </a:solidFill>
                <a:latin typeface="Inter" pitchFamily="34" charset="0"/>
                <a:ea typeface="Inter" pitchFamily="34" charset="-122"/>
                <a:cs typeface="Inter" pitchFamily="34" charset="-120"/>
              </a:rPr>
              <a:t>Token vectors say what. Position vectors say where. Adding them gives the model both.</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Embeddings: Giving Token IDs Meaning</dc:title>
  <dc:subject>PptxGenJS Presentation</dc:subject>
  <dc:creator>PptxGenJS</dc:creator>
  <cp:lastModifiedBy>PptxGenJS</cp:lastModifiedBy>
  <cp:revision>1</cp:revision>
  <dcterms:created xsi:type="dcterms:W3CDTF">2026-09-25T04:34:40Z</dcterms:created>
  <dcterms:modified xsi:type="dcterms:W3CDTF">2026-09-25T04:34:40Z</dcterms:modified>
</cp:coreProperties>
</file>
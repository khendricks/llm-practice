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eight attention models, from the simplest possible version to the ones PyTorch provides. Every technical word is explained the first time it appears, and there is a glossary near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path. The first model shows the core idea. The next ones add learned query, key and value vectors, scaling, masking of future tokens, dropout, and multiple heads. The last two are PyTorch built-ins that do the same work faster. Each of these words will be explained as we reach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 work with numbers, so each token is represented by a vector, a list of numbers, called its embedding. On its own the embedding for "falls" knows nothing about the words around it. Attention produces a context vector for each token: a new vector that blends in information from the other tokens in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needs a way to ask "how related are these two tokens?". The dot product answers that. Line up two vectors, multiply the numbers in the same positions, and add the results. Vectors that point in a similar direction give a bigger number. A token compared with itself usually scores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can be any size, so they are hard to use directly. Softmax fixes that in two steps. First it makes every score positive, in a way that stretches the gaps so the biggest score grows the most. Then it divides each value by the total, so they become shares that add up to 1. (Mathematically, step one raises e to the power of each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combine the two tools. Compare: take the dot product of every token with every token, giving a grid of attention scores. Weight: apply softmax to each row, giving attention weights that add up to 1. Blend: each token's context vector is a weighted mix of all the embeddings. In this simplest version nothing is learned; the embeddings are used as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"falls" row of weights: 0.26, 0.42 and 0.31. Multiply each token's embedding by its weight, then add the three results number by number. The result is the context vector for "falls". It is mostly "falls" itself, with some "rain" and "softly" mixed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token's embedding is multiplied by three different learned matrices to make its query, key and value. The query is compared with every key using dot products, which gives the scores. The values are what get mixed together. During training, the model adjusts the three matrices so the scores and blends become useful. It is called self-attention because the tokens of one sequence look at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learned versions follow the same three ideas with two changes. The comparison uses queries and keys, and the blend uses values. And before softmax, every score is divided by the square root of d_k, the length of the key vectors. The next slide shows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products grow as vectors get longer, because more pairs are multiplied and added. Softmax exaggerates gaps between scores, so large scores give almost all the weight to one token. That makes learning harder. Dividing by the square root of d_k brings the scores back to a comfortable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stores the query, key and value matrices as raw learnable tensors and multiplies by them directly. Version 2 wraps each one in an nn.Linear layer, which is how PyTorch code is normally written, and allows an optional bias. The attention steps are identical. The starting random numbers differ, because nn.Linear uses its own way of picking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CausalAttentionV1 adds one step before softmax. Every score for a future token, above the diagonal, is replaced with negative infinity. Softmax turns negative infinity into a weight of exactly zero, and the remaining weights in each row still add to 1. GPT needs this because it is trained to predict the next token; if it could see that token, it would be cheating.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Dropout is applied to the attention weights after softmax. While training, each allowed link has a chance of being set to zero, so the model cannot lean too heavily on any one connection. This helps against overfitting. PyTorch also scales up the kept weights a little to make up for the dropped ones. When the model is switched to evaluation mode, dropout does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head learns one way of mixing tokens. Multi-head attention runs several independent causal attention heads side by side, each with its own query, key and value layers. Each head produces its own context vectors, and they are concatenated, joined end to end. With 3 heads of width 4, each token's output has 12 numbers. One head might learn to look at the previous word while another links a verb to its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PyTorchAttentionV1 calls scaled_dot_product_attention with the same input as query, key and value, so nothing is learned, much like simple attention with scaling added. It can apply a causal mask, and PyTorch may pick a faster fused implementation on suitable hardware. PyTorchAttentionV2 uses nn.MultiheadAttention, which handles learned projections, splits the work into heads, and combines them with a final output layer. Unlike MultiHeadAttentionV1, whose width grows with the number of heads, its output keeps the embedding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sums up what each model adds. PyTorchAttentionV1 has no learned layers, like the simple version, while PyTorchAttentionV2 has the full set except dropout, which these versions leave at zero. GPT-style training uses every column: learned Q, K, V, scaling, causal masking, dropout, and multiple heads.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reference for every term used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two versions that show the core idea. Then add one feature at a time: cleaner layers, causal masking, dropout, and multiple heads. Finally, compare your versions with the PyTorch built-ins, which you would use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731520" y="914400"/>
            <a:ext cx="10698480" cy="1554480"/>
          </a:xfrm>
          <a:prstGeom prst="rect">
            <a:avLst/>
          </a:prstGeom>
          <a:noFill/>
          <a:ln/>
        </p:spPr>
        <p:txBody>
          <a:bodyPr wrap="square" lIns="0" tIns="0" rIns="0" bIns="0" rtlCol="0" anchor="b"/>
          <a:lstStyle/>
          <a:p>
            <a:pPr indent="0" marL="0">
              <a:buNone/>
            </a:pPr>
            <a:r>
              <a:rPr lang="en-US" sz="4800" b="1" dirty="0">
                <a:solidFill>
                  <a:srgbClr val="435466"/>
                </a:solidFill>
                <a:latin typeface="Inter" pitchFamily="34" charset="0"/>
                <a:ea typeface="Inter" pitchFamily="34" charset="-122"/>
                <a:cs typeface="Inter" pitchFamily="34" charset="-120"/>
              </a:rPr>
              <a:t>Your Attention Models</a:t>
            </a:r>
            <a:endParaRPr lang="en-US" sz="4800" dirty="0"/>
          </a:p>
        </p:txBody>
      </p:sp>
      <p:sp>
        <p:nvSpPr>
          <p:cNvPr id="3" name="Text 1"/>
          <p:cNvSpPr txBox="1"/>
          <p:nvPr/>
        </p:nvSpPr>
        <p:spPr>
          <a:xfrm>
            <a:off x="731520" y="2606040"/>
            <a:ext cx="10698480" cy="548640"/>
          </a:xfrm>
          <a:prstGeom prst="rect">
            <a:avLst/>
          </a:prstGeom>
          <a:noFill/>
          <a:ln/>
        </p:spPr>
        <p:txBody>
          <a:bodyPr wrap="square" lIns="0" tIns="0" rIns="0" bIns="0" rtlCol="0" anchor="t"/>
          <a:lstStyle/>
          <a:p>
            <a:pPr indent="0" marL="0">
              <a:buNone/>
            </a:pPr>
            <a:r>
              <a:rPr lang="en-US" sz="2200" dirty="0">
                <a:solidFill>
                  <a:srgbClr val="66768A"/>
                </a:solidFill>
                <a:latin typeface="Inter" pitchFamily="34" charset="0"/>
                <a:ea typeface="Inter" pitchFamily="34" charset="-122"/>
                <a:cs typeface="Inter" pitchFamily="34" charset="-120"/>
              </a:rPr>
              <a:t>From "compare, weight, blend" to GPT-style multi-head attention</a:t>
            </a:r>
            <a:endParaRPr lang="en-US" sz="2200" dirty="0"/>
          </a:p>
        </p:txBody>
      </p:sp>
      <p:sp>
        <p:nvSpPr>
          <p:cNvPr id="4" name="Text 2"/>
          <p:cNvSpPr txBox="1"/>
          <p:nvPr/>
        </p:nvSpPr>
        <p:spPr>
          <a:xfrm>
            <a:off x="731520" y="3657600"/>
            <a:ext cx="173736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"rain"</a:t>
            </a:r>
            <a:endParaRPr lang="en-US" sz="1700" dirty="0"/>
          </a:p>
        </p:txBody>
      </p:sp>
      <p:sp>
        <p:nvSpPr>
          <p:cNvPr id="5" name="Text 3"/>
          <p:cNvSpPr txBox="1"/>
          <p:nvPr/>
        </p:nvSpPr>
        <p:spPr>
          <a:xfrm>
            <a:off x="731520" y="4206240"/>
            <a:ext cx="173736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"falls"</a:t>
            </a:r>
            <a:endParaRPr lang="en-US" sz="1700" dirty="0"/>
          </a:p>
        </p:txBody>
      </p:sp>
      <p:sp>
        <p:nvSpPr>
          <p:cNvPr id="6" name="Text 4"/>
          <p:cNvSpPr txBox="1"/>
          <p:nvPr/>
        </p:nvSpPr>
        <p:spPr>
          <a:xfrm>
            <a:off x="731520" y="4754880"/>
            <a:ext cx="173736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"softly"</a:t>
            </a:r>
            <a:endParaRPr lang="en-US" sz="1700" dirty="0"/>
          </a:p>
        </p:txBody>
      </p:sp>
      <p:sp>
        <p:nvSpPr>
          <p:cNvPr id="7" name="Shape 5"/>
          <p:cNvSpPr/>
          <p:nvPr/>
        </p:nvSpPr>
        <p:spPr>
          <a:xfrm>
            <a:off x="2651760" y="4434840"/>
            <a:ext cx="731520" cy="0"/>
          </a:xfrm>
          <a:prstGeom prst="line">
            <a:avLst/>
          </a:prstGeom>
          <a:noFill/>
          <a:ln w="31750">
            <a:solidFill>
              <a:srgbClr val="A9C0D8"/>
            </a:solidFill>
            <a:prstDash val="solid"/>
            <a:tailEnd type="triangle"/>
          </a:ln>
        </p:spPr>
      </p:sp>
      <p:sp>
        <p:nvSpPr>
          <p:cNvPr id="8" name="Text 6"/>
          <p:cNvSpPr txBox="1"/>
          <p:nvPr/>
        </p:nvSpPr>
        <p:spPr>
          <a:xfrm>
            <a:off x="3520440" y="4023360"/>
            <a:ext cx="2194560" cy="822960"/>
          </a:xfrm>
          <a:prstGeom prst="roundRect">
            <a:avLst>
              <a:gd name="adj" fmla="val 11111"/>
            </a:avLst>
          </a:prstGeom>
          <a:solidFill>
            <a:srgbClr val="A9C0D8"/>
          </a:solidFill>
          <a:ln w="15875">
            <a:solidFill>
              <a:srgbClr val="A9C0D8"/>
            </a:solidFill>
          </a:ln>
        </p:spPr>
        <p:txBody>
          <a:bodyPr wrap="square" lIns="0" tIns="0" rIns="0" bIns="0" rtlCol="0" anchor="ctr"/>
          <a:lstStyle/>
          <a:p>
            <a:pPr algn="ctr" indent="0" marL="0">
              <a:buNone/>
            </a:pPr>
            <a:r>
              <a:rPr lang="en-US" sz="2000" b="1" dirty="0">
                <a:solidFill>
                  <a:srgbClr val="435466"/>
                </a:solidFill>
                <a:latin typeface="Inter" pitchFamily="34" charset="0"/>
                <a:ea typeface="Inter" pitchFamily="34" charset="-122"/>
                <a:cs typeface="Inter" pitchFamily="34" charset="-120"/>
              </a:rPr>
              <a:t>Attention</a:t>
            </a:r>
            <a:endParaRPr lang="en-US" sz="2000" dirty="0"/>
          </a:p>
        </p:txBody>
      </p:sp>
      <p:sp>
        <p:nvSpPr>
          <p:cNvPr id="9" name="Shape 7"/>
          <p:cNvSpPr/>
          <p:nvPr/>
        </p:nvSpPr>
        <p:spPr>
          <a:xfrm>
            <a:off x="5852160" y="4434840"/>
            <a:ext cx="731520" cy="0"/>
          </a:xfrm>
          <a:prstGeom prst="line">
            <a:avLst/>
          </a:prstGeom>
          <a:noFill/>
          <a:ln w="31750">
            <a:solidFill>
              <a:srgbClr val="A9C0D8"/>
            </a:solidFill>
            <a:prstDash val="solid"/>
            <a:tailEnd type="triangle"/>
          </a:ln>
        </p:spPr>
      </p:sp>
      <p:sp>
        <p:nvSpPr>
          <p:cNvPr id="10" name="Shape 8"/>
          <p:cNvSpPr/>
          <p:nvPr/>
        </p:nvSpPr>
        <p:spPr>
          <a:xfrm>
            <a:off x="6766560" y="3694176"/>
            <a:ext cx="365760" cy="365760"/>
          </a:xfrm>
          <a:prstGeom prst="roundRect">
            <a:avLst>
              <a:gd name="adj" fmla="val 12500"/>
            </a:avLst>
          </a:prstGeom>
          <a:solidFill>
            <a:srgbClr val="FFFFFF"/>
          </a:solidFill>
          <a:ln w="12700">
            <a:solidFill>
              <a:srgbClr val="435466"/>
            </a:solidFill>
            <a:prstDash val="solid"/>
          </a:ln>
        </p:spPr>
      </p:sp>
      <p:sp>
        <p:nvSpPr>
          <p:cNvPr id="11" name="Shape 9"/>
          <p:cNvSpPr/>
          <p:nvPr/>
        </p:nvSpPr>
        <p:spPr>
          <a:xfrm>
            <a:off x="7187184" y="3694176"/>
            <a:ext cx="365760" cy="365760"/>
          </a:xfrm>
          <a:prstGeom prst="roundRect">
            <a:avLst>
              <a:gd name="adj" fmla="val 12500"/>
            </a:avLst>
          </a:prstGeom>
          <a:solidFill>
            <a:srgbClr val="FFFFFF"/>
          </a:solidFill>
          <a:ln w="12700">
            <a:solidFill>
              <a:srgbClr val="435466"/>
            </a:solidFill>
            <a:prstDash val="solid"/>
          </a:ln>
        </p:spPr>
      </p:sp>
      <p:sp>
        <p:nvSpPr>
          <p:cNvPr id="12" name="Shape 10"/>
          <p:cNvSpPr/>
          <p:nvPr/>
        </p:nvSpPr>
        <p:spPr>
          <a:xfrm>
            <a:off x="7607808" y="3694176"/>
            <a:ext cx="365760" cy="365760"/>
          </a:xfrm>
          <a:prstGeom prst="roundRect">
            <a:avLst>
              <a:gd name="adj" fmla="val 12500"/>
            </a:avLst>
          </a:prstGeom>
          <a:solidFill>
            <a:srgbClr val="FFFFFF"/>
          </a:solidFill>
          <a:ln w="12700">
            <a:solidFill>
              <a:srgbClr val="435466"/>
            </a:solidFill>
            <a:prstDash val="solid"/>
          </a:ln>
        </p:spPr>
      </p:sp>
      <p:sp>
        <p:nvSpPr>
          <p:cNvPr id="13" name="Shape 11"/>
          <p:cNvSpPr/>
          <p:nvPr/>
        </p:nvSpPr>
        <p:spPr>
          <a:xfrm>
            <a:off x="8028432" y="3694176"/>
            <a:ext cx="365760" cy="365760"/>
          </a:xfrm>
          <a:prstGeom prst="roundRect">
            <a:avLst>
              <a:gd name="adj" fmla="val 12500"/>
            </a:avLst>
          </a:prstGeom>
          <a:solidFill>
            <a:srgbClr val="FFFFFF"/>
          </a:solidFill>
          <a:ln w="12700">
            <a:solidFill>
              <a:srgbClr val="435466"/>
            </a:solidFill>
            <a:prstDash val="solid"/>
          </a:ln>
        </p:spPr>
      </p:sp>
      <p:sp>
        <p:nvSpPr>
          <p:cNvPr id="14" name="Shape 12"/>
          <p:cNvSpPr/>
          <p:nvPr/>
        </p:nvSpPr>
        <p:spPr>
          <a:xfrm>
            <a:off x="6766560" y="4242816"/>
            <a:ext cx="365760" cy="365760"/>
          </a:xfrm>
          <a:prstGeom prst="roundRect">
            <a:avLst>
              <a:gd name="adj" fmla="val 12500"/>
            </a:avLst>
          </a:prstGeom>
          <a:solidFill>
            <a:srgbClr val="FFFFFF"/>
          </a:solidFill>
          <a:ln w="12700">
            <a:solidFill>
              <a:srgbClr val="435466"/>
            </a:solidFill>
            <a:prstDash val="solid"/>
          </a:ln>
        </p:spPr>
      </p:sp>
      <p:sp>
        <p:nvSpPr>
          <p:cNvPr id="15" name="Shape 13"/>
          <p:cNvSpPr/>
          <p:nvPr/>
        </p:nvSpPr>
        <p:spPr>
          <a:xfrm>
            <a:off x="7187184" y="4242816"/>
            <a:ext cx="365760" cy="365760"/>
          </a:xfrm>
          <a:prstGeom prst="roundRect">
            <a:avLst>
              <a:gd name="adj" fmla="val 12500"/>
            </a:avLst>
          </a:prstGeom>
          <a:solidFill>
            <a:srgbClr val="FFFFFF"/>
          </a:solidFill>
          <a:ln w="12700">
            <a:solidFill>
              <a:srgbClr val="435466"/>
            </a:solidFill>
            <a:prstDash val="solid"/>
          </a:ln>
        </p:spPr>
      </p:sp>
      <p:sp>
        <p:nvSpPr>
          <p:cNvPr id="16" name="Shape 14"/>
          <p:cNvSpPr/>
          <p:nvPr/>
        </p:nvSpPr>
        <p:spPr>
          <a:xfrm>
            <a:off x="7607808" y="4242816"/>
            <a:ext cx="365760" cy="365760"/>
          </a:xfrm>
          <a:prstGeom prst="roundRect">
            <a:avLst>
              <a:gd name="adj" fmla="val 12500"/>
            </a:avLst>
          </a:prstGeom>
          <a:solidFill>
            <a:srgbClr val="FFFFFF"/>
          </a:solidFill>
          <a:ln w="12700">
            <a:solidFill>
              <a:srgbClr val="435466"/>
            </a:solidFill>
            <a:prstDash val="solid"/>
          </a:ln>
        </p:spPr>
      </p:sp>
      <p:sp>
        <p:nvSpPr>
          <p:cNvPr id="17" name="Shape 15"/>
          <p:cNvSpPr/>
          <p:nvPr/>
        </p:nvSpPr>
        <p:spPr>
          <a:xfrm>
            <a:off x="8028432" y="4242816"/>
            <a:ext cx="365760" cy="365760"/>
          </a:xfrm>
          <a:prstGeom prst="roundRect">
            <a:avLst>
              <a:gd name="adj" fmla="val 12500"/>
            </a:avLst>
          </a:prstGeom>
          <a:solidFill>
            <a:srgbClr val="FFFFFF"/>
          </a:solidFill>
          <a:ln w="12700">
            <a:solidFill>
              <a:srgbClr val="435466"/>
            </a:solidFill>
            <a:prstDash val="solid"/>
          </a:ln>
        </p:spPr>
      </p:sp>
      <p:sp>
        <p:nvSpPr>
          <p:cNvPr id="18" name="Shape 16"/>
          <p:cNvSpPr/>
          <p:nvPr/>
        </p:nvSpPr>
        <p:spPr>
          <a:xfrm>
            <a:off x="6766560" y="4791456"/>
            <a:ext cx="365760" cy="365760"/>
          </a:xfrm>
          <a:prstGeom prst="roundRect">
            <a:avLst>
              <a:gd name="adj" fmla="val 12500"/>
            </a:avLst>
          </a:prstGeom>
          <a:solidFill>
            <a:srgbClr val="FFFFFF"/>
          </a:solidFill>
          <a:ln w="12700">
            <a:solidFill>
              <a:srgbClr val="435466"/>
            </a:solidFill>
            <a:prstDash val="solid"/>
          </a:ln>
        </p:spPr>
      </p:sp>
      <p:sp>
        <p:nvSpPr>
          <p:cNvPr id="19" name="Shape 17"/>
          <p:cNvSpPr/>
          <p:nvPr/>
        </p:nvSpPr>
        <p:spPr>
          <a:xfrm>
            <a:off x="7187184" y="4791456"/>
            <a:ext cx="365760" cy="365760"/>
          </a:xfrm>
          <a:prstGeom prst="roundRect">
            <a:avLst>
              <a:gd name="adj" fmla="val 12500"/>
            </a:avLst>
          </a:prstGeom>
          <a:solidFill>
            <a:srgbClr val="FFFFFF"/>
          </a:solidFill>
          <a:ln w="12700">
            <a:solidFill>
              <a:srgbClr val="435466"/>
            </a:solidFill>
            <a:prstDash val="solid"/>
          </a:ln>
        </p:spPr>
      </p:sp>
      <p:sp>
        <p:nvSpPr>
          <p:cNvPr id="20" name="Shape 18"/>
          <p:cNvSpPr/>
          <p:nvPr/>
        </p:nvSpPr>
        <p:spPr>
          <a:xfrm>
            <a:off x="7607808" y="4791456"/>
            <a:ext cx="365760" cy="365760"/>
          </a:xfrm>
          <a:prstGeom prst="roundRect">
            <a:avLst>
              <a:gd name="adj" fmla="val 12500"/>
            </a:avLst>
          </a:prstGeom>
          <a:solidFill>
            <a:srgbClr val="FFFFFF"/>
          </a:solidFill>
          <a:ln w="12700">
            <a:solidFill>
              <a:srgbClr val="435466"/>
            </a:solidFill>
            <a:prstDash val="solid"/>
          </a:ln>
        </p:spPr>
      </p:sp>
      <p:sp>
        <p:nvSpPr>
          <p:cNvPr id="21" name="Shape 19"/>
          <p:cNvSpPr/>
          <p:nvPr/>
        </p:nvSpPr>
        <p:spPr>
          <a:xfrm>
            <a:off x="8028432" y="4791456"/>
            <a:ext cx="365760" cy="365760"/>
          </a:xfrm>
          <a:prstGeom prst="roundRect">
            <a:avLst>
              <a:gd name="adj" fmla="val 12500"/>
            </a:avLst>
          </a:prstGeom>
          <a:solidFill>
            <a:srgbClr val="FFFFFF"/>
          </a:solidFill>
          <a:ln w="12700">
            <a:solidFill>
              <a:srgbClr val="435466"/>
            </a:solidFill>
            <a:prstDash val="solid"/>
          </a:ln>
        </p:spPr>
      </p:sp>
      <p:sp>
        <p:nvSpPr>
          <p:cNvPr id="22" name="Text 20"/>
          <p:cNvSpPr txBox="1"/>
          <p:nvPr/>
        </p:nvSpPr>
        <p:spPr>
          <a:xfrm>
            <a:off x="548640" y="5303520"/>
            <a:ext cx="210312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words as numbers</a:t>
            </a:r>
            <a:endParaRPr lang="en-US" sz="1300" dirty="0"/>
          </a:p>
        </p:txBody>
      </p:sp>
      <p:sp>
        <p:nvSpPr>
          <p:cNvPr id="23" name="Text 21"/>
          <p:cNvSpPr txBox="1"/>
          <p:nvPr/>
        </p:nvSpPr>
        <p:spPr>
          <a:xfrm>
            <a:off x="3291840" y="5303520"/>
            <a:ext cx="265176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compare, weight, blend</a:t>
            </a:r>
            <a:endParaRPr lang="en-US" sz="1300" dirty="0"/>
          </a:p>
        </p:txBody>
      </p:sp>
      <p:sp>
        <p:nvSpPr>
          <p:cNvPr id="24" name="Text 22"/>
          <p:cNvSpPr txBox="1"/>
          <p:nvPr/>
        </p:nvSpPr>
        <p:spPr>
          <a:xfrm>
            <a:off x="6492240" y="5303520"/>
            <a:ext cx="219456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richer numbers per word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2</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The journey: eight models</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Each version keeps what came before and adds one new idea.</a:t>
            </a:r>
            <a:endParaRPr lang="en-US" sz="1600" dirty="0"/>
          </a:p>
        </p:txBody>
      </p:sp>
      <p:sp>
        <p:nvSpPr>
          <p:cNvPr id="5" name="Shape 3"/>
          <p:cNvSpPr/>
          <p:nvPr/>
        </p:nvSpPr>
        <p:spPr>
          <a:xfrm>
            <a:off x="640080" y="1600200"/>
            <a:ext cx="2514600" cy="1188720"/>
          </a:xfrm>
          <a:prstGeom prst="roundRect">
            <a:avLst>
              <a:gd name="adj" fmla="val 11538"/>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822960" y="1737360"/>
            <a:ext cx="347472" cy="347472"/>
          </a:xfrm>
          <a:prstGeom prst="ellipse">
            <a:avLst/>
          </a:prstGeom>
          <a:solidFill>
            <a:srgbClr val="E4ECE7"/>
          </a:solidFill>
          <a:ln w="12700">
            <a:solidFill>
              <a:srgbClr val="8FA99B"/>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1</a:t>
            </a:r>
            <a:endParaRPr lang="en-US" sz="1300" dirty="0"/>
          </a:p>
        </p:txBody>
      </p:sp>
      <p:sp>
        <p:nvSpPr>
          <p:cNvPr id="7" name="Text 5"/>
          <p:cNvSpPr txBox="1"/>
          <p:nvPr/>
        </p:nvSpPr>
        <p:spPr>
          <a:xfrm>
            <a:off x="822960" y="2121408"/>
            <a:ext cx="2240280" cy="301752"/>
          </a:xfrm>
          <a:prstGeom prst="rect">
            <a:avLst/>
          </a:prstGeom>
          <a:noFill/>
          <a:ln/>
        </p:spPr>
        <p:txBody>
          <a:bodyPr wrap="square" lIns="0" tIns="0" rIns="0" bIns="0" rtlCol="0" anchor="ctr"/>
          <a:lstStyle/>
          <a:p>
            <a:pPr indent="0" marL="0">
              <a:buNone/>
            </a:pPr>
            <a:r>
              <a:rPr lang="en-US" sz="1300" b="1" dirty="0">
                <a:solidFill>
                  <a:srgbClr val="435466"/>
                </a:solidFill>
                <a:latin typeface="Inter" pitchFamily="34" charset="0"/>
                <a:ea typeface="Inter" pitchFamily="34" charset="-122"/>
                <a:cs typeface="Inter" pitchFamily="34" charset="-120"/>
              </a:rPr>
              <a:t>SimpleAttentionV1</a:t>
            </a:r>
            <a:endParaRPr lang="en-US" sz="1300" dirty="0"/>
          </a:p>
        </p:txBody>
      </p:sp>
      <p:sp>
        <p:nvSpPr>
          <p:cNvPr id="8" name="Text 6"/>
          <p:cNvSpPr txBox="1"/>
          <p:nvPr/>
        </p:nvSpPr>
        <p:spPr>
          <a:xfrm>
            <a:off x="822960" y="2404872"/>
            <a:ext cx="2240280" cy="301752"/>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compare, weight, blend</a:t>
            </a:r>
            <a:endParaRPr lang="en-US" sz="1300" dirty="0"/>
          </a:p>
        </p:txBody>
      </p:sp>
      <p:sp>
        <p:nvSpPr>
          <p:cNvPr id="9" name="Shape 7"/>
          <p:cNvSpPr/>
          <p:nvPr/>
        </p:nvSpPr>
        <p:spPr>
          <a:xfrm>
            <a:off x="3191256" y="2194560"/>
            <a:ext cx="201168" cy="0"/>
          </a:xfrm>
          <a:prstGeom prst="line">
            <a:avLst/>
          </a:prstGeom>
          <a:noFill/>
          <a:ln w="31750">
            <a:solidFill>
              <a:srgbClr val="A9C0D8"/>
            </a:solidFill>
            <a:prstDash val="solid"/>
            <a:tailEnd type="triangle"/>
          </a:ln>
        </p:spPr>
      </p:sp>
      <p:sp>
        <p:nvSpPr>
          <p:cNvPr id="10" name="Shape 8"/>
          <p:cNvSpPr/>
          <p:nvPr/>
        </p:nvSpPr>
        <p:spPr>
          <a:xfrm>
            <a:off x="3429000" y="1600200"/>
            <a:ext cx="2514600" cy="1188720"/>
          </a:xfrm>
          <a:prstGeom prst="roundRect">
            <a:avLst>
              <a:gd name="adj" fmla="val 11538"/>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11" name="Text 9"/>
          <p:cNvSpPr txBox="1"/>
          <p:nvPr/>
        </p:nvSpPr>
        <p:spPr>
          <a:xfrm>
            <a:off x="3611880" y="1737360"/>
            <a:ext cx="347472" cy="347472"/>
          </a:xfrm>
          <a:prstGeom prst="ellipse">
            <a:avLst/>
          </a:prstGeom>
          <a:solidFill>
            <a:srgbClr val="E4ECE7"/>
          </a:solidFill>
          <a:ln w="12700">
            <a:solidFill>
              <a:srgbClr val="8FA99B"/>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2</a:t>
            </a:r>
            <a:endParaRPr lang="en-US" sz="1300" dirty="0"/>
          </a:p>
        </p:txBody>
      </p:sp>
      <p:sp>
        <p:nvSpPr>
          <p:cNvPr id="12" name="Text 10"/>
          <p:cNvSpPr txBox="1"/>
          <p:nvPr/>
        </p:nvSpPr>
        <p:spPr>
          <a:xfrm>
            <a:off x="3611880" y="2121408"/>
            <a:ext cx="2240280" cy="301752"/>
          </a:xfrm>
          <a:prstGeom prst="rect">
            <a:avLst/>
          </a:prstGeom>
          <a:noFill/>
          <a:ln/>
        </p:spPr>
        <p:txBody>
          <a:bodyPr wrap="square" lIns="0" tIns="0" rIns="0" bIns="0" rtlCol="0" anchor="ctr"/>
          <a:lstStyle/>
          <a:p>
            <a:pPr indent="0" marL="0">
              <a:buNone/>
            </a:pPr>
            <a:r>
              <a:rPr lang="en-US" sz="1300" b="1" dirty="0">
                <a:solidFill>
                  <a:srgbClr val="435466"/>
                </a:solidFill>
                <a:latin typeface="Inter" pitchFamily="34" charset="0"/>
                <a:ea typeface="Inter" pitchFamily="34" charset="-122"/>
                <a:cs typeface="Inter" pitchFamily="34" charset="-120"/>
              </a:rPr>
              <a:t>SelfAttentionV1</a:t>
            </a:r>
            <a:endParaRPr lang="en-US" sz="1300" dirty="0"/>
          </a:p>
        </p:txBody>
      </p:sp>
      <p:sp>
        <p:nvSpPr>
          <p:cNvPr id="13" name="Text 11"/>
          <p:cNvSpPr txBox="1"/>
          <p:nvPr/>
        </p:nvSpPr>
        <p:spPr>
          <a:xfrm>
            <a:off x="3611880" y="2404872"/>
            <a:ext cx="2240280" cy="301752"/>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learned Q, K, V + scaling</a:t>
            </a:r>
            <a:endParaRPr lang="en-US" sz="1300" dirty="0"/>
          </a:p>
        </p:txBody>
      </p:sp>
      <p:sp>
        <p:nvSpPr>
          <p:cNvPr id="14" name="Shape 12"/>
          <p:cNvSpPr/>
          <p:nvPr/>
        </p:nvSpPr>
        <p:spPr>
          <a:xfrm>
            <a:off x="5980176" y="2194560"/>
            <a:ext cx="201168" cy="0"/>
          </a:xfrm>
          <a:prstGeom prst="line">
            <a:avLst/>
          </a:prstGeom>
          <a:noFill/>
          <a:ln w="31750">
            <a:solidFill>
              <a:srgbClr val="A9C0D8"/>
            </a:solidFill>
            <a:prstDash val="solid"/>
            <a:tailEnd type="triangle"/>
          </a:ln>
        </p:spPr>
      </p:sp>
      <p:sp>
        <p:nvSpPr>
          <p:cNvPr id="15" name="Shape 13"/>
          <p:cNvSpPr/>
          <p:nvPr/>
        </p:nvSpPr>
        <p:spPr>
          <a:xfrm>
            <a:off x="6217920" y="1600200"/>
            <a:ext cx="2514600" cy="1188720"/>
          </a:xfrm>
          <a:prstGeom prst="roundRect">
            <a:avLst>
              <a:gd name="adj" fmla="val 11538"/>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16" name="Text 14"/>
          <p:cNvSpPr txBox="1"/>
          <p:nvPr/>
        </p:nvSpPr>
        <p:spPr>
          <a:xfrm>
            <a:off x="6400800" y="1737360"/>
            <a:ext cx="347472" cy="347472"/>
          </a:xfrm>
          <a:prstGeom prst="ellipse">
            <a:avLst/>
          </a:prstGeom>
          <a:solidFill>
            <a:srgbClr val="E4ECE7"/>
          </a:solidFill>
          <a:ln w="12700">
            <a:solidFill>
              <a:srgbClr val="8FA99B"/>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3</a:t>
            </a:r>
            <a:endParaRPr lang="en-US" sz="1300" dirty="0"/>
          </a:p>
        </p:txBody>
      </p:sp>
      <p:sp>
        <p:nvSpPr>
          <p:cNvPr id="17" name="Text 15"/>
          <p:cNvSpPr txBox="1"/>
          <p:nvPr/>
        </p:nvSpPr>
        <p:spPr>
          <a:xfrm>
            <a:off x="6400800" y="2121408"/>
            <a:ext cx="2240280" cy="301752"/>
          </a:xfrm>
          <a:prstGeom prst="rect">
            <a:avLst/>
          </a:prstGeom>
          <a:noFill/>
          <a:ln/>
        </p:spPr>
        <p:txBody>
          <a:bodyPr wrap="square" lIns="0" tIns="0" rIns="0" bIns="0" rtlCol="0" anchor="ctr"/>
          <a:lstStyle/>
          <a:p>
            <a:pPr indent="0" marL="0">
              <a:buNone/>
            </a:pPr>
            <a:r>
              <a:rPr lang="en-US" sz="1300" b="1" dirty="0">
                <a:solidFill>
                  <a:srgbClr val="435466"/>
                </a:solidFill>
                <a:latin typeface="Inter" pitchFamily="34" charset="0"/>
                <a:ea typeface="Inter" pitchFamily="34" charset="-122"/>
                <a:cs typeface="Inter" pitchFamily="34" charset="-120"/>
              </a:rPr>
              <a:t>SelfAttentionV2</a:t>
            </a:r>
            <a:endParaRPr lang="en-US" sz="1300" dirty="0"/>
          </a:p>
        </p:txBody>
      </p:sp>
      <p:sp>
        <p:nvSpPr>
          <p:cNvPr id="18" name="Text 16"/>
          <p:cNvSpPr txBox="1"/>
          <p:nvPr/>
        </p:nvSpPr>
        <p:spPr>
          <a:xfrm>
            <a:off x="6400800" y="2404872"/>
            <a:ext cx="2240280" cy="301752"/>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same math, cleaner layers</a:t>
            </a:r>
            <a:endParaRPr lang="en-US" sz="1300" dirty="0"/>
          </a:p>
        </p:txBody>
      </p:sp>
      <p:sp>
        <p:nvSpPr>
          <p:cNvPr id="19" name="Shape 17"/>
          <p:cNvSpPr/>
          <p:nvPr/>
        </p:nvSpPr>
        <p:spPr>
          <a:xfrm>
            <a:off x="8769096" y="2194560"/>
            <a:ext cx="201168" cy="0"/>
          </a:xfrm>
          <a:prstGeom prst="line">
            <a:avLst/>
          </a:prstGeom>
          <a:noFill/>
          <a:ln w="31750">
            <a:solidFill>
              <a:srgbClr val="A9C0D8"/>
            </a:solidFill>
            <a:prstDash val="solid"/>
            <a:tailEnd type="triangle"/>
          </a:ln>
        </p:spPr>
      </p:sp>
      <p:sp>
        <p:nvSpPr>
          <p:cNvPr id="20" name="Shape 18"/>
          <p:cNvSpPr/>
          <p:nvPr/>
        </p:nvSpPr>
        <p:spPr>
          <a:xfrm>
            <a:off x="9006840" y="1600200"/>
            <a:ext cx="2514600" cy="1188720"/>
          </a:xfrm>
          <a:prstGeom prst="roundRect">
            <a:avLst>
              <a:gd name="adj" fmla="val 11538"/>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1" name="Text 19"/>
          <p:cNvSpPr txBox="1"/>
          <p:nvPr/>
        </p:nvSpPr>
        <p:spPr>
          <a:xfrm>
            <a:off x="9189720" y="1737360"/>
            <a:ext cx="347472" cy="347472"/>
          </a:xfrm>
          <a:prstGeom prst="ellipse">
            <a:avLst/>
          </a:prstGeom>
          <a:solidFill>
            <a:srgbClr val="E4ECE7"/>
          </a:solidFill>
          <a:ln w="12700">
            <a:solidFill>
              <a:srgbClr val="8FA99B"/>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4</a:t>
            </a:r>
            <a:endParaRPr lang="en-US" sz="1300" dirty="0"/>
          </a:p>
        </p:txBody>
      </p:sp>
      <p:sp>
        <p:nvSpPr>
          <p:cNvPr id="22" name="Text 20"/>
          <p:cNvSpPr txBox="1"/>
          <p:nvPr/>
        </p:nvSpPr>
        <p:spPr>
          <a:xfrm>
            <a:off x="9189720" y="2121408"/>
            <a:ext cx="2240280" cy="301752"/>
          </a:xfrm>
          <a:prstGeom prst="rect">
            <a:avLst/>
          </a:prstGeom>
          <a:noFill/>
          <a:ln/>
        </p:spPr>
        <p:txBody>
          <a:bodyPr wrap="square" lIns="0" tIns="0" rIns="0" bIns="0" rtlCol="0" anchor="ctr"/>
          <a:lstStyle/>
          <a:p>
            <a:pPr indent="0" marL="0">
              <a:buNone/>
            </a:pPr>
            <a:r>
              <a:rPr lang="en-US" sz="1300" b="1" dirty="0">
                <a:solidFill>
                  <a:srgbClr val="435466"/>
                </a:solidFill>
                <a:latin typeface="Inter" pitchFamily="34" charset="0"/>
                <a:ea typeface="Inter" pitchFamily="34" charset="-122"/>
                <a:cs typeface="Inter" pitchFamily="34" charset="-120"/>
              </a:rPr>
              <a:t>CausalAttentionV1</a:t>
            </a:r>
            <a:endParaRPr lang="en-US" sz="1300" dirty="0"/>
          </a:p>
        </p:txBody>
      </p:sp>
      <p:sp>
        <p:nvSpPr>
          <p:cNvPr id="23" name="Text 21"/>
          <p:cNvSpPr txBox="1"/>
          <p:nvPr/>
        </p:nvSpPr>
        <p:spPr>
          <a:xfrm>
            <a:off x="9189720" y="2404872"/>
            <a:ext cx="2240280" cy="301752"/>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no looking ahead</a:t>
            </a:r>
            <a:endParaRPr lang="en-US" sz="1300" dirty="0"/>
          </a:p>
        </p:txBody>
      </p:sp>
      <p:sp>
        <p:nvSpPr>
          <p:cNvPr id="24" name="Shape 22"/>
          <p:cNvSpPr/>
          <p:nvPr/>
        </p:nvSpPr>
        <p:spPr>
          <a:xfrm>
            <a:off x="640080" y="3063240"/>
            <a:ext cx="2514600" cy="1188720"/>
          </a:xfrm>
          <a:prstGeom prst="roundRect">
            <a:avLst>
              <a:gd name="adj" fmla="val 11538"/>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5" name="Text 23"/>
          <p:cNvSpPr txBox="1"/>
          <p:nvPr/>
        </p:nvSpPr>
        <p:spPr>
          <a:xfrm>
            <a:off x="822960" y="3200400"/>
            <a:ext cx="347472" cy="347472"/>
          </a:xfrm>
          <a:prstGeom prst="ellipse">
            <a:avLst/>
          </a:prstGeom>
          <a:solidFill>
            <a:srgbClr val="E4ECE7"/>
          </a:solidFill>
          <a:ln w="12700">
            <a:solidFill>
              <a:srgbClr val="8FA99B"/>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5</a:t>
            </a:r>
            <a:endParaRPr lang="en-US" sz="1300" dirty="0"/>
          </a:p>
        </p:txBody>
      </p:sp>
      <p:sp>
        <p:nvSpPr>
          <p:cNvPr id="26" name="Text 24"/>
          <p:cNvSpPr txBox="1"/>
          <p:nvPr/>
        </p:nvSpPr>
        <p:spPr>
          <a:xfrm>
            <a:off x="822960" y="3584448"/>
            <a:ext cx="2240280" cy="301752"/>
          </a:xfrm>
          <a:prstGeom prst="rect">
            <a:avLst/>
          </a:prstGeom>
          <a:noFill/>
          <a:ln/>
        </p:spPr>
        <p:txBody>
          <a:bodyPr wrap="square" lIns="0" tIns="0" rIns="0" bIns="0" rtlCol="0" anchor="ctr"/>
          <a:lstStyle/>
          <a:p>
            <a:pPr indent="0" marL="0">
              <a:buNone/>
            </a:pPr>
            <a:r>
              <a:rPr lang="en-US" sz="1300" b="1" dirty="0">
                <a:solidFill>
                  <a:srgbClr val="435466"/>
                </a:solidFill>
                <a:latin typeface="Inter" pitchFamily="34" charset="0"/>
                <a:ea typeface="Inter" pitchFamily="34" charset="-122"/>
                <a:cs typeface="Inter" pitchFamily="34" charset="-120"/>
              </a:rPr>
              <a:t>CausalAttentionV2</a:t>
            </a:r>
            <a:endParaRPr lang="en-US" sz="1300" dirty="0"/>
          </a:p>
        </p:txBody>
      </p:sp>
      <p:sp>
        <p:nvSpPr>
          <p:cNvPr id="27" name="Text 25"/>
          <p:cNvSpPr txBox="1"/>
          <p:nvPr/>
        </p:nvSpPr>
        <p:spPr>
          <a:xfrm>
            <a:off x="822960" y="3867912"/>
            <a:ext cx="2240280" cy="301752"/>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adds dropout</a:t>
            </a:r>
            <a:endParaRPr lang="en-US" sz="1300" dirty="0"/>
          </a:p>
        </p:txBody>
      </p:sp>
      <p:sp>
        <p:nvSpPr>
          <p:cNvPr id="28" name="Shape 26"/>
          <p:cNvSpPr/>
          <p:nvPr/>
        </p:nvSpPr>
        <p:spPr>
          <a:xfrm>
            <a:off x="3191256" y="3657600"/>
            <a:ext cx="201168" cy="0"/>
          </a:xfrm>
          <a:prstGeom prst="line">
            <a:avLst/>
          </a:prstGeom>
          <a:noFill/>
          <a:ln w="31750">
            <a:solidFill>
              <a:srgbClr val="A9C0D8"/>
            </a:solidFill>
            <a:prstDash val="solid"/>
            <a:tailEnd type="triangle"/>
          </a:ln>
        </p:spPr>
      </p:sp>
      <p:sp>
        <p:nvSpPr>
          <p:cNvPr id="29" name="Shape 27"/>
          <p:cNvSpPr/>
          <p:nvPr/>
        </p:nvSpPr>
        <p:spPr>
          <a:xfrm>
            <a:off x="3429000" y="3063240"/>
            <a:ext cx="2514600" cy="1188720"/>
          </a:xfrm>
          <a:prstGeom prst="roundRect">
            <a:avLst>
              <a:gd name="adj" fmla="val 11538"/>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30" name="Text 28"/>
          <p:cNvSpPr txBox="1"/>
          <p:nvPr/>
        </p:nvSpPr>
        <p:spPr>
          <a:xfrm>
            <a:off x="3611880" y="3200400"/>
            <a:ext cx="347472" cy="347472"/>
          </a:xfrm>
          <a:prstGeom prst="ellipse">
            <a:avLst/>
          </a:prstGeom>
          <a:solidFill>
            <a:srgbClr val="E4ECE7"/>
          </a:solidFill>
          <a:ln w="12700">
            <a:solidFill>
              <a:srgbClr val="8FA99B"/>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6</a:t>
            </a:r>
            <a:endParaRPr lang="en-US" sz="1300" dirty="0"/>
          </a:p>
        </p:txBody>
      </p:sp>
      <p:sp>
        <p:nvSpPr>
          <p:cNvPr id="31" name="Text 29"/>
          <p:cNvSpPr txBox="1"/>
          <p:nvPr/>
        </p:nvSpPr>
        <p:spPr>
          <a:xfrm>
            <a:off x="3611880" y="3584448"/>
            <a:ext cx="2240280" cy="301752"/>
          </a:xfrm>
          <a:prstGeom prst="rect">
            <a:avLst/>
          </a:prstGeom>
          <a:noFill/>
          <a:ln/>
        </p:spPr>
        <p:txBody>
          <a:bodyPr wrap="square" lIns="0" tIns="0" rIns="0" bIns="0" rtlCol="0" anchor="ctr"/>
          <a:lstStyle/>
          <a:p>
            <a:pPr indent="0" marL="0">
              <a:buNone/>
            </a:pPr>
            <a:r>
              <a:rPr lang="en-US" sz="1300" b="1" dirty="0">
                <a:solidFill>
                  <a:srgbClr val="435466"/>
                </a:solidFill>
                <a:latin typeface="Inter" pitchFamily="34" charset="0"/>
                <a:ea typeface="Inter" pitchFamily="34" charset="-122"/>
                <a:cs typeface="Inter" pitchFamily="34" charset="-120"/>
              </a:rPr>
              <a:t>MultiHeadAttentionV1</a:t>
            </a:r>
            <a:endParaRPr lang="en-US" sz="1300" dirty="0"/>
          </a:p>
        </p:txBody>
      </p:sp>
      <p:sp>
        <p:nvSpPr>
          <p:cNvPr id="32" name="Text 30"/>
          <p:cNvSpPr txBox="1"/>
          <p:nvPr/>
        </p:nvSpPr>
        <p:spPr>
          <a:xfrm>
            <a:off x="3611880" y="3867912"/>
            <a:ext cx="2240280" cy="301752"/>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several heads at once</a:t>
            </a:r>
            <a:endParaRPr lang="en-US" sz="1300" dirty="0"/>
          </a:p>
        </p:txBody>
      </p:sp>
      <p:sp>
        <p:nvSpPr>
          <p:cNvPr id="33" name="Shape 31"/>
          <p:cNvSpPr/>
          <p:nvPr/>
        </p:nvSpPr>
        <p:spPr>
          <a:xfrm>
            <a:off x="5980176" y="3657600"/>
            <a:ext cx="201168" cy="0"/>
          </a:xfrm>
          <a:prstGeom prst="line">
            <a:avLst/>
          </a:prstGeom>
          <a:noFill/>
          <a:ln w="31750">
            <a:solidFill>
              <a:srgbClr val="A9C0D8"/>
            </a:solidFill>
            <a:prstDash val="solid"/>
            <a:tailEnd type="triangle"/>
          </a:ln>
        </p:spPr>
      </p:sp>
      <p:sp>
        <p:nvSpPr>
          <p:cNvPr id="34" name="Shape 32"/>
          <p:cNvSpPr/>
          <p:nvPr/>
        </p:nvSpPr>
        <p:spPr>
          <a:xfrm>
            <a:off x="6217920" y="3063240"/>
            <a:ext cx="2514600" cy="1188720"/>
          </a:xfrm>
          <a:prstGeom prst="roundRect">
            <a:avLst>
              <a:gd name="adj" fmla="val 11538"/>
            </a:avLst>
          </a:prstGeom>
          <a:solidFill>
            <a:srgbClr val="E8EFF7"/>
          </a:solidFill>
          <a:ln w="15875">
            <a:solidFill>
              <a:srgbClr val="A9C0D8"/>
            </a:solidFill>
            <a:prstDash val="solid"/>
          </a:ln>
          <a:effectLst>
            <a:outerShdw sx="100000" sy="100000" kx="0" ky="0" algn="bl" rotWithShape="0" blurRad="101600" dist="25400" dir="5400000">
              <a:srgbClr val="435466">
                <a:alpha val="8000"/>
              </a:srgbClr>
            </a:outerShdw>
          </a:effectLst>
        </p:spPr>
      </p:sp>
      <p:sp>
        <p:nvSpPr>
          <p:cNvPr id="35" name="Text 33"/>
          <p:cNvSpPr txBox="1"/>
          <p:nvPr/>
        </p:nvSpPr>
        <p:spPr>
          <a:xfrm>
            <a:off x="6400800" y="3200400"/>
            <a:ext cx="347472" cy="347472"/>
          </a:xfrm>
          <a:prstGeom prst="ellipse">
            <a:avLst/>
          </a:prstGeom>
          <a:solidFill>
            <a:srgbClr val="E4ECE7"/>
          </a:solidFill>
          <a:ln w="12700">
            <a:solidFill>
              <a:srgbClr val="8FA99B"/>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7</a:t>
            </a:r>
            <a:endParaRPr lang="en-US" sz="1300" dirty="0"/>
          </a:p>
        </p:txBody>
      </p:sp>
      <p:sp>
        <p:nvSpPr>
          <p:cNvPr id="36" name="Text 34"/>
          <p:cNvSpPr txBox="1"/>
          <p:nvPr/>
        </p:nvSpPr>
        <p:spPr>
          <a:xfrm>
            <a:off x="6400800" y="3584448"/>
            <a:ext cx="2240280" cy="301752"/>
          </a:xfrm>
          <a:prstGeom prst="rect">
            <a:avLst/>
          </a:prstGeom>
          <a:noFill/>
          <a:ln/>
        </p:spPr>
        <p:txBody>
          <a:bodyPr wrap="square" lIns="0" tIns="0" rIns="0" bIns="0" rtlCol="0" anchor="ctr"/>
          <a:lstStyle/>
          <a:p>
            <a:pPr indent="0" marL="0">
              <a:buNone/>
            </a:pPr>
            <a:r>
              <a:rPr lang="en-US" sz="1300" b="1" dirty="0">
                <a:solidFill>
                  <a:srgbClr val="435466"/>
                </a:solidFill>
                <a:latin typeface="Inter" pitchFamily="34" charset="0"/>
                <a:ea typeface="Inter" pitchFamily="34" charset="-122"/>
                <a:cs typeface="Inter" pitchFamily="34" charset="-120"/>
              </a:rPr>
              <a:t>PyTorchAttentionV1</a:t>
            </a:r>
            <a:endParaRPr lang="en-US" sz="1300" dirty="0"/>
          </a:p>
        </p:txBody>
      </p:sp>
      <p:sp>
        <p:nvSpPr>
          <p:cNvPr id="37" name="Text 35"/>
          <p:cNvSpPr txBox="1"/>
          <p:nvPr/>
        </p:nvSpPr>
        <p:spPr>
          <a:xfrm>
            <a:off x="6400800" y="3867912"/>
            <a:ext cx="2240280" cy="301752"/>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built-in fast attention</a:t>
            </a:r>
            <a:endParaRPr lang="en-US" sz="1300" dirty="0"/>
          </a:p>
        </p:txBody>
      </p:sp>
      <p:sp>
        <p:nvSpPr>
          <p:cNvPr id="38" name="Shape 36"/>
          <p:cNvSpPr/>
          <p:nvPr/>
        </p:nvSpPr>
        <p:spPr>
          <a:xfrm>
            <a:off x="8769096" y="3657600"/>
            <a:ext cx="201168" cy="0"/>
          </a:xfrm>
          <a:prstGeom prst="line">
            <a:avLst/>
          </a:prstGeom>
          <a:noFill/>
          <a:ln w="31750">
            <a:solidFill>
              <a:srgbClr val="A9C0D8"/>
            </a:solidFill>
            <a:prstDash val="solid"/>
            <a:tailEnd type="triangle"/>
          </a:ln>
        </p:spPr>
      </p:sp>
      <p:sp>
        <p:nvSpPr>
          <p:cNvPr id="39" name="Shape 37"/>
          <p:cNvSpPr/>
          <p:nvPr/>
        </p:nvSpPr>
        <p:spPr>
          <a:xfrm>
            <a:off x="9006840" y="3063240"/>
            <a:ext cx="2514600" cy="1188720"/>
          </a:xfrm>
          <a:prstGeom prst="roundRect">
            <a:avLst>
              <a:gd name="adj" fmla="val 11538"/>
            </a:avLst>
          </a:prstGeom>
          <a:solidFill>
            <a:srgbClr val="E8EFF7"/>
          </a:solidFill>
          <a:ln w="15875">
            <a:solidFill>
              <a:srgbClr val="A9C0D8"/>
            </a:solidFill>
            <a:prstDash val="solid"/>
          </a:ln>
          <a:effectLst>
            <a:outerShdw sx="100000" sy="100000" kx="0" ky="0" algn="bl" rotWithShape="0" blurRad="101600" dist="25400" dir="5400000">
              <a:srgbClr val="435466">
                <a:alpha val="8000"/>
              </a:srgbClr>
            </a:outerShdw>
          </a:effectLst>
        </p:spPr>
      </p:sp>
      <p:sp>
        <p:nvSpPr>
          <p:cNvPr id="40" name="Text 38"/>
          <p:cNvSpPr txBox="1"/>
          <p:nvPr/>
        </p:nvSpPr>
        <p:spPr>
          <a:xfrm>
            <a:off x="9189720" y="3200400"/>
            <a:ext cx="347472" cy="347472"/>
          </a:xfrm>
          <a:prstGeom prst="ellipse">
            <a:avLst/>
          </a:prstGeom>
          <a:solidFill>
            <a:srgbClr val="E4ECE7"/>
          </a:solidFill>
          <a:ln w="12700">
            <a:solidFill>
              <a:srgbClr val="8FA99B"/>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8</a:t>
            </a:r>
            <a:endParaRPr lang="en-US" sz="1300" dirty="0"/>
          </a:p>
        </p:txBody>
      </p:sp>
      <p:sp>
        <p:nvSpPr>
          <p:cNvPr id="41" name="Text 39"/>
          <p:cNvSpPr txBox="1"/>
          <p:nvPr/>
        </p:nvSpPr>
        <p:spPr>
          <a:xfrm>
            <a:off x="9189720" y="3584448"/>
            <a:ext cx="2240280" cy="301752"/>
          </a:xfrm>
          <a:prstGeom prst="rect">
            <a:avLst/>
          </a:prstGeom>
          <a:noFill/>
          <a:ln/>
        </p:spPr>
        <p:txBody>
          <a:bodyPr wrap="square" lIns="0" tIns="0" rIns="0" bIns="0" rtlCol="0" anchor="ctr"/>
          <a:lstStyle/>
          <a:p>
            <a:pPr indent="0" marL="0">
              <a:buNone/>
            </a:pPr>
            <a:r>
              <a:rPr lang="en-US" sz="1300" b="1" dirty="0">
                <a:solidFill>
                  <a:srgbClr val="435466"/>
                </a:solidFill>
                <a:latin typeface="Inter" pitchFamily="34" charset="0"/>
                <a:ea typeface="Inter" pitchFamily="34" charset="-122"/>
                <a:cs typeface="Inter" pitchFamily="34" charset="-120"/>
              </a:rPr>
              <a:t>PyTorchAttentionV2</a:t>
            </a:r>
            <a:endParaRPr lang="en-US" sz="1300" dirty="0"/>
          </a:p>
        </p:txBody>
      </p:sp>
      <p:sp>
        <p:nvSpPr>
          <p:cNvPr id="42" name="Text 40"/>
          <p:cNvSpPr txBox="1"/>
          <p:nvPr/>
        </p:nvSpPr>
        <p:spPr>
          <a:xfrm>
            <a:off x="9189720" y="3867912"/>
            <a:ext cx="2240280" cy="301752"/>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built-in multi-head</a:t>
            </a:r>
            <a:endParaRPr lang="en-US" sz="1300" dirty="0"/>
          </a:p>
        </p:txBody>
      </p:sp>
      <p:sp>
        <p:nvSpPr>
          <p:cNvPr id="43" name="Shape 41"/>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44" name="Text 42"/>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45" name="Text 43"/>
          <p:cNvSpPr txBox="1"/>
          <p:nvPr/>
        </p:nvSpPr>
        <p:spPr>
          <a:xfrm>
            <a:off x="192024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Model</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here, a piece of code that computes attention</a:t>
            </a:r>
            <a:endParaRPr lang="en-US" sz="1800" dirty="0"/>
          </a:p>
        </p:txBody>
      </p:sp>
      <p:sp>
        <p:nvSpPr>
          <p:cNvPr id="46" name="Text 44"/>
          <p:cNvSpPr txBox="1"/>
          <p:nvPr/>
        </p:nvSpPr>
        <p:spPr>
          <a:xfrm>
            <a:off x="428625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V1, V2</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version 1, version 2 of the same idea</a:t>
            </a:r>
            <a:endParaRPr lang="en-US" sz="1800" dirty="0"/>
          </a:p>
        </p:txBody>
      </p:sp>
      <p:sp>
        <p:nvSpPr>
          <p:cNvPr id="47" name="Text 45"/>
          <p:cNvSpPr txBox="1"/>
          <p:nvPr/>
        </p:nvSpPr>
        <p:spPr>
          <a:xfrm>
            <a:off x="665226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PyTorch</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Python library for building neural networks</a:t>
            </a:r>
            <a:endParaRPr lang="en-US" sz="1800" dirty="0"/>
          </a:p>
        </p:txBody>
      </p:sp>
      <p:sp>
        <p:nvSpPr>
          <p:cNvPr id="48" name="Text 46"/>
          <p:cNvSpPr txBox="1"/>
          <p:nvPr/>
        </p:nvSpPr>
        <p:spPr>
          <a:xfrm>
            <a:off x="901827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Blue cards</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versions PyTorch provides ready-made</a:t>
            </a:r>
            <a:endParaRPr lang="en-US" sz="1800" dirty="0"/>
          </a:p>
        </p:txBody>
      </p:sp>
      <p:sp>
        <p:nvSpPr>
          <p:cNvPr id="49" name="Shape 47"/>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50" name="Shape 48"/>
          <p:cNvSpPr/>
          <p:nvPr/>
        </p:nvSpPr>
        <p:spPr>
          <a:xfrm>
            <a:off x="914400" y="5509260"/>
            <a:ext cx="548640" cy="548640"/>
          </a:xfrm>
          <a:prstGeom prst="ellipse">
            <a:avLst/>
          </a:prstGeom>
          <a:solidFill>
            <a:srgbClr val="FFFFFF"/>
          </a:solidFill>
          <a:ln w="15875">
            <a:solidFill>
              <a:srgbClr val="8FA99B"/>
            </a:solidFill>
            <a:prstDash val="solid"/>
          </a:ln>
        </p:spPr>
      </p:sp>
      <p:pic>
        <p:nvPicPr>
          <p:cNvPr id="51"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52" name="Text 49"/>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Learn the idea first, then each add-on, then the fast built-ins.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3</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Starting point: words as numbers</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A model cannot read words, so every token is turned into a list of numbers.</a:t>
            </a:r>
            <a:endParaRPr lang="en-US" sz="1600" dirty="0"/>
          </a:p>
        </p:txBody>
      </p:sp>
      <p:sp>
        <p:nvSpPr>
          <p:cNvPr id="5" name="Shape 3"/>
          <p:cNvSpPr/>
          <p:nvPr/>
        </p:nvSpPr>
        <p:spPr>
          <a:xfrm>
            <a:off x="640080" y="1554480"/>
            <a:ext cx="5669280"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60120" y="1691640"/>
            <a:ext cx="3657600" cy="411480"/>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Embeddings</a:t>
            </a:r>
            <a:endParaRPr lang="en-US" sz="1900" dirty="0"/>
          </a:p>
        </p:txBody>
      </p:sp>
      <p:sp>
        <p:nvSpPr>
          <p:cNvPr id="7" name="Text 5"/>
          <p:cNvSpPr txBox="1"/>
          <p:nvPr/>
        </p:nvSpPr>
        <p:spPr>
          <a:xfrm>
            <a:off x="960120" y="2240280"/>
            <a:ext cx="146304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"rain"</a:t>
            </a:r>
            <a:endParaRPr lang="en-US" sz="1600" dirty="0"/>
          </a:p>
        </p:txBody>
      </p:sp>
      <p:sp>
        <p:nvSpPr>
          <p:cNvPr id="8" name="Shape 6"/>
          <p:cNvSpPr/>
          <p:nvPr/>
        </p:nvSpPr>
        <p:spPr>
          <a:xfrm>
            <a:off x="2560320" y="2459736"/>
            <a:ext cx="548640" cy="0"/>
          </a:xfrm>
          <a:prstGeom prst="line">
            <a:avLst/>
          </a:prstGeom>
          <a:noFill/>
          <a:ln w="31750">
            <a:solidFill>
              <a:srgbClr val="A9C0D8"/>
            </a:solidFill>
            <a:prstDash val="solid"/>
            <a:tailEnd type="triangle"/>
          </a:ln>
        </p:spPr>
      </p:sp>
      <p:sp>
        <p:nvSpPr>
          <p:cNvPr id="9" name="Text 7"/>
          <p:cNvSpPr txBox="1"/>
          <p:nvPr/>
        </p:nvSpPr>
        <p:spPr>
          <a:xfrm>
            <a:off x="3246120" y="2240280"/>
            <a:ext cx="73152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0.9</a:t>
            </a:r>
            <a:endParaRPr lang="en-US" sz="1500" dirty="0"/>
          </a:p>
        </p:txBody>
      </p:sp>
      <p:sp>
        <p:nvSpPr>
          <p:cNvPr id="10" name="Text 8"/>
          <p:cNvSpPr txBox="1"/>
          <p:nvPr/>
        </p:nvSpPr>
        <p:spPr>
          <a:xfrm>
            <a:off x="4087368" y="2240280"/>
            <a:ext cx="73152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0.1</a:t>
            </a:r>
            <a:endParaRPr lang="en-US" sz="1500" dirty="0"/>
          </a:p>
        </p:txBody>
      </p:sp>
      <p:sp>
        <p:nvSpPr>
          <p:cNvPr id="11" name="Text 9"/>
          <p:cNvSpPr txBox="1"/>
          <p:nvPr/>
        </p:nvSpPr>
        <p:spPr>
          <a:xfrm>
            <a:off x="4928616" y="2240280"/>
            <a:ext cx="73152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0.4</a:t>
            </a:r>
            <a:endParaRPr lang="en-US" sz="1500" dirty="0"/>
          </a:p>
        </p:txBody>
      </p:sp>
      <p:sp>
        <p:nvSpPr>
          <p:cNvPr id="12" name="Text 10"/>
          <p:cNvSpPr txBox="1"/>
          <p:nvPr/>
        </p:nvSpPr>
        <p:spPr>
          <a:xfrm>
            <a:off x="960120" y="2807208"/>
            <a:ext cx="146304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"falls"</a:t>
            </a:r>
            <a:endParaRPr lang="en-US" sz="1600" dirty="0"/>
          </a:p>
        </p:txBody>
      </p:sp>
      <p:sp>
        <p:nvSpPr>
          <p:cNvPr id="13" name="Shape 11"/>
          <p:cNvSpPr/>
          <p:nvPr/>
        </p:nvSpPr>
        <p:spPr>
          <a:xfrm>
            <a:off x="2560320" y="3026664"/>
            <a:ext cx="548640" cy="0"/>
          </a:xfrm>
          <a:prstGeom prst="line">
            <a:avLst/>
          </a:prstGeom>
          <a:noFill/>
          <a:ln w="31750">
            <a:solidFill>
              <a:srgbClr val="A9C0D8"/>
            </a:solidFill>
            <a:prstDash val="solid"/>
            <a:tailEnd type="triangle"/>
          </a:ln>
        </p:spPr>
      </p:sp>
      <p:sp>
        <p:nvSpPr>
          <p:cNvPr id="14" name="Text 12"/>
          <p:cNvSpPr txBox="1"/>
          <p:nvPr/>
        </p:nvSpPr>
        <p:spPr>
          <a:xfrm>
            <a:off x="3246120" y="2807208"/>
            <a:ext cx="73152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0.5</a:t>
            </a:r>
            <a:endParaRPr lang="en-US" sz="1500" dirty="0"/>
          </a:p>
        </p:txBody>
      </p:sp>
      <p:sp>
        <p:nvSpPr>
          <p:cNvPr id="15" name="Text 13"/>
          <p:cNvSpPr txBox="1"/>
          <p:nvPr/>
        </p:nvSpPr>
        <p:spPr>
          <a:xfrm>
            <a:off x="4087368" y="2807208"/>
            <a:ext cx="73152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0.8</a:t>
            </a:r>
            <a:endParaRPr lang="en-US" sz="1500" dirty="0"/>
          </a:p>
        </p:txBody>
      </p:sp>
      <p:sp>
        <p:nvSpPr>
          <p:cNvPr id="16" name="Text 14"/>
          <p:cNvSpPr txBox="1"/>
          <p:nvPr/>
        </p:nvSpPr>
        <p:spPr>
          <a:xfrm>
            <a:off x="4928616" y="2807208"/>
            <a:ext cx="73152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0.6</a:t>
            </a:r>
            <a:endParaRPr lang="en-US" sz="1500" dirty="0"/>
          </a:p>
        </p:txBody>
      </p:sp>
      <p:sp>
        <p:nvSpPr>
          <p:cNvPr id="17" name="Text 15"/>
          <p:cNvSpPr txBox="1"/>
          <p:nvPr/>
        </p:nvSpPr>
        <p:spPr>
          <a:xfrm>
            <a:off x="960120" y="3374136"/>
            <a:ext cx="146304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"softly"</a:t>
            </a:r>
            <a:endParaRPr lang="en-US" sz="1600" dirty="0"/>
          </a:p>
        </p:txBody>
      </p:sp>
      <p:sp>
        <p:nvSpPr>
          <p:cNvPr id="18" name="Shape 16"/>
          <p:cNvSpPr/>
          <p:nvPr/>
        </p:nvSpPr>
        <p:spPr>
          <a:xfrm>
            <a:off x="2560320" y="3593592"/>
            <a:ext cx="548640" cy="0"/>
          </a:xfrm>
          <a:prstGeom prst="line">
            <a:avLst/>
          </a:prstGeom>
          <a:noFill/>
          <a:ln w="31750">
            <a:solidFill>
              <a:srgbClr val="A9C0D8"/>
            </a:solidFill>
            <a:prstDash val="solid"/>
            <a:tailEnd type="triangle"/>
          </a:ln>
        </p:spPr>
      </p:sp>
      <p:sp>
        <p:nvSpPr>
          <p:cNvPr id="19" name="Text 17"/>
          <p:cNvSpPr txBox="1"/>
          <p:nvPr/>
        </p:nvSpPr>
        <p:spPr>
          <a:xfrm>
            <a:off x="3246120" y="3374136"/>
            <a:ext cx="73152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0.1</a:t>
            </a:r>
            <a:endParaRPr lang="en-US" sz="1500" dirty="0"/>
          </a:p>
        </p:txBody>
      </p:sp>
      <p:sp>
        <p:nvSpPr>
          <p:cNvPr id="20" name="Text 18"/>
          <p:cNvSpPr txBox="1"/>
          <p:nvPr/>
        </p:nvSpPr>
        <p:spPr>
          <a:xfrm>
            <a:off x="4087368" y="3374136"/>
            <a:ext cx="73152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0.9</a:t>
            </a:r>
            <a:endParaRPr lang="en-US" sz="1500" dirty="0"/>
          </a:p>
        </p:txBody>
      </p:sp>
      <p:sp>
        <p:nvSpPr>
          <p:cNvPr id="21" name="Text 19"/>
          <p:cNvSpPr txBox="1"/>
          <p:nvPr/>
        </p:nvSpPr>
        <p:spPr>
          <a:xfrm>
            <a:off x="4928616" y="3374136"/>
            <a:ext cx="73152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0.3</a:t>
            </a:r>
            <a:endParaRPr lang="en-US" sz="1500" dirty="0"/>
          </a:p>
        </p:txBody>
      </p:sp>
      <p:sp>
        <p:nvSpPr>
          <p:cNvPr id="22" name="Text 20"/>
          <p:cNvSpPr txBox="1"/>
          <p:nvPr/>
        </p:nvSpPr>
        <p:spPr>
          <a:xfrm>
            <a:off x="960120" y="3913632"/>
            <a:ext cx="5120640" cy="274320"/>
          </a:xfrm>
          <a:prstGeom prst="rect">
            <a:avLst/>
          </a:prstGeom>
          <a:noFill/>
          <a:ln/>
        </p:spPr>
        <p:txBody>
          <a:bodyPr wrap="square" lIns="0" tIns="0" rIns="0" bIns="0" rtlCol="0" anchor="t"/>
          <a:lstStyle/>
          <a:p>
            <a:pPr indent="0" marL="0">
              <a:buNone/>
            </a:pPr>
            <a:r>
              <a:rPr lang="en-US" sz="1200" dirty="0">
                <a:solidFill>
                  <a:srgbClr val="66768A"/>
                </a:solidFill>
                <a:latin typeface="Inter" pitchFamily="34" charset="0"/>
                <a:ea typeface="Inter" pitchFamily="34" charset="-122"/>
                <a:cs typeface="Inter" pitchFamily="34" charset="-120"/>
              </a:rPr>
              <a:t>Example numbers, 3 per token. Real models use hundreds.</a:t>
            </a:r>
            <a:endParaRPr lang="en-US" sz="1200" dirty="0"/>
          </a:p>
        </p:txBody>
      </p:sp>
      <p:sp>
        <p:nvSpPr>
          <p:cNvPr id="23" name="Shape 21"/>
          <p:cNvSpPr/>
          <p:nvPr/>
        </p:nvSpPr>
        <p:spPr>
          <a:xfrm>
            <a:off x="6675120" y="1554480"/>
            <a:ext cx="4873752"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4" name="Text 22"/>
          <p:cNvSpPr txBox="1"/>
          <p:nvPr/>
        </p:nvSpPr>
        <p:spPr>
          <a:xfrm>
            <a:off x="6995160" y="1691640"/>
            <a:ext cx="4206240" cy="411480"/>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What attention adds</a:t>
            </a:r>
            <a:endParaRPr lang="en-US" sz="1900" dirty="0"/>
          </a:p>
        </p:txBody>
      </p:sp>
      <p:sp>
        <p:nvSpPr>
          <p:cNvPr id="25" name="Text 23"/>
          <p:cNvSpPr txBox="1"/>
          <p:nvPr/>
        </p:nvSpPr>
        <p:spPr>
          <a:xfrm>
            <a:off x="8019288" y="2194560"/>
            <a:ext cx="2194560" cy="384048"/>
          </a:xfrm>
          <a:prstGeom prst="roundRect">
            <a:avLst>
              <a:gd name="adj" fmla="val 2381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"falls" on its own</a:t>
            </a:r>
            <a:endParaRPr lang="en-US" sz="1400" dirty="0"/>
          </a:p>
        </p:txBody>
      </p:sp>
      <p:sp>
        <p:nvSpPr>
          <p:cNvPr id="26" name="Text 24"/>
          <p:cNvSpPr txBox="1"/>
          <p:nvPr/>
        </p:nvSpPr>
        <p:spPr>
          <a:xfrm>
            <a:off x="7872984" y="2651760"/>
            <a:ext cx="731520" cy="384048"/>
          </a:xfrm>
          <a:prstGeom prst="roundRect">
            <a:avLst>
              <a:gd name="adj" fmla="val 2381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0.5</a:t>
            </a:r>
            <a:endParaRPr lang="en-US" sz="1400" dirty="0"/>
          </a:p>
        </p:txBody>
      </p:sp>
      <p:sp>
        <p:nvSpPr>
          <p:cNvPr id="27" name="Text 25"/>
          <p:cNvSpPr txBox="1"/>
          <p:nvPr/>
        </p:nvSpPr>
        <p:spPr>
          <a:xfrm>
            <a:off x="8714232" y="2651760"/>
            <a:ext cx="731520" cy="384048"/>
          </a:xfrm>
          <a:prstGeom prst="roundRect">
            <a:avLst>
              <a:gd name="adj" fmla="val 2381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0.8</a:t>
            </a:r>
            <a:endParaRPr lang="en-US" sz="1400" dirty="0"/>
          </a:p>
        </p:txBody>
      </p:sp>
      <p:sp>
        <p:nvSpPr>
          <p:cNvPr id="28" name="Text 26"/>
          <p:cNvSpPr txBox="1"/>
          <p:nvPr/>
        </p:nvSpPr>
        <p:spPr>
          <a:xfrm>
            <a:off x="9555480" y="2651760"/>
            <a:ext cx="731520" cy="384048"/>
          </a:xfrm>
          <a:prstGeom prst="roundRect">
            <a:avLst>
              <a:gd name="adj" fmla="val 2381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0.6</a:t>
            </a:r>
            <a:endParaRPr lang="en-US" sz="1400" dirty="0"/>
          </a:p>
        </p:txBody>
      </p:sp>
      <p:sp>
        <p:nvSpPr>
          <p:cNvPr id="29" name="Shape 27"/>
          <p:cNvSpPr/>
          <p:nvPr/>
        </p:nvSpPr>
        <p:spPr>
          <a:xfrm>
            <a:off x="9116568" y="3081528"/>
            <a:ext cx="0" cy="228600"/>
          </a:xfrm>
          <a:prstGeom prst="line">
            <a:avLst/>
          </a:prstGeom>
          <a:noFill/>
          <a:ln w="31750">
            <a:solidFill>
              <a:srgbClr val="A9C0D8"/>
            </a:solidFill>
            <a:prstDash val="solid"/>
            <a:tailEnd type="triangle"/>
          </a:ln>
        </p:spPr>
      </p:sp>
      <p:sp>
        <p:nvSpPr>
          <p:cNvPr id="30" name="Text 28"/>
          <p:cNvSpPr txBox="1"/>
          <p:nvPr/>
        </p:nvSpPr>
        <p:spPr>
          <a:xfrm>
            <a:off x="7872984" y="3355848"/>
            <a:ext cx="731520" cy="384048"/>
          </a:xfrm>
          <a:prstGeom prst="roundRect">
            <a:avLst>
              <a:gd name="adj" fmla="val 23810"/>
            </a:avLst>
          </a:prstGeom>
          <a:solidFill>
            <a:srgbClr val="FFFFFF"/>
          </a:solidFill>
          <a:ln w="15875">
            <a:solidFill>
              <a:srgbClr val="435466"/>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0.48</a:t>
            </a:r>
            <a:endParaRPr lang="en-US" sz="1400" dirty="0"/>
          </a:p>
        </p:txBody>
      </p:sp>
      <p:sp>
        <p:nvSpPr>
          <p:cNvPr id="31" name="Text 29"/>
          <p:cNvSpPr txBox="1"/>
          <p:nvPr/>
        </p:nvSpPr>
        <p:spPr>
          <a:xfrm>
            <a:off x="8714232" y="3355848"/>
            <a:ext cx="731520" cy="384048"/>
          </a:xfrm>
          <a:prstGeom prst="roundRect">
            <a:avLst>
              <a:gd name="adj" fmla="val 23810"/>
            </a:avLst>
          </a:prstGeom>
          <a:solidFill>
            <a:srgbClr val="FFFFFF"/>
          </a:solidFill>
          <a:ln w="15875">
            <a:solidFill>
              <a:srgbClr val="435466"/>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0.65</a:t>
            </a:r>
            <a:endParaRPr lang="en-US" sz="1400" dirty="0"/>
          </a:p>
        </p:txBody>
      </p:sp>
      <p:sp>
        <p:nvSpPr>
          <p:cNvPr id="32" name="Text 30"/>
          <p:cNvSpPr txBox="1"/>
          <p:nvPr/>
        </p:nvSpPr>
        <p:spPr>
          <a:xfrm>
            <a:off x="9555480" y="3355848"/>
            <a:ext cx="731520" cy="384048"/>
          </a:xfrm>
          <a:prstGeom prst="roundRect">
            <a:avLst>
              <a:gd name="adj" fmla="val 23810"/>
            </a:avLst>
          </a:prstGeom>
          <a:solidFill>
            <a:srgbClr val="FFFFFF"/>
          </a:solidFill>
          <a:ln w="15875">
            <a:solidFill>
              <a:srgbClr val="435466"/>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0.45</a:t>
            </a:r>
            <a:endParaRPr lang="en-US" sz="1400" dirty="0"/>
          </a:p>
        </p:txBody>
      </p:sp>
      <p:sp>
        <p:nvSpPr>
          <p:cNvPr id="33" name="Text 31"/>
          <p:cNvSpPr txBox="1"/>
          <p:nvPr/>
        </p:nvSpPr>
        <p:spPr>
          <a:xfrm>
            <a:off x="6812280" y="3794760"/>
            <a:ext cx="4599432"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context vector: "falls" plus a little of "rain" and "softly"</a:t>
            </a:r>
            <a:endParaRPr lang="en-US" sz="1200" dirty="0"/>
          </a:p>
        </p:txBody>
      </p:sp>
      <p:sp>
        <p:nvSpPr>
          <p:cNvPr id="34" name="Shape 32"/>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35" name="Text 33"/>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36" name="Text 34"/>
          <p:cNvSpPr txBox="1"/>
          <p:nvPr/>
        </p:nvSpPr>
        <p:spPr>
          <a:xfrm>
            <a:off x="192024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Token</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small piece of text, often a word</a:t>
            </a:r>
            <a:endParaRPr lang="en-US" sz="1800" dirty="0"/>
          </a:p>
        </p:txBody>
      </p:sp>
      <p:sp>
        <p:nvSpPr>
          <p:cNvPr id="37" name="Text 35"/>
          <p:cNvSpPr txBox="1"/>
          <p:nvPr/>
        </p:nvSpPr>
        <p:spPr>
          <a:xfrm>
            <a:off x="428625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Vector</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list of numbers</a:t>
            </a:r>
            <a:endParaRPr lang="en-US" sz="1800" dirty="0"/>
          </a:p>
        </p:txBody>
      </p:sp>
      <p:sp>
        <p:nvSpPr>
          <p:cNvPr id="38" name="Text 36"/>
          <p:cNvSpPr txBox="1"/>
          <p:nvPr/>
        </p:nvSpPr>
        <p:spPr>
          <a:xfrm>
            <a:off x="665226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Embedding</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the vector that stands for one token</a:t>
            </a:r>
            <a:endParaRPr lang="en-US" sz="1800" dirty="0"/>
          </a:p>
        </p:txBody>
      </p:sp>
      <p:sp>
        <p:nvSpPr>
          <p:cNvPr id="39" name="Text 37"/>
          <p:cNvSpPr txBox="1"/>
          <p:nvPr/>
        </p:nvSpPr>
        <p:spPr>
          <a:xfrm>
            <a:off x="901827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Context vector</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token's vector after mixing in the other tokens</a:t>
            </a:r>
            <a:endParaRPr lang="en-US" sz="1800" dirty="0"/>
          </a:p>
        </p:txBody>
      </p:sp>
      <p:sp>
        <p:nvSpPr>
          <p:cNvPr id="40" name="Shape 38"/>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41" name="Shape 39"/>
          <p:cNvSpPr/>
          <p:nvPr/>
        </p:nvSpPr>
        <p:spPr>
          <a:xfrm>
            <a:off x="914400" y="5509260"/>
            <a:ext cx="548640" cy="548640"/>
          </a:xfrm>
          <a:prstGeom prst="ellipse">
            <a:avLst/>
          </a:prstGeom>
          <a:solidFill>
            <a:srgbClr val="FFFFFF"/>
          </a:solidFill>
          <a:ln w="15875">
            <a:solidFill>
              <a:srgbClr val="8FA99B"/>
            </a:solidFill>
            <a:prstDash val="solid"/>
          </a:ln>
        </p:spPr>
      </p:sp>
      <p:pic>
        <p:nvPicPr>
          <p:cNvPr id="42"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43" name="Text 40"/>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Attention turns each embedding into a context vector.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4</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Tool 1: the dot product</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A dot product compares two vectors and gives back one number: a score for how alike they are.</a:t>
            </a:r>
            <a:endParaRPr lang="en-US" sz="1600" dirty="0"/>
          </a:p>
        </p:txBody>
      </p:sp>
      <p:sp>
        <p:nvSpPr>
          <p:cNvPr id="5" name="Shape 3"/>
          <p:cNvSpPr/>
          <p:nvPr/>
        </p:nvSpPr>
        <p:spPr>
          <a:xfrm>
            <a:off x="640080" y="1554480"/>
            <a:ext cx="6583680"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822960" y="1783080"/>
            <a:ext cx="1325880" cy="411480"/>
          </a:xfrm>
          <a:prstGeom prst="rect">
            <a:avLst/>
          </a:prstGeom>
          <a:noFill/>
          <a:ln/>
        </p:spPr>
        <p:txBody>
          <a:bodyPr wrap="square" lIns="0" tIns="0" rIns="0" bIns="0" rtlCol="0" anchor="ctr"/>
          <a:lstStyle/>
          <a:p>
            <a:pPr algn="r" indent="0" marL="0">
              <a:buNone/>
            </a:pPr>
            <a:r>
              <a:rPr lang="en-US" sz="1400" dirty="0">
                <a:solidFill>
                  <a:srgbClr val="66768A"/>
                </a:solidFill>
                <a:latin typeface="Inter" pitchFamily="34" charset="0"/>
                <a:ea typeface="Inter" pitchFamily="34" charset="-122"/>
                <a:cs typeface="Inter" pitchFamily="34" charset="-120"/>
              </a:rPr>
              <a:t>"falls"</a:t>
            </a:r>
            <a:endParaRPr lang="en-US" sz="1400" dirty="0"/>
          </a:p>
        </p:txBody>
      </p:sp>
      <p:sp>
        <p:nvSpPr>
          <p:cNvPr id="7" name="Text 5"/>
          <p:cNvSpPr txBox="1"/>
          <p:nvPr/>
        </p:nvSpPr>
        <p:spPr>
          <a:xfrm>
            <a:off x="2286000" y="1783080"/>
            <a:ext cx="8229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0.5</a:t>
            </a:r>
            <a:endParaRPr lang="en-US" sz="1600" dirty="0"/>
          </a:p>
        </p:txBody>
      </p:sp>
      <p:sp>
        <p:nvSpPr>
          <p:cNvPr id="8" name="Text 6"/>
          <p:cNvSpPr txBox="1"/>
          <p:nvPr/>
        </p:nvSpPr>
        <p:spPr>
          <a:xfrm>
            <a:off x="3291840" y="1783080"/>
            <a:ext cx="8229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0.8</a:t>
            </a:r>
            <a:endParaRPr lang="en-US" sz="1600" dirty="0"/>
          </a:p>
        </p:txBody>
      </p:sp>
      <p:sp>
        <p:nvSpPr>
          <p:cNvPr id="9" name="Text 7"/>
          <p:cNvSpPr txBox="1"/>
          <p:nvPr/>
        </p:nvSpPr>
        <p:spPr>
          <a:xfrm>
            <a:off x="4297680" y="1783080"/>
            <a:ext cx="8229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0.6</a:t>
            </a:r>
            <a:endParaRPr lang="en-US" sz="1600" dirty="0"/>
          </a:p>
        </p:txBody>
      </p:sp>
      <p:sp>
        <p:nvSpPr>
          <p:cNvPr id="10" name="Text 8"/>
          <p:cNvSpPr txBox="1"/>
          <p:nvPr/>
        </p:nvSpPr>
        <p:spPr>
          <a:xfrm>
            <a:off x="822960" y="2286000"/>
            <a:ext cx="1325880" cy="411480"/>
          </a:xfrm>
          <a:prstGeom prst="rect">
            <a:avLst/>
          </a:prstGeom>
          <a:noFill/>
          <a:ln/>
        </p:spPr>
        <p:txBody>
          <a:bodyPr wrap="square" lIns="0" tIns="0" rIns="0" bIns="0" rtlCol="0" anchor="ctr"/>
          <a:lstStyle/>
          <a:p>
            <a:pPr algn="r" indent="0" marL="0">
              <a:buNone/>
            </a:pPr>
            <a:r>
              <a:rPr lang="en-US" sz="1400" dirty="0">
                <a:solidFill>
                  <a:srgbClr val="66768A"/>
                </a:solidFill>
                <a:latin typeface="Inter" pitchFamily="34" charset="0"/>
                <a:ea typeface="Inter" pitchFamily="34" charset="-122"/>
                <a:cs typeface="Inter" pitchFamily="34" charset="-120"/>
              </a:rPr>
              <a:t>× "softly"</a:t>
            </a:r>
            <a:endParaRPr lang="en-US" sz="1400" dirty="0"/>
          </a:p>
        </p:txBody>
      </p:sp>
      <p:sp>
        <p:nvSpPr>
          <p:cNvPr id="11" name="Text 9"/>
          <p:cNvSpPr txBox="1"/>
          <p:nvPr/>
        </p:nvSpPr>
        <p:spPr>
          <a:xfrm>
            <a:off x="2286000" y="2286000"/>
            <a:ext cx="8229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0.1</a:t>
            </a:r>
            <a:endParaRPr lang="en-US" sz="1600" dirty="0"/>
          </a:p>
        </p:txBody>
      </p:sp>
      <p:sp>
        <p:nvSpPr>
          <p:cNvPr id="12" name="Text 10"/>
          <p:cNvSpPr txBox="1"/>
          <p:nvPr/>
        </p:nvSpPr>
        <p:spPr>
          <a:xfrm>
            <a:off x="3291840" y="2286000"/>
            <a:ext cx="8229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0.9</a:t>
            </a:r>
            <a:endParaRPr lang="en-US" sz="1600" dirty="0"/>
          </a:p>
        </p:txBody>
      </p:sp>
      <p:sp>
        <p:nvSpPr>
          <p:cNvPr id="13" name="Text 11"/>
          <p:cNvSpPr txBox="1"/>
          <p:nvPr/>
        </p:nvSpPr>
        <p:spPr>
          <a:xfrm>
            <a:off x="4297680" y="2286000"/>
            <a:ext cx="8229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0.3</a:t>
            </a:r>
            <a:endParaRPr lang="en-US" sz="1600" dirty="0"/>
          </a:p>
        </p:txBody>
      </p:sp>
      <p:sp>
        <p:nvSpPr>
          <p:cNvPr id="14" name="Shape 12"/>
          <p:cNvSpPr/>
          <p:nvPr/>
        </p:nvSpPr>
        <p:spPr>
          <a:xfrm>
            <a:off x="2286000" y="2816352"/>
            <a:ext cx="2834640" cy="0"/>
          </a:xfrm>
          <a:prstGeom prst="line">
            <a:avLst/>
          </a:prstGeom>
          <a:noFill/>
          <a:ln w="15875">
            <a:solidFill>
              <a:srgbClr val="435466"/>
            </a:solidFill>
            <a:prstDash val="solid"/>
          </a:ln>
        </p:spPr>
      </p:sp>
      <p:sp>
        <p:nvSpPr>
          <p:cNvPr id="15" name="Text 13"/>
          <p:cNvSpPr txBox="1"/>
          <p:nvPr/>
        </p:nvSpPr>
        <p:spPr>
          <a:xfrm>
            <a:off x="822960" y="2926080"/>
            <a:ext cx="1325880" cy="411480"/>
          </a:xfrm>
          <a:prstGeom prst="rect">
            <a:avLst/>
          </a:prstGeom>
          <a:noFill/>
          <a:ln/>
        </p:spPr>
        <p:txBody>
          <a:bodyPr wrap="square" lIns="0" tIns="0" rIns="0" bIns="0" rtlCol="0" anchor="ctr"/>
          <a:lstStyle/>
          <a:p>
            <a:pPr algn="r" indent="0" marL="0">
              <a:buNone/>
            </a:pPr>
            <a:r>
              <a:rPr lang="en-US" sz="1400" dirty="0">
                <a:solidFill>
                  <a:srgbClr val="66768A"/>
                </a:solidFill>
                <a:latin typeface="Inter" pitchFamily="34" charset="0"/>
                <a:ea typeface="Inter" pitchFamily="34" charset="-122"/>
                <a:cs typeface="Inter" pitchFamily="34" charset="-120"/>
              </a:rPr>
              <a:t>multiply pairs</a:t>
            </a:r>
            <a:endParaRPr lang="en-US" sz="1400" dirty="0"/>
          </a:p>
        </p:txBody>
      </p:sp>
      <p:sp>
        <p:nvSpPr>
          <p:cNvPr id="16" name="Text 14"/>
          <p:cNvSpPr txBox="1"/>
          <p:nvPr/>
        </p:nvSpPr>
        <p:spPr>
          <a:xfrm>
            <a:off x="2286000" y="2926080"/>
            <a:ext cx="82296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0.05</a:t>
            </a:r>
            <a:endParaRPr lang="en-US" sz="1600" dirty="0"/>
          </a:p>
        </p:txBody>
      </p:sp>
      <p:sp>
        <p:nvSpPr>
          <p:cNvPr id="17" name="Text 15"/>
          <p:cNvSpPr txBox="1"/>
          <p:nvPr/>
        </p:nvSpPr>
        <p:spPr>
          <a:xfrm>
            <a:off x="3291840" y="2926080"/>
            <a:ext cx="82296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0.72</a:t>
            </a:r>
            <a:endParaRPr lang="en-US" sz="1600" dirty="0"/>
          </a:p>
        </p:txBody>
      </p:sp>
      <p:sp>
        <p:nvSpPr>
          <p:cNvPr id="18" name="Text 16"/>
          <p:cNvSpPr txBox="1"/>
          <p:nvPr/>
        </p:nvSpPr>
        <p:spPr>
          <a:xfrm>
            <a:off x="4297680" y="2926080"/>
            <a:ext cx="82296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0.18</a:t>
            </a:r>
            <a:endParaRPr lang="en-US" sz="1600" dirty="0"/>
          </a:p>
        </p:txBody>
      </p:sp>
      <p:sp>
        <p:nvSpPr>
          <p:cNvPr id="19" name="Text 17"/>
          <p:cNvSpPr txBox="1"/>
          <p:nvPr/>
        </p:nvSpPr>
        <p:spPr>
          <a:xfrm>
            <a:off x="914400" y="3566160"/>
            <a:ext cx="4480560" cy="457200"/>
          </a:xfrm>
          <a:prstGeom prst="rect">
            <a:avLst/>
          </a:prstGeom>
          <a:noFill/>
          <a:ln/>
        </p:spPr>
        <p:txBody>
          <a:bodyPr wrap="square" lIns="0" tIns="0" rIns="0" bIns="0" rtlCol="0" anchor="ctr"/>
          <a:lstStyle/>
          <a:p>
            <a:pPr algn="r" indent="0" marL="0">
              <a:buNone/>
            </a:pPr>
            <a:r>
              <a:rPr lang="en-US" sz="1600" dirty="0">
                <a:solidFill>
                  <a:srgbClr val="435466"/>
                </a:solidFill>
                <a:latin typeface="Inter" pitchFamily="34" charset="0"/>
                <a:ea typeface="Inter" pitchFamily="34" charset="-122"/>
                <a:cs typeface="Inter" pitchFamily="34" charset="-120"/>
              </a:rPr>
              <a:t>add them up:  0.05 + 0.72 + 0.18  =</a:t>
            </a:r>
            <a:endParaRPr lang="en-US" sz="1600" dirty="0"/>
          </a:p>
        </p:txBody>
      </p:sp>
      <p:sp>
        <p:nvSpPr>
          <p:cNvPr id="20" name="Text 18"/>
          <p:cNvSpPr txBox="1"/>
          <p:nvPr/>
        </p:nvSpPr>
        <p:spPr>
          <a:xfrm>
            <a:off x="5532120" y="3566160"/>
            <a:ext cx="100584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800" b="1" dirty="0">
                <a:solidFill>
                  <a:srgbClr val="435466"/>
                </a:solidFill>
                <a:latin typeface="Inter" pitchFamily="34" charset="0"/>
                <a:ea typeface="Inter" pitchFamily="34" charset="-122"/>
                <a:cs typeface="Inter" pitchFamily="34" charset="-120"/>
              </a:rPr>
              <a:t>0.95</a:t>
            </a:r>
            <a:endParaRPr lang="en-US" sz="1800" dirty="0"/>
          </a:p>
        </p:txBody>
      </p:sp>
      <p:sp>
        <p:nvSpPr>
          <p:cNvPr id="21" name="Shape 19"/>
          <p:cNvSpPr/>
          <p:nvPr/>
        </p:nvSpPr>
        <p:spPr>
          <a:xfrm>
            <a:off x="7589520" y="1554480"/>
            <a:ext cx="3959352"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2" name="Text 20"/>
          <p:cNvSpPr txBox="1"/>
          <p:nvPr/>
        </p:nvSpPr>
        <p:spPr>
          <a:xfrm>
            <a:off x="7863840" y="1737360"/>
            <a:ext cx="3410712" cy="411480"/>
          </a:xfrm>
          <a:prstGeom prst="rect">
            <a:avLst/>
          </a:prstGeom>
          <a:noFill/>
          <a:ln/>
        </p:spPr>
        <p:txBody>
          <a:bodyPr wrap="square" lIns="0" tIns="0" rIns="0" bIns="0" rtlCol="0" anchor="ctr"/>
          <a:lstStyle/>
          <a:p>
            <a:pPr indent="0" marL="0">
              <a:buNone/>
            </a:pPr>
            <a:r>
              <a:rPr lang="en-US" sz="1700" b="1" dirty="0">
                <a:solidFill>
                  <a:srgbClr val="435466"/>
                </a:solidFill>
                <a:latin typeface="Inter" pitchFamily="34" charset="0"/>
                <a:ea typeface="Inter" pitchFamily="34" charset="-122"/>
                <a:cs typeface="Inter" pitchFamily="34" charset="-120"/>
              </a:rPr>
              <a:t>More alike, bigger score</a:t>
            </a:r>
            <a:endParaRPr lang="en-US" sz="1700" dirty="0"/>
          </a:p>
        </p:txBody>
      </p:sp>
      <p:sp>
        <p:nvSpPr>
          <p:cNvPr id="23" name="Text 21"/>
          <p:cNvSpPr txBox="1"/>
          <p:nvPr/>
        </p:nvSpPr>
        <p:spPr>
          <a:xfrm>
            <a:off x="7863840" y="2286000"/>
            <a:ext cx="2377440" cy="54864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"falls" with "falls"</a:t>
            </a:r>
            <a:endParaRPr lang="en-US" sz="1400" dirty="0"/>
          </a:p>
          <a:p>
            <a:pPr indent="0" marL="0">
              <a:buNone/>
            </a:pPr>
            <a:r>
              <a:rPr lang="en-US" sz="1200" dirty="0">
                <a:solidFill>
                  <a:srgbClr val="66768A"/>
                </a:solidFill>
                <a:latin typeface="Inter" pitchFamily="34" charset="0"/>
                <a:ea typeface="Inter" pitchFamily="34" charset="-122"/>
                <a:cs typeface="Inter" pitchFamily="34" charset="-120"/>
              </a:rPr>
              <a:t>same token</a:t>
            </a:r>
            <a:endParaRPr lang="en-US" sz="1400" dirty="0"/>
          </a:p>
        </p:txBody>
      </p:sp>
      <p:sp>
        <p:nvSpPr>
          <p:cNvPr id="24" name="Text 22"/>
          <p:cNvSpPr txBox="1"/>
          <p:nvPr/>
        </p:nvSpPr>
        <p:spPr>
          <a:xfrm>
            <a:off x="10332720" y="2331720"/>
            <a:ext cx="91440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1.25</a:t>
            </a:r>
            <a:endParaRPr lang="en-US" sz="1600" dirty="0"/>
          </a:p>
        </p:txBody>
      </p:sp>
      <p:sp>
        <p:nvSpPr>
          <p:cNvPr id="25" name="Text 23"/>
          <p:cNvSpPr txBox="1"/>
          <p:nvPr/>
        </p:nvSpPr>
        <p:spPr>
          <a:xfrm>
            <a:off x="7863840" y="2889504"/>
            <a:ext cx="2377440" cy="54864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"falls" with "softly"</a:t>
            </a:r>
            <a:endParaRPr lang="en-US" sz="1400" dirty="0"/>
          </a:p>
          <a:p>
            <a:pPr indent="0" marL="0">
              <a:buNone/>
            </a:pPr>
            <a:r>
              <a:rPr lang="en-US" sz="1200" dirty="0">
                <a:solidFill>
                  <a:srgbClr val="66768A"/>
                </a:solidFill>
                <a:latin typeface="Inter" pitchFamily="34" charset="0"/>
                <a:ea typeface="Inter" pitchFamily="34" charset="-122"/>
                <a:cs typeface="Inter" pitchFamily="34" charset="-120"/>
              </a:rPr>
              <a:t>fairly alike</a:t>
            </a:r>
            <a:endParaRPr lang="en-US" sz="1400" dirty="0"/>
          </a:p>
        </p:txBody>
      </p:sp>
      <p:sp>
        <p:nvSpPr>
          <p:cNvPr id="26" name="Text 24"/>
          <p:cNvSpPr txBox="1"/>
          <p:nvPr/>
        </p:nvSpPr>
        <p:spPr>
          <a:xfrm>
            <a:off x="10332720" y="2935224"/>
            <a:ext cx="91440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0.95</a:t>
            </a:r>
            <a:endParaRPr lang="en-US" sz="1600" dirty="0"/>
          </a:p>
        </p:txBody>
      </p:sp>
      <p:sp>
        <p:nvSpPr>
          <p:cNvPr id="27" name="Text 25"/>
          <p:cNvSpPr txBox="1"/>
          <p:nvPr/>
        </p:nvSpPr>
        <p:spPr>
          <a:xfrm>
            <a:off x="7863840" y="3493008"/>
            <a:ext cx="2377440" cy="54864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"rain" with "softly"</a:t>
            </a:r>
            <a:endParaRPr lang="en-US" sz="1400" dirty="0"/>
          </a:p>
          <a:p>
            <a:pPr indent="0" marL="0">
              <a:buNone/>
            </a:pPr>
            <a:r>
              <a:rPr lang="en-US" sz="1200" dirty="0">
                <a:solidFill>
                  <a:srgbClr val="66768A"/>
                </a:solidFill>
                <a:latin typeface="Inter" pitchFamily="34" charset="0"/>
                <a:ea typeface="Inter" pitchFamily="34" charset="-122"/>
                <a:cs typeface="Inter" pitchFamily="34" charset="-120"/>
              </a:rPr>
              <a:t>less alike</a:t>
            </a:r>
            <a:endParaRPr lang="en-US" sz="1400" dirty="0"/>
          </a:p>
        </p:txBody>
      </p:sp>
      <p:sp>
        <p:nvSpPr>
          <p:cNvPr id="28" name="Text 26"/>
          <p:cNvSpPr txBox="1"/>
          <p:nvPr/>
        </p:nvSpPr>
        <p:spPr>
          <a:xfrm>
            <a:off x="10332720" y="3538728"/>
            <a:ext cx="91440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0.30</a:t>
            </a:r>
            <a:endParaRPr lang="en-US" sz="1600" dirty="0"/>
          </a:p>
        </p:txBody>
      </p:sp>
      <p:sp>
        <p:nvSpPr>
          <p:cNvPr id="29" name="Shape 27"/>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30" name="Text 28"/>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31" name="Text 29"/>
          <p:cNvSpPr txBox="1"/>
          <p:nvPr/>
        </p:nvSpPr>
        <p:spPr>
          <a:xfrm>
            <a:off x="192024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Dot product</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multiply matching numbers, then add them up</a:t>
            </a:r>
            <a:endParaRPr lang="en-US" sz="1800" dirty="0"/>
          </a:p>
        </p:txBody>
      </p:sp>
      <p:sp>
        <p:nvSpPr>
          <p:cNvPr id="32" name="Text 30"/>
          <p:cNvSpPr txBox="1"/>
          <p:nvPr/>
        </p:nvSpPr>
        <p:spPr>
          <a:xfrm>
            <a:off x="507492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Score</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the single number a dot product gives back</a:t>
            </a:r>
            <a:endParaRPr lang="en-US" sz="1800" dirty="0"/>
          </a:p>
        </p:txBody>
      </p:sp>
      <p:sp>
        <p:nvSpPr>
          <p:cNvPr id="33" name="Text 31"/>
          <p:cNvSpPr txBox="1"/>
          <p:nvPr/>
        </p:nvSpPr>
        <p:spPr>
          <a:xfrm>
            <a:off x="822960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Alike</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vectors whose numbers rise and fall together</a:t>
            </a:r>
            <a:endParaRPr lang="en-US" sz="1800" dirty="0"/>
          </a:p>
        </p:txBody>
      </p:sp>
      <p:sp>
        <p:nvSpPr>
          <p:cNvPr id="34" name="Shape 32"/>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35" name="Shape 33"/>
          <p:cNvSpPr/>
          <p:nvPr/>
        </p:nvSpPr>
        <p:spPr>
          <a:xfrm>
            <a:off x="914400" y="5509260"/>
            <a:ext cx="548640" cy="548640"/>
          </a:xfrm>
          <a:prstGeom prst="ellipse">
            <a:avLst/>
          </a:prstGeom>
          <a:solidFill>
            <a:srgbClr val="FFFFFF"/>
          </a:solidFill>
          <a:ln w="15875">
            <a:solidFill>
              <a:srgbClr val="8FA99B"/>
            </a:solidFill>
            <a:prstDash val="solid"/>
          </a:ln>
        </p:spPr>
      </p:sp>
      <p:pic>
        <p:nvPicPr>
          <p:cNvPr id="36"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37" name="Text 34"/>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Bigger dot product = more alike.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5</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Tool 2: softmax</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Softmax turns a list of scores into weights: positive shares that add up to exactly 1.</a:t>
            </a:r>
            <a:endParaRPr lang="en-US" sz="1600" dirty="0"/>
          </a:p>
        </p:txBody>
      </p:sp>
      <p:sp>
        <p:nvSpPr>
          <p:cNvPr id="5" name="Text 3"/>
          <p:cNvSpPr txBox="1"/>
          <p:nvPr/>
        </p:nvSpPr>
        <p:spPr>
          <a:xfrm>
            <a:off x="1188720" y="1508760"/>
            <a:ext cx="3749040" cy="320040"/>
          </a:xfrm>
          <a:prstGeom prst="rect">
            <a:avLst/>
          </a:prstGeom>
          <a:noFill/>
          <a:ln/>
        </p:spPr>
        <p:txBody>
          <a:bodyPr wrap="square" lIns="0" tIns="0" rIns="0" bIns="0" rtlCol="0" anchor="t"/>
          <a:lstStyle/>
          <a:p>
            <a:pPr algn="ctr" indent="0" marL="0">
              <a:buNone/>
            </a:pPr>
            <a:r>
              <a:rPr lang="en-US" sz="1500" b="1" dirty="0">
                <a:solidFill>
                  <a:srgbClr val="435466"/>
                </a:solidFill>
                <a:latin typeface="Inter" pitchFamily="34" charset="0"/>
                <a:ea typeface="Inter" pitchFamily="34" charset="-122"/>
                <a:cs typeface="Inter" pitchFamily="34" charset="-120"/>
              </a:rPr>
              <a:t>Scores for "falls"</a:t>
            </a:r>
            <a:endParaRPr lang="en-US" sz="1500" dirty="0"/>
          </a:p>
        </p:txBody>
      </p:sp>
      <p:sp>
        <p:nvSpPr>
          <p:cNvPr id="6" name="Text 4"/>
          <p:cNvSpPr txBox="1"/>
          <p:nvPr/>
        </p:nvSpPr>
        <p:spPr>
          <a:xfrm>
            <a:off x="6492240" y="1508760"/>
            <a:ext cx="3749040" cy="320040"/>
          </a:xfrm>
          <a:prstGeom prst="rect">
            <a:avLst/>
          </a:prstGeom>
          <a:noFill/>
          <a:ln/>
        </p:spPr>
        <p:txBody>
          <a:bodyPr wrap="square" lIns="0" tIns="0" rIns="0" bIns="0" rtlCol="0" anchor="t"/>
          <a:lstStyle/>
          <a:p>
            <a:pPr algn="ctr" indent="0" marL="0">
              <a:buNone/>
            </a:pPr>
            <a:r>
              <a:rPr lang="en-US" sz="1500" b="1" dirty="0">
                <a:solidFill>
                  <a:srgbClr val="435466"/>
                </a:solidFill>
                <a:latin typeface="Inter" pitchFamily="34" charset="0"/>
                <a:ea typeface="Inter" pitchFamily="34" charset="-122"/>
                <a:cs typeface="Inter" pitchFamily="34" charset="-120"/>
              </a:rPr>
              <a:t>Weights</a:t>
            </a:r>
            <a:endParaRPr lang="en-US" sz="1500" dirty="0"/>
          </a:p>
        </p:txBody>
      </p:sp>
      <p:sp>
        <p:nvSpPr>
          <p:cNvPr id="7" name="Text 5"/>
          <p:cNvSpPr txBox="1"/>
          <p:nvPr/>
        </p:nvSpPr>
        <p:spPr>
          <a:xfrm>
            <a:off x="1097280" y="1892808"/>
            <a:ext cx="1280160" cy="256032"/>
          </a:xfrm>
          <a:prstGeom prst="rect">
            <a:avLst/>
          </a:prstGeom>
          <a:noFill/>
          <a:ln/>
        </p:spPr>
        <p:txBody>
          <a:bodyPr wrap="square" lIns="0" tIns="0" rIns="0" bIns="0" rtlCol="0" anchor="b"/>
          <a:lstStyle/>
          <a:p>
            <a:pPr algn="ctr" indent="0" marL="0">
              <a:buNone/>
            </a:pPr>
            <a:r>
              <a:rPr lang="en-US" sz="1200" dirty="0">
                <a:solidFill>
                  <a:srgbClr val="66768A"/>
                </a:solidFill>
                <a:latin typeface="Inter" pitchFamily="34" charset="0"/>
                <a:ea typeface="Inter" pitchFamily="34" charset="-122"/>
                <a:cs typeface="Inter" pitchFamily="34" charset="-120"/>
              </a:rPr>
              <a:t>rain</a:t>
            </a:r>
            <a:endParaRPr lang="en-US" sz="1200" dirty="0"/>
          </a:p>
        </p:txBody>
      </p:sp>
      <p:sp>
        <p:nvSpPr>
          <p:cNvPr id="8" name="Text 6"/>
          <p:cNvSpPr txBox="1"/>
          <p:nvPr/>
        </p:nvSpPr>
        <p:spPr>
          <a:xfrm>
            <a:off x="2423160" y="1892808"/>
            <a:ext cx="1280160" cy="256032"/>
          </a:xfrm>
          <a:prstGeom prst="rect">
            <a:avLst/>
          </a:prstGeom>
          <a:noFill/>
          <a:ln/>
        </p:spPr>
        <p:txBody>
          <a:bodyPr wrap="square" lIns="0" tIns="0" rIns="0" bIns="0" rtlCol="0" anchor="b"/>
          <a:lstStyle/>
          <a:p>
            <a:pPr algn="ctr" indent="0" marL="0">
              <a:buNone/>
            </a:pPr>
            <a:r>
              <a:rPr lang="en-US" sz="1200" dirty="0">
                <a:solidFill>
                  <a:srgbClr val="66768A"/>
                </a:solidFill>
                <a:latin typeface="Inter" pitchFamily="34" charset="0"/>
                <a:ea typeface="Inter" pitchFamily="34" charset="-122"/>
                <a:cs typeface="Inter" pitchFamily="34" charset="-120"/>
              </a:rPr>
              <a:t>falls</a:t>
            </a:r>
            <a:endParaRPr lang="en-US" sz="1200" dirty="0"/>
          </a:p>
        </p:txBody>
      </p:sp>
      <p:sp>
        <p:nvSpPr>
          <p:cNvPr id="9" name="Text 7"/>
          <p:cNvSpPr txBox="1"/>
          <p:nvPr/>
        </p:nvSpPr>
        <p:spPr>
          <a:xfrm>
            <a:off x="3749040" y="1892808"/>
            <a:ext cx="1280160" cy="256032"/>
          </a:xfrm>
          <a:prstGeom prst="rect">
            <a:avLst/>
          </a:prstGeom>
          <a:noFill/>
          <a:ln/>
        </p:spPr>
        <p:txBody>
          <a:bodyPr wrap="square" lIns="0" tIns="0" rIns="0" bIns="0" rtlCol="0" anchor="b"/>
          <a:lstStyle/>
          <a:p>
            <a:pPr algn="ctr" indent="0" marL="0">
              <a:buNone/>
            </a:pPr>
            <a:r>
              <a:rPr lang="en-US" sz="1200" dirty="0">
                <a:solidFill>
                  <a:srgbClr val="66768A"/>
                </a:solidFill>
                <a:latin typeface="Inter" pitchFamily="34" charset="0"/>
                <a:ea typeface="Inter" pitchFamily="34" charset="-122"/>
                <a:cs typeface="Inter" pitchFamily="34" charset="-120"/>
              </a:rPr>
              <a:t>softly</a:t>
            </a:r>
            <a:endParaRPr lang="en-US" sz="1200" dirty="0"/>
          </a:p>
        </p:txBody>
      </p:sp>
      <p:sp>
        <p:nvSpPr>
          <p:cNvPr id="10" name="Text 8"/>
          <p:cNvSpPr txBox="1"/>
          <p:nvPr/>
        </p:nvSpPr>
        <p:spPr>
          <a:xfrm>
            <a:off x="6400800" y="1892808"/>
            <a:ext cx="1280160" cy="256032"/>
          </a:xfrm>
          <a:prstGeom prst="rect">
            <a:avLst/>
          </a:prstGeom>
          <a:noFill/>
          <a:ln/>
        </p:spPr>
        <p:txBody>
          <a:bodyPr wrap="square" lIns="0" tIns="0" rIns="0" bIns="0" rtlCol="0" anchor="b"/>
          <a:lstStyle/>
          <a:p>
            <a:pPr algn="ctr" indent="0" marL="0">
              <a:buNone/>
            </a:pPr>
            <a:r>
              <a:rPr lang="en-US" sz="1200" dirty="0">
                <a:solidFill>
                  <a:srgbClr val="66768A"/>
                </a:solidFill>
                <a:latin typeface="Inter" pitchFamily="34" charset="0"/>
                <a:ea typeface="Inter" pitchFamily="34" charset="-122"/>
                <a:cs typeface="Inter" pitchFamily="34" charset="-120"/>
              </a:rPr>
              <a:t>rain</a:t>
            </a:r>
            <a:endParaRPr lang="en-US" sz="1200" dirty="0"/>
          </a:p>
        </p:txBody>
      </p:sp>
      <p:sp>
        <p:nvSpPr>
          <p:cNvPr id="11" name="Text 9"/>
          <p:cNvSpPr txBox="1"/>
          <p:nvPr/>
        </p:nvSpPr>
        <p:spPr>
          <a:xfrm>
            <a:off x="7726680" y="1892808"/>
            <a:ext cx="1280160" cy="256032"/>
          </a:xfrm>
          <a:prstGeom prst="rect">
            <a:avLst/>
          </a:prstGeom>
          <a:noFill/>
          <a:ln/>
        </p:spPr>
        <p:txBody>
          <a:bodyPr wrap="square" lIns="0" tIns="0" rIns="0" bIns="0" rtlCol="0" anchor="b"/>
          <a:lstStyle/>
          <a:p>
            <a:pPr algn="ctr" indent="0" marL="0">
              <a:buNone/>
            </a:pPr>
            <a:r>
              <a:rPr lang="en-US" sz="1200" dirty="0">
                <a:solidFill>
                  <a:srgbClr val="66768A"/>
                </a:solidFill>
                <a:latin typeface="Inter" pitchFamily="34" charset="0"/>
                <a:ea typeface="Inter" pitchFamily="34" charset="-122"/>
                <a:cs typeface="Inter" pitchFamily="34" charset="-120"/>
              </a:rPr>
              <a:t>falls</a:t>
            </a:r>
            <a:endParaRPr lang="en-US" sz="1200" dirty="0"/>
          </a:p>
        </p:txBody>
      </p:sp>
      <p:sp>
        <p:nvSpPr>
          <p:cNvPr id="12" name="Text 10"/>
          <p:cNvSpPr txBox="1"/>
          <p:nvPr/>
        </p:nvSpPr>
        <p:spPr>
          <a:xfrm>
            <a:off x="9052560" y="1892808"/>
            <a:ext cx="1280160" cy="256032"/>
          </a:xfrm>
          <a:prstGeom prst="rect">
            <a:avLst/>
          </a:prstGeom>
          <a:noFill/>
          <a:ln/>
        </p:spPr>
        <p:txBody>
          <a:bodyPr wrap="square" lIns="0" tIns="0" rIns="0" bIns="0" rtlCol="0" anchor="b"/>
          <a:lstStyle/>
          <a:p>
            <a:pPr algn="ctr" indent="0" marL="0">
              <a:buNone/>
            </a:pPr>
            <a:r>
              <a:rPr lang="en-US" sz="1200" dirty="0">
                <a:solidFill>
                  <a:srgbClr val="66768A"/>
                </a:solidFill>
                <a:latin typeface="Inter" pitchFamily="34" charset="0"/>
                <a:ea typeface="Inter" pitchFamily="34" charset="-122"/>
                <a:cs typeface="Inter" pitchFamily="34" charset="-120"/>
              </a:rPr>
              <a:t>softly</a:t>
            </a:r>
            <a:endParaRPr lang="en-US" sz="1200" dirty="0"/>
          </a:p>
        </p:txBody>
      </p:sp>
      <p:sp>
        <p:nvSpPr>
          <p:cNvPr id="13" name="Text 11"/>
          <p:cNvSpPr txBox="1"/>
          <p:nvPr/>
        </p:nvSpPr>
        <p:spPr>
          <a:xfrm>
            <a:off x="1188720" y="2194560"/>
            <a:ext cx="109728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0.77</a:t>
            </a:r>
            <a:endParaRPr lang="en-US" sz="1700" dirty="0"/>
          </a:p>
        </p:txBody>
      </p:sp>
      <p:sp>
        <p:nvSpPr>
          <p:cNvPr id="14" name="Text 12"/>
          <p:cNvSpPr txBox="1"/>
          <p:nvPr/>
        </p:nvSpPr>
        <p:spPr>
          <a:xfrm>
            <a:off x="2514600" y="2194560"/>
            <a:ext cx="109728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1.25</a:t>
            </a:r>
            <a:endParaRPr lang="en-US" sz="1700" dirty="0"/>
          </a:p>
        </p:txBody>
      </p:sp>
      <p:sp>
        <p:nvSpPr>
          <p:cNvPr id="15" name="Text 13"/>
          <p:cNvSpPr txBox="1"/>
          <p:nvPr/>
        </p:nvSpPr>
        <p:spPr>
          <a:xfrm>
            <a:off x="3840480" y="2194560"/>
            <a:ext cx="109728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0.95</a:t>
            </a:r>
            <a:endParaRPr lang="en-US" sz="1700" dirty="0"/>
          </a:p>
        </p:txBody>
      </p:sp>
      <p:sp>
        <p:nvSpPr>
          <p:cNvPr id="16" name="Shape 14"/>
          <p:cNvSpPr/>
          <p:nvPr/>
        </p:nvSpPr>
        <p:spPr>
          <a:xfrm>
            <a:off x="5074920" y="2423160"/>
            <a:ext cx="1280160" cy="0"/>
          </a:xfrm>
          <a:prstGeom prst="line">
            <a:avLst/>
          </a:prstGeom>
          <a:noFill/>
          <a:ln w="31750">
            <a:solidFill>
              <a:srgbClr val="A9C0D8"/>
            </a:solidFill>
            <a:prstDash val="solid"/>
            <a:tailEnd type="triangle"/>
          </a:ln>
        </p:spPr>
      </p:sp>
      <p:sp>
        <p:nvSpPr>
          <p:cNvPr id="17" name="Text 15"/>
          <p:cNvSpPr txBox="1"/>
          <p:nvPr/>
        </p:nvSpPr>
        <p:spPr>
          <a:xfrm>
            <a:off x="4937760" y="1984248"/>
            <a:ext cx="1554480" cy="320040"/>
          </a:xfrm>
          <a:prstGeom prst="rect">
            <a:avLst/>
          </a:prstGeom>
          <a:noFill/>
          <a:ln/>
        </p:spPr>
        <p:txBody>
          <a:bodyPr wrap="square" lIns="0" tIns="0" rIns="0" bIns="0" rtlCol="0" anchor="t"/>
          <a:lstStyle/>
          <a:p>
            <a:pPr algn="ctr" indent="0" marL="0">
              <a:buNone/>
            </a:pPr>
            <a:r>
              <a:rPr lang="en-US" sz="1400" b="1" dirty="0">
                <a:solidFill>
                  <a:srgbClr val="66768A"/>
                </a:solidFill>
                <a:latin typeface="Inter" pitchFamily="34" charset="0"/>
                <a:ea typeface="Inter" pitchFamily="34" charset="-122"/>
                <a:cs typeface="Inter" pitchFamily="34" charset="-120"/>
              </a:rPr>
              <a:t>softmax</a:t>
            </a:r>
            <a:endParaRPr lang="en-US" sz="1400" dirty="0"/>
          </a:p>
        </p:txBody>
      </p:sp>
      <p:sp>
        <p:nvSpPr>
          <p:cNvPr id="18" name="Text 16"/>
          <p:cNvSpPr txBox="1"/>
          <p:nvPr/>
        </p:nvSpPr>
        <p:spPr>
          <a:xfrm>
            <a:off x="6492240" y="2194560"/>
            <a:ext cx="109728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0.26</a:t>
            </a:r>
            <a:endParaRPr lang="en-US" sz="1700" dirty="0"/>
          </a:p>
        </p:txBody>
      </p:sp>
      <p:sp>
        <p:nvSpPr>
          <p:cNvPr id="19" name="Text 17"/>
          <p:cNvSpPr txBox="1"/>
          <p:nvPr/>
        </p:nvSpPr>
        <p:spPr>
          <a:xfrm>
            <a:off x="7818120" y="2194560"/>
            <a:ext cx="109728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0.42</a:t>
            </a:r>
            <a:endParaRPr lang="en-US" sz="1700" dirty="0"/>
          </a:p>
        </p:txBody>
      </p:sp>
      <p:sp>
        <p:nvSpPr>
          <p:cNvPr id="20" name="Text 18"/>
          <p:cNvSpPr txBox="1"/>
          <p:nvPr/>
        </p:nvSpPr>
        <p:spPr>
          <a:xfrm>
            <a:off x="9144000" y="2194560"/>
            <a:ext cx="109728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0.31</a:t>
            </a:r>
            <a:endParaRPr lang="en-US" sz="1700" dirty="0"/>
          </a:p>
        </p:txBody>
      </p:sp>
      <p:sp>
        <p:nvSpPr>
          <p:cNvPr id="21" name="Shape 19"/>
          <p:cNvSpPr/>
          <p:nvPr/>
        </p:nvSpPr>
        <p:spPr>
          <a:xfrm>
            <a:off x="6812280" y="3622853"/>
            <a:ext cx="457200" cy="309067"/>
          </a:xfrm>
          <a:prstGeom prst="rect">
            <a:avLst/>
          </a:prstGeom>
          <a:solidFill>
            <a:srgbClr val="8FA99B"/>
          </a:solidFill>
          <a:ln w="6350">
            <a:solidFill>
              <a:srgbClr val="8FA99B"/>
            </a:solidFill>
            <a:prstDash val="solid"/>
          </a:ln>
        </p:spPr>
      </p:sp>
      <p:sp>
        <p:nvSpPr>
          <p:cNvPr id="22" name="Shape 20"/>
          <p:cNvSpPr/>
          <p:nvPr/>
        </p:nvSpPr>
        <p:spPr>
          <a:xfrm>
            <a:off x="8138160" y="3432658"/>
            <a:ext cx="457200" cy="499262"/>
          </a:xfrm>
          <a:prstGeom prst="rect">
            <a:avLst/>
          </a:prstGeom>
          <a:solidFill>
            <a:srgbClr val="8FA99B"/>
          </a:solidFill>
          <a:ln w="6350">
            <a:solidFill>
              <a:srgbClr val="8FA99B"/>
            </a:solidFill>
            <a:prstDash val="solid"/>
          </a:ln>
        </p:spPr>
      </p:sp>
      <p:sp>
        <p:nvSpPr>
          <p:cNvPr id="23" name="Shape 21"/>
          <p:cNvSpPr/>
          <p:nvPr/>
        </p:nvSpPr>
        <p:spPr>
          <a:xfrm>
            <a:off x="9464040" y="3563417"/>
            <a:ext cx="457200" cy="368503"/>
          </a:xfrm>
          <a:prstGeom prst="rect">
            <a:avLst/>
          </a:prstGeom>
          <a:solidFill>
            <a:srgbClr val="8FA99B"/>
          </a:solidFill>
          <a:ln w="6350">
            <a:solidFill>
              <a:srgbClr val="8FA99B"/>
            </a:solidFill>
            <a:prstDash val="solid"/>
          </a:ln>
        </p:spPr>
      </p:sp>
      <p:sp>
        <p:nvSpPr>
          <p:cNvPr id="24" name="Shape 22"/>
          <p:cNvSpPr/>
          <p:nvPr/>
        </p:nvSpPr>
        <p:spPr>
          <a:xfrm>
            <a:off x="6400800" y="3931920"/>
            <a:ext cx="3931920" cy="0"/>
          </a:xfrm>
          <a:prstGeom prst="line">
            <a:avLst/>
          </a:prstGeom>
          <a:noFill/>
          <a:ln w="12700">
            <a:solidFill>
              <a:srgbClr val="D9E1E8"/>
            </a:solidFill>
            <a:prstDash val="solid"/>
          </a:ln>
        </p:spPr>
      </p:sp>
      <p:sp>
        <p:nvSpPr>
          <p:cNvPr id="25" name="Text 23"/>
          <p:cNvSpPr txBox="1"/>
          <p:nvPr/>
        </p:nvSpPr>
        <p:spPr>
          <a:xfrm>
            <a:off x="6492240" y="3977640"/>
            <a:ext cx="374904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add up to 1 (shown rounded)</a:t>
            </a:r>
            <a:endParaRPr lang="en-US" sz="1200" dirty="0"/>
          </a:p>
        </p:txBody>
      </p:sp>
      <p:sp>
        <p:nvSpPr>
          <p:cNvPr id="26" name="Text 24"/>
          <p:cNvSpPr txBox="1"/>
          <p:nvPr/>
        </p:nvSpPr>
        <p:spPr>
          <a:xfrm>
            <a:off x="1188720" y="2926080"/>
            <a:ext cx="347472" cy="347472"/>
          </a:xfrm>
          <a:prstGeom prst="ellipse">
            <a:avLst/>
          </a:prstGeom>
          <a:solidFill>
            <a:srgbClr val="E8EFF7"/>
          </a:solidFill>
          <a:ln w="12700">
            <a:solidFill>
              <a:srgbClr val="A9C0D8"/>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1</a:t>
            </a:r>
            <a:endParaRPr lang="en-US" sz="1300" dirty="0"/>
          </a:p>
        </p:txBody>
      </p:sp>
      <p:sp>
        <p:nvSpPr>
          <p:cNvPr id="27" name="Text 25"/>
          <p:cNvSpPr txBox="1"/>
          <p:nvPr/>
        </p:nvSpPr>
        <p:spPr>
          <a:xfrm>
            <a:off x="1645920" y="2880360"/>
            <a:ext cx="4206240" cy="45720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Make every score positive, so bigger scores grow the most.</a:t>
            </a:r>
            <a:endParaRPr lang="en-US" sz="1400" dirty="0"/>
          </a:p>
        </p:txBody>
      </p:sp>
      <p:sp>
        <p:nvSpPr>
          <p:cNvPr id="28" name="Text 26"/>
          <p:cNvSpPr txBox="1"/>
          <p:nvPr/>
        </p:nvSpPr>
        <p:spPr>
          <a:xfrm>
            <a:off x="1188720" y="3493008"/>
            <a:ext cx="347472" cy="347472"/>
          </a:xfrm>
          <a:prstGeom prst="ellipse">
            <a:avLst/>
          </a:prstGeom>
          <a:solidFill>
            <a:srgbClr val="E8EFF7"/>
          </a:solidFill>
          <a:ln w="12700">
            <a:solidFill>
              <a:srgbClr val="A9C0D8"/>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2</a:t>
            </a:r>
            <a:endParaRPr lang="en-US" sz="1300" dirty="0"/>
          </a:p>
        </p:txBody>
      </p:sp>
      <p:sp>
        <p:nvSpPr>
          <p:cNvPr id="29" name="Text 27"/>
          <p:cNvSpPr txBox="1"/>
          <p:nvPr/>
        </p:nvSpPr>
        <p:spPr>
          <a:xfrm>
            <a:off x="1645920" y="3447288"/>
            <a:ext cx="4206240" cy="45720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Divide by the total, so all the shares add up to 1.</a:t>
            </a:r>
            <a:endParaRPr lang="en-US" sz="1400" dirty="0"/>
          </a:p>
        </p:txBody>
      </p:sp>
      <p:sp>
        <p:nvSpPr>
          <p:cNvPr id="30" name="Shape 28"/>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31" name="Text 29"/>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32" name="Text 30"/>
          <p:cNvSpPr txBox="1"/>
          <p:nvPr/>
        </p:nvSpPr>
        <p:spPr>
          <a:xfrm>
            <a:off x="192024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Softmax</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turns scores into shares that add up to 1</a:t>
            </a:r>
            <a:endParaRPr lang="en-US" sz="1800" dirty="0"/>
          </a:p>
        </p:txBody>
      </p:sp>
      <p:sp>
        <p:nvSpPr>
          <p:cNvPr id="33" name="Text 31"/>
          <p:cNvSpPr txBox="1"/>
          <p:nvPr/>
        </p:nvSpPr>
        <p:spPr>
          <a:xfrm>
            <a:off x="507492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Weight</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one share; 0.42 means 42% of the mix</a:t>
            </a:r>
            <a:endParaRPr lang="en-US" sz="1800" dirty="0"/>
          </a:p>
        </p:txBody>
      </p:sp>
      <p:sp>
        <p:nvSpPr>
          <p:cNvPr id="34" name="Text 32"/>
          <p:cNvSpPr txBox="1"/>
          <p:nvPr/>
        </p:nvSpPr>
        <p:spPr>
          <a:xfrm>
            <a:off x="822960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Row</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one token's list of scores or weights</a:t>
            </a:r>
            <a:endParaRPr lang="en-US" sz="1800" dirty="0"/>
          </a:p>
        </p:txBody>
      </p:sp>
      <p:sp>
        <p:nvSpPr>
          <p:cNvPr id="35" name="Shape 33"/>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36" name="Shape 34"/>
          <p:cNvSpPr/>
          <p:nvPr/>
        </p:nvSpPr>
        <p:spPr>
          <a:xfrm>
            <a:off x="914400" y="5509260"/>
            <a:ext cx="548640" cy="548640"/>
          </a:xfrm>
          <a:prstGeom prst="ellipse">
            <a:avLst/>
          </a:prstGeom>
          <a:solidFill>
            <a:srgbClr val="FFFFFF"/>
          </a:solidFill>
          <a:ln w="15875">
            <a:solidFill>
              <a:srgbClr val="8FA99B"/>
            </a:solidFill>
            <a:prstDash val="solid"/>
          </a:ln>
        </p:spPr>
      </p:sp>
      <p:pic>
        <p:nvPicPr>
          <p:cNvPr id="37"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38" name="Text 35"/>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Bigger score, bigger share. The shares always add up to 1.</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6</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Simple attention: compare, weight, blend</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SimpleAttentionV1 does all three steps for every token at once.</a:t>
            </a:r>
            <a:endParaRPr lang="en-US" sz="1600" dirty="0"/>
          </a:p>
        </p:txBody>
      </p:sp>
      <p:sp>
        <p:nvSpPr>
          <p:cNvPr id="5" name="Shape 3"/>
          <p:cNvSpPr/>
          <p:nvPr/>
        </p:nvSpPr>
        <p:spPr>
          <a:xfrm>
            <a:off x="640080" y="1554480"/>
            <a:ext cx="3429000"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14400" y="1664208"/>
            <a:ext cx="2880360" cy="384048"/>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1  Compare</a:t>
            </a:r>
            <a:endParaRPr lang="en-US" sz="1900" dirty="0"/>
          </a:p>
        </p:txBody>
      </p:sp>
      <p:sp>
        <p:nvSpPr>
          <p:cNvPr id="7" name="Text 5"/>
          <p:cNvSpPr txBox="1"/>
          <p:nvPr/>
        </p:nvSpPr>
        <p:spPr>
          <a:xfrm>
            <a:off x="914400" y="2029968"/>
            <a:ext cx="2880360" cy="32004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Dot product of each pair.</a:t>
            </a:r>
            <a:endParaRPr lang="en-US" sz="1300" dirty="0"/>
          </a:p>
        </p:txBody>
      </p:sp>
      <p:sp>
        <p:nvSpPr>
          <p:cNvPr id="8" name="Text 6"/>
          <p:cNvSpPr txBox="1"/>
          <p:nvPr/>
        </p:nvSpPr>
        <p:spPr>
          <a:xfrm>
            <a:off x="1645920" y="2377440"/>
            <a:ext cx="786384"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rain</a:t>
            </a:r>
            <a:endParaRPr lang="en-US" sz="1100" dirty="0"/>
          </a:p>
        </p:txBody>
      </p:sp>
      <p:sp>
        <p:nvSpPr>
          <p:cNvPr id="9" name="Text 7"/>
          <p:cNvSpPr txBox="1"/>
          <p:nvPr/>
        </p:nvSpPr>
        <p:spPr>
          <a:xfrm>
            <a:off x="2295144" y="2377440"/>
            <a:ext cx="786384"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falls</a:t>
            </a:r>
            <a:endParaRPr lang="en-US" sz="1100" dirty="0"/>
          </a:p>
        </p:txBody>
      </p:sp>
      <p:sp>
        <p:nvSpPr>
          <p:cNvPr id="10" name="Text 8"/>
          <p:cNvSpPr txBox="1"/>
          <p:nvPr/>
        </p:nvSpPr>
        <p:spPr>
          <a:xfrm>
            <a:off x="2944368" y="2377440"/>
            <a:ext cx="786384"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softly</a:t>
            </a:r>
            <a:endParaRPr lang="en-US" sz="1100" dirty="0"/>
          </a:p>
        </p:txBody>
      </p:sp>
      <p:sp>
        <p:nvSpPr>
          <p:cNvPr id="11" name="Text 9"/>
          <p:cNvSpPr txBox="1"/>
          <p:nvPr/>
        </p:nvSpPr>
        <p:spPr>
          <a:xfrm>
            <a:off x="731520" y="2651760"/>
            <a:ext cx="914400" cy="329184"/>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rain</a:t>
            </a:r>
            <a:endParaRPr lang="en-US" sz="1200" dirty="0"/>
          </a:p>
        </p:txBody>
      </p:sp>
      <p:sp>
        <p:nvSpPr>
          <p:cNvPr id="12" name="Text 10"/>
          <p:cNvSpPr txBox="1"/>
          <p:nvPr/>
        </p:nvSpPr>
        <p:spPr>
          <a:xfrm>
            <a:off x="731520" y="3026664"/>
            <a:ext cx="914400" cy="329184"/>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falls</a:t>
            </a:r>
            <a:endParaRPr lang="en-US" sz="1200" dirty="0"/>
          </a:p>
        </p:txBody>
      </p:sp>
      <p:sp>
        <p:nvSpPr>
          <p:cNvPr id="13" name="Text 11"/>
          <p:cNvSpPr txBox="1"/>
          <p:nvPr/>
        </p:nvSpPr>
        <p:spPr>
          <a:xfrm>
            <a:off x="731520" y="3401568"/>
            <a:ext cx="914400" cy="329184"/>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softly</a:t>
            </a:r>
            <a:endParaRPr lang="en-US" sz="1200" dirty="0"/>
          </a:p>
        </p:txBody>
      </p:sp>
      <p:sp>
        <p:nvSpPr>
          <p:cNvPr id="14" name="Text 12"/>
          <p:cNvSpPr txBox="1"/>
          <p:nvPr/>
        </p:nvSpPr>
        <p:spPr>
          <a:xfrm>
            <a:off x="1737360" y="2651760"/>
            <a:ext cx="603504"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0.98</a:t>
            </a:r>
            <a:endParaRPr lang="en-US" sz="1200" dirty="0"/>
          </a:p>
        </p:txBody>
      </p:sp>
      <p:sp>
        <p:nvSpPr>
          <p:cNvPr id="15" name="Text 13"/>
          <p:cNvSpPr txBox="1"/>
          <p:nvPr/>
        </p:nvSpPr>
        <p:spPr>
          <a:xfrm>
            <a:off x="2386584" y="2651760"/>
            <a:ext cx="603504"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0.77</a:t>
            </a:r>
            <a:endParaRPr lang="en-US" sz="1200" dirty="0"/>
          </a:p>
        </p:txBody>
      </p:sp>
      <p:sp>
        <p:nvSpPr>
          <p:cNvPr id="16" name="Text 14"/>
          <p:cNvSpPr txBox="1"/>
          <p:nvPr/>
        </p:nvSpPr>
        <p:spPr>
          <a:xfrm>
            <a:off x="3035808" y="2651760"/>
            <a:ext cx="603504"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0.30</a:t>
            </a:r>
            <a:endParaRPr lang="en-US" sz="1200" dirty="0"/>
          </a:p>
        </p:txBody>
      </p:sp>
      <p:sp>
        <p:nvSpPr>
          <p:cNvPr id="17" name="Text 15"/>
          <p:cNvSpPr txBox="1"/>
          <p:nvPr/>
        </p:nvSpPr>
        <p:spPr>
          <a:xfrm>
            <a:off x="1737360" y="3026664"/>
            <a:ext cx="603504"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0.77</a:t>
            </a:r>
            <a:endParaRPr lang="en-US" sz="1200" dirty="0"/>
          </a:p>
        </p:txBody>
      </p:sp>
      <p:sp>
        <p:nvSpPr>
          <p:cNvPr id="18" name="Text 16"/>
          <p:cNvSpPr txBox="1"/>
          <p:nvPr/>
        </p:nvSpPr>
        <p:spPr>
          <a:xfrm>
            <a:off x="2386584" y="3026664"/>
            <a:ext cx="603504"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1.25</a:t>
            </a:r>
            <a:endParaRPr lang="en-US" sz="1200" dirty="0"/>
          </a:p>
        </p:txBody>
      </p:sp>
      <p:sp>
        <p:nvSpPr>
          <p:cNvPr id="19" name="Text 17"/>
          <p:cNvSpPr txBox="1"/>
          <p:nvPr/>
        </p:nvSpPr>
        <p:spPr>
          <a:xfrm>
            <a:off x="3035808" y="3026664"/>
            <a:ext cx="603504"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0.95</a:t>
            </a:r>
            <a:endParaRPr lang="en-US" sz="1200" dirty="0"/>
          </a:p>
        </p:txBody>
      </p:sp>
      <p:sp>
        <p:nvSpPr>
          <p:cNvPr id="20" name="Text 18"/>
          <p:cNvSpPr txBox="1"/>
          <p:nvPr/>
        </p:nvSpPr>
        <p:spPr>
          <a:xfrm>
            <a:off x="1737360" y="3401568"/>
            <a:ext cx="603504"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0.30</a:t>
            </a:r>
            <a:endParaRPr lang="en-US" sz="1200" dirty="0"/>
          </a:p>
        </p:txBody>
      </p:sp>
      <p:sp>
        <p:nvSpPr>
          <p:cNvPr id="21" name="Text 19"/>
          <p:cNvSpPr txBox="1"/>
          <p:nvPr/>
        </p:nvSpPr>
        <p:spPr>
          <a:xfrm>
            <a:off x="2386584" y="3401568"/>
            <a:ext cx="603504"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0.95</a:t>
            </a:r>
            <a:endParaRPr lang="en-US" sz="1200" dirty="0"/>
          </a:p>
        </p:txBody>
      </p:sp>
      <p:sp>
        <p:nvSpPr>
          <p:cNvPr id="22" name="Text 20"/>
          <p:cNvSpPr txBox="1"/>
          <p:nvPr/>
        </p:nvSpPr>
        <p:spPr>
          <a:xfrm>
            <a:off x="3035808" y="3401568"/>
            <a:ext cx="603504"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0.91</a:t>
            </a:r>
            <a:endParaRPr lang="en-US" sz="1200" dirty="0"/>
          </a:p>
        </p:txBody>
      </p:sp>
      <p:sp>
        <p:nvSpPr>
          <p:cNvPr id="23" name="Text 21"/>
          <p:cNvSpPr txBox="1"/>
          <p:nvPr/>
        </p:nvSpPr>
        <p:spPr>
          <a:xfrm>
            <a:off x="914400" y="3840480"/>
            <a:ext cx="288036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attention scores</a:t>
            </a:r>
            <a:endParaRPr lang="en-US" sz="1300" dirty="0"/>
          </a:p>
        </p:txBody>
      </p:sp>
      <p:sp>
        <p:nvSpPr>
          <p:cNvPr id="24" name="Shape 22"/>
          <p:cNvSpPr/>
          <p:nvPr/>
        </p:nvSpPr>
        <p:spPr>
          <a:xfrm>
            <a:off x="4096512" y="3154680"/>
            <a:ext cx="256032" cy="0"/>
          </a:xfrm>
          <a:prstGeom prst="line">
            <a:avLst/>
          </a:prstGeom>
          <a:noFill/>
          <a:ln w="31750">
            <a:solidFill>
              <a:srgbClr val="A9C0D8"/>
            </a:solidFill>
            <a:prstDash val="solid"/>
            <a:tailEnd type="triangle"/>
          </a:ln>
        </p:spPr>
      </p:sp>
      <p:sp>
        <p:nvSpPr>
          <p:cNvPr id="25" name="Shape 23"/>
          <p:cNvSpPr/>
          <p:nvPr/>
        </p:nvSpPr>
        <p:spPr>
          <a:xfrm>
            <a:off x="4379976" y="1554480"/>
            <a:ext cx="3429000"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6" name="Text 24"/>
          <p:cNvSpPr txBox="1"/>
          <p:nvPr/>
        </p:nvSpPr>
        <p:spPr>
          <a:xfrm>
            <a:off x="4654296" y="1664208"/>
            <a:ext cx="2880360" cy="384048"/>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2  Weight</a:t>
            </a:r>
            <a:endParaRPr lang="en-US" sz="1900" dirty="0"/>
          </a:p>
        </p:txBody>
      </p:sp>
      <p:sp>
        <p:nvSpPr>
          <p:cNvPr id="27" name="Text 25"/>
          <p:cNvSpPr txBox="1"/>
          <p:nvPr/>
        </p:nvSpPr>
        <p:spPr>
          <a:xfrm>
            <a:off x="4654296" y="2029968"/>
            <a:ext cx="2880360" cy="32004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Softmax on each row.</a:t>
            </a:r>
            <a:endParaRPr lang="en-US" sz="1300" dirty="0"/>
          </a:p>
        </p:txBody>
      </p:sp>
      <p:sp>
        <p:nvSpPr>
          <p:cNvPr id="28" name="Text 26"/>
          <p:cNvSpPr txBox="1"/>
          <p:nvPr/>
        </p:nvSpPr>
        <p:spPr>
          <a:xfrm>
            <a:off x="5385816" y="2377440"/>
            <a:ext cx="786384"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rain</a:t>
            </a:r>
            <a:endParaRPr lang="en-US" sz="1100" dirty="0"/>
          </a:p>
        </p:txBody>
      </p:sp>
      <p:sp>
        <p:nvSpPr>
          <p:cNvPr id="29" name="Text 27"/>
          <p:cNvSpPr txBox="1"/>
          <p:nvPr/>
        </p:nvSpPr>
        <p:spPr>
          <a:xfrm>
            <a:off x="6035040" y="2377440"/>
            <a:ext cx="786384"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falls</a:t>
            </a:r>
            <a:endParaRPr lang="en-US" sz="1100" dirty="0"/>
          </a:p>
        </p:txBody>
      </p:sp>
      <p:sp>
        <p:nvSpPr>
          <p:cNvPr id="30" name="Text 28"/>
          <p:cNvSpPr txBox="1"/>
          <p:nvPr/>
        </p:nvSpPr>
        <p:spPr>
          <a:xfrm>
            <a:off x="6684264" y="2377440"/>
            <a:ext cx="786384"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softly</a:t>
            </a:r>
            <a:endParaRPr lang="en-US" sz="1100" dirty="0"/>
          </a:p>
        </p:txBody>
      </p:sp>
      <p:sp>
        <p:nvSpPr>
          <p:cNvPr id="31" name="Text 29"/>
          <p:cNvSpPr txBox="1"/>
          <p:nvPr/>
        </p:nvSpPr>
        <p:spPr>
          <a:xfrm>
            <a:off x="4471416" y="2651760"/>
            <a:ext cx="914400" cy="329184"/>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rain</a:t>
            </a:r>
            <a:endParaRPr lang="en-US" sz="1200" dirty="0"/>
          </a:p>
        </p:txBody>
      </p:sp>
      <p:sp>
        <p:nvSpPr>
          <p:cNvPr id="32" name="Text 30"/>
          <p:cNvSpPr txBox="1"/>
          <p:nvPr/>
        </p:nvSpPr>
        <p:spPr>
          <a:xfrm>
            <a:off x="4471416" y="3026664"/>
            <a:ext cx="914400" cy="329184"/>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falls</a:t>
            </a:r>
            <a:endParaRPr lang="en-US" sz="1200" dirty="0"/>
          </a:p>
        </p:txBody>
      </p:sp>
      <p:sp>
        <p:nvSpPr>
          <p:cNvPr id="33" name="Text 31"/>
          <p:cNvSpPr txBox="1"/>
          <p:nvPr/>
        </p:nvSpPr>
        <p:spPr>
          <a:xfrm>
            <a:off x="4471416" y="3401568"/>
            <a:ext cx="914400" cy="329184"/>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softly</a:t>
            </a:r>
            <a:endParaRPr lang="en-US" sz="1200" dirty="0"/>
          </a:p>
        </p:txBody>
      </p:sp>
      <p:sp>
        <p:nvSpPr>
          <p:cNvPr id="34" name="Text 32"/>
          <p:cNvSpPr txBox="1"/>
          <p:nvPr/>
        </p:nvSpPr>
        <p:spPr>
          <a:xfrm>
            <a:off x="5477256" y="2651760"/>
            <a:ext cx="60350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0.43</a:t>
            </a:r>
            <a:endParaRPr lang="en-US" sz="1200" dirty="0"/>
          </a:p>
        </p:txBody>
      </p:sp>
      <p:sp>
        <p:nvSpPr>
          <p:cNvPr id="35" name="Text 33"/>
          <p:cNvSpPr txBox="1"/>
          <p:nvPr/>
        </p:nvSpPr>
        <p:spPr>
          <a:xfrm>
            <a:off x="6126480" y="2651760"/>
            <a:ext cx="60350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0.35</a:t>
            </a:r>
            <a:endParaRPr lang="en-US" sz="1200" dirty="0"/>
          </a:p>
        </p:txBody>
      </p:sp>
      <p:sp>
        <p:nvSpPr>
          <p:cNvPr id="36" name="Text 34"/>
          <p:cNvSpPr txBox="1"/>
          <p:nvPr/>
        </p:nvSpPr>
        <p:spPr>
          <a:xfrm>
            <a:off x="6775704" y="2651760"/>
            <a:ext cx="60350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0.22</a:t>
            </a:r>
            <a:endParaRPr lang="en-US" sz="1200" dirty="0"/>
          </a:p>
        </p:txBody>
      </p:sp>
      <p:sp>
        <p:nvSpPr>
          <p:cNvPr id="37" name="Text 35"/>
          <p:cNvSpPr txBox="1"/>
          <p:nvPr/>
        </p:nvSpPr>
        <p:spPr>
          <a:xfrm>
            <a:off x="5477256" y="3026664"/>
            <a:ext cx="60350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0.26</a:t>
            </a:r>
            <a:endParaRPr lang="en-US" sz="1200" dirty="0"/>
          </a:p>
        </p:txBody>
      </p:sp>
      <p:sp>
        <p:nvSpPr>
          <p:cNvPr id="38" name="Text 36"/>
          <p:cNvSpPr txBox="1"/>
          <p:nvPr/>
        </p:nvSpPr>
        <p:spPr>
          <a:xfrm>
            <a:off x="6126480" y="3026664"/>
            <a:ext cx="60350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0.42</a:t>
            </a:r>
            <a:endParaRPr lang="en-US" sz="1200" dirty="0"/>
          </a:p>
        </p:txBody>
      </p:sp>
      <p:sp>
        <p:nvSpPr>
          <p:cNvPr id="39" name="Text 37"/>
          <p:cNvSpPr txBox="1"/>
          <p:nvPr/>
        </p:nvSpPr>
        <p:spPr>
          <a:xfrm>
            <a:off x="6775704" y="3026664"/>
            <a:ext cx="60350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0.31</a:t>
            </a:r>
            <a:endParaRPr lang="en-US" sz="1200" dirty="0"/>
          </a:p>
        </p:txBody>
      </p:sp>
      <p:sp>
        <p:nvSpPr>
          <p:cNvPr id="40" name="Text 38"/>
          <p:cNvSpPr txBox="1"/>
          <p:nvPr/>
        </p:nvSpPr>
        <p:spPr>
          <a:xfrm>
            <a:off x="5477256" y="3401568"/>
            <a:ext cx="60350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0.21</a:t>
            </a:r>
            <a:endParaRPr lang="en-US" sz="1200" dirty="0"/>
          </a:p>
        </p:txBody>
      </p:sp>
      <p:sp>
        <p:nvSpPr>
          <p:cNvPr id="41" name="Text 39"/>
          <p:cNvSpPr txBox="1"/>
          <p:nvPr/>
        </p:nvSpPr>
        <p:spPr>
          <a:xfrm>
            <a:off x="6126480" y="3401568"/>
            <a:ext cx="60350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0.40</a:t>
            </a:r>
            <a:endParaRPr lang="en-US" sz="1200" dirty="0"/>
          </a:p>
        </p:txBody>
      </p:sp>
      <p:sp>
        <p:nvSpPr>
          <p:cNvPr id="42" name="Text 40"/>
          <p:cNvSpPr txBox="1"/>
          <p:nvPr/>
        </p:nvSpPr>
        <p:spPr>
          <a:xfrm>
            <a:off x="6775704" y="3401568"/>
            <a:ext cx="60350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0.39</a:t>
            </a:r>
            <a:endParaRPr lang="en-US" sz="1200" dirty="0"/>
          </a:p>
        </p:txBody>
      </p:sp>
      <p:sp>
        <p:nvSpPr>
          <p:cNvPr id="43" name="Text 41"/>
          <p:cNvSpPr txBox="1"/>
          <p:nvPr/>
        </p:nvSpPr>
        <p:spPr>
          <a:xfrm>
            <a:off x="4654296" y="3840480"/>
            <a:ext cx="288036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attention weights</a:t>
            </a:r>
            <a:endParaRPr lang="en-US" sz="1300" dirty="0"/>
          </a:p>
        </p:txBody>
      </p:sp>
      <p:sp>
        <p:nvSpPr>
          <p:cNvPr id="44" name="Shape 42"/>
          <p:cNvSpPr/>
          <p:nvPr/>
        </p:nvSpPr>
        <p:spPr>
          <a:xfrm>
            <a:off x="7836408" y="3154680"/>
            <a:ext cx="256032" cy="0"/>
          </a:xfrm>
          <a:prstGeom prst="line">
            <a:avLst/>
          </a:prstGeom>
          <a:noFill/>
          <a:ln w="31750">
            <a:solidFill>
              <a:srgbClr val="A9C0D8"/>
            </a:solidFill>
            <a:prstDash val="solid"/>
            <a:tailEnd type="triangle"/>
          </a:ln>
        </p:spPr>
      </p:sp>
      <p:sp>
        <p:nvSpPr>
          <p:cNvPr id="45" name="Shape 43"/>
          <p:cNvSpPr/>
          <p:nvPr/>
        </p:nvSpPr>
        <p:spPr>
          <a:xfrm>
            <a:off x="8119872" y="1554480"/>
            <a:ext cx="3429000"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46" name="Text 44"/>
          <p:cNvSpPr txBox="1"/>
          <p:nvPr/>
        </p:nvSpPr>
        <p:spPr>
          <a:xfrm>
            <a:off x="8394192" y="1664208"/>
            <a:ext cx="2880360" cy="384048"/>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3  Blend</a:t>
            </a:r>
            <a:endParaRPr lang="en-US" sz="1900" dirty="0"/>
          </a:p>
        </p:txBody>
      </p:sp>
      <p:sp>
        <p:nvSpPr>
          <p:cNvPr id="47" name="Text 45"/>
          <p:cNvSpPr txBox="1"/>
          <p:nvPr/>
        </p:nvSpPr>
        <p:spPr>
          <a:xfrm>
            <a:off x="8394192" y="2029968"/>
            <a:ext cx="2880360" cy="32004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Mix embeddings by weight.</a:t>
            </a:r>
            <a:endParaRPr lang="en-US" sz="1300" dirty="0"/>
          </a:p>
        </p:txBody>
      </p:sp>
      <p:sp>
        <p:nvSpPr>
          <p:cNvPr id="48" name="Text 46"/>
          <p:cNvSpPr txBox="1"/>
          <p:nvPr/>
        </p:nvSpPr>
        <p:spPr>
          <a:xfrm>
            <a:off x="8211312" y="2651760"/>
            <a:ext cx="914400" cy="329184"/>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rain</a:t>
            </a:r>
            <a:endParaRPr lang="en-US" sz="1200" dirty="0"/>
          </a:p>
        </p:txBody>
      </p:sp>
      <p:sp>
        <p:nvSpPr>
          <p:cNvPr id="49" name="Text 47"/>
          <p:cNvSpPr txBox="1"/>
          <p:nvPr/>
        </p:nvSpPr>
        <p:spPr>
          <a:xfrm>
            <a:off x="8211312" y="3026664"/>
            <a:ext cx="914400" cy="329184"/>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falls</a:t>
            </a:r>
            <a:endParaRPr lang="en-US" sz="1200" dirty="0"/>
          </a:p>
        </p:txBody>
      </p:sp>
      <p:sp>
        <p:nvSpPr>
          <p:cNvPr id="50" name="Text 48"/>
          <p:cNvSpPr txBox="1"/>
          <p:nvPr/>
        </p:nvSpPr>
        <p:spPr>
          <a:xfrm>
            <a:off x="8211312" y="3401568"/>
            <a:ext cx="914400" cy="329184"/>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softly</a:t>
            </a:r>
            <a:endParaRPr lang="en-US" sz="1200" dirty="0"/>
          </a:p>
        </p:txBody>
      </p:sp>
      <p:sp>
        <p:nvSpPr>
          <p:cNvPr id="51" name="Text 49"/>
          <p:cNvSpPr txBox="1"/>
          <p:nvPr/>
        </p:nvSpPr>
        <p:spPr>
          <a:xfrm>
            <a:off x="9217152" y="2651760"/>
            <a:ext cx="603504"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0.59</a:t>
            </a:r>
            <a:endParaRPr lang="en-US" sz="1200" dirty="0"/>
          </a:p>
        </p:txBody>
      </p:sp>
      <p:sp>
        <p:nvSpPr>
          <p:cNvPr id="52" name="Text 50"/>
          <p:cNvSpPr txBox="1"/>
          <p:nvPr/>
        </p:nvSpPr>
        <p:spPr>
          <a:xfrm>
            <a:off x="9866376" y="2651760"/>
            <a:ext cx="603504"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0.52</a:t>
            </a:r>
            <a:endParaRPr lang="en-US" sz="1200" dirty="0"/>
          </a:p>
        </p:txBody>
      </p:sp>
      <p:sp>
        <p:nvSpPr>
          <p:cNvPr id="53" name="Text 51"/>
          <p:cNvSpPr txBox="1"/>
          <p:nvPr/>
        </p:nvSpPr>
        <p:spPr>
          <a:xfrm>
            <a:off x="10515600" y="2651760"/>
            <a:ext cx="603504"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0.45</a:t>
            </a:r>
            <a:endParaRPr lang="en-US" sz="1200" dirty="0"/>
          </a:p>
        </p:txBody>
      </p:sp>
      <p:sp>
        <p:nvSpPr>
          <p:cNvPr id="54" name="Text 52"/>
          <p:cNvSpPr txBox="1"/>
          <p:nvPr/>
        </p:nvSpPr>
        <p:spPr>
          <a:xfrm>
            <a:off x="9217152" y="3026664"/>
            <a:ext cx="603504"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0.48</a:t>
            </a:r>
            <a:endParaRPr lang="en-US" sz="1200" dirty="0"/>
          </a:p>
        </p:txBody>
      </p:sp>
      <p:sp>
        <p:nvSpPr>
          <p:cNvPr id="55" name="Text 53"/>
          <p:cNvSpPr txBox="1"/>
          <p:nvPr/>
        </p:nvSpPr>
        <p:spPr>
          <a:xfrm>
            <a:off x="9866376" y="3026664"/>
            <a:ext cx="603504"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0.65</a:t>
            </a:r>
            <a:endParaRPr lang="en-US" sz="1200" dirty="0"/>
          </a:p>
        </p:txBody>
      </p:sp>
      <p:sp>
        <p:nvSpPr>
          <p:cNvPr id="56" name="Text 54"/>
          <p:cNvSpPr txBox="1"/>
          <p:nvPr/>
        </p:nvSpPr>
        <p:spPr>
          <a:xfrm>
            <a:off x="10515600" y="3026664"/>
            <a:ext cx="603504"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0.45</a:t>
            </a:r>
            <a:endParaRPr lang="en-US" sz="1200" dirty="0"/>
          </a:p>
        </p:txBody>
      </p:sp>
      <p:sp>
        <p:nvSpPr>
          <p:cNvPr id="57" name="Text 55"/>
          <p:cNvSpPr txBox="1"/>
          <p:nvPr/>
        </p:nvSpPr>
        <p:spPr>
          <a:xfrm>
            <a:off x="9217152" y="3401568"/>
            <a:ext cx="603504"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0.43</a:t>
            </a:r>
            <a:endParaRPr lang="en-US" sz="1200" dirty="0"/>
          </a:p>
        </p:txBody>
      </p:sp>
      <p:sp>
        <p:nvSpPr>
          <p:cNvPr id="58" name="Text 56"/>
          <p:cNvSpPr txBox="1"/>
          <p:nvPr/>
        </p:nvSpPr>
        <p:spPr>
          <a:xfrm>
            <a:off x="9866376" y="3401568"/>
            <a:ext cx="603504"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0.69</a:t>
            </a:r>
            <a:endParaRPr lang="en-US" sz="1200" dirty="0"/>
          </a:p>
        </p:txBody>
      </p:sp>
      <p:sp>
        <p:nvSpPr>
          <p:cNvPr id="59" name="Text 57"/>
          <p:cNvSpPr txBox="1"/>
          <p:nvPr/>
        </p:nvSpPr>
        <p:spPr>
          <a:xfrm>
            <a:off x="10515600" y="3401568"/>
            <a:ext cx="603504"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0.44</a:t>
            </a:r>
            <a:endParaRPr lang="en-US" sz="1200" dirty="0"/>
          </a:p>
        </p:txBody>
      </p:sp>
      <p:sp>
        <p:nvSpPr>
          <p:cNvPr id="60" name="Text 58"/>
          <p:cNvSpPr txBox="1"/>
          <p:nvPr/>
        </p:nvSpPr>
        <p:spPr>
          <a:xfrm>
            <a:off x="8394192" y="3840480"/>
            <a:ext cx="288036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context vectors</a:t>
            </a:r>
            <a:endParaRPr lang="en-US" sz="1300" dirty="0"/>
          </a:p>
        </p:txBody>
      </p:sp>
      <p:sp>
        <p:nvSpPr>
          <p:cNvPr id="61" name="Shape 59"/>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2" name="Text 60"/>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63" name="Text 61"/>
          <p:cNvSpPr txBox="1"/>
          <p:nvPr/>
        </p:nvSpPr>
        <p:spPr>
          <a:xfrm>
            <a:off x="192024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Attention score</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dot product between two tokens</a:t>
            </a:r>
            <a:endParaRPr lang="en-US" sz="1800" dirty="0"/>
          </a:p>
        </p:txBody>
      </p:sp>
      <p:sp>
        <p:nvSpPr>
          <p:cNvPr id="64" name="Text 62"/>
          <p:cNvSpPr txBox="1"/>
          <p:nvPr/>
        </p:nvSpPr>
        <p:spPr>
          <a:xfrm>
            <a:off x="507492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Attention weight</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score after softmax</a:t>
            </a:r>
            <a:endParaRPr lang="en-US" sz="1800" dirty="0"/>
          </a:p>
        </p:txBody>
      </p:sp>
      <p:sp>
        <p:nvSpPr>
          <p:cNvPr id="65" name="Text 63"/>
          <p:cNvSpPr txBox="1"/>
          <p:nvPr/>
        </p:nvSpPr>
        <p:spPr>
          <a:xfrm>
            <a:off x="822960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Matrix</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grid of numbers; here one row per token</a:t>
            </a:r>
            <a:endParaRPr lang="en-US" sz="1800" dirty="0"/>
          </a:p>
        </p:txBody>
      </p:sp>
      <p:sp>
        <p:nvSpPr>
          <p:cNvPr id="66" name="Shape 64"/>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67" name="Shape 65"/>
          <p:cNvSpPr/>
          <p:nvPr/>
        </p:nvSpPr>
        <p:spPr>
          <a:xfrm>
            <a:off x="914400" y="5509260"/>
            <a:ext cx="548640" cy="548640"/>
          </a:xfrm>
          <a:prstGeom prst="ellipse">
            <a:avLst/>
          </a:prstGeom>
          <a:solidFill>
            <a:srgbClr val="FFFFFF"/>
          </a:solidFill>
          <a:ln w="15875">
            <a:solidFill>
              <a:srgbClr val="8FA99B"/>
            </a:solidFill>
            <a:prstDash val="solid"/>
          </a:ln>
        </p:spPr>
      </p:sp>
      <p:pic>
        <p:nvPicPr>
          <p:cNvPr id="68"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69" name="Text 66"/>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Compare, weight, blend: that is the whole idea of attention.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7</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Zoom in: blending for "falls"</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The "falls" row of weights says how much of each token to mix in.</a:t>
            </a:r>
            <a:endParaRPr lang="en-US" sz="1600" dirty="0"/>
          </a:p>
        </p:txBody>
      </p:sp>
      <p:sp>
        <p:nvSpPr>
          <p:cNvPr id="5" name="Shape 3"/>
          <p:cNvSpPr/>
          <p:nvPr/>
        </p:nvSpPr>
        <p:spPr>
          <a:xfrm>
            <a:off x="1920240" y="1554480"/>
            <a:ext cx="8321040"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2194560" y="1737360"/>
            <a:ext cx="365760" cy="411480"/>
          </a:xfrm>
          <a:prstGeom prst="rect">
            <a:avLst/>
          </a:prstGeom>
          <a:noFill/>
          <a:ln/>
        </p:spPr>
        <p:txBody>
          <a:bodyPr wrap="square" lIns="0" tIns="0" rIns="0" bIns="0" rtlCol="0" anchor="ctr"/>
          <a:lstStyle/>
          <a:p>
            <a:pPr algn="ctr" indent="0" marL="0">
              <a:buNone/>
            </a:pPr>
            <a:endParaRPr lang="en-US" sz="2000" dirty="0"/>
          </a:p>
        </p:txBody>
      </p:sp>
      <p:sp>
        <p:nvSpPr>
          <p:cNvPr id="7" name="Text 5"/>
          <p:cNvSpPr txBox="1"/>
          <p:nvPr/>
        </p:nvSpPr>
        <p:spPr>
          <a:xfrm>
            <a:off x="2651760" y="1737360"/>
            <a:ext cx="91440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0.26</a:t>
            </a:r>
            <a:endParaRPr lang="en-US" sz="1600" dirty="0"/>
          </a:p>
        </p:txBody>
      </p:sp>
      <p:sp>
        <p:nvSpPr>
          <p:cNvPr id="8" name="Text 6"/>
          <p:cNvSpPr txBox="1"/>
          <p:nvPr/>
        </p:nvSpPr>
        <p:spPr>
          <a:xfrm>
            <a:off x="3611880" y="1737360"/>
            <a:ext cx="365760" cy="411480"/>
          </a:xfrm>
          <a:prstGeom prst="rect">
            <a:avLst/>
          </a:prstGeom>
          <a:noFill/>
          <a:ln/>
        </p:spPr>
        <p:txBody>
          <a:bodyPr wrap="square" lIns="0" tIns="0" rIns="0" bIns="0" rtlCol="0" anchor="ctr"/>
          <a:lstStyle/>
          <a:p>
            <a:pPr algn="ctr" indent="0" marL="0">
              <a:buNone/>
            </a:pPr>
            <a:r>
              <a:rPr lang="en-US" sz="1800" dirty="0">
                <a:solidFill>
                  <a:srgbClr val="66768A"/>
                </a:solidFill>
                <a:latin typeface="Inter" pitchFamily="34" charset="0"/>
                <a:ea typeface="Inter" pitchFamily="34" charset="-122"/>
                <a:cs typeface="Inter" pitchFamily="34" charset="-120"/>
              </a:rPr>
              <a:t>×</a:t>
            </a:r>
            <a:endParaRPr lang="en-US" sz="1800" dirty="0"/>
          </a:p>
        </p:txBody>
      </p:sp>
      <p:sp>
        <p:nvSpPr>
          <p:cNvPr id="9" name="Text 7"/>
          <p:cNvSpPr txBox="1"/>
          <p:nvPr/>
        </p:nvSpPr>
        <p:spPr>
          <a:xfrm>
            <a:off x="4023360" y="1737360"/>
            <a:ext cx="137160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"rain"</a:t>
            </a:r>
            <a:endParaRPr lang="en-US" sz="1500" dirty="0"/>
          </a:p>
        </p:txBody>
      </p:sp>
      <p:sp>
        <p:nvSpPr>
          <p:cNvPr id="10" name="Text 8"/>
          <p:cNvSpPr txBox="1"/>
          <p:nvPr/>
        </p:nvSpPr>
        <p:spPr>
          <a:xfrm>
            <a:off x="5577840" y="1737360"/>
            <a:ext cx="73152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0.9</a:t>
            </a:r>
            <a:endParaRPr lang="en-US" sz="1500" dirty="0"/>
          </a:p>
        </p:txBody>
      </p:sp>
      <p:sp>
        <p:nvSpPr>
          <p:cNvPr id="11" name="Text 9"/>
          <p:cNvSpPr txBox="1"/>
          <p:nvPr/>
        </p:nvSpPr>
        <p:spPr>
          <a:xfrm>
            <a:off x="6419088" y="1737360"/>
            <a:ext cx="73152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0.1</a:t>
            </a:r>
            <a:endParaRPr lang="en-US" sz="1500" dirty="0"/>
          </a:p>
        </p:txBody>
      </p:sp>
      <p:sp>
        <p:nvSpPr>
          <p:cNvPr id="12" name="Text 10"/>
          <p:cNvSpPr txBox="1"/>
          <p:nvPr/>
        </p:nvSpPr>
        <p:spPr>
          <a:xfrm>
            <a:off x="7260336" y="1737360"/>
            <a:ext cx="73152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0.4</a:t>
            </a:r>
            <a:endParaRPr lang="en-US" sz="1500" dirty="0"/>
          </a:p>
        </p:txBody>
      </p:sp>
      <p:sp>
        <p:nvSpPr>
          <p:cNvPr id="13" name="Shape 11"/>
          <p:cNvSpPr/>
          <p:nvPr/>
        </p:nvSpPr>
        <p:spPr>
          <a:xfrm>
            <a:off x="8092440" y="1828800"/>
            <a:ext cx="1075509" cy="228600"/>
          </a:xfrm>
          <a:prstGeom prst="roundRect">
            <a:avLst>
              <a:gd name="adj" fmla="val 20000"/>
            </a:avLst>
          </a:prstGeom>
          <a:solidFill>
            <a:srgbClr val="8FA99B"/>
          </a:solidFill>
          <a:ln w="6350">
            <a:solidFill>
              <a:srgbClr val="8FA99B"/>
            </a:solidFill>
            <a:prstDash val="solid"/>
          </a:ln>
        </p:spPr>
      </p:sp>
      <p:sp>
        <p:nvSpPr>
          <p:cNvPr id="14" name="Text 12"/>
          <p:cNvSpPr txBox="1"/>
          <p:nvPr/>
        </p:nvSpPr>
        <p:spPr>
          <a:xfrm>
            <a:off x="2194560" y="2267712"/>
            <a:ext cx="365760" cy="411480"/>
          </a:xfrm>
          <a:prstGeom prst="rect">
            <a:avLst/>
          </a:prstGeom>
          <a:noFill/>
          <a:ln/>
        </p:spPr>
        <p:txBody>
          <a:bodyPr wrap="square" lIns="0" tIns="0" rIns="0" bIns="0" rtlCol="0" anchor="ctr"/>
          <a:lstStyle/>
          <a:p>
            <a:pPr algn="ctr" indent="0" marL="0">
              <a:buNone/>
            </a:pPr>
            <a:r>
              <a:rPr lang="en-US" sz="2000" b="1" dirty="0">
                <a:solidFill>
                  <a:srgbClr val="66768A"/>
                </a:solidFill>
                <a:latin typeface="Inter" pitchFamily="34" charset="0"/>
                <a:ea typeface="Inter" pitchFamily="34" charset="-122"/>
                <a:cs typeface="Inter" pitchFamily="34" charset="-120"/>
              </a:rPr>
              <a:t>+</a:t>
            </a:r>
            <a:endParaRPr lang="en-US" sz="2000" dirty="0"/>
          </a:p>
        </p:txBody>
      </p:sp>
      <p:sp>
        <p:nvSpPr>
          <p:cNvPr id="15" name="Text 13"/>
          <p:cNvSpPr txBox="1"/>
          <p:nvPr/>
        </p:nvSpPr>
        <p:spPr>
          <a:xfrm>
            <a:off x="2651760" y="2267712"/>
            <a:ext cx="91440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0.42</a:t>
            </a:r>
            <a:endParaRPr lang="en-US" sz="1600" dirty="0"/>
          </a:p>
        </p:txBody>
      </p:sp>
      <p:sp>
        <p:nvSpPr>
          <p:cNvPr id="16" name="Text 14"/>
          <p:cNvSpPr txBox="1"/>
          <p:nvPr/>
        </p:nvSpPr>
        <p:spPr>
          <a:xfrm>
            <a:off x="3611880" y="2267712"/>
            <a:ext cx="365760" cy="411480"/>
          </a:xfrm>
          <a:prstGeom prst="rect">
            <a:avLst/>
          </a:prstGeom>
          <a:noFill/>
          <a:ln/>
        </p:spPr>
        <p:txBody>
          <a:bodyPr wrap="square" lIns="0" tIns="0" rIns="0" bIns="0" rtlCol="0" anchor="ctr"/>
          <a:lstStyle/>
          <a:p>
            <a:pPr algn="ctr" indent="0" marL="0">
              <a:buNone/>
            </a:pPr>
            <a:r>
              <a:rPr lang="en-US" sz="1800" dirty="0">
                <a:solidFill>
                  <a:srgbClr val="66768A"/>
                </a:solidFill>
                <a:latin typeface="Inter" pitchFamily="34" charset="0"/>
                <a:ea typeface="Inter" pitchFamily="34" charset="-122"/>
                <a:cs typeface="Inter" pitchFamily="34" charset="-120"/>
              </a:rPr>
              <a:t>×</a:t>
            </a:r>
            <a:endParaRPr lang="en-US" sz="1800" dirty="0"/>
          </a:p>
        </p:txBody>
      </p:sp>
      <p:sp>
        <p:nvSpPr>
          <p:cNvPr id="17" name="Text 15"/>
          <p:cNvSpPr txBox="1"/>
          <p:nvPr/>
        </p:nvSpPr>
        <p:spPr>
          <a:xfrm>
            <a:off x="4023360" y="2267712"/>
            <a:ext cx="137160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"falls"</a:t>
            </a:r>
            <a:endParaRPr lang="en-US" sz="1500" dirty="0"/>
          </a:p>
        </p:txBody>
      </p:sp>
      <p:sp>
        <p:nvSpPr>
          <p:cNvPr id="18" name="Text 16"/>
          <p:cNvSpPr txBox="1"/>
          <p:nvPr/>
        </p:nvSpPr>
        <p:spPr>
          <a:xfrm>
            <a:off x="5577840" y="2267712"/>
            <a:ext cx="73152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0.5</a:t>
            </a:r>
            <a:endParaRPr lang="en-US" sz="1500" dirty="0"/>
          </a:p>
        </p:txBody>
      </p:sp>
      <p:sp>
        <p:nvSpPr>
          <p:cNvPr id="19" name="Text 17"/>
          <p:cNvSpPr txBox="1"/>
          <p:nvPr/>
        </p:nvSpPr>
        <p:spPr>
          <a:xfrm>
            <a:off x="6419088" y="2267712"/>
            <a:ext cx="73152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0.8</a:t>
            </a:r>
            <a:endParaRPr lang="en-US" sz="1500" dirty="0"/>
          </a:p>
        </p:txBody>
      </p:sp>
      <p:sp>
        <p:nvSpPr>
          <p:cNvPr id="20" name="Text 18"/>
          <p:cNvSpPr txBox="1"/>
          <p:nvPr/>
        </p:nvSpPr>
        <p:spPr>
          <a:xfrm>
            <a:off x="7260336" y="2267712"/>
            <a:ext cx="73152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0.6</a:t>
            </a:r>
            <a:endParaRPr lang="en-US" sz="1500" dirty="0"/>
          </a:p>
        </p:txBody>
      </p:sp>
      <p:sp>
        <p:nvSpPr>
          <p:cNvPr id="21" name="Shape 19"/>
          <p:cNvSpPr/>
          <p:nvPr/>
        </p:nvSpPr>
        <p:spPr>
          <a:xfrm>
            <a:off x="8092440" y="2359152"/>
            <a:ext cx="1737360" cy="228600"/>
          </a:xfrm>
          <a:prstGeom prst="roundRect">
            <a:avLst>
              <a:gd name="adj" fmla="val 20000"/>
            </a:avLst>
          </a:prstGeom>
          <a:solidFill>
            <a:srgbClr val="8FA99B"/>
          </a:solidFill>
          <a:ln w="6350">
            <a:solidFill>
              <a:srgbClr val="8FA99B"/>
            </a:solidFill>
            <a:prstDash val="solid"/>
          </a:ln>
        </p:spPr>
      </p:sp>
      <p:sp>
        <p:nvSpPr>
          <p:cNvPr id="22" name="Text 20"/>
          <p:cNvSpPr txBox="1"/>
          <p:nvPr/>
        </p:nvSpPr>
        <p:spPr>
          <a:xfrm>
            <a:off x="2194560" y="2798064"/>
            <a:ext cx="365760" cy="411480"/>
          </a:xfrm>
          <a:prstGeom prst="rect">
            <a:avLst/>
          </a:prstGeom>
          <a:noFill/>
          <a:ln/>
        </p:spPr>
        <p:txBody>
          <a:bodyPr wrap="square" lIns="0" tIns="0" rIns="0" bIns="0" rtlCol="0" anchor="ctr"/>
          <a:lstStyle/>
          <a:p>
            <a:pPr algn="ctr" indent="0" marL="0">
              <a:buNone/>
            </a:pPr>
            <a:r>
              <a:rPr lang="en-US" sz="2000" b="1" dirty="0">
                <a:solidFill>
                  <a:srgbClr val="66768A"/>
                </a:solidFill>
                <a:latin typeface="Inter" pitchFamily="34" charset="0"/>
                <a:ea typeface="Inter" pitchFamily="34" charset="-122"/>
                <a:cs typeface="Inter" pitchFamily="34" charset="-120"/>
              </a:rPr>
              <a:t>+</a:t>
            </a:r>
            <a:endParaRPr lang="en-US" sz="2000" dirty="0"/>
          </a:p>
        </p:txBody>
      </p:sp>
      <p:sp>
        <p:nvSpPr>
          <p:cNvPr id="23" name="Text 21"/>
          <p:cNvSpPr txBox="1"/>
          <p:nvPr/>
        </p:nvSpPr>
        <p:spPr>
          <a:xfrm>
            <a:off x="2651760" y="2798064"/>
            <a:ext cx="91440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0.31</a:t>
            </a:r>
            <a:endParaRPr lang="en-US" sz="1600" dirty="0"/>
          </a:p>
        </p:txBody>
      </p:sp>
      <p:sp>
        <p:nvSpPr>
          <p:cNvPr id="24" name="Text 22"/>
          <p:cNvSpPr txBox="1"/>
          <p:nvPr/>
        </p:nvSpPr>
        <p:spPr>
          <a:xfrm>
            <a:off x="3611880" y="2798064"/>
            <a:ext cx="365760" cy="411480"/>
          </a:xfrm>
          <a:prstGeom prst="rect">
            <a:avLst/>
          </a:prstGeom>
          <a:noFill/>
          <a:ln/>
        </p:spPr>
        <p:txBody>
          <a:bodyPr wrap="square" lIns="0" tIns="0" rIns="0" bIns="0" rtlCol="0" anchor="ctr"/>
          <a:lstStyle/>
          <a:p>
            <a:pPr algn="ctr" indent="0" marL="0">
              <a:buNone/>
            </a:pPr>
            <a:r>
              <a:rPr lang="en-US" sz="1800" dirty="0">
                <a:solidFill>
                  <a:srgbClr val="66768A"/>
                </a:solidFill>
                <a:latin typeface="Inter" pitchFamily="34" charset="0"/>
                <a:ea typeface="Inter" pitchFamily="34" charset="-122"/>
                <a:cs typeface="Inter" pitchFamily="34" charset="-120"/>
              </a:rPr>
              <a:t>×</a:t>
            </a:r>
            <a:endParaRPr lang="en-US" sz="1800" dirty="0"/>
          </a:p>
        </p:txBody>
      </p:sp>
      <p:sp>
        <p:nvSpPr>
          <p:cNvPr id="25" name="Text 23"/>
          <p:cNvSpPr txBox="1"/>
          <p:nvPr/>
        </p:nvSpPr>
        <p:spPr>
          <a:xfrm>
            <a:off x="4023360" y="2798064"/>
            <a:ext cx="137160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"softly"</a:t>
            </a:r>
            <a:endParaRPr lang="en-US" sz="1500" dirty="0"/>
          </a:p>
        </p:txBody>
      </p:sp>
      <p:sp>
        <p:nvSpPr>
          <p:cNvPr id="26" name="Text 24"/>
          <p:cNvSpPr txBox="1"/>
          <p:nvPr/>
        </p:nvSpPr>
        <p:spPr>
          <a:xfrm>
            <a:off x="5577840" y="2798064"/>
            <a:ext cx="73152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0.1</a:t>
            </a:r>
            <a:endParaRPr lang="en-US" sz="1500" dirty="0"/>
          </a:p>
        </p:txBody>
      </p:sp>
      <p:sp>
        <p:nvSpPr>
          <p:cNvPr id="27" name="Text 25"/>
          <p:cNvSpPr txBox="1"/>
          <p:nvPr/>
        </p:nvSpPr>
        <p:spPr>
          <a:xfrm>
            <a:off x="6419088" y="2798064"/>
            <a:ext cx="73152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0.9</a:t>
            </a:r>
            <a:endParaRPr lang="en-US" sz="1500" dirty="0"/>
          </a:p>
        </p:txBody>
      </p:sp>
      <p:sp>
        <p:nvSpPr>
          <p:cNvPr id="28" name="Text 26"/>
          <p:cNvSpPr txBox="1"/>
          <p:nvPr/>
        </p:nvSpPr>
        <p:spPr>
          <a:xfrm>
            <a:off x="7260336" y="2798064"/>
            <a:ext cx="731520" cy="411480"/>
          </a:xfrm>
          <a:prstGeom prst="roundRect">
            <a:avLst>
              <a:gd name="adj" fmla="val 22222"/>
            </a:avLst>
          </a:prstGeom>
          <a:solidFill>
            <a:srgbClr val="FFFFFF"/>
          </a:solidFill>
          <a:ln w="15875">
            <a:solidFill>
              <a:srgbClr val="D9E1E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0.3</a:t>
            </a:r>
            <a:endParaRPr lang="en-US" sz="1500" dirty="0"/>
          </a:p>
        </p:txBody>
      </p:sp>
      <p:sp>
        <p:nvSpPr>
          <p:cNvPr id="29" name="Shape 27"/>
          <p:cNvSpPr/>
          <p:nvPr/>
        </p:nvSpPr>
        <p:spPr>
          <a:xfrm>
            <a:off x="8092440" y="2889504"/>
            <a:ext cx="1282337" cy="228600"/>
          </a:xfrm>
          <a:prstGeom prst="roundRect">
            <a:avLst>
              <a:gd name="adj" fmla="val 20000"/>
            </a:avLst>
          </a:prstGeom>
          <a:solidFill>
            <a:srgbClr val="8FA99B"/>
          </a:solidFill>
          <a:ln w="6350">
            <a:solidFill>
              <a:srgbClr val="8FA99B"/>
            </a:solidFill>
            <a:prstDash val="solid"/>
          </a:ln>
        </p:spPr>
      </p:sp>
      <p:sp>
        <p:nvSpPr>
          <p:cNvPr id="30" name="Shape 28"/>
          <p:cNvSpPr/>
          <p:nvPr/>
        </p:nvSpPr>
        <p:spPr>
          <a:xfrm>
            <a:off x="5577840" y="3383280"/>
            <a:ext cx="2414016" cy="0"/>
          </a:xfrm>
          <a:prstGeom prst="line">
            <a:avLst/>
          </a:prstGeom>
          <a:noFill/>
          <a:ln w="15875">
            <a:solidFill>
              <a:srgbClr val="435466"/>
            </a:solidFill>
            <a:prstDash val="solid"/>
          </a:ln>
        </p:spPr>
      </p:sp>
      <p:sp>
        <p:nvSpPr>
          <p:cNvPr id="31" name="Text 29"/>
          <p:cNvSpPr txBox="1"/>
          <p:nvPr/>
        </p:nvSpPr>
        <p:spPr>
          <a:xfrm>
            <a:off x="2194560" y="3493008"/>
            <a:ext cx="365760" cy="411480"/>
          </a:xfrm>
          <a:prstGeom prst="rect">
            <a:avLst/>
          </a:prstGeom>
          <a:noFill/>
          <a:ln/>
        </p:spPr>
        <p:txBody>
          <a:bodyPr wrap="square" lIns="0" tIns="0" rIns="0" bIns="0" rtlCol="0" anchor="ctr"/>
          <a:lstStyle/>
          <a:p>
            <a:pPr algn="ctr" indent="0" marL="0">
              <a:buNone/>
            </a:pPr>
            <a:r>
              <a:rPr lang="en-US" sz="2000" b="1" dirty="0">
                <a:solidFill>
                  <a:srgbClr val="66768A"/>
                </a:solidFill>
                <a:latin typeface="Inter" pitchFamily="34" charset="0"/>
                <a:ea typeface="Inter" pitchFamily="34" charset="-122"/>
                <a:cs typeface="Inter" pitchFamily="34" charset="-120"/>
              </a:rPr>
              <a:t>=</a:t>
            </a:r>
            <a:endParaRPr lang="en-US" sz="2000" dirty="0"/>
          </a:p>
        </p:txBody>
      </p:sp>
      <p:sp>
        <p:nvSpPr>
          <p:cNvPr id="32" name="Text 30"/>
          <p:cNvSpPr txBox="1"/>
          <p:nvPr/>
        </p:nvSpPr>
        <p:spPr>
          <a:xfrm>
            <a:off x="2651760" y="3493008"/>
            <a:ext cx="2743200" cy="411480"/>
          </a:xfrm>
          <a:prstGeom prst="rect">
            <a:avLst/>
          </a:prstGeom>
          <a:noFill/>
          <a:ln/>
        </p:spPr>
        <p:txBody>
          <a:bodyPr wrap="square" lIns="0" tIns="0" rIns="0" bIns="0" rtlCol="0" anchor="ctr"/>
          <a:lstStyle/>
          <a:p>
            <a:pPr algn="r" indent="0" marL="0">
              <a:buNone/>
            </a:pPr>
            <a:r>
              <a:rPr lang="en-US" sz="1400" b="1" dirty="0">
                <a:solidFill>
                  <a:srgbClr val="435466"/>
                </a:solidFill>
                <a:latin typeface="Inter" pitchFamily="34" charset="0"/>
                <a:ea typeface="Inter" pitchFamily="34" charset="-122"/>
                <a:cs typeface="Inter" pitchFamily="34" charset="-120"/>
              </a:rPr>
              <a:t>context vector for "falls"</a:t>
            </a:r>
            <a:endParaRPr lang="en-US" sz="1400" dirty="0"/>
          </a:p>
        </p:txBody>
      </p:sp>
      <p:sp>
        <p:nvSpPr>
          <p:cNvPr id="33" name="Text 31"/>
          <p:cNvSpPr txBox="1"/>
          <p:nvPr/>
        </p:nvSpPr>
        <p:spPr>
          <a:xfrm>
            <a:off x="5577840" y="3493008"/>
            <a:ext cx="731520" cy="411480"/>
          </a:xfrm>
          <a:prstGeom prst="roundRect">
            <a:avLst>
              <a:gd name="adj" fmla="val 22222"/>
            </a:avLst>
          </a:prstGeom>
          <a:solidFill>
            <a:srgbClr val="FFFFFF"/>
          </a:solidFill>
          <a:ln w="15875">
            <a:solidFill>
              <a:srgbClr val="435466"/>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0.48</a:t>
            </a:r>
            <a:endParaRPr lang="en-US" sz="1500" dirty="0"/>
          </a:p>
        </p:txBody>
      </p:sp>
      <p:sp>
        <p:nvSpPr>
          <p:cNvPr id="34" name="Text 32"/>
          <p:cNvSpPr txBox="1"/>
          <p:nvPr/>
        </p:nvSpPr>
        <p:spPr>
          <a:xfrm>
            <a:off x="6419088" y="3493008"/>
            <a:ext cx="731520" cy="411480"/>
          </a:xfrm>
          <a:prstGeom prst="roundRect">
            <a:avLst>
              <a:gd name="adj" fmla="val 22222"/>
            </a:avLst>
          </a:prstGeom>
          <a:solidFill>
            <a:srgbClr val="FFFFFF"/>
          </a:solidFill>
          <a:ln w="15875">
            <a:solidFill>
              <a:srgbClr val="435466"/>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0.65</a:t>
            </a:r>
            <a:endParaRPr lang="en-US" sz="1500" dirty="0"/>
          </a:p>
        </p:txBody>
      </p:sp>
      <p:sp>
        <p:nvSpPr>
          <p:cNvPr id="35" name="Text 33"/>
          <p:cNvSpPr txBox="1"/>
          <p:nvPr/>
        </p:nvSpPr>
        <p:spPr>
          <a:xfrm>
            <a:off x="7260336" y="3493008"/>
            <a:ext cx="731520" cy="411480"/>
          </a:xfrm>
          <a:prstGeom prst="roundRect">
            <a:avLst>
              <a:gd name="adj" fmla="val 22222"/>
            </a:avLst>
          </a:prstGeom>
          <a:solidFill>
            <a:srgbClr val="FFFFFF"/>
          </a:solidFill>
          <a:ln w="15875">
            <a:solidFill>
              <a:srgbClr val="435466"/>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0.45</a:t>
            </a:r>
            <a:endParaRPr lang="en-US" sz="1500" dirty="0"/>
          </a:p>
        </p:txBody>
      </p:sp>
      <p:sp>
        <p:nvSpPr>
          <p:cNvPr id="36" name="Text 34"/>
          <p:cNvSpPr txBox="1"/>
          <p:nvPr/>
        </p:nvSpPr>
        <p:spPr>
          <a:xfrm>
            <a:off x="8092440" y="3566160"/>
            <a:ext cx="1828800" cy="274320"/>
          </a:xfrm>
          <a:prstGeom prst="rect">
            <a:avLst/>
          </a:prstGeom>
          <a:noFill/>
          <a:ln/>
        </p:spPr>
        <p:txBody>
          <a:bodyPr wrap="square" lIns="0" tIns="0" rIns="0" bIns="0" rtlCol="0" anchor="t"/>
          <a:lstStyle/>
          <a:p>
            <a:pPr indent="0" marL="0">
              <a:buNone/>
            </a:pPr>
            <a:r>
              <a:rPr lang="en-US" sz="1200" dirty="0">
                <a:solidFill>
                  <a:srgbClr val="66768A"/>
                </a:solidFill>
                <a:latin typeface="Inter" pitchFamily="34" charset="0"/>
                <a:ea typeface="Inter" pitchFamily="34" charset="-122"/>
                <a:cs typeface="Inter" pitchFamily="34" charset="-120"/>
              </a:rPr>
              <a:t>bar = share of the mix</a:t>
            </a:r>
            <a:endParaRPr lang="en-US" sz="1200" dirty="0"/>
          </a:p>
        </p:txBody>
      </p:sp>
      <p:sp>
        <p:nvSpPr>
          <p:cNvPr id="37" name="Shape 35"/>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38" name="Text 36"/>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39" name="Text 37"/>
          <p:cNvSpPr txBox="1"/>
          <p:nvPr/>
        </p:nvSpPr>
        <p:spPr>
          <a:xfrm>
            <a:off x="1920240" y="4480560"/>
            <a:ext cx="459486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Blend (weighted mix)</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multiply each vector by its weight, then add them up</a:t>
            </a:r>
            <a:endParaRPr lang="en-US" sz="1800" dirty="0"/>
          </a:p>
        </p:txBody>
      </p:sp>
      <p:sp>
        <p:nvSpPr>
          <p:cNvPr id="40" name="Text 38"/>
          <p:cNvSpPr txBox="1"/>
          <p:nvPr/>
        </p:nvSpPr>
        <p:spPr>
          <a:xfrm>
            <a:off x="6652260" y="4480560"/>
            <a:ext cx="459486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Context vector</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the result: one new vector per token</a:t>
            </a:r>
            <a:endParaRPr lang="en-US" sz="1800" dirty="0"/>
          </a:p>
        </p:txBody>
      </p:sp>
      <p:sp>
        <p:nvSpPr>
          <p:cNvPr id="41" name="Shape 39"/>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42" name="Shape 40"/>
          <p:cNvSpPr/>
          <p:nvPr/>
        </p:nvSpPr>
        <p:spPr>
          <a:xfrm>
            <a:off x="914400" y="5509260"/>
            <a:ext cx="548640" cy="548640"/>
          </a:xfrm>
          <a:prstGeom prst="ellipse">
            <a:avLst/>
          </a:prstGeom>
          <a:solidFill>
            <a:srgbClr val="FFFFFF"/>
          </a:solidFill>
          <a:ln w="15875">
            <a:solidFill>
              <a:srgbClr val="8FA99B"/>
            </a:solidFill>
            <a:prstDash val="solid"/>
          </a:ln>
        </p:spPr>
      </p:sp>
      <p:pic>
        <p:nvPicPr>
          <p:cNvPr id="43"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44" name="Text 41"/>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Tokens with bigger weights contribute more to the blend.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8</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Query, Key, Value</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Simple attention uses one vector for every job. Learned attention makes three vectors per token.</a:t>
            </a:r>
            <a:endParaRPr lang="en-US" sz="1600" dirty="0"/>
          </a:p>
        </p:txBody>
      </p:sp>
      <p:sp>
        <p:nvSpPr>
          <p:cNvPr id="5" name="Text 3"/>
          <p:cNvSpPr txBox="1"/>
          <p:nvPr/>
        </p:nvSpPr>
        <p:spPr>
          <a:xfrm>
            <a:off x="731520" y="2377440"/>
            <a:ext cx="146304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"falls"</a:t>
            </a:r>
            <a:endParaRPr lang="en-US" sz="1600" dirty="0"/>
          </a:p>
        </p:txBody>
      </p:sp>
      <p:sp>
        <p:nvSpPr>
          <p:cNvPr id="6" name="Shape 4"/>
          <p:cNvSpPr/>
          <p:nvPr/>
        </p:nvSpPr>
        <p:spPr>
          <a:xfrm>
            <a:off x="731520" y="2926080"/>
            <a:ext cx="411480" cy="347472"/>
          </a:xfrm>
          <a:prstGeom prst="roundRect">
            <a:avLst>
              <a:gd name="adj" fmla="val 13158"/>
            </a:avLst>
          </a:prstGeom>
          <a:solidFill>
            <a:srgbClr val="FFFFFF"/>
          </a:solidFill>
          <a:ln w="12700">
            <a:solidFill>
              <a:srgbClr val="435466"/>
            </a:solidFill>
            <a:prstDash val="solid"/>
          </a:ln>
        </p:spPr>
      </p:sp>
      <p:sp>
        <p:nvSpPr>
          <p:cNvPr id="7" name="Shape 5"/>
          <p:cNvSpPr/>
          <p:nvPr/>
        </p:nvSpPr>
        <p:spPr>
          <a:xfrm>
            <a:off x="1261872" y="2926080"/>
            <a:ext cx="411480" cy="347472"/>
          </a:xfrm>
          <a:prstGeom prst="roundRect">
            <a:avLst>
              <a:gd name="adj" fmla="val 13158"/>
            </a:avLst>
          </a:prstGeom>
          <a:solidFill>
            <a:srgbClr val="FFFFFF"/>
          </a:solidFill>
          <a:ln w="12700">
            <a:solidFill>
              <a:srgbClr val="435466"/>
            </a:solidFill>
            <a:prstDash val="solid"/>
          </a:ln>
        </p:spPr>
      </p:sp>
      <p:sp>
        <p:nvSpPr>
          <p:cNvPr id="8" name="Shape 6"/>
          <p:cNvSpPr/>
          <p:nvPr/>
        </p:nvSpPr>
        <p:spPr>
          <a:xfrm>
            <a:off x="1792224" y="2926080"/>
            <a:ext cx="411480" cy="347472"/>
          </a:xfrm>
          <a:prstGeom prst="roundRect">
            <a:avLst>
              <a:gd name="adj" fmla="val 13158"/>
            </a:avLst>
          </a:prstGeom>
          <a:solidFill>
            <a:srgbClr val="FFFFFF"/>
          </a:solidFill>
          <a:ln w="12700">
            <a:solidFill>
              <a:srgbClr val="435466"/>
            </a:solidFill>
            <a:prstDash val="solid"/>
          </a:ln>
        </p:spPr>
      </p:sp>
      <p:sp>
        <p:nvSpPr>
          <p:cNvPr id="9" name="Shape 7"/>
          <p:cNvSpPr/>
          <p:nvPr/>
        </p:nvSpPr>
        <p:spPr>
          <a:xfrm>
            <a:off x="2286000" y="2697480"/>
            <a:ext cx="640080" cy="0"/>
          </a:xfrm>
          <a:prstGeom prst="line">
            <a:avLst/>
          </a:prstGeom>
          <a:noFill/>
          <a:ln w="31750">
            <a:solidFill>
              <a:srgbClr val="A9C0D8"/>
            </a:solidFill>
            <a:prstDash val="solid"/>
          </a:ln>
        </p:spPr>
      </p:sp>
      <p:sp>
        <p:nvSpPr>
          <p:cNvPr id="10" name="Shape 8"/>
          <p:cNvSpPr/>
          <p:nvPr/>
        </p:nvSpPr>
        <p:spPr>
          <a:xfrm>
            <a:off x="2926080" y="1883664"/>
            <a:ext cx="0" cy="1609344"/>
          </a:xfrm>
          <a:prstGeom prst="line">
            <a:avLst/>
          </a:prstGeom>
          <a:noFill/>
          <a:ln w="31750">
            <a:solidFill>
              <a:srgbClr val="A9C0D8"/>
            </a:solidFill>
            <a:prstDash val="solid"/>
          </a:ln>
        </p:spPr>
      </p:sp>
      <p:sp>
        <p:nvSpPr>
          <p:cNvPr id="11" name="Shape 9"/>
          <p:cNvSpPr/>
          <p:nvPr/>
        </p:nvSpPr>
        <p:spPr>
          <a:xfrm>
            <a:off x="2926080" y="1883664"/>
            <a:ext cx="640080" cy="0"/>
          </a:xfrm>
          <a:prstGeom prst="line">
            <a:avLst/>
          </a:prstGeom>
          <a:noFill/>
          <a:ln w="31750">
            <a:solidFill>
              <a:srgbClr val="A9C0D8"/>
            </a:solidFill>
            <a:prstDash val="solid"/>
            <a:tailEnd type="triangle"/>
          </a:ln>
        </p:spPr>
      </p:sp>
      <p:sp>
        <p:nvSpPr>
          <p:cNvPr id="12" name="Text 10"/>
          <p:cNvSpPr txBox="1"/>
          <p:nvPr/>
        </p:nvSpPr>
        <p:spPr>
          <a:xfrm>
            <a:off x="3657600" y="1554480"/>
            <a:ext cx="658368" cy="658368"/>
          </a:xfrm>
          <a:prstGeom prst="roundRect">
            <a:avLst>
              <a:gd name="adj" fmla="val 13889"/>
            </a:avLst>
          </a:prstGeom>
          <a:solidFill>
            <a:srgbClr val="E8EFF7"/>
          </a:solidFill>
          <a:ln w="15875">
            <a:solidFill>
              <a:srgbClr val="A9C0D8"/>
            </a:solidFill>
          </a:ln>
        </p:spPr>
        <p:txBody>
          <a:bodyPr wrap="square" lIns="0" tIns="0" rIns="0" bIns="0" rtlCol="0" anchor="ctr"/>
          <a:lstStyle/>
          <a:p>
            <a:pPr algn="ctr" indent="0" marL="0">
              <a:buNone/>
            </a:pPr>
            <a:r>
              <a:rPr lang="en-US" sz="2200" b="1" dirty="0">
                <a:solidFill>
                  <a:srgbClr val="435466"/>
                </a:solidFill>
                <a:latin typeface="Inter" pitchFamily="34" charset="0"/>
                <a:ea typeface="Inter" pitchFamily="34" charset="-122"/>
                <a:cs typeface="Inter" pitchFamily="34" charset="-120"/>
              </a:rPr>
              <a:t>Q</a:t>
            </a:r>
            <a:endParaRPr lang="en-US" sz="2200" dirty="0"/>
          </a:p>
        </p:txBody>
      </p:sp>
      <p:sp>
        <p:nvSpPr>
          <p:cNvPr id="13" name="Text 11"/>
          <p:cNvSpPr txBox="1"/>
          <p:nvPr/>
        </p:nvSpPr>
        <p:spPr>
          <a:xfrm>
            <a:off x="4480560" y="1554480"/>
            <a:ext cx="7040880" cy="658368"/>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Query   </a:t>
            </a:r>
            <a:pPr indent="0" marL="0">
              <a:buNone/>
            </a:pPr>
            <a:r>
              <a:rPr lang="en-US" sz="1600" dirty="0">
                <a:solidFill>
                  <a:srgbClr val="66768A"/>
                </a:solidFill>
                <a:latin typeface="Inter" pitchFamily="34" charset="0"/>
                <a:ea typeface="Inter" pitchFamily="34" charset="-122"/>
                <a:cs typeface="Inter" pitchFamily="34" charset="-120"/>
              </a:rPr>
              <a:t>What am I looking for?</a:t>
            </a:r>
            <a:endParaRPr lang="en-US" sz="1800" dirty="0"/>
          </a:p>
        </p:txBody>
      </p:sp>
      <p:sp>
        <p:nvSpPr>
          <p:cNvPr id="14" name="Shape 12"/>
          <p:cNvSpPr/>
          <p:nvPr/>
        </p:nvSpPr>
        <p:spPr>
          <a:xfrm>
            <a:off x="2926080" y="2688336"/>
            <a:ext cx="640080" cy="0"/>
          </a:xfrm>
          <a:prstGeom prst="line">
            <a:avLst/>
          </a:prstGeom>
          <a:noFill/>
          <a:ln w="31750">
            <a:solidFill>
              <a:srgbClr val="A9C0D8"/>
            </a:solidFill>
            <a:prstDash val="solid"/>
            <a:tailEnd type="triangle"/>
          </a:ln>
        </p:spPr>
      </p:sp>
      <p:sp>
        <p:nvSpPr>
          <p:cNvPr id="15" name="Text 13"/>
          <p:cNvSpPr txBox="1"/>
          <p:nvPr/>
        </p:nvSpPr>
        <p:spPr>
          <a:xfrm>
            <a:off x="3657600" y="2359152"/>
            <a:ext cx="658368" cy="658368"/>
          </a:xfrm>
          <a:prstGeom prst="roundRect">
            <a:avLst>
              <a:gd name="adj" fmla="val 13889"/>
            </a:avLst>
          </a:prstGeom>
          <a:solidFill>
            <a:srgbClr val="E4ECE7"/>
          </a:solidFill>
          <a:ln w="15875">
            <a:solidFill>
              <a:srgbClr val="8FA99B"/>
            </a:solidFill>
          </a:ln>
        </p:spPr>
        <p:txBody>
          <a:bodyPr wrap="square" lIns="0" tIns="0" rIns="0" bIns="0" rtlCol="0" anchor="ctr"/>
          <a:lstStyle/>
          <a:p>
            <a:pPr algn="ctr" indent="0" marL="0">
              <a:buNone/>
            </a:pPr>
            <a:r>
              <a:rPr lang="en-US" sz="2200" b="1" dirty="0">
                <a:solidFill>
                  <a:srgbClr val="435466"/>
                </a:solidFill>
                <a:latin typeface="Inter" pitchFamily="34" charset="0"/>
                <a:ea typeface="Inter" pitchFamily="34" charset="-122"/>
                <a:cs typeface="Inter" pitchFamily="34" charset="-120"/>
              </a:rPr>
              <a:t>K</a:t>
            </a:r>
            <a:endParaRPr lang="en-US" sz="2200" dirty="0"/>
          </a:p>
        </p:txBody>
      </p:sp>
      <p:sp>
        <p:nvSpPr>
          <p:cNvPr id="16" name="Text 14"/>
          <p:cNvSpPr txBox="1"/>
          <p:nvPr/>
        </p:nvSpPr>
        <p:spPr>
          <a:xfrm>
            <a:off x="4480560" y="2359152"/>
            <a:ext cx="7040880" cy="658368"/>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Key   </a:t>
            </a:r>
            <a:pPr indent="0" marL="0">
              <a:buNone/>
            </a:pPr>
            <a:r>
              <a:rPr lang="en-US" sz="1600" dirty="0">
                <a:solidFill>
                  <a:srgbClr val="66768A"/>
                </a:solidFill>
                <a:latin typeface="Inter" pitchFamily="34" charset="0"/>
                <a:ea typeface="Inter" pitchFamily="34" charset="-122"/>
                <a:cs typeface="Inter" pitchFamily="34" charset="-120"/>
              </a:rPr>
              <a:t>What do I offer to others?</a:t>
            </a:r>
            <a:endParaRPr lang="en-US" sz="1800" dirty="0"/>
          </a:p>
        </p:txBody>
      </p:sp>
      <p:sp>
        <p:nvSpPr>
          <p:cNvPr id="17" name="Shape 15"/>
          <p:cNvSpPr/>
          <p:nvPr/>
        </p:nvSpPr>
        <p:spPr>
          <a:xfrm>
            <a:off x="2926080" y="3493008"/>
            <a:ext cx="640080" cy="0"/>
          </a:xfrm>
          <a:prstGeom prst="line">
            <a:avLst/>
          </a:prstGeom>
          <a:noFill/>
          <a:ln w="31750">
            <a:solidFill>
              <a:srgbClr val="A9C0D8"/>
            </a:solidFill>
            <a:prstDash val="solid"/>
            <a:tailEnd type="triangle"/>
          </a:ln>
        </p:spPr>
      </p:sp>
      <p:sp>
        <p:nvSpPr>
          <p:cNvPr id="18" name="Text 16"/>
          <p:cNvSpPr txBox="1"/>
          <p:nvPr/>
        </p:nvSpPr>
        <p:spPr>
          <a:xfrm>
            <a:off x="3657600" y="3163824"/>
            <a:ext cx="658368" cy="658368"/>
          </a:xfrm>
          <a:prstGeom prst="roundRect">
            <a:avLst>
              <a:gd name="adj" fmla="val 13889"/>
            </a:avLst>
          </a:prstGeom>
          <a:solidFill>
            <a:srgbClr val="F4E4DE"/>
          </a:solidFill>
          <a:ln w="15875">
            <a:solidFill>
              <a:srgbClr val="C98F7D"/>
            </a:solidFill>
          </a:ln>
        </p:spPr>
        <p:txBody>
          <a:bodyPr wrap="square" lIns="0" tIns="0" rIns="0" bIns="0" rtlCol="0" anchor="ctr"/>
          <a:lstStyle/>
          <a:p>
            <a:pPr algn="ctr" indent="0" marL="0">
              <a:buNone/>
            </a:pPr>
            <a:r>
              <a:rPr lang="en-US" sz="2200" b="1" dirty="0">
                <a:solidFill>
                  <a:srgbClr val="435466"/>
                </a:solidFill>
                <a:latin typeface="Inter" pitchFamily="34" charset="0"/>
                <a:ea typeface="Inter" pitchFamily="34" charset="-122"/>
                <a:cs typeface="Inter" pitchFamily="34" charset="-120"/>
              </a:rPr>
              <a:t>V</a:t>
            </a:r>
            <a:endParaRPr lang="en-US" sz="2200" dirty="0"/>
          </a:p>
        </p:txBody>
      </p:sp>
      <p:sp>
        <p:nvSpPr>
          <p:cNvPr id="19" name="Text 17"/>
          <p:cNvSpPr txBox="1"/>
          <p:nvPr/>
        </p:nvSpPr>
        <p:spPr>
          <a:xfrm>
            <a:off x="4480560" y="3163824"/>
            <a:ext cx="7040880" cy="658368"/>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Value   </a:t>
            </a:r>
            <a:pPr indent="0" marL="0">
              <a:buNone/>
            </a:pPr>
            <a:r>
              <a:rPr lang="en-US" sz="1600" dirty="0">
                <a:solidFill>
                  <a:srgbClr val="66768A"/>
                </a:solidFill>
                <a:latin typeface="Inter" pitchFamily="34" charset="0"/>
                <a:ea typeface="Inter" pitchFamily="34" charset="-122"/>
                <a:cs typeface="Inter" pitchFamily="34" charset="-120"/>
              </a:rPr>
              <a:t>What information do I pass on?</a:t>
            </a:r>
            <a:endParaRPr lang="en-US" sz="1800" dirty="0"/>
          </a:p>
        </p:txBody>
      </p:sp>
      <p:sp>
        <p:nvSpPr>
          <p:cNvPr id="20" name="Text 18"/>
          <p:cNvSpPr txBox="1"/>
          <p:nvPr/>
        </p:nvSpPr>
        <p:spPr>
          <a:xfrm>
            <a:off x="640080" y="3977640"/>
            <a:ext cx="10908792" cy="365760"/>
          </a:xfrm>
          <a:prstGeom prst="rect">
            <a:avLst/>
          </a:prstGeom>
          <a:no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Like a library: </a:t>
            </a:r>
            <a:pPr algn="ctr" indent="0" marL="0">
              <a:buNone/>
            </a:pPr>
            <a:r>
              <a:rPr lang="en-US" sz="1400" dirty="0">
                <a:solidFill>
                  <a:srgbClr val="435466"/>
                </a:solidFill>
                <a:latin typeface="Inter" pitchFamily="34" charset="0"/>
                <a:ea typeface="Inter" pitchFamily="34" charset="-122"/>
                <a:cs typeface="Inter" pitchFamily="34" charset="-120"/>
              </a:rPr>
              <a:t>your search (query) is matched with book labels (keys), then you read the matching books (values).</a:t>
            </a:r>
            <a:endParaRPr lang="en-US" sz="1400" dirty="0"/>
          </a:p>
        </p:txBody>
      </p:sp>
      <p:sp>
        <p:nvSpPr>
          <p:cNvPr id="21" name="Shape 19"/>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2" name="Text 20"/>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23" name="Text 21"/>
          <p:cNvSpPr txBox="1"/>
          <p:nvPr/>
        </p:nvSpPr>
        <p:spPr>
          <a:xfrm>
            <a:off x="192024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Learned matrix</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grid of numbers the model adjusts while training</a:t>
            </a:r>
            <a:endParaRPr lang="en-US" sz="1800" dirty="0"/>
          </a:p>
        </p:txBody>
      </p:sp>
      <p:sp>
        <p:nvSpPr>
          <p:cNvPr id="24" name="Text 22"/>
          <p:cNvSpPr txBox="1"/>
          <p:nvPr/>
        </p:nvSpPr>
        <p:spPr>
          <a:xfrm>
            <a:off x="507492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Training</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showing many examples so the model improves its numbers</a:t>
            </a:r>
            <a:endParaRPr lang="en-US" sz="1800" dirty="0"/>
          </a:p>
        </p:txBody>
      </p:sp>
      <p:sp>
        <p:nvSpPr>
          <p:cNvPr id="25" name="Text 23"/>
          <p:cNvSpPr txBox="1"/>
          <p:nvPr/>
        </p:nvSpPr>
        <p:spPr>
          <a:xfrm>
            <a:off x="822960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Self-attention</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tokens in one sentence attend to each other</a:t>
            </a:r>
            <a:endParaRPr lang="en-US" sz="1800" dirty="0"/>
          </a:p>
        </p:txBody>
      </p:sp>
      <p:sp>
        <p:nvSpPr>
          <p:cNvPr id="26" name="Shape 24"/>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27" name="Shape 25"/>
          <p:cNvSpPr/>
          <p:nvPr/>
        </p:nvSpPr>
        <p:spPr>
          <a:xfrm>
            <a:off x="914400" y="5509260"/>
            <a:ext cx="548640" cy="548640"/>
          </a:xfrm>
          <a:prstGeom prst="ellipse">
            <a:avLst/>
          </a:prstGeom>
          <a:solidFill>
            <a:srgbClr val="FFFFFF"/>
          </a:solidFill>
          <a:ln w="15875">
            <a:solidFill>
              <a:srgbClr val="8FA99B"/>
            </a:solidFill>
            <a:prstDash val="solid"/>
          </a:ln>
        </p:spPr>
      </p:sp>
      <p:pic>
        <p:nvPicPr>
          <p:cNvPr id="28"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29" name="Text 26"/>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Queries and keys decide who to look at. Values are what gets blended.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9</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Learned self-attention, step by step</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SelfAttentionV1 and SelfAttentionV2 both follow this path.</a:t>
            </a:r>
            <a:endParaRPr lang="en-US" sz="1600" dirty="0"/>
          </a:p>
        </p:txBody>
      </p:sp>
      <p:sp>
        <p:nvSpPr>
          <p:cNvPr id="5" name="Text 3"/>
          <p:cNvSpPr txBox="1"/>
          <p:nvPr/>
        </p:nvSpPr>
        <p:spPr>
          <a:xfrm>
            <a:off x="687172" y="2011680"/>
            <a:ext cx="1325880" cy="960120"/>
          </a:xfrm>
          <a:prstGeom prst="roundRect">
            <a:avLst>
              <a:gd name="adj" fmla="val 14286"/>
            </a:avLst>
          </a:prstGeom>
          <a:solidFill>
            <a:srgbClr val="E4ECE7"/>
          </a:solidFill>
          <a:ln w="15875">
            <a:solidFill>
              <a:srgbClr val="8FA99B"/>
            </a:solidFill>
          </a:ln>
        </p:spPr>
        <p:txBody>
          <a:bodyPr wrap="square" lIns="635" tIns="635" rIns="635" bIns="635"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Inputs</a:t>
            </a:r>
            <a:endParaRPr lang="en-US" sz="1500" dirty="0"/>
          </a:p>
        </p:txBody>
      </p:sp>
      <p:sp>
        <p:nvSpPr>
          <p:cNvPr id="6" name="Text 4"/>
          <p:cNvSpPr txBox="1"/>
          <p:nvPr/>
        </p:nvSpPr>
        <p:spPr>
          <a:xfrm>
            <a:off x="577444" y="3081528"/>
            <a:ext cx="1545336" cy="7315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embeddings</a:t>
            </a:r>
            <a:endParaRPr lang="en-US" sz="1300" dirty="0"/>
          </a:p>
        </p:txBody>
      </p:sp>
      <p:sp>
        <p:nvSpPr>
          <p:cNvPr id="7" name="Shape 5"/>
          <p:cNvSpPr/>
          <p:nvPr/>
        </p:nvSpPr>
        <p:spPr>
          <a:xfrm>
            <a:off x="2049628" y="2491740"/>
            <a:ext cx="182880" cy="0"/>
          </a:xfrm>
          <a:prstGeom prst="line">
            <a:avLst/>
          </a:prstGeom>
          <a:noFill/>
          <a:ln w="31750">
            <a:solidFill>
              <a:srgbClr val="A9C0D8"/>
            </a:solidFill>
            <a:prstDash val="solid"/>
            <a:tailEnd type="triangle"/>
          </a:ln>
        </p:spPr>
      </p:sp>
      <p:sp>
        <p:nvSpPr>
          <p:cNvPr id="8" name="Text 6"/>
          <p:cNvSpPr txBox="1"/>
          <p:nvPr/>
        </p:nvSpPr>
        <p:spPr>
          <a:xfrm>
            <a:off x="2269084" y="2011680"/>
            <a:ext cx="1325880" cy="960120"/>
          </a:xfrm>
          <a:prstGeom prst="roundRect">
            <a:avLst>
              <a:gd name="adj" fmla="val 14286"/>
            </a:avLst>
          </a:prstGeom>
          <a:solidFill>
            <a:srgbClr val="E8EFF7"/>
          </a:solidFill>
          <a:ln w="15875">
            <a:solidFill>
              <a:srgbClr val="A9C0D8"/>
            </a:solidFill>
          </a:ln>
        </p:spPr>
        <p:txBody>
          <a:bodyPr wrap="square" lIns="635" tIns="635" rIns="635" bIns="635"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Q, K, V</a:t>
            </a:r>
            <a:endParaRPr lang="en-US" sz="1500" dirty="0"/>
          </a:p>
        </p:txBody>
      </p:sp>
      <p:sp>
        <p:nvSpPr>
          <p:cNvPr id="9" name="Text 7"/>
          <p:cNvSpPr txBox="1"/>
          <p:nvPr/>
        </p:nvSpPr>
        <p:spPr>
          <a:xfrm>
            <a:off x="2159356" y="3081528"/>
            <a:ext cx="1545336" cy="7315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three learned versions</a:t>
            </a:r>
            <a:endParaRPr lang="en-US" sz="1300" dirty="0"/>
          </a:p>
        </p:txBody>
      </p:sp>
      <p:sp>
        <p:nvSpPr>
          <p:cNvPr id="10" name="Shape 8"/>
          <p:cNvSpPr/>
          <p:nvPr/>
        </p:nvSpPr>
        <p:spPr>
          <a:xfrm>
            <a:off x="3631540" y="2491740"/>
            <a:ext cx="182880" cy="0"/>
          </a:xfrm>
          <a:prstGeom prst="line">
            <a:avLst/>
          </a:prstGeom>
          <a:noFill/>
          <a:ln w="31750">
            <a:solidFill>
              <a:srgbClr val="A9C0D8"/>
            </a:solidFill>
            <a:prstDash val="solid"/>
            <a:tailEnd type="triangle"/>
          </a:ln>
        </p:spPr>
      </p:sp>
      <p:sp>
        <p:nvSpPr>
          <p:cNvPr id="11" name="Text 9"/>
          <p:cNvSpPr txBox="1"/>
          <p:nvPr/>
        </p:nvSpPr>
        <p:spPr>
          <a:xfrm>
            <a:off x="3850996" y="2011680"/>
            <a:ext cx="1325880" cy="960120"/>
          </a:xfrm>
          <a:prstGeom prst="roundRect">
            <a:avLst>
              <a:gd name="adj" fmla="val 14286"/>
            </a:avLst>
          </a:prstGeom>
          <a:solidFill>
            <a:srgbClr val="A9C0D8"/>
          </a:solidFill>
          <a:ln w="15875">
            <a:solidFill>
              <a:srgbClr val="A9C0D8"/>
            </a:solidFill>
          </a:ln>
        </p:spPr>
        <p:txBody>
          <a:bodyPr wrap="square" lIns="635" tIns="635" rIns="635" bIns="635"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Scores</a:t>
            </a:r>
            <a:endParaRPr lang="en-US" sz="1500" dirty="0"/>
          </a:p>
        </p:txBody>
      </p:sp>
      <p:sp>
        <p:nvSpPr>
          <p:cNvPr id="12" name="Text 10"/>
          <p:cNvSpPr txBox="1"/>
          <p:nvPr/>
        </p:nvSpPr>
        <p:spPr>
          <a:xfrm>
            <a:off x="3741268" y="3081528"/>
            <a:ext cx="1545336" cy="7315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dot product of each query with every key</a:t>
            </a:r>
            <a:endParaRPr lang="en-US" sz="1300" dirty="0"/>
          </a:p>
        </p:txBody>
      </p:sp>
      <p:sp>
        <p:nvSpPr>
          <p:cNvPr id="13" name="Shape 11"/>
          <p:cNvSpPr/>
          <p:nvPr/>
        </p:nvSpPr>
        <p:spPr>
          <a:xfrm>
            <a:off x="5213452" y="2491740"/>
            <a:ext cx="182880" cy="0"/>
          </a:xfrm>
          <a:prstGeom prst="line">
            <a:avLst/>
          </a:prstGeom>
          <a:noFill/>
          <a:ln w="31750">
            <a:solidFill>
              <a:srgbClr val="A9C0D8"/>
            </a:solidFill>
            <a:prstDash val="solid"/>
            <a:tailEnd type="triangle"/>
          </a:ln>
        </p:spPr>
      </p:sp>
      <p:sp>
        <p:nvSpPr>
          <p:cNvPr id="14" name="Text 12"/>
          <p:cNvSpPr txBox="1"/>
          <p:nvPr/>
        </p:nvSpPr>
        <p:spPr>
          <a:xfrm>
            <a:off x="5432908" y="2011680"/>
            <a:ext cx="1325880" cy="960120"/>
          </a:xfrm>
          <a:prstGeom prst="roundRect">
            <a:avLst>
              <a:gd name="adj" fmla="val 14286"/>
            </a:avLst>
          </a:prstGeom>
          <a:solidFill>
            <a:srgbClr val="A9C0D8"/>
          </a:solidFill>
          <a:ln w="15875">
            <a:solidFill>
              <a:srgbClr val="A9C0D8"/>
            </a:solidFill>
          </a:ln>
        </p:spPr>
        <p:txBody>
          <a:bodyPr wrap="square" lIns="635" tIns="635" rIns="635" bIns="635"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Scale</a:t>
            </a:r>
            <a:endParaRPr lang="en-US" sz="1500" dirty="0"/>
          </a:p>
        </p:txBody>
      </p:sp>
      <p:sp>
        <p:nvSpPr>
          <p:cNvPr id="15" name="Text 13"/>
          <p:cNvSpPr txBox="1"/>
          <p:nvPr/>
        </p:nvSpPr>
        <p:spPr>
          <a:xfrm>
            <a:off x="5323180" y="3081528"/>
            <a:ext cx="1545336" cy="7315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divide by √d_k</a:t>
            </a:r>
            <a:endParaRPr lang="en-US" sz="1300" dirty="0"/>
          </a:p>
        </p:txBody>
      </p:sp>
      <p:sp>
        <p:nvSpPr>
          <p:cNvPr id="16" name="Shape 14"/>
          <p:cNvSpPr/>
          <p:nvPr/>
        </p:nvSpPr>
        <p:spPr>
          <a:xfrm>
            <a:off x="6795364" y="2491740"/>
            <a:ext cx="182880" cy="0"/>
          </a:xfrm>
          <a:prstGeom prst="line">
            <a:avLst/>
          </a:prstGeom>
          <a:noFill/>
          <a:ln w="31750">
            <a:solidFill>
              <a:srgbClr val="A9C0D8"/>
            </a:solidFill>
            <a:prstDash val="solid"/>
            <a:tailEnd type="triangle"/>
          </a:ln>
        </p:spPr>
      </p:sp>
      <p:sp>
        <p:nvSpPr>
          <p:cNvPr id="17" name="Text 15"/>
          <p:cNvSpPr txBox="1"/>
          <p:nvPr/>
        </p:nvSpPr>
        <p:spPr>
          <a:xfrm>
            <a:off x="7014820" y="2011680"/>
            <a:ext cx="1325880" cy="960120"/>
          </a:xfrm>
          <a:prstGeom prst="roundRect">
            <a:avLst>
              <a:gd name="adj" fmla="val 14286"/>
            </a:avLst>
          </a:prstGeom>
          <a:solidFill>
            <a:srgbClr val="A9C0D8"/>
          </a:solidFill>
          <a:ln w="15875">
            <a:solidFill>
              <a:srgbClr val="A9C0D8"/>
            </a:solidFill>
          </a:ln>
        </p:spPr>
        <p:txBody>
          <a:bodyPr wrap="square" lIns="635" tIns="635" rIns="635" bIns="635"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Softmax</a:t>
            </a:r>
            <a:endParaRPr lang="en-US" sz="1500" dirty="0"/>
          </a:p>
        </p:txBody>
      </p:sp>
      <p:sp>
        <p:nvSpPr>
          <p:cNvPr id="18" name="Text 16"/>
          <p:cNvSpPr txBox="1"/>
          <p:nvPr/>
        </p:nvSpPr>
        <p:spPr>
          <a:xfrm>
            <a:off x="6905092" y="3081528"/>
            <a:ext cx="1545336" cy="7315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scores become weights</a:t>
            </a:r>
            <a:endParaRPr lang="en-US" sz="1300" dirty="0"/>
          </a:p>
        </p:txBody>
      </p:sp>
      <p:sp>
        <p:nvSpPr>
          <p:cNvPr id="19" name="Shape 17"/>
          <p:cNvSpPr/>
          <p:nvPr/>
        </p:nvSpPr>
        <p:spPr>
          <a:xfrm>
            <a:off x="8377276" y="2491740"/>
            <a:ext cx="182880" cy="0"/>
          </a:xfrm>
          <a:prstGeom prst="line">
            <a:avLst/>
          </a:prstGeom>
          <a:noFill/>
          <a:ln w="31750">
            <a:solidFill>
              <a:srgbClr val="A9C0D8"/>
            </a:solidFill>
            <a:prstDash val="solid"/>
            <a:tailEnd type="triangle"/>
          </a:ln>
        </p:spPr>
      </p:sp>
      <p:sp>
        <p:nvSpPr>
          <p:cNvPr id="20" name="Text 18"/>
          <p:cNvSpPr txBox="1"/>
          <p:nvPr/>
        </p:nvSpPr>
        <p:spPr>
          <a:xfrm>
            <a:off x="8596732" y="2011680"/>
            <a:ext cx="1325880" cy="960120"/>
          </a:xfrm>
          <a:prstGeom prst="roundRect">
            <a:avLst>
              <a:gd name="adj" fmla="val 14286"/>
            </a:avLst>
          </a:prstGeom>
          <a:solidFill>
            <a:srgbClr val="F4E4DE"/>
          </a:solidFill>
          <a:ln w="15875">
            <a:solidFill>
              <a:srgbClr val="C98F7D"/>
            </a:solidFill>
          </a:ln>
        </p:spPr>
        <p:txBody>
          <a:bodyPr wrap="square" lIns="635" tIns="635" rIns="635" bIns="635"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Blend</a:t>
            </a:r>
            <a:endParaRPr lang="en-US" sz="1500" dirty="0"/>
          </a:p>
        </p:txBody>
      </p:sp>
      <p:sp>
        <p:nvSpPr>
          <p:cNvPr id="21" name="Text 19"/>
          <p:cNvSpPr txBox="1"/>
          <p:nvPr/>
        </p:nvSpPr>
        <p:spPr>
          <a:xfrm>
            <a:off x="8487004" y="3081528"/>
            <a:ext cx="1545336" cy="7315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mix the values using the weights</a:t>
            </a:r>
            <a:endParaRPr lang="en-US" sz="1300" dirty="0"/>
          </a:p>
        </p:txBody>
      </p:sp>
      <p:sp>
        <p:nvSpPr>
          <p:cNvPr id="22" name="Shape 20"/>
          <p:cNvSpPr/>
          <p:nvPr/>
        </p:nvSpPr>
        <p:spPr>
          <a:xfrm>
            <a:off x="9959188" y="2491740"/>
            <a:ext cx="182880" cy="0"/>
          </a:xfrm>
          <a:prstGeom prst="line">
            <a:avLst/>
          </a:prstGeom>
          <a:noFill/>
          <a:ln w="31750">
            <a:solidFill>
              <a:srgbClr val="A9C0D8"/>
            </a:solidFill>
            <a:prstDash val="solid"/>
            <a:tailEnd type="triangle"/>
          </a:ln>
        </p:spPr>
      </p:sp>
      <p:sp>
        <p:nvSpPr>
          <p:cNvPr id="23" name="Text 21"/>
          <p:cNvSpPr txBox="1"/>
          <p:nvPr/>
        </p:nvSpPr>
        <p:spPr>
          <a:xfrm>
            <a:off x="10178644" y="2011680"/>
            <a:ext cx="1325880" cy="960120"/>
          </a:xfrm>
          <a:prstGeom prst="roundRect">
            <a:avLst>
              <a:gd name="adj" fmla="val 14286"/>
            </a:avLst>
          </a:prstGeom>
          <a:solidFill>
            <a:srgbClr val="FFFFFF"/>
          </a:solidFill>
          <a:ln w="15875">
            <a:solidFill>
              <a:srgbClr val="D9E1E8"/>
            </a:solidFill>
          </a:ln>
        </p:spPr>
        <p:txBody>
          <a:bodyPr wrap="square" lIns="635" tIns="635" rIns="635" bIns="635"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Context vectors</a:t>
            </a:r>
            <a:endParaRPr lang="en-US" sz="1500" dirty="0"/>
          </a:p>
        </p:txBody>
      </p:sp>
      <p:sp>
        <p:nvSpPr>
          <p:cNvPr id="24" name="Text 22"/>
          <p:cNvSpPr txBox="1"/>
          <p:nvPr/>
        </p:nvSpPr>
        <p:spPr>
          <a:xfrm>
            <a:off x="10068916" y="3081528"/>
            <a:ext cx="1545336" cy="7315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one per token</a:t>
            </a:r>
            <a:endParaRPr lang="en-US" sz="1300" dirty="0"/>
          </a:p>
        </p:txBody>
      </p:sp>
      <p:sp>
        <p:nvSpPr>
          <p:cNvPr id="25" name="Shape 23"/>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6" name="Text 24"/>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27" name="Text 25"/>
          <p:cNvSpPr txBox="1"/>
          <p:nvPr/>
        </p:nvSpPr>
        <p:spPr>
          <a:xfrm>
            <a:off x="192024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d_k</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how many numbers are in each key vector (its length)</a:t>
            </a:r>
            <a:endParaRPr lang="en-US" sz="1800" dirty="0"/>
          </a:p>
        </p:txBody>
      </p:sp>
      <p:sp>
        <p:nvSpPr>
          <p:cNvPr id="28" name="Text 26"/>
          <p:cNvSpPr txBox="1"/>
          <p:nvPr/>
        </p:nvSpPr>
        <p:spPr>
          <a:xfrm>
            <a:off x="507492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 (square root)</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√16 = 4, because 4 × 4 = 16</a:t>
            </a:r>
            <a:endParaRPr lang="en-US" sz="1800" dirty="0"/>
          </a:p>
        </p:txBody>
      </p:sp>
      <p:sp>
        <p:nvSpPr>
          <p:cNvPr id="29" name="Text 27"/>
          <p:cNvSpPr txBox="1"/>
          <p:nvPr/>
        </p:nvSpPr>
        <p:spPr>
          <a:xfrm>
            <a:off x="8229600" y="4480560"/>
            <a:ext cx="301752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Scale</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shrink every score by dividing by the same number</a:t>
            </a:r>
            <a:endParaRPr lang="en-US" sz="1800" dirty="0"/>
          </a:p>
        </p:txBody>
      </p:sp>
      <p:sp>
        <p:nvSpPr>
          <p:cNvPr id="30" name="Shape 28"/>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31" name="Shape 29"/>
          <p:cNvSpPr/>
          <p:nvPr/>
        </p:nvSpPr>
        <p:spPr>
          <a:xfrm>
            <a:off x="914400" y="5509260"/>
            <a:ext cx="548640" cy="548640"/>
          </a:xfrm>
          <a:prstGeom prst="ellipse">
            <a:avLst/>
          </a:prstGeom>
          <a:solidFill>
            <a:srgbClr val="FFFFFF"/>
          </a:solidFill>
          <a:ln w="15875">
            <a:solidFill>
              <a:srgbClr val="8FA99B"/>
            </a:solidFill>
            <a:prstDash val="solid"/>
          </a:ln>
        </p:spPr>
      </p:sp>
      <p:pic>
        <p:nvPicPr>
          <p:cNvPr id="32"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33" name="Text 30"/>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Same compare, weight, blend, now with learned Q, K, V and a scaling step.</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10</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Why divide by √d_k?</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Longer vectors give bigger scores, and big scores make softmax put almost all the weight on one token.</a:t>
            </a:r>
            <a:endParaRPr lang="en-US" sz="1600" dirty="0"/>
          </a:p>
        </p:txBody>
      </p:sp>
      <p:sp>
        <p:nvSpPr>
          <p:cNvPr id="5" name="Shape 3"/>
          <p:cNvSpPr/>
          <p:nvPr/>
        </p:nvSpPr>
        <p:spPr>
          <a:xfrm>
            <a:off x="640080" y="1554480"/>
            <a:ext cx="5257800"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14400" y="1664208"/>
            <a:ext cx="4709160" cy="384048"/>
          </a:xfrm>
          <a:prstGeom prst="rect">
            <a:avLst/>
          </a:prstGeom>
          <a:noFill/>
          <a:ln/>
        </p:spPr>
        <p:txBody>
          <a:bodyPr wrap="square" lIns="0" tIns="0" rIns="0" bIns="0" rtlCol="0" anchor="ctr"/>
          <a:lstStyle/>
          <a:p>
            <a:pPr indent="0" marL="0">
              <a:buNone/>
            </a:pPr>
            <a:r>
              <a:rPr lang="en-US" sz="1800" b="1" dirty="0">
                <a:solidFill>
                  <a:srgbClr val="435466"/>
                </a:solidFill>
                <a:latin typeface="Inter" pitchFamily="34" charset="0"/>
                <a:ea typeface="Inter" pitchFamily="34" charset="-122"/>
                <a:cs typeface="Inter" pitchFamily="34" charset="-120"/>
              </a:rPr>
              <a:t>Without scaling</a:t>
            </a:r>
            <a:endParaRPr lang="en-US" sz="1800" dirty="0"/>
          </a:p>
        </p:txBody>
      </p:sp>
      <p:sp>
        <p:nvSpPr>
          <p:cNvPr id="7" name="Text 5"/>
          <p:cNvSpPr txBox="1"/>
          <p:nvPr/>
        </p:nvSpPr>
        <p:spPr>
          <a:xfrm>
            <a:off x="914400" y="2148840"/>
            <a:ext cx="1097280" cy="411480"/>
          </a:xfrm>
          <a:prstGeom prst="rect">
            <a:avLst/>
          </a:prstGeom>
          <a:noFill/>
          <a:ln/>
        </p:spPr>
        <p:txBody>
          <a:bodyPr wrap="square" lIns="0" tIns="0" rIns="0" bIns="0" rtlCol="0" anchor="ctr"/>
          <a:lstStyle/>
          <a:p>
            <a:pPr indent="0" marL="0">
              <a:buNone/>
            </a:pPr>
            <a:r>
              <a:rPr lang="en-US" sz="1400" dirty="0">
                <a:solidFill>
                  <a:srgbClr val="66768A"/>
                </a:solidFill>
                <a:latin typeface="Inter" pitchFamily="34" charset="0"/>
                <a:ea typeface="Inter" pitchFamily="34" charset="-122"/>
                <a:cs typeface="Inter" pitchFamily="34" charset="-120"/>
              </a:rPr>
              <a:t>scores</a:t>
            </a:r>
            <a:endParaRPr lang="en-US" sz="1400" dirty="0"/>
          </a:p>
        </p:txBody>
      </p:sp>
      <p:sp>
        <p:nvSpPr>
          <p:cNvPr id="8" name="Text 6"/>
          <p:cNvSpPr txBox="1"/>
          <p:nvPr/>
        </p:nvSpPr>
        <p:spPr>
          <a:xfrm>
            <a:off x="2103120" y="2148840"/>
            <a:ext cx="91440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8</a:t>
            </a:r>
            <a:endParaRPr lang="en-US" sz="1600" dirty="0"/>
          </a:p>
        </p:txBody>
      </p:sp>
      <p:sp>
        <p:nvSpPr>
          <p:cNvPr id="9" name="Text 7"/>
          <p:cNvSpPr txBox="1"/>
          <p:nvPr/>
        </p:nvSpPr>
        <p:spPr>
          <a:xfrm>
            <a:off x="3291840" y="2148840"/>
            <a:ext cx="91440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4</a:t>
            </a:r>
            <a:endParaRPr lang="en-US" sz="1600" dirty="0"/>
          </a:p>
        </p:txBody>
      </p:sp>
      <p:sp>
        <p:nvSpPr>
          <p:cNvPr id="10" name="Text 8"/>
          <p:cNvSpPr txBox="1"/>
          <p:nvPr/>
        </p:nvSpPr>
        <p:spPr>
          <a:xfrm>
            <a:off x="4480560" y="2148840"/>
            <a:ext cx="91440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2</a:t>
            </a:r>
            <a:endParaRPr lang="en-US" sz="1600" dirty="0"/>
          </a:p>
        </p:txBody>
      </p:sp>
      <p:sp>
        <p:nvSpPr>
          <p:cNvPr id="11" name="Shape 9"/>
          <p:cNvSpPr/>
          <p:nvPr/>
        </p:nvSpPr>
        <p:spPr>
          <a:xfrm>
            <a:off x="3611880" y="2606040"/>
            <a:ext cx="0" cy="228600"/>
          </a:xfrm>
          <a:prstGeom prst="line">
            <a:avLst/>
          </a:prstGeom>
          <a:noFill/>
          <a:ln w="31750">
            <a:solidFill>
              <a:srgbClr val="A9C0D8"/>
            </a:solidFill>
            <a:prstDash val="solid"/>
            <a:tailEnd type="triangle"/>
          </a:ln>
        </p:spPr>
      </p:sp>
      <p:sp>
        <p:nvSpPr>
          <p:cNvPr id="12" name="Text 10"/>
          <p:cNvSpPr txBox="1"/>
          <p:nvPr/>
        </p:nvSpPr>
        <p:spPr>
          <a:xfrm>
            <a:off x="3749040" y="2560320"/>
            <a:ext cx="1097280" cy="320040"/>
          </a:xfrm>
          <a:prstGeom prst="rect">
            <a:avLst/>
          </a:prstGeom>
          <a:noFill/>
          <a:ln/>
        </p:spPr>
        <p:txBody>
          <a:bodyPr wrap="square" lIns="0" tIns="0" rIns="0" bIns="0" rtlCol="0" anchor="ctr"/>
          <a:lstStyle/>
          <a:p>
            <a:pPr indent="0" marL="0">
              <a:buNone/>
            </a:pPr>
            <a:r>
              <a:rPr lang="en-US" sz="1200" dirty="0">
                <a:solidFill>
                  <a:srgbClr val="66768A"/>
                </a:solidFill>
                <a:latin typeface="Inter" pitchFamily="34" charset="0"/>
                <a:ea typeface="Inter" pitchFamily="34" charset="-122"/>
                <a:cs typeface="Inter" pitchFamily="34" charset="-120"/>
              </a:rPr>
              <a:t>softmax</a:t>
            </a:r>
            <a:endParaRPr lang="en-US" sz="1200" dirty="0"/>
          </a:p>
        </p:txBody>
      </p:sp>
      <p:sp>
        <p:nvSpPr>
          <p:cNvPr id="13" name="Text 11"/>
          <p:cNvSpPr txBox="1"/>
          <p:nvPr/>
        </p:nvSpPr>
        <p:spPr>
          <a:xfrm>
            <a:off x="914400" y="2880360"/>
            <a:ext cx="1097280" cy="411480"/>
          </a:xfrm>
          <a:prstGeom prst="rect">
            <a:avLst/>
          </a:prstGeom>
          <a:noFill/>
          <a:ln/>
        </p:spPr>
        <p:txBody>
          <a:bodyPr wrap="square" lIns="0" tIns="0" rIns="0" bIns="0" rtlCol="0" anchor="ctr"/>
          <a:lstStyle/>
          <a:p>
            <a:pPr indent="0" marL="0">
              <a:buNone/>
            </a:pPr>
            <a:r>
              <a:rPr lang="en-US" sz="1400" dirty="0">
                <a:solidFill>
                  <a:srgbClr val="66768A"/>
                </a:solidFill>
                <a:latin typeface="Inter" pitchFamily="34" charset="0"/>
                <a:ea typeface="Inter" pitchFamily="34" charset="-122"/>
                <a:cs typeface="Inter" pitchFamily="34" charset="-120"/>
              </a:rPr>
              <a:t>weights</a:t>
            </a:r>
            <a:endParaRPr lang="en-US" sz="1400" dirty="0"/>
          </a:p>
        </p:txBody>
      </p:sp>
      <p:sp>
        <p:nvSpPr>
          <p:cNvPr id="14" name="Text 12"/>
          <p:cNvSpPr txBox="1"/>
          <p:nvPr/>
        </p:nvSpPr>
        <p:spPr>
          <a:xfrm>
            <a:off x="2103120" y="2880360"/>
            <a:ext cx="91440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0.98</a:t>
            </a:r>
            <a:endParaRPr lang="en-US" sz="1600" dirty="0"/>
          </a:p>
        </p:txBody>
      </p:sp>
      <p:sp>
        <p:nvSpPr>
          <p:cNvPr id="15" name="Text 13"/>
          <p:cNvSpPr txBox="1"/>
          <p:nvPr/>
        </p:nvSpPr>
        <p:spPr>
          <a:xfrm>
            <a:off x="3291840" y="2880360"/>
            <a:ext cx="91440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0.02</a:t>
            </a:r>
            <a:endParaRPr lang="en-US" sz="1600" dirty="0"/>
          </a:p>
        </p:txBody>
      </p:sp>
      <p:sp>
        <p:nvSpPr>
          <p:cNvPr id="16" name="Text 14"/>
          <p:cNvSpPr txBox="1"/>
          <p:nvPr/>
        </p:nvSpPr>
        <p:spPr>
          <a:xfrm>
            <a:off x="4480560" y="2880360"/>
            <a:ext cx="91440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0.00</a:t>
            </a:r>
            <a:endParaRPr lang="en-US" sz="1600" dirty="0"/>
          </a:p>
        </p:txBody>
      </p:sp>
      <p:sp>
        <p:nvSpPr>
          <p:cNvPr id="17" name="Shape 15"/>
          <p:cNvSpPr/>
          <p:nvPr/>
        </p:nvSpPr>
        <p:spPr>
          <a:xfrm>
            <a:off x="2377440" y="3392424"/>
            <a:ext cx="365760" cy="448056"/>
          </a:xfrm>
          <a:prstGeom prst="rect">
            <a:avLst/>
          </a:prstGeom>
          <a:solidFill>
            <a:srgbClr val="8FA99B"/>
          </a:solidFill>
          <a:ln w="6350">
            <a:solidFill>
              <a:srgbClr val="8FA99B"/>
            </a:solidFill>
            <a:prstDash val="solid"/>
          </a:ln>
        </p:spPr>
      </p:sp>
      <p:sp>
        <p:nvSpPr>
          <p:cNvPr id="18" name="Shape 16"/>
          <p:cNvSpPr/>
          <p:nvPr/>
        </p:nvSpPr>
        <p:spPr>
          <a:xfrm>
            <a:off x="3566160" y="3813048"/>
            <a:ext cx="365760" cy="27432"/>
          </a:xfrm>
          <a:prstGeom prst="rect">
            <a:avLst/>
          </a:prstGeom>
          <a:solidFill>
            <a:srgbClr val="8FA99B"/>
          </a:solidFill>
          <a:ln w="6350">
            <a:solidFill>
              <a:srgbClr val="8FA99B"/>
            </a:solidFill>
            <a:prstDash val="solid"/>
          </a:ln>
        </p:spPr>
      </p:sp>
      <p:sp>
        <p:nvSpPr>
          <p:cNvPr id="19" name="Shape 17"/>
          <p:cNvSpPr/>
          <p:nvPr/>
        </p:nvSpPr>
        <p:spPr>
          <a:xfrm>
            <a:off x="4754880" y="3813048"/>
            <a:ext cx="365760" cy="27432"/>
          </a:xfrm>
          <a:prstGeom prst="rect">
            <a:avLst/>
          </a:prstGeom>
          <a:solidFill>
            <a:srgbClr val="8FA99B"/>
          </a:solidFill>
          <a:ln w="6350">
            <a:solidFill>
              <a:srgbClr val="8FA99B"/>
            </a:solidFill>
            <a:prstDash val="solid"/>
          </a:ln>
        </p:spPr>
      </p:sp>
      <p:sp>
        <p:nvSpPr>
          <p:cNvPr id="20" name="Shape 18"/>
          <p:cNvSpPr/>
          <p:nvPr/>
        </p:nvSpPr>
        <p:spPr>
          <a:xfrm>
            <a:off x="2011680" y="3840480"/>
            <a:ext cx="3474720" cy="0"/>
          </a:xfrm>
          <a:prstGeom prst="line">
            <a:avLst/>
          </a:prstGeom>
          <a:noFill/>
          <a:ln w="12700">
            <a:solidFill>
              <a:srgbClr val="D9E1E8"/>
            </a:solidFill>
            <a:prstDash val="solid"/>
          </a:ln>
        </p:spPr>
      </p:sp>
      <p:sp>
        <p:nvSpPr>
          <p:cNvPr id="21" name="Text 19"/>
          <p:cNvSpPr txBox="1"/>
          <p:nvPr/>
        </p:nvSpPr>
        <p:spPr>
          <a:xfrm>
            <a:off x="914400" y="3886200"/>
            <a:ext cx="470916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One token takes nearly everything.</a:t>
            </a:r>
            <a:endParaRPr lang="en-US" sz="1200" dirty="0"/>
          </a:p>
        </p:txBody>
      </p:sp>
      <p:sp>
        <p:nvSpPr>
          <p:cNvPr id="22" name="Shape 20"/>
          <p:cNvSpPr/>
          <p:nvPr/>
        </p:nvSpPr>
        <p:spPr>
          <a:xfrm>
            <a:off x="6291072" y="1554480"/>
            <a:ext cx="5257800" cy="2697480"/>
          </a:xfrm>
          <a:prstGeom prst="roundRect">
            <a:avLst>
              <a:gd name="adj" fmla="val 508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3" name="Text 21"/>
          <p:cNvSpPr txBox="1"/>
          <p:nvPr/>
        </p:nvSpPr>
        <p:spPr>
          <a:xfrm>
            <a:off x="6565392" y="1664208"/>
            <a:ext cx="4709160" cy="384048"/>
          </a:xfrm>
          <a:prstGeom prst="rect">
            <a:avLst/>
          </a:prstGeom>
          <a:noFill/>
          <a:ln/>
        </p:spPr>
        <p:txBody>
          <a:bodyPr wrap="square" lIns="0" tIns="0" rIns="0" bIns="0" rtlCol="0" anchor="ctr"/>
          <a:lstStyle/>
          <a:p>
            <a:pPr indent="0" marL="0">
              <a:buNone/>
            </a:pPr>
            <a:r>
              <a:rPr lang="en-US" sz="1800" b="1" dirty="0">
                <a:solidFill>
                  <a:srgbClr val="435466"/>
                </a:solidFill>
                <a:latin typeface="Inter" pitchFamily="34" charset="0"/>
                <a:ea typeface="Inter" pitchFamily="34" charset="-122"/>
                <a:cs typeface="Inter" pitchFamily="34" charset="-120"/>
              </a:rPr>
              <a:t>With scaling: ÷ 4, because √16 = 4</a:t>
            </a:r>
            <a:endParaRPr lang="en-US" sz="1800" dirty="0"/>
          </a:p>
        </p:txBody>
      </p:sp>
      <p:sp>
        <p:nvSpPr>
          <p:cNvPr id="24" name="Text 22"/>
          <p:cNvSpPr txBox="1"/>
          <p:nvPr/>
        </p:nvSpPr>
        <p:spPr>
          <a:xfrm>
            <a:off x="6565392" y="2148840"/>
            <a:ext cx="1097280" cy="411480"/>
          </a:xfrm>
          <a:prstGeom prst="rect">
            <a:avLst/>
          </a:prstGeom>
          <a:noFill/>
          <a:ln/>
        </p:spPr>
        <p:txBody>
          <a:bodyPr wrap="square" lIns="0" tIns="0" rIns="0" bIns="0" rtlCol="0" anchor="ctr"/>
          <a:lstStyle/>
          <a:p>
            <a:pPr indent="0" marL="0">
              <a:buNone/>
            </a:pPr>
            <a:r>
              <a:rPr lang="en-US" sz="1400" dirty="0">
                <a:solidFill>
                  <a:srgbClr val="66768A"/>
                </a:solidFill>
                <a:latin typeface="Inter" pitchFamily="34" charset="0"/>
                <a:ea typeface="Inter" pitchFamily="34" charset="-122"/>
                <a:cs typeface="Inter" pitchFamily="34" charset="-120"/>
              </a:rPr>
              <a:t>scores</a:t>
            </a:r>
            <a:endParaRPr lang="en-US" sz="1400" dirty="0"/>
          </a:p>
        </p:txBody>
      </p:sp>
      <p:sp>
        <p:nvSpPr>
          <p:cNvPr id="25" name="Text 23"/>
          <p:cNvSpPr txBox="1"/>
          <p:nvPr/>
        </p:nvSpPr>
        <p:spPr>
          <a:xfrm>
            <a:off x="7754112" y="2148840"/>
            <a:ext cx="91440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2</a:t>
            </a:r>
            <a:endParaRPr lang="en-US" sz="1600" dirty="0"/>
          </a:p>
        </p:txBody>
      </p:sp>
      <p:sp>
        <p:nvSpPr>
          <p:cNvPr id="26" name="Text 24"/>
          <p:cNvSpPr txBox="1"/>
          <p:nvPr/>
        </p:nvSpPr>
        <p:spPr>
          <a:xfrm>
            <a:off x="8942832" y="2148840"/>
            <a:ext cx="91440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1</a:t>
            </a:r>
            <a:endParaRPr lang="en-US" sz="1600" dirty="0"/>
          </a:p>
        </p:txBody>
      </p:sp>
      <p:sp>
        <p:nvSpPr>
          <p:cNvPr id="27" name="Text 25"/>
          <p:cNvSpPr txBox="1"/>
          <p:nvPr/>
        </p:nvSpPr>
        <p:spPr>
          <a:xfrm>
            <a:off x="10131552" y="2148840"/>
            <a:ext cx="91440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0.5</a:t>
            </a:r>
            <a:endParaRPr lang="en-US" sz="1600" dirty="0"/>
          </a:p>
        </p:txBody>
      </p:sp>
      <p:sp>
        <p:nvSpPr>
          <p:cNvPr id="28" name="Shape 26"/>
          <p:cNvSpPr/>
          <p:nvPr/>
        </p:nvSpPr>
        <p:spPr>
          <a:xfrm>
            <a:off x="9262872" y="2606040"/>
            <a:ext cx="0" cy="228600"/>
          </a:xfrm>
          <a:prstGeom prst="line">
            <a:avLst/>
          </a:prstGeom>
          <a:noFill/>
          <a:ln w="31750">
            <a:solidFill>
              <a:srgbClr val="A9C0D8"/>
            </a:solidFill>
            <a:prstDash val="solid"/>
            <a:tailEnd type="triangle"/>
          </a:ln>
        </p:spPr>
      </p:sp>
      <p:sp>
        <p:nvSpPr>
          <p:cNvPr id="29" name="Text 27"/>
          <p:cNvSpPr txBox="1"/>
          <p:nvPr/>
        </p:nvSpPr>
        <p:spPr>
          <a:xfrm>
            <a:off x="9400032" y="2560320"/>
            <a:ext cx="1097280" cy="320040"/>
          </a:xfrm>
          <a:prstGeom prst="rect">
            <a:avLst/>
          </a:prstGeom>
          <a:noFill/>
          <a:ln/>
        </p:spPr>
        <p:txBody>
          <a:bodyPr wrap="square" lIns="0" tIns="0" rIns="0" bIns="0" rtlCol="0" anchor="ctr"/>
          <a:lstStyle/>
          <a:p>
            <a:pPr indent="0" marL="0">
              <a:buNone/>
            </a:pPr>
            <a:r>
              <a:rPr lang="en-US" sz="1200" dirty="0">
                <a:solidFill>
                  <a:srgbClr val="66768A"/>
                </a:solidFill>
                <a:latin typeface="Inter" pitchFamily="34" charset="0"/>
                <a:ea typeface="Inter" pitchFamily="34" charset="-122"/>
                <a:cs typeface="Inter" pitchFamily="34" charset="-120"/>
              </a:rPr>
              <a:t>softmax</a:t>
            </a:r>
            <a:endParaRPr lang="en-US" sz="1200" dirty="0"/>
          </a:p>
        </p:txBody>
      </p:sp>
      <p:sp>
        <p:nvSpPr>
          <p:cNvPr id="30" name="Text 28"/>
          <p:cNvSpPr txBox="1"/>
          <p:nvPr/>
        </p:nvSpPr>
        <p:spPr>
          <a:xfrm>
            <a:off x="6565392" y="2880360"/>
            <a:ext cx="1097280" cy="411480"/>
          </a:xfrm>
          <a:prstGeom prst="rect">
            <a:avLst/>
          </a:prstGeom>
          <a:noFill/>
          <a:ln/>
        </p:spPr>
        <p:txBody>
          <a:bodyPr wrap="square" lIns="0" tIns="0" rIns="0" bIns="0" rtlCol="0" anchor="ctr"/>
          <a:lstStyle/>
          <a:p>
            <a:pPr indent="0" marL="0">
              <a:buNone/>
            </a:pPr>
            <a:r>
              <a:rPr lang="en-US" sz="1400" dirty="0">
                <a:solidFill>
                  <a:srgbClr val="66768A"/>
                </a:solidFill>
                <a:latin typeface="Inter" pitchFamily="34" charset="0"/>
                <a:ea typeface="Inter" pitchFamily="34" charset="-122"/>
                <a:cs typeface="Inter" pitchFamily="34" charset="-120"/>
              </a:rPr>
              <a:t>weights</a:t>
            </a:r>
            <a:endParaRPr lang="en-US" sz="1400" dirty="0"/>
          </a:p>
        </p:txBody>
      </p:sp>
      <p:sp>
        <p:nvSpPr>
          <p:cNvPr id="31" name="Text 29"/>
          <p:cNvSpPr txBox="1"/>
          <p:nvPr/>
        </p:nvSpPr>
        <p:spPr>
          <a:xfrm>
            <a:off x="7754112" y="2880360"/>
            <a:ext cx="91440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0.63</a:t>
            </a:r>
            <a:endParaRPr lang="en-US" sz="1600" dirty="0"/>
          </a:p>
        </p:txBody>
      </p:sp>
      <p:sp>
        <p:nvSpPr>
          <p:cNvPr id="32" name="Text 30"/>
          <p:cNvSpPr txBox="1"/>
          <p:nvPr/>
        </p:nvSpPr>
        <p:spPr>
          <a:xfrm>
            <a:off x="8942832" y="2880360"/>
            <a:ext cx="91440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0.23</a:t>
            </a:r>
            <a:endParaRPr lang="en-US" sz="1600" dirty="0"/>
          </a:p>
        </p:txBody>
      </p:sp>
      <p:sp>
        <p:nvSpPr>
          <p:cNvPr id="33" name="Text 31"/>
          <p:cNvSpPr txBox="1"/>
          <p:nvPr/>
        </p:nvSpPr>
        <p:spPr>
          <a:xfrm>
            <a:off x="10131552" y="2880360"/>
            <a:ext cx="91440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0.14</a:t>
            </a:r>
            <a:endParaRPr lang="en-US" sz="1600" dirty="0"/>
          </a:p>
        </p:txBody>
      </p:sp>
      <p:sp>
        <p:nvSpPr>
          <p:cNvPr id="34" name="Shape 32"/>
          <p:cNvSpPr/>
          <p:nvPr/>
        </p:nvSpPr>
        <p:spPr>
          <a:xfrm>
            <a:off x="8028432" y="3552444"/>
            <a:ext cx="365760" cy="288036"/>
          </a:xfrm>
          <a:prstGeom prst="rect">
            <a:avLst/>
          </a:prstGeom>
          <a:solidFill>
            <a:srgbClr val="8FA99B"/>
          </a:solidFill>
          <a:ln w="6350">
            <a:solidFill>
              <a:srgbClr val="8FA99B"/>
            </a:solidFill>
            <a:prstDash val="solid"/>
          </a:ln>
        </p:spPr>
      </p:sp>
      <p:sp>
        <p:nvSpPr>
          <p:cNvPr id="35" name="Shape 33"/>
          <p:cNvSpPr/>
          <p:nvPr/>
        </p:nvSpPr>
        <p:spPr>
          <a:xfrm>
            <a:off x="9217152" y="3735324"/>
            <a:ext cx="365760" cy="105156"/>
          </a:xfrm>
          <a:prstGeom prst="rect">
            <a:avLst/>
          </a:prstGeom>
          <a:solidFill>
            <a:srgbClr val="8FA99B"/>
          </a:solidFill>
          <a:ln w="6350">
            <a:solidFill>
              <a:srgbClr val="8FA99B"/>
            </a:solidFill>
            <a:prstDash val="solid"/>
          </a:ln>
        </p:spPr>
      </p:sp>
      <p:sp>
        <p:nvSpPr>
          <p:cNvPr id="36" name="Shape 34"/>
          <p:cNvSpPr/>
          <p:nvPr/>
        </p:nvSpPr>
        <p:spPr>
          <a:xfrm>
            <a:off x="10405872" y="3776472"/>
            <a:ext cx="365760" cy="64008"/>
          </a:xfrm>
          <a:prstGeom prst="rect">
            <a:avLst/>
          </a:prstGeom>
          <a:solidFill>
            <a:srgbClr val="8FA99B"/>
          </a:solidFill>
          <a:ln w="6350">
            <a:solidFill>
              <a:srgbClr val="8FA99B"/>
            </a:solidFill>
            <a:prstDash val="solid"/>
          </a:ln>
        </p:spPr>
      </p:sp>
      <p:sp>
        <p:nvSpPr>
          <p:cNvPr id="37" name="Shape 35"/>
          <p:cNvSpPr/>
          <p:nvPr/>
        </p:nvSpPr>
        <p:spPr>
          <a:xfrm>
            <a:off x="7662672" y="3840480"/>
            <a:ext cx="3474720" cy="0"/>
          </a:xfrm>
          <a:prstGeom prst="line">
            <a:avLst/>
          </a:prstGeom>
          <a:noFill/>
          <a:ln w="12700">
            <a:solidFill>
              <a:srgbClr val="D9E1E8"/>
            </a:solidFill>
            <a:prstDash val="solid"/>
          </a:ln>
        </p:spPr>
      </p:sp>
      <p:sp>
        <p:nvSpPr>
          <p:cNvPr id="38" name="Text 36"/>
          <p:cNvSpPr txBox="1"/>
          <p:nvPr/>
        </p:nvSpPr>
        <p:spPr>
          <a:xfrm>
            <a:off x="6565392" y="3886200"/>
            <a:ext cx="470916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Weights stay spread out.</a:t>
            </a:r>
            <a:endParaRPr lang="en-US" sz="1200" dirty="0"/>
          </a:p>
        </p:txBody>
      </p:sp>
      <p:sp>
        <p:nvSpPr>
          <p:cNvPr id="39" name="Shape 37"/>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40" name="Text 38"/>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41" name="Text 39"/>
          <p:cNvSpPr txBox="1"/>
          <p:nvPr/>
        </p:nvSpPr>
        <p:spPr>
          <a:xfrm>
            <a:off x="1920240" y="4480560"/>
            <a:ext cx="459486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Overly confident</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softmax gives nearly all the weight to one token and ignores the rest</a:t>
            </a:r>
            <a:endParaRPr lang="en-US" sz="1800" dirty="0"/>
          </a:p>
        </p:txBody>
      </p:sp>
      <p:sp>
        <p:nvSpPr>
          <p:cNvPr id="42" name="Text 40"/>
          <p:cNvSpPr txBox="1"/>
          <p:nvPr/>
        </p:nvSpPr>
        <p:spPr>
          <a:xfrm>
            <a:off x="6652260" y="4480560"/>
            <a:ext cx="459486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Here d_k = 16</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each key vector has 16 numbers, so we divide by √16 = 4</a:t>
            </a:r>
            <a:endParaRPr lang="en-US" sz="1800" dirty="0"/>
          </a:p>
        </p:txBody>
      </p:sp>
      <p:sp>
        <p:nvSpPr>
          <p:cNvPr id="43" name="Shape 41"/>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44" name="Shape 42"/>
          <p:cNvSpPr/>
          <p:nvPr/>
        </p:nvSpPr>
        <p:spPr>
          <a:xfrm>
            <a:off x="914400" y="5509260"/>
            <a:ext cx="548640" cy="548640"/>
          </a:xfrm>
          <a:prstGeom prst="ellipse">
            <a:avLst/>
          </a:prstGeom>
          <a:solidFill>
            <a:srgbClr val="FFFFFF"/>
          </a:solidFill>
          <a:ln w="15875">
            <a:solidFill>
              <a:srgbClr val="8FA99B"/>
            </a:solidFill>
            <a:prstDash val="solid"/>
          </a:ln>
        </p:spPr>
      </p:sp>
      <p:pic>
        <p:nvPicPr>
          <p:cNvPr id="45"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46" name="Text 43"/>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Scaling keeps softmax from becoming overly confident.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11</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Version 2: same math, cleaner code</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SelfAttentionV2 does exactly the same calculation as SelfAttentionV1.</a:t>
            </a:r>
            <a:endParaRPr lang="en-US" sz="1600" dirty="0"/>
          </a:p>
        </p:txBody>
      </p:sp>
      <p:sp>
        <p:nvSpPr>
          <p:cNvPr id="5" name="Shape 3"/>
          <p:cNvSpPr/>
          <p:nvPr/>
        </p:nvSpPr>
        <p:spPr>
          <a:xfrm>
            <a:off x="640080" y="1600200"/>
            <a:ext cx="5029200" cy="2560320"/>
          </a:xfrm>
          <a:prstGeom prst="roundRect">
            <a:avLst>
              <a:gd name="adj" fmla="val 535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60120" y="1755648"/>
            <a:ext cx="438912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SelfAttentionV1</a:t>
            </a:r>
            <a:endParaRPr lang="en-US" sz="2000" dirty="0"/>
          </a:p>
        </p:txBody>
      </p:sp>
      <p:sp>
        <p:nvSpPr>
          <p:cNvPr id="7" name="Shape 5"/>
          <p:cNvSpPr/>
          <p:nvPr/>
        </p:nvSpPr>
        <p:spPr>
          <a:xfrm>
            <a:off x="1005840" y="2496312"/>
            <a:ext cx="109728" cy="109728"/>
          </a:xfrm>
          <a:prstGeom prst="ellipse">
            <a:avLst/>
          </a:prstGeom>
          <a:solidFill>
            <a:srgbClr val="8FA99B"/>
          </a:solidFill>
          <a:ln w="6350">
            <a:solidFill>
              <a:srgbClr val="8FA99B"/>
            </a:solidFill>
            <a:prstDash val="solid"/>
          </a:ln>
        </p:spPr>
      </p:sp>
      <p:sp>
        <p:nvSpPr>
          <p:cNvPr id="8" name="Text 6"/>
          <p:cNvSpPr txBox="1"/>
          <p:nvPr/>
        </p:nvSpPr>
        <p:spPr>
          <a:xfrm>
            <a:off x="1234440" y="2377440"/>
            <a:ext cx="4160520" cy="365760"/>
          </a:xfrm>
          <a:prstGeom prst="rect">
            <a:avLst/>
          </a:prstGeom>
          <a:noFill/>
          <a:ln/>
        </p:spPr>
        <p:txBody>
          <a:bodyPr wrap="square" lIns="0" tIns="0" rIns="0" bIns="0" rtlCol="0" anchor="ctr"/>
          <a:lstStyle/>
          <a:p>
            <a:pPr indent="0" marL="0">
              <a:buNone/>
            </a:pPr>
            <a:r>
              <a:rPr lang="en-US" sz="1600" dirty="0">
                <a:solidFill>
                  <a:srgbClr val="435466"/>
                </a:solidFill>
                <a:latin typeface="Inter" pitchFamily="34" charset="0"/>
                <a:ea typeface="Inter" pitchFamily="34" charset="-122"/>
                <a:cs typeface="Inter" pitchFamily="34" charset="-120"/>
              </a:rPr>
              <a:t>Three raw learned matrices (nn.Parameter)</a:t>
            </a:r>
            <a:endParaRPr lang="en-US" sz="1600" dirty="0"/>
          </a:p>
        </p:txBody>
      </p:sp>
      <p:sp>
        <p:nvSpPr>
          <p:cNvPr id="9" name="Shape 7"/>
          <p:cNvSpPr/>
          <p:nvPr/>
        </p:nvSpPr>
        <p:spPr>
          <a:xfrm>
            <a:off x="1005840" y="3026664"/>
            <a:ext cx="109728" cy="109728"/>
          </a:xfrm>
          <a:prstGeom prst="ellipse">
            <a:avLst/>
          </a:prstGeom>
          <a:solidFill>
            <a:srgbClr val="8FA99B"/>
          </a:solidFill>
          <a:ln w="6350">
            <a:solidFill>
              <a:srgbClr val="8FA99B"/>
            </a:solidFill>
            <a:prstDash val="solid"/>
          </a:ln>
        </p:spPr>
      </p:sp>
      <p:sp>
        <p:nvSpPr>
          <p:cNvPr id="10" name="Text 8"/>
          <p:cNvSpPr txBox="1"/>
          <p:nvPr/>
        </p:nvSpPr>
        <p:spPr>
          <a:xfrm>
            <a:off x="1234440" y="2907792"/>
            <a:ext cx="4160520" cy="365760"/>
          </a:xfrm>
          <a:prstGeom prst="rect">
            <a:avLst/>
          </a:prstGeom>
          <a:noFill/>
          <a:ln/>
        </p:spPr>
        <p:txBody>
          <a:bodyPr wrap="square" lIns="0" tIns="0" rIns="0" bIns="0" rtlCol="0" anchor="ctr"/>
          <a:lstStyle/>
          <a:p>
            <a:pPr indent="0" marL="0">
              <a:buNone/>
            </a:pPr>
            <a:r>
              <a:rPr lang="en-US" sz="1600" dirty="0">
                <a:solidFill>
                  <a:srgbClr val="435466"/>
                </a:solidFill>
                <a:latin typeface="Inter" pitchFamily="34" charset="0"/>
                <a:ea typeface="Inter" pitchFamily="34" charset="-122"/>
                <a:cs typeface="Inter" pitchFamily="34" charset="-120"/>
              </a:rPr>
              <a:t>Multiplies the inputs by them by hand</a:t>
            </a:r>
            <a:endParaRPr lang="en-US" sz="1600" dirty="0"/>
          </a:p>
        </p:txBody>
      </p:sp>
      <p:sp>
        <p:nvSpPr>
          <p:cNvPr id="11" name="Shape 9"/>
          <p:cNvSpPr/>
          <p:nvPr/>
        </p:nvSpPr>
        <p:spPr>
          <a:xfrm>
            <a:off x="6519672" y="1600200"/>
            <a:ext cx="5029200" cy="2560320"/>
          </a:xfrm>
          <a:prstGeom prst="roundRect">
            <a:avLst>
              <a:gd name="adj" fmla="val 535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12" name="Text 10"/>
          <p:cNvSpPr txBox="1"/>
          <p:nvPr/>
        </p:nvSpPr>
        <p:spPr>
          <a:xfrm>
            <a:off x="6839712" y="1755648"/>
            <a:ext cx="438912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SelfAttentionV2</a:t>
            </a:r>
            <a:endParaRPr lang="en-US" sz="2000" dirty="0"/>
          </a:p>
        </p:txBody>
      </p:sp>
      <p:sp>
        <p:nvSpPr>
          <p:cNvPr id="13" name="Shape 11"/>
          <p:cNvSpPr/>
          <p:nvPr/>
        </p:nvSpPr>
        <p:spPr>
          <a:xfrm>
            <a:off x="6885432" y="2496312"/>
            <a:ext cx="109728" cy="109728"/>
          </a:xfrm>
          <a:prstGeom prst="ellipse">
            <a:avLst/>
          </a:prstGeom>
          <a:solidFill>
            <a:srgbClr val="8FA99B"/>
          </a:solidFill>
          <a:ln w="6350">
            <a:solidFill>
              <a:srgbClr val="8FA99B"/>
            </a:solidFill>
            <a:prstDash val="solid"/>
          </a:ln>
        </p:spPr>
      </p:sp>
      <p:sp>
        <p:nvSpPr>
          <p:cNvPr id="14" name="Text 12"/>
          <p:cNvSpPr txBox="1"/>
          <p:nvPr/>
        </p:nvSpPr>
        <p:spPr>
          <a:xfrm>
            <a:off x="7114032" y="2377440"/>
            <a:ext cx="4160520" cy="365760"/>
          </a:xfrm>
          <a:prstGeom prst="rect">
            <a:avLst/>
          </a:prstGeom>
          <a:noFill/>
          <a:ln/>
        </p:spPr>
        <p:txBody>
          <a:bodyPr wrap="square" lIns="0" tIns="0" rIns="0" bIns="0" rtlCol="0" anchor="ctr"/>
          <a:lstStyle/>
          <a:p>
            <a:pPr indent="0" marL="0">
              <a:buNone/>
            </a:pPr>
            <a:r>
              <a:rPr lang="en-US" sz="1600" dirty="0">
                <a:solidFill>
                  <a:srgbClr val="435466"/>
                </a:solidFill>
                <a:latin typeface="Inter" pitchFamily="34" charset="0"/>
                <a:ea typeface="Inter" pitchFamily="34" charset="-122"/>
                <a:cs typeface="Inter" pitchFamily="34" charset="-120"/>
              </a:rPr>
              <a:t>Three nn.Linear layers</a:t>
            </a:r>
            <a:endParaRPr lang="en-US" sz="1600" dirty="0"/>
          </a:p>
        </p:txBody>
      </p:sp>
      <p:sp>
        <p:nvSpPr>
          <p:cNvPr id="15" name="Shape 13"/>
          <p:cNvSpPr/>
          <p:nvPr/>
        </p:nvSpPr>
        <p:spPr>
          <a:xfrm>
            <a:off x="6885432" y="3026664"/>
            <a:ext cx="109728" cy="109728"/>
          </a:xfrm>
          <a:prstGeom prst="ellipse">
            <a:avLst/>
          </a:prstGeom>
          <a:solidFill>
            <a:srgbClr val="8FA99B"/>
          </a:solidFill>
          <a:ln w="6350">
            <a:solidFill>
              <a:srgbClr val="8FA99B"/>
            </a:solidFill>
            <a:prstDash val="solid"/>
          </a:ln>
        </p:spPr>
      </p:sp>
      <p:sp>
        <p:nvSpPr>
          <p:cNvPr id="16" name="Text 14"/>
          <p:cNvSpPr txBox="1"/>
          <p:nvPr/>
        </p:nvSpPr>
        <p:spPr>
          <a:xfrm>
            <a:off x="7114032" y="2907792"/>
            <a:ext cx="4160520" cy="365760"/>
          </a:xfrm>
          <a:prstGeom prst="rect">
            <a:avLst/>
          </a:prstGeom>
          <a:noFill/>
          <a:ln/>
        </p:spPr>
        <p:txBody>
          <a:bodyPr wrap="square" lIns="0" tIns="0" rIns="0" bIns="0" rtlCol="0" anchor="ctr"/>
          <a:lstStyle/>
          <a:p>
            <a:pPr indent="0" marL="0">
              <a:buNone/>
            </a:pPr>
            <a:r>
              <a:rPr lang="en-US" sz="1600" dirty="0">
                <a:solidFill>
                  <a:srgbClr val="435466"/>
                </a:solidFill>
                <a:latin typeface="Inter" pitchFamily="34" charset="0"/>
                <a:ea typeface="Inter" pitchFamily="34" charset="-122"/>
                <a:cs typeface="Inter" pitchFamily="34" charset="-120"/>
              </a:rPr>
              <a:t>Optional bias (the qkv_bias setting)</a:t>
            </a:r>
            <a:endParaRPr lang="en-US" sz="1600" dirty="0"/>
          </a:p>
        </p:txBody>
      </p:sp>
      <p:sp>
        <p:nvSpPr>
          <p:cNvPr id="17" name="Shape 15"/>
          <p:cNvSpPr/>
          <p:nvPr/>
        </p:nvSpPr>
        <p:spPr>
          <a:xfrm>
            <a:off x="6885432" y="3557016"/>
            <a:ext cx="109728" cy="109728"/>
          </a:xfrm>
          <a:prstGeom prst="ellipse">
            <a:avLst/>
          </a:prstGeom>
          <a:solidFill>
            <a:srgbClr val="8FA99B"/>
          </a:solidFill>
          <a:ln w="6350">
            <a:solidFill>
              <a:srgbClr val="8FA99B"/>
            </a:solidFill>
            <a:prstDash val="solid"/>
          </a:ln>
        </p:spPr>
      </p:sp>
      <p:sp>
        <p:nvSpPr>
          <p:cNvPr id="18" name="Text 16"/>
          <p:cNvSpPr txBox="1"/>
          <p:nvPr/>
        </p:nvSpPr>
        <p:spPr>
          <a:xfrm>
            <a:off x="7114032" y="3438144"/>
            <a:ext cx="4160520" cy="365760"/>
          </a:xfrm>
          <a:prstGeom prst="rect">
            <a:avLst/>
          </a:prstGeom>
          <a:noFill/>
          <a:ln/>
        </p:spPr>
        <p:txBody>
          <a:bodyPr wrap="square" lIns="0" tIns="0" rIns="0" bIns="0" rtlCol="0" anchor="ctr"/>
          <a:lstStyle/>
          <a:p>
            <a:pPr indent="0" marL="0">
              <a:buNone/>
            </a:pPr>
            <a:r>
              <a:rPr lang="en-US" sz="1600" dirty="0">
                <a:solidFill>
                  <a:srgbClr val="435466"/>
                </a:solidFill>
                <a:latin typeface="Inter" pitchFamily="34" charset="0"/>
                <a:ea typeface="Inter" pitchFamily="34" charset="-122"/>
                <a:cs typeface="Inter" pitchFamily="34" charset="-120"/>
              </a:rPr>
              <a:t>The standard PyTorch building block</a:t>
            </a:r>
            <a:endParaRPr lang="en-US" sz="1600" dirty="0"/>
          </a:p>
        </p:txBody>
      </p:sp>
      <p:sp>
        <p:nvSpPr>
          <p:cNvPr id="19" name="Text 17"/>
          <p:cNvSpPr txBox="1"/>
          <p:nvPr/>
        </p:nvSpPr>
        <p:spPr>
          <a:xfrm>
            <a:off x="5715000" y="2423160"/>
            <a:ext cx="758952" cy="731520"/>
          </a:xfrm>
          <a:prstGeom prst="rect">
            <a:avLst/>
          </a:prstGeom>
          <a:noFill/>
          <a:ln/>
        </p:spPr>
        <p:txBody>
          <a:bodyPr wrap="square" lIns="0" tIns="0" rIns="0" bIns="0" rtlCol="0" anchor="ctr"/>
          <a:lstStyle/>
          <a:p>
            <a:pPr algn="ctr" indent="0" marL="0">
              <a:buNone/>
            </a:pPr>
            <a:r>
              <a:rPr lang="en-US" sz="4000" b="1" dirty="0">
                <a:solidFill>
                  <a:srgbClr val="66768A"/>
                </a:solidFill>
                <a:latin typeface="Inter" pitchFamily="34" charset="0"/>
                <a:ea typeface="Inter" pitchFamily="34" charset="-122"/>
                <a:cs typeface="Inter" pitchFamily="34" charset="-120"/>
              </a:rPr>
              <a:t>=</a:t>
            </a:r>
            <a:endParaRPr lang="en-US" sz="4000" dirty="0"/>
          </a:p>
        </p:txBody>
      </p:sp>
      <p:sp>
        <p:nvSpPr>
          <p:cNvPr id="20" name="Text 18"/>
          <p:cNvSpPr txBox="1"/>
          <p:nvPr/>
        </p:nvSpPr>
        <p:spPr>
          <a:xfrm>
            <a:off x="5669280" y="3154680"/>
            <a:ext cx="850392" cy="54864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same</a:t>
            </a:r>
            <a:endParaRPr lang="en-US" sz="1200" dirty="0"/>
          </a:p>
          <a:p>
            <a:pPr algn="ctr" indent="0" marL="0">
              <a:buNone/>
            </a:pPr>
            <a:r>
              <a:rPr lang="en-US" sz="1200" dirty="0">
                <a:solidFill>
                  <a:srgbClr val="66768A"/>
                </a:solidFill>
                <a:latin typeface="Inter" pitchFamily="34" charset="0"/>
                <a:ea typeface="Inter" pitchFamily="34" charset="-122"/>
                <a:cs typeface="Inter" pitchFamily="34" charset="-120"/>
              </a:rPr>
              <a:t>result</a:t>
            </a:r>
            <a:endParaRPr lang="en-US" sz="1200" dirty="0"/>
          </a:p>
        </p:txBody>
      </p:sp>
      <p:sp>
        <p:nvSpPr>
          <p:cNvPr id="21" name="Shape 19"/>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2" name="Text 20"/>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23" name="Text 21"/>
          <p:cNvSpPr txBox="1"/>
          <p:nvPr/>
        </p:nvSpPr>
        <p:spPr>
          <a:xfrm>
            <a:off x="192024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nn.Parameter</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PyTorch tensor the model is allowed to learn</a:t>
            </a:r>
            <a:endParaRPr lang="en-US" sz="1800" dirty="0"/>
          </a:p>
        </p:txBody>
      </p:sp>
      <p:sp>
        <p:nvSpPr>
          <p:cNvPr id="24" name="Text 22"/>
          <p:cNvSpPr txBox="1"/>
          <p:nvPr/>
        </p:nvSpPr>
        <p:spPr>
          <a:xfrm>
            <a:off x="428625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nn.Linear</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ready-made layer: multiply by a learned matrix</a:t>
            </a:r>
            <a:endParaRPr lang="en-US" sz="1800" dirty="0"/>
          </a:p>
        </p:txBody>
      </p:sp>
      <p:sp>
        <p:nvSpPr>
          <p:cNvPr id="25" name="Text 23"/>
          <p:cNvSpPr txBox="1"/>
          <p:nvPr/>
        </p:nvSpPr>
        <p:spPr>
          <a:xfrm>
            <a:off x="665226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Bias</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an extra learned number added to each result</a:t>
            </a:r>
            <a:endParaRPr lang="en-US" sz="1800" dirty="0"/>
          </a:p>
        </p:txBody>
      </p:sp>
      <p:sp>
        <p:nvSpPr>
          <p:cNvPr id="26" name="Text 24"/>
          <p:cNvSpPr txBox="1"/>
          <p:nvPr/>
        </p:nvSpPr>
        <p:spPr>
          <a:xfrm>
            <a:off x="901827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Tensor</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PyTorch's name for a vector or grid of numbers</a:t>
            </a:r>
            <a:endParaRPr lang="en-US" sz="1800" dirty="0"/>
          </a:p>
        </p:txBody>
      </p:sp>
      <p:sp>
        <p:nvSpPr>
          <p:cNvPr id="27" name="Shape 25"/>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28" name="Shape 26"/>
          <p:cNvSpPr/>
          <p:nvPr/>
        </p:nvSpPr>
        <p:spPr>
          <a:xfrm>
            <a:off x="914400" y="5509260"/>
            <a:ext cx="548640" cy="548640"/>
          </a:xfrm>
          <a:prstGeom prst="ellipse">
            <a:avLst/>
          </a:prstGeom>
          <a:solidFill>
            <a:srgbClr val="FFFFFF"/>
          </a:solidFill>
          <a:ln w="15875">
            <a:solidFill>
              <a:srgbClr val="8FA99B"/>
            </a:solidFill>
            <a:prstDash val="solid"/>
          </a:ln>
        </p:spPr>
      </p:sp>
      <p:pic>
        <p:nvPicPr>
          <p:cNvPr id="29"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30" name="Text 27"/>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V2 is a cleaner implementation, not a different algorithm.</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12</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Causal masking: no peeking ahead</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GPT learns by guessing the next token, so a token must not see the tokens after it.</a:t>
            </a:r>
            <a:endParaRPr lang="en-US" sz="1600" dirty="0"/>
          </a:p>
        </p:txBody>
      </p:sp>
      <p:sp>
        <p:nvSpPr>
          <p:cNvPr id="5" name="Text 3"/>
          <p:cNvSpPr txBox="1"/>
          <p:nvPr/>
        </p:nvSpPr>
        <p:spPr>
          <a:xfrm>
            <a:off x="731520" y="1536192"/>
            <a:ext cx="3840480" cy="320040"/>
          </a:xfrm>
          <a:prstGeom prst="rect">
            <a:avLst/>
          </a:prstGeom>
          <a:noFill/>
          <a:ln/>
        </p:spPr>
        <p:txBody>
          <a:bodyPr wrap="square" lIns="0" tIns="0" rIns="0" bIns="0" rtlCol="0" anchor="t"/>
          <a:lstStyle/>
          <a:p>
            <a:pPr algn="ctr" indent="0" marL="0">
              <a:buNone/>
            </a:pPr>
            <a:r>
              <a:rPr lang="en-US" sz="1600" b="1" dirty="0">
                <a:solidFill>
                  <a:srgbClr val="435466"/>
                </a:solidFill>
                <a:latin typeface="Inter" pitchFamily="34" charset="0"/>
                <a:ea typeface="Inter" pitchFamily="34" charset="-122"/>
                <a:cs typeface="Inter" pitchFamily="34" charset="-120"/>
              </a:rPr>
              <a:t>Scores after masking</a:t>
            </a:r>
            <a:endParaRPr lang="en-US" sz="1600" dirty="0"/>
          </a:p>
        </p:txBody>
      </p:sp>
      <p:sp>
        <p:nvSpPr>
          <p:cNvPr id="6" name="Text 4"/>
          <p:cNvSpPr txBox="1"/>
          <p:nvPr/>
        </p:nvSpPr>
        <p:spPr>
          <a:xfrm>
            <a:off x="1645920" y="1920240"/>
            <a:ext cx="841248"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rain</a:t>
            </a:r>
            <a:endParaRPr lang="en-US" sz="1100" dirty="0"/>
          </a:p>
        </p:txBody>
      </p:sp>
      <p:sp>
        <p:nvSpPr>
          <p:cNvPr id="7" name="Text 5"/>
          <p:cNvSpPr txBox="1"/>
          <p:nvPr/>
        </p:nvSpPr>
        <p:spPr>
          <a:xfrm>
            <a:off x="2350008" y="1920240"/>
            <a:ext cx="841248"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falls</a:t>
            </a:r>
            <a:endParaRPr lang="en-US" sz="1100" dirty="0"/>
          </a:p>
        </p:txBody>
      </p:sp>
      <p:sp>
        <p:nvSpPr>
          <p:cNvPr id="8" name="Text 6"/>
          <p:cNvSpPr txBox="1"/>
          <p:nvPr/>
        </p:nvSpPr>
        <p:spPr>
          <a:xfrm>
            <a:off x="3054096" y="1920240"/>
            <a:ext cx="841248"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softly</a:t>
            </a:r>
            <a:endParaRPr lang="en-US" sz="1100" dirty="0"/>
          </a:p>
        </p:txBody>
      </p:sp>
      <p:sp>
        <p:nvSpPr>
          <p:cNvPr id="9" name="Text 7"/>
          <p:cNvSpPr txBox="1"/>
          <p:nvPr/>
        </p:nvSpPr>
        <p:spPr>
          <a:xfrm>
            <a:off x="3758184" y="1920240"/>
            <a:ext cx="841248"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tonight</a:t>
            </a:r>
            <a:endParaRPr lang="en-US" sz="1100" dirty="0"/>
          </a:p>
        </p:txBody>
      </p:sp>
      <p:sp>
        <p:nvSpPr>
          <p:cNvPr id="10" name="Text 8"/>
          <p:cNvSpPr txBox="1"/>
          <p:nvPr/>
        </p:nvSpPr>
        <p:spPr>
          <a:xfrm>
            <a:off x="731520" y="2194560"/>
            <a:ext cx="914400" cy="365760"/>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rain</a:t>
            </a:r>
            <a:endParaRPr lang="en-US" sz="1200" dirty="0"/>
          </a:p>
        </p:txBody>
      </p:sp>
      <p:sp>
        <p:nvSpPr>
          <p:cNvPr id="11" name="Text 9"/>
          <p:cNvSpPr txBox="1"/>
          <p:nvPr/>
        </p:nvSpPr>
        <p:spPr>
          <a:xfrm>
            <a:off x="731520" y="2606040"/>
            <a:ext cx="914400" cy="365760"/>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falls</a:t>
            </a:r>
            <a:endParaRPr lang="en-US" sz="1200" dirty="0"/>
          </a:p>
        </p:txBody>
      </p:sp>
      <p:sp>
        <p:nvSpPr>
          <p:cNvPr id="12" name="Text 10"/>
          <p:cNvSpPr txBox="1"/>
          <p:nvPr/>
        </p:nvSpPr>
        <p:spPr>
          <a:xfrm>
            <a:off x="731520" y="3017520"/>
            <a:ext cx="914400" cy="365760"/>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softly</a:t>
            </a:r>
            <a:endParaRPr lang="en-US" sz="1200" dirty="0"/>
          </a:p>
        </p:txBody>
      </p:sp>
      <p:sp>
        <p:nvSpPr>
          <p:cNvPr id="13" name="Text 11"/>
          <p:cNvSpPr txBox="1"/>
          <p:nvPr/>
        </p:nvSpPr>
        <p:spPr>
          <a:xfrm>
            <a:off x="731520" y="3429000"/>
            <a:ext cx="914400" cy="365760"/>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tonight</a:t>
            </a:r>
            <a:endParaRPr lang="en-US" sz="1200" dirty="0"/>
          </a:p>
        </p:txBody>
      </p:sp>
      <p:sp>
        <p:nvSpPr>
          <p:cNvPr id="14" name="Text 12"/>
          <p:cNvSpPr txBox="1"/>
          <p:nvPr/>
        </p:nvSpPr>
        <p:spPr>
          <a:xfrm>
            <a:off x="1737360" y="219456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15" name="Text 13"/>
          <p:cNvSpPr txBox="1"/>
          <p:nvPr/>
        </p:nvSpPr>
        <p:spPr>
          <a:xfrm>
            <a:off x="2441448" y="219456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a:t>
            </a:r>
            <a:endParaRPr lang="en-US" sz="1200" dirty="0"/>
          </a:p>
        </p:txBody>
      </p:sp>
      <p:sp>
        <p:nvSpPr>
          <p:cNvPr id="16" name="Text 14"/>
          <p:cNvSpPr txBox="1"/>
          <p:nvPr/>
        </p:nvSpPr>
        <p:spPr>
          <a:xfrm>
            <a:off x="3145536" y="219456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a:t>
            </a:r>
            <a:endParaRPr lang="en-US" sz="1200" dirty="0"/>
          </a:p>
        </p:txBody>
      </p:sp>
      <p:sp>
        <p:nvSpPr>
          <p:cNvPr id="17" name="Text 15"/>
          <p:cNvSpPr txBox="1"/>
          <p:nvPr/>
        </p:nvSpPr>
        <p:spPr>
          <a:xfrm>
            <a:off x="3849624" y="219456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1737360" y="260604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19" name="Text 17"/>
          <p:cNvSpPr txBox="1"/>
          <p:nvPr/>
        </p:nvSpPr>
        <p:spPr>
          <a:xfrm>
            <a:off x="2441448" y="260604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20" name="Text 18"/>
          <p:cNvSpPr txBox="1"/>
          <p:nvPr/>
        </p:nvSpPr>
        <p:spPr>
          <a:xfrm>
            <a:off x="3145536" y="260604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3849624" y="260604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a:t>
            </a:r>
            <a:endParaRPr lang="en-US" sz="1200" dirty="0"/>
          </a:p>
        </p:txBody>
      </p:sp>
      <p:sp>
        <p:nvSpPr>
          <p:cNvPr id="22" name="Text 20"/>
          <p:cNvSpPr txBox="1"/>
          <p:nvPr/>
        </p:nvSpPr>
        <p:spPr>
          <a:xfrm>
            <a:off x="1737360" y="301752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23" name="Text 21"/>
          <p:cNvSpPr txBox="1"/>
          <p:nvPr/>
        </p:nvSpPr>
        <p:spPr>
          <a:xfrm>
            <a:off x="2441448" y="301752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24" name="Text 22"/>
          <p:cNvSpPr txBox="1"/>
          <p:nvPr/>
        </p:nvSpPr>
        <p:spPr>
          <a:xfrm>
            <a:off x="3145536" y="301752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25" name="Text 23"/>
          <p:cNvSpPr txBox="1"/>
          <p:nvPr/>
        </p:nvSpPr>
        <p:spPr>
          <a:xfrm>
            <a:off x="3849624" y="301752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a:t>
            </a:r>
            <a:endParaRPr lang="en-US" sz="1200" dirty="0"/>
          </a:p>
        </p:txBody>
      </p:sp>
      <p:sp>
        <p:nvSpPr>
          <p:cNvPr id="26" name="Text 24"/>
          <p:cNvSpPr txBox="1"/>
          <p:nvPr/>
        </p:nvSpPr>
        <p:spPr>
          <a:xfrm>
            <a:off x="1737360" y="342900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27" name="Text 25"/>
          <p:cNvSpPr txBox="1"/>
          <p:nvPr/>
        </p:nvSpPr>
        <p:spPr>
          <a:xfrm>
            <a:off x="2441448" y="342900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28" name="Text 26"/>
          <p:cNvSpPr txBox="1"/>
          <p:nvPr/>
        </p:nvSpPr>
        <p:spPr>
          <a:xfrm>
            <a:off x="3145536" y="342900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29" name="Text 27"/>
          <p:cNvSpPr txBox="1"/>
          <p:nvPr/>
        </p:nvSpPr>
        <p:spPr>
          <a:xfrm>
            <a:off x="3849624" y="3429000"/>
            <a:ext cx="658368" cy="365760"/>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score</a:t>
            </a:r>
            <a:endParaRPr lang="en-US" sz="1200" dirty="0"/>
          </a:p>
        </p:txBody>
      </p:sp>
      <p:sp>
        <p:nvSpPr>
          <p:cNvPr id="30" name="Shape 28"/>
          <p:cNvSpPr/>
          <p:nvPr/>
        </p:nvSpPr>
        <p:spPr>
          <a:xfrm>
            <a:off x="4800600" y="2971800"/>
            <a:ext cx="1005840" cy="0"/>
          </a:xfrm>
          <a:prstGeom prst="line">
            <a:avLst/>
          </a:prstGeom>
          <a:noFill/>
          <a:ln w="31750">
            <a:solidFill>
              <a:srgbClr val="A9C0D8"/>
            </a:solidFill>
            <a:prstDash val="solid"/>
            <a:tailEnd type="triangle"/>
          </a:ln>
        </p:spPr>
      </p:sp>
      <p:sp>
        <p:nvSpPr>
          <p:cNvPr id="31" name="Text 29"/>
          <p:cNvSpPr txBox="1"/>
          <p:nvPr/>
        </p:nvSpPr>
        <p:spPr>
          <a:xfrm>
            <a:off x="4754880" y="2560320"/>
            <a:ext cx="1097280" cy="32004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softmax</a:t>
            </a:r>
            <a:endParaRPr lang="en-US" sz="1300" dirty="0"/>
          </a:p>
        </p:txBody>
      </p:sp>
      <p:sp>
        <p:nvSpPr>
          <p:cNvPr id="32" name="Text 30"/>
          <p:cNvSpPr txBox="1"/>
          <p:nvPr/>
        </p:nvSpPr>
        <p:spPr>
          <a:xfrm>
            <a:off x="6400800" y="1536192"/>
            <a:ext cx="3840480" cy="320040"/>
          </a:xfrm>
          <a:prstGeom prst="rect">
            <a:avLst/>
          </a:prstGeom>
          <a:noFill/>
          <a:ln/>
        </p:spPr>
        <p:txBody>
          <a:bodyPr wrap="square" lIns="0" tIns="0" rIns="0" bIns="0" rtlCol="0" anchor="t"/>
          <a:lstStyle/>
          <a:p>
            <a:pPr algn="ctr" indent="0" marL="0">
              <a:buNone/>
            </a:pPr>
            <a:r>
              <a:rPr lang="en-US" sz="1600" b="1" dirty="0">
                <a:solidFill>
                  <a:srgbClr val="435466"/>
                </a:solidFill>
                <a:latin typeface="Inter" pitchFamily="34" charset="0"/>
                <a:ea typeface="Inter" pitchFamily="34" charset="-122"/>
                <a:cs typeface="Inter" pitchFamily="34" charset="-120"/>
              </a:rPr>
              <a:t>Weights</a:t>
            </a:r>
            <a:endParaRPr lang="en-US" sz="1600" dirty="0"/>
          </a:p>
        </p:txBody>
      </p:sp>
      <p:sp>
        <p:nvSpPr>
          <p:cNvPr id="33" name="Text 31"/>
          <p:cNvSpPr txBox="1"/>
          <p:nvPr/>
        </p:nvSpPr>
        <p:spPr>
          <a:xfrm>
            <a:off x="7315200" y="1920240"/>
            <a:ext cx="841248"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rain</a:t>
            </a:r>
            <a:endParaRPr lang="en-US" sz="1100" dirty="0"/>
          </a:p>
        </p:txBody>
      </p:sp>
      <p:sp>
        <p:nvSpPr>
          <p:cNvPr id="34" name="Text 32"/>
          <p:cNvSpPr txBox="1"/>
          <p:nvPr/>
        </p:nvSpPr>
        <p:spPr>
          <a:xfrm>
            <a:off x="8019288" y="1920240"/>
            <a:ext cx="841248"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falls</a:t>
            </a:r>
            <a:endParaRPr lang="en-US" sz="1100" dirty="0"/>
          </a:p>
        </p:txBody>
      </p:sp>
      <p:sp>
        <p:nvSpPr>
          <p:cNvPr id="35" name="Text 33"/>
          <p:cNvSpPr txBox="1"/>
          <p:nvPr/>
        </p:nvSpPr>
        <p:spPr>
          <a:xfrm>
            <a:off x="8723376" y="1920240"/>
            <a:ext cx="841248"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softly</a:t>
            </a:r>
            <a:endParaRPr lang="en-US" sz="1100" dirty="0"/>
          </a:p>
        </p:txBody>
      </p:sp>
      <p:sp>
        <p:nvSpPr>
          <p:cNvPr id="36" name="Text 34"/>
          <p:cNvSpPr txBox="1"/>
          <p:nvPr/>
        </p:nvSpPr>
        <p:spPr>
          <a:xfrm>
            <a:off x="9427464" y="1920240"/>
            <a:ext cx="841248" cy="256032"/>
          </a:xfrm>
          <a:prstGeom prst="rect">
            <a:avLst/>
          </a:prstGeom>
          <a:noFill/>
          <a:ln/>
        </p:spPr>
        <p:txBody>
          <a:bodyPr wrap="square" lIns="0" tIns="0" rIns="0" bIns="0" rtlCol="0" anchor="b"/>
          <a:lstStyle/>
          <a:p>
            <a:pPr algn="ctr" indent="0" marL="0">
              <a:buNone/>
            </a:pPr>
            <a:r>
              <a:rPr lang="en-US" sz="1100" dirty="0">
                <a:solidFill>
                  <a:srgbClr val="66768A"/>
                </a:solidFill>
                <a:latin typeface="Inter" pitchFamily="34" charset="0"/>
                <a:ea typeface="Inter" pitchFamily="34" charset="-122"/>
                <a:cs typeface="Inter" pitchFamily="34" charset="-120"/>
              </a:rPr>
              <a:t>tonight</a:t>
            </a:r>
            <a:endParaRPr lang="en-US" sz="1100" dirty="0"/>
          </a:p>
        </p:txBody>
      </p:sp>
      <p:sp>
        <p:nvSpPr>
          <p:cNvPr id="37" name="Text 35"/>
          <p:cNvSpPr txBox="1"/>
          <p:nvPr/>
        </p:nvSpPr>
        <p:spPr>
          <a:xfrm>
            <a:off x="6400800" y="2194560"/>
            <a:ext cx="914400" cy="365760"/>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rain</a:t>
            </a:r>
            <a:endParaRPr lang="en-US" sz="1200" dirty="0"/>
          </a:p>
        </p:txBody>
      </p:sp>
      <p:sp>
        <p:nvSpPr>
          <p:cNvPr id="38" name="Text 36"/>
          <p:cNvSpPr txBox="1"/>
          <p:nvPr/>
        </p:nvSpPr>
        <p:spPr>
          <a:xfrm>
            <a:off x="6400800" y="2606040"/>
            <a:ext cx="914400" cy="365760"/>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falls</a:t>
            </a:r>
            <a:endParaRPr lang="en-US" sz="1200" dirty="0"/>
          </a:p>
        </p:txBody>
      </p:sp>
      <p:sp>
        <p:nvSpPr>
          <p:cNvPr id="39" name="Text 37"/>
          <p:cNvSpPr txBox="1"/>
          <p:nvPr/>
        </p:nvSpPr>
        <p:spPr>
          <a:xfrm>
            <a:off x="6400800" y="3017520"/>
            <a:ext cx="914400" cy="365760"/>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softly</a:t>
            </a:r>
            <a:endParaRPr lang="en-US" sz="1200" dirty="0"/>
          </a:p>
        </p:txBody>
      </p:sp>
      <p:sp>
        <p:nvSpPr>
          <p:cNvPr id="40" name="Text 38"/>
          <p:cNvSpPr txBox="1"/>
          <p:nvPr/>
        </p:nvSpPr>
        <p:spPr>
          <a:xfrm>
            <a:off x="6400800" y="3429000"/>
            <a:ext cx="914400" cy="365760"/>
          </a:xfrm>
          <a:prstGeom prst="rect">
            <a:avLst/>
          </a:prstGeom>
          <a:noFill/>
          <a:ln/>
        </p:spPr>
        <p:txBody>
          <a:bodyPr wrap="square" lIns="0" tIns="0" rIns="0" bIns="0" rtlCol="0" anchor="ctr"/>
          <a:lstStyle/>
          <a:p>
            <a:pPr algn="r" indent="0" marL="0">
              <a:buNone/>
            </a:pPr>
            <a:r>
              <a:rPr lang="en-US" sz="1200" dirty="0">
                <a:solidFill>
                  <a:srgbClr val="66768A"/>
                </a:solidFill>
                <a:latin typeface="Inter" pitchFamily="34" charset="0"/>
                <a:ea typeface="Inter" pitchFamily="34" charset="-122"/>
                <a:cs typeface="Inter" pitchFamily="34" charset="-120"/>
              </a:rPr>
              <a:t>tonight</a:t>
            </a:r>
            <a:endParaRPr lang="en-US" sz="1200" dirty="0"/>
          </a:p>
        </p:txBody>
      </p:sp>
      <p:sp>
        <p:nvSpPr>
          <p:cNvPr id="41" name="Text 39"/>
          <p:cNvSpPr txBox="1"/>
          <p:nvPr/>
        </p:nvSpPr>
        <p:spPr>
          <a:xfrm>
            <a:off x="7406640" y="219456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1.00</a:t>
            </a:r>
            <a:endParaRPr lang="en-US" sz="1200" dirty="0"/>
          </a:p>
        </p:txBody>
      </p:sp>
      <p:sp>
        <p:nvSpPr>
          <p:cNvPr id="42" name="Text 40"/>
          <p:cNvSpPr txBox="1"/>
          <p:nvPr/>
        </p:nvSpPr>
        <p:spPr>
          <a:xfrm>
            <a:off x="8110728" y="219456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a:t>
            </a:r>
            <a:endParaRPr lang="en-US" sz="1200" dirty="0"/>
          </a:p>
        </p:txBody>
      </p:sp>
      <p:sp>
        <p:nvSpPr>
          <p:cNvPr id="43" name="Text 41"/>
          <p:cNvSpPr txBox="1"/>
          <p:nvPr/>
        </p:nvSpPr>
        <p:spPr>
          <a:xfrm>
            <a:off x="8814816" y="219456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a:t>
            </a:r>
            <a:endParaRPr lang="en-US" sz="1200" dirty="0"/>
          </a:p>
        </p:txBody>
      </p:sp>
      <p:sp>
        <p:nvSpPr>
          <p:cNvPr id="44" name="Text 42"/>
          <p:cNvSpPr txBox="1"/>
          <p:nvPr/>
        </p:nvSpPr>
        <p:spPr>
          <a:xfrm>
            <a:off x="9518904" y="219456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a:t>
            </a:r>
            <a:endParaRPr lang="en-US" sz="1200" dirty="0"/>
          </a:p>
        </p:txBody>
      </p:sp>
      <p:sp>
        <p:nvSpPr>
          <p:cNvPr id="45" name="Text 43"/>
          <p:cNvSpPr txBox="1"/>
          <p:nvPr/>
        </p:nvSpPr>
        <p:spPr>
          <a:xfrm>
            <a:off x="7406640" y="260604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0.40</a:t>
            </a:r>
            <a:endParaRPr lang="en-US" sz="1200" dirty="0"/>
          </a:p>
        </p:txBody>
      </p:sp>
      <p:sp>
        <p:nvSpPr>
          <p:cNvPr id="46" name="Text 44"/>
          <p:cNvSpPr txBox="1"/>
          <p:nvPr/>
        </p:nvSpPr>
        <p:spPr>
          <a:xfrm>
            <a:off x="8110728" y="260604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0.60</a:t>
            </a:r>
            <a:endParaRPr lang="en-US" sz="1200" dirty="0"/>
          </a:p>
        </p:txBody>
      </p:sp>
      <p:sp>
        <p:nvSpPr>
          <p:cNvPr id="47" name="Text 45"/>
          <p:cNvSpPr txBox="1"/>
          <p:nvPr/>
        </p:nvSpPr>
        <p:spPr>
          <a:xfrm>
            <a:off x="8814816" y="260604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a:t>
            </a:r>
            <a:endParaRPr lang="en-US" sz="1200" dirty="0"/>
          </a:p>
        </p:txBody>
      </p:sp>
      <p:sp>
        <p:nvSpPr>
          <p:cNvPr id="48" name="Text 46"/>
          <p:cNvSpPr txBox="1"/>
          <p:nvPr/>
        </p:nvSpPr>
        <p:spPr>
          <a:xfrm>
            <a:off x="9518904" y="260604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a:t>
            </a:r>
            <a:endParaRPr lang="en-US" sz="1200" dirty="0"/>
          </a:p>
        </p:txBody>
      </p:sp>
      <p:sp>
        <p:nvSpPr>
          <p:cNvPr id="49" name="Text 47"/>
          <p:cNvSpPr txBox="1"/>
          <p:nvPr/>
        </p:nvSpPr>
        <p:spPr>
          <a:xfrm>
            <a:off x="7406640" y="301752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0.20</a:t>
            </a:r>
            <a:endParaRPr lang="en-US" sz="1200" dirty="0"/>
          </a:p>
        </p:txBody>
      </p:sp>
      <p:sp>
        <p:nvSpPr>
          <p:cNvPr id="50" name="Text 48"/>
          <p:cNvSpPr txBox="1"/>
          <p:nvPr/>
        </p:nvSpPr>
        <p:spPr>
          <a:xfrm>
            <a:off x="8110728" y="301752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0.30</a:t>
            </a:r>
            <a:endParaRPr lang="en-US" sz="1200" dirty="0"/>
          </a:p>
        </p:txBody>
      </p:sp>
      <p:sp>
        <p:nvSpPr>
          <p:cNvPr id="51" name="Text 49"/>
          <p:cNvSpPr txBox="1"/>
          <p:nvPr/>
        </p:nvSpPr>
        <p:spPr>
          <a:xfrm>
            <a:off x="8814816" y="301752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0.50</a:t>
            </a:r>
            <a:endParaRPr lang="en-US" sz="1200" dirty="0"/>
          </a:p>
        </p:txBody>
      </p:sp>
      <p:sp>
        <p:nvSpPr>
          <p:cNvPr id="52" name="Text 50"/>
          <p:cNvSpPr txBox="1"/>
          <p:nvPr/>
        </p:nvSpPr>
        <p:spPr>
          <a:xfrm>
            <a:off x="9518904" y="3017520"/>
            <a:ext cx="658368" cy="365760"/>
          </a:xfrm>
          <a:prstGeom prst="roundRect">
            <a:avLst>
              <a:gd name="adj" fmla="val 25000"/>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a:t>
            </a:r>
            <a:endParaRPr lang="en-US" sz="1200" dirty="0"/>
          </a:p>
        </p:txBody>
      </p:sp>
      <p:sp>
        <p:nvSpPr>
          <p:cNvPr id="53" name="Text 51"/>
          <p:cNvSpPr txBox="1"/>
          <p:nvPr/>
        </p:nvSpPr>
        <p:spPr>
          <a:xfrm>
            <a:off x="7406640" y="342900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0.10</a:t>
            </a:r>
            <a:endParaRPr lang="en-US" sz="1200" dirty="0"/>
          </a:p>
        </p:txBody>
      </p:sp>
      <p:sp>
        <p:nvSpPr>
          <p:cNvPr id="54" name="Text 52"/>
          <p:cNvSpPr txBox="1"/>
          <p:nvPr/>
        </p:nvSpPr>
        <p:spPr>
          <a:xfrm>
            <a:off x="8110728" y="342900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0.30</a:t>
            </a:r>
            <a:endParaRPr lang="en-US" sz="1200" dirty="0"/>
          </a:p>
        </p:txBody>
      </p:sp>
      <p:sp>
        <p:nvSpPr>
          <p:cNvPr id="55" name="Text 53"/>
          <p:cNvSpPr txBox="1"/>
          <p:nvPr/>
        </p:nvSpPr>
        <p:spPr>
          <a:xfrm>
            <a:off x="8814816" y="342900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0.20</a:t>
            </a:r>
            <a:endParaRPr lang="en-US" sz="1200" dirty="0"/>
          </a:p>
        </p:txBody>
      </p:sp>
      <p:sp>
        <p:nvSpPr>
          <p:cNvPr id="56" name="Text 54"/>
          <p:cNvSpPr txBox="1"/>
          <p:nvPr/>
        </p:nvSpPr>
        <p:spPr>
          <a:xfrm>
            <a:off x="9518904" y="3429000"/>
            <a:ext cx="658368"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0.40</a:t>
            </a:r>
            <a:endParaRPr lang="en-US" sz="1200" dirty="0"/>
          </a:p>
        </p:txBody>
      </p:sp>
      <p:sp>
        <p:nvSpPr>
          <p:cNvPr id="57" name="Text 55"/>
          <p:cNvSpPr txBox="1"/>
          <p:nvPr/>
        </p:nvSpPr>
        <p:spPr>
          <a:xfrm>
            <a:off x="640080" y="3931920"/>
            <a:ext cx="10908792" cy="32004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Rows: the token that is looking.   Columns: the token it looks at.   Peach: future tokens, blocked.</a:t>
            </a:r>
            <a:endParaRPr lang="en-US" sz="1300" dirty="0"/>
          </a:p>
        </p:txBody>
      </p:sp>
      <p:sp>
        <p:nvSpPr>
          <p:cNvPr id="58" name="Shape 56"/>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59" name="Text 57"/>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60" name="Text 58"/>
          <p:cNvSpPr txBox="1"/>
          <p:nvPr/>
        </p:nvSpPr>
        <p:spPr>
          <a:xfrm>
            <a:off x="192024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Causal</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token only uses itself and earlier tokens</a:t>
            </a:r>
            <a:endParaRPr lang="en-US" sz="1800" dirty="0"/>
          </a:p>
        </p:txBody>
      </p:sp>
      <p:sp>
        <p:nvSpPr>
          <p:cNvPr id="61" name="Text 59"/>
          <p:cNvSpPr txBox="1"/>
          <p:nvPr/>
        </p:nvSpPr>
        <p:spPr>
          <a:xfrm>
            <a:off x="428625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Mask</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a pattern that blocks some scores</a:t>
            </a:r>
            <a:endParaRPr lang="en-US" sz="1800" dirty="0"/>
          </a:p>
        </p:txBody>
      </p:sp>
      <p:sp>
        <p:nvSpPr>
          <p:cNvPr id="62" name="Text 60"/>
          <p:cNvSpPr txBox="1"/>
          <p:nvPr/>
        </p:nvSpPr>
        <p:spPr>
          <a:xfrm>
            <a:off x="665226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 (negative infinity)</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smaller than any number; softmax turns it into 0</a:t>
            </a:r>
            <a:endParaRPr lang="en-US" sz="1800" dirty="0"/>
          </a:p>
        </p:txBody>
      </p:sp>
      <p:sp>
        <p:nvSpPr>
          <p:cNvPr id="63" name="Text 61"/>
          <p:cNvSpPr txBox="1"/>
          <p:nvPr/>
        </p:nvSpPr>
        <p:spPr>
          <a:xfrm>
            <a:off x="901827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Next-token prediction</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GPT's task: guess the token that comes next</a:t>
            </a:r>
            <a:endParaRPr lang="en-US" sz="1800" dirty="0"/>
          </a:p>
        </p:txBody>
      </p:sp>
      <p:sp>
        <p:nvSpPr>
          <p:cNvPr id="64" name="Shape 62"/>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65" name="Shape 63"/>
          <p:cNvSpPr/>
          <p:nvPr/>
        </p:nvSpPr>
        <p:spPr>
          <a:xfrm>
            <a:off x="914400" y="5509260"/>
            <a:ext cx="548640" cy="548640"/>
          </a:xfrm>
          <a:prstGeom prst="ellipse">
            <a:avLst/>
          </a:prstGeom>
          <a:solidFill>
            <a:srgbClr val="FFFFFF"/>
          </a:solidFill>
          <a:ln w="15875">
            <a:solidFill>
              <a:srgbClr val="8FA99B"/>
            </a:solidFill>
            <a:prstDash val="solid"/>
          </a:ln>
        </p:spPr>
      </p:sp>
      <p:pic>
        <p:nvPicPr>
          <p:cNvPr id="66"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67" name="Text 64"/>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Each token can attend to itself and earlier tokens only.</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13</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Dropout: learning with links removed</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CausalAttentionV2 randomly drops some attention weights, but only while training.</a:t>
            </a:r>
            <a:endParaRPr lang="en-US" sz="1600" dirty="0"/>
          </a:p>
        </p:txBody>
      </p:sp>
      <p:sp>
        <p:nvSpPr>
          <p:cNvPr id="5" name="Shape 3"/>
          <p:cNvSpPr/>
          <p:nvPr/>
        </p:nvSpPr>
        <p:spPr>
          <a:xfrm>
            <a:off x="640080" y="1554480"/>
            <a:ext cx="5257800" cy="2423160"/>
          </a:xfrm>
          <a:prstGeom prst="roundRect">
            <a:avLst>
              <a:gd name="adj" fmla="val 566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Shape 4"/>
          <p:cNvSpPr/>
          <p:nvPr/>
        </p:nvSpPr>
        <p:spPr>
          <a:xfrm>
            <a:off x="6291072" y="1554480"/>
            <a:ext cx="5257800" cy="2423160"/>
          </a:xfrm>
          <a:prstGeom prst="roundRect">
            <a:avLst>
              <a:gd name="adj" fmla="val 566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7" name="Text 5"/>
          <p:cNvSpPr txBox="1"/>
          <p:nvPr/>
        </p:nvSpPr>
        <p:spPr>
          <a:xfrm>
            <a:off x="1261872" y="1618488"/>
            <a:ext cx="3931920" cy="347472"/>
          </a:xfrm>
          <a:prstGeom prst="rect">
            <a:avLst/>
          </a:prstGeom>
          <a:noFill/>
          <a:ln/>
        </p:spPr>
        <p:txBody>
          <a:bodyPr wrap="square" lIns="0" tIns="0" rIns="0" bIns="0" rtlCol="0" anchor="t"/>
          <a:lstStyle/>
          <a:p>
            <a:pPr algn="ctr" indent="0" marL="0">
              <a:buNone/>
            </a:pPr>
            <a:r>
              <a:rPr lang="en-US" sz="1700" b="1" dirty="0">
                <a:solidFill>
                  <a:srgbClr val="435466"/>
                </a:solidFill>
                <a:latin typeface="Inter" pitchFamily="34" charset="0"/>
                <a:ea typeface="Inter" pitchFamily="34" charset="-122"/>
                <a:cs typeface="Inter" pitchFamily="34" charset="-120"/>
              </a:rPr>
              <a:t>While training</a:t>
            </a:r>
            <a:endParaRPr lang="en-US" sz="1700" dirty="0"/>
          </a:p>
        </p:txBody>
      </p:sp>
      <p:sp>
        <p:nvSpPr>
          <p:cNvPr id="8" name="Text 6"/>
          <p:cNvSpPr txBox="1"/>
          <p:nvPr/>
        </p:nvSpPr>
        <p:spPr>
          <a:xfrm>
            <a:off x="1261872" y="1947672"/>
            <a:ext cx="393192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a few allowed links dropped at random</a:t>
            </a:r>
            <a:endParaRPr lang="en-US" sz="1200" dirty="0"/>
          </a:p>
        </p:txBody>
      </p:sp>
      <p:sp>
        <p:nvSpPr>
          <p:cNvPr id="9" name="Text 7"/>
          <p:cNvSpPr txBox="1"/>
          <p:nvPr/>
        </p:nvSpPr>
        <p:spPr>
          <a:xfrm>
            <a:off x="2084832" y="2331720"/>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10" name="Text 8"/>
          <p:cNvSpPr txBox="1"/>
          <p:nvPr/>
        </p:nvSpPr>
        <p:spPr>
          <a:xfrm>
            <a:off x="2679192" y="2331720"/>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11" name="Text 9"/>
          <p:cNvSpPr txBox="1"/>
          <p:nvPr/>
        </p:nvSpPr>
        <p:spPr>
          <a:xfrm>
            <a:off x="3273552" y="2331720"/>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12" name="Text 10"/>
          <p:cNvSpPr txBox="1"/>
          <p:nvPr/>
        </p:nvSpPr>
        <p:spPr>
          <a:xfrm>
            <a:off x="3867912" y="2331720"/>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13" name="Text 11"/>
          <p:cNvSpPr txBox="1"/>
          <p:nvPr/>
        </p:nvSpPr>
        <p:spPr>
          <a:xfrm>
            <a:off x="2084832" y="2706624"/>
            <a:ext cx="548640" cy="329184"/>
          </a:xfrm>
          <a:prstGeom prst="roundRect">
            <a:avLst>
              <a:gd name="adj" fmla="val 27778"/>
            </a:avLst>
          </a:prstGeom>
          <a:solidFill>
            <a:srgbClr val="F4E4DE"/>
          </a:solidFill>
          <a:ln w="15875">
            <a:solidFill>
              <a:srgbClr val="C98F7D"/>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a:t>
            </a:r>
            <a:endParaRPr lang="en-US" sz="1200" dirty="0"/>
          </a:p>
        </p:txBody>
      </p:sp>
      <p:sp>
        <p:nvSpPr>
          <p:cNvPr id="14" name="Text 12"/>
          <p:cNvSpPr txBox="1"/>
          <p:nvPr/>
        </p:nvSpPr>
        <p:spPr>
          <a:xfrm>
            <a:off x="2679192" y="2706624"/>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15" name="Text 13"/>
          <p:cNvSpPr txBox="1"/>
          <p:nvPr/>
        </p:nvSpPr>
        <p:spPr>
          <a:xfrm>
            <a:off x="3273552" y="2706624"/>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16" name="Text 14"/>
          <p:cNvSpPr txBox="1"/>
          <p:nvPr/>
        </p:nvSpPr>
        <p:spPr>
          <a:xfrm>
            <a:off x="3867912" y="2706624"/>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17" name="Text 15"/>
          <p:cNvSpPr txBox="1"/>
          <p:nvPr/>
        </p:nvSpPr>
        <p:spPr>
          <a:xfrm>
            <a:off x="2084832" y="3081528"/>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18" name="Text 16"/>
          <p:cNvSpPr txBox="1"/>
          <p:nvPr/>
        </p:nvSpPr>
        <p:spPr>
          <a:xfrm>
            <a:off x="2679192" y="3081528"/>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19" name="Text 17"/>
          <p:cNvSpPr txBox="1"/>
          <p:nvPr/>
        </p:nvSpPr>
        <p:spPr>
          <a:xfrm>
            <a:off x="3273552" y="3081528"/>
            <a:ext cx="548640" cy="329184"/>
          </a:xfrm>
          <a:prstGeom prst="roundRect">
            <a:avLst>
              <a:gd name="adj" fmla="val 27778"/>
            </a:avLst>
          </a:prstGeom>
          <a:solidFill>
            <a:srgbClr val="F4E4DE"/>
          </a:solidFill>
          <a:ln w="15875">
            <a:solidFill>
              <a:srgbClr val="C98F7D"/>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a:t>
            </a:r>
            <a:endParaRPr lang="en-US" sz="1200" dirty="0"/>
          </a:p>
        </p:txBody>
      </p:sp>
      <p:sp>
        <p:nvSpPr>
          <p:cNvPr id="20" name="Text 18"/>
          <p:cNvSpPr txBox="1"/>
          <p:nvPr/>
        </p:nvSpPr>
        <p:spPr>
          <a:xfrm>
            <a:off x="3867912" y="3081528"/>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21" name="Text 19"/>
          <p:cNvSpPr txBox="1"/>
          <p:nvPr/>
        </p:nvSpPr>
        <p:spPr>
          <a:xfrm>
            <a:off x="2084832" y="3456432"/>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22" name="Text 20"/>
          <p:cNvSpPr txBox="1"/>
          <p:nvPr/>
        </p:nvSpPr>
        <p:spPr>
          <a:xfrm>
            <a:off x="2679192" y="3456432"/>
            <a:ext cx="548640" cy="329184"/>
          </a:xfrm>
          <a:prstGeom prst="roundRect">
            <a:avLst>
              <a:gd name="adj" fmla="val 27778"/>
            </a:avLst>
          </a:prstGeom>
          <a:solidFill>
            <a:srgbClr val="F4E4DE"/>
          </a:solidFill>
          <a:ln w="15875">
            <a:solidFill>
              <a:srgbClr val="C98F7D"/>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0</a:t>
            </a:r>
            <a:endParaRPr lang="en-US" sz="1200" dirty="0"/>
          </a:p>
        </p:txBody>
      </p:sp>
      <p:sp>
        <p:nvSpPr>
          <p:cNvPr id="23" name="Text 21"/>
          <p:cNvSpPr txBox="1"/>
          <p:nvPr/>
        </p:nvSpPr>
        <p:spPr>
          <a:xfrm>
            <a:off x="3273552" y="3456432"/>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24" name="Text 22"/>
          <p:cNvSpPr txBox="1"/>
          <p:nvPr/>
        </p:nvSpPr>
        <p:spPr>
          <a:xfrm>
            <a:off x="3867912" y="3456432"/>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25" name="Text 23"/>
          <p:cNvSpPr txBox="1"/>
          <p:nvPr/>
        </p:nvSpPr>
        <p:spPr>
          <a:xfrm>
            <a:off x="6912864" y="1618488"/>
            <a:ext cx="3931920" cy="347472"/>
          </a:xfrm>
          <a:prstGeom prst="rect">
            <a:avLst/>
          </a:prstGeom>
          <a:noFill/>
          <a:ln/>
        </p:spPr>
        <p:txBody>
          <a:bodyPr wrap="square" lIns="0" tIns="0" rIns="0" bIns="0" rtlCol="0" anchor="t"/>
          <a:lstStyle/>
          <a:p>
            <a:pPr algn="ctr" indent="0" marL="0">
              <a:buNone/>
            </a:pPr>
            <a:r>
              <a:rPr lang="en-US" sz="1700" b="1" dirty="0">
                <a:solidFill>
                  <a:srgbClr val="435466"/>
                </a:solidFill>
                <a:latin typeface="Inter" pitchFamily="34" charset="0"/>
                <a:ea typeface="Inter" pitchFamily="34" charset="-122"/>
                <a:cs typeface="Inter" pitchFamily="34" charset="-120"/>
              </a:rPr>
              <a:t>While evaluating</a:t>
            </a:r>
            <a:endParaRPr lang="en-US" sz="1700" dirty="0"/>
          </a:p>
        </p:txBody>
      </p:sp>
      <p:sp>
        <p:nvSpPr>
          <p:cNvPr id="26" name="Text 24"/>
          <p:cNvSpPr txBox="1"/>
          <p:nvPr/>
        </p:nvSpPr>
        <p:spPr>
          <a:xfrm>
            <a:off x="6912864" y="1947672"/>
            <a:ext cx="393192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dropout is switched off</a:t>
            </a:r>
            <a:endParaRPr lang="en-US" sz="1200" dirty="0"/>
          </a:p>
        </p:txBody>
      </p:sp>
      <p:sp>
        <p:nvSpPr>
          <p:cNvPr id="27" name="Text 25"/>
          <p:cNvSpPr txBox="1"/>
          <p:nvPr/>
        </p:nvSpPr>
        <p:spPr>
          <a:xfrm>
            <a:off x="7735824" y="2331720"/>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28" name="Text 26"/>
          <p:cNvSpPr txBox="1"/>
          <p:nvPr/>
        </p:nvSpPr>
        <p:spPr>
          <a:xfrm>
            <a:off x="8330184" y="2331720"/>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29" name="Text 27"/>
          <p:cNvSpPr txBox="1"/>
          <p:nvPr/>
        </p:nvSpPr>
        <p:spPr>
          <a:xfrm>
            <a:off x="8924544" y="2331720"/>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30" name="Text 28"/>
          <p:cNvSpPr txBox="1"/>
          <p:nvPr/>
        </p:nvSpPr>
        <p:spPr>
          <a:xfrm>
            <a:off x="9518904" y="2331720"/>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31" name="Text 29"/>
          <p:cNvSpPr txBox="1"/>
          <p:nvPr/>
        </p:nvSpPr>
        <p:spPr>
          <a:xfrm>
            <a:off x="7735824" y="2706624"/>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32" name="Text 30"/>
          <p:cNvSpPr txBox="1"/>
          <p:nvPr/>
        </p:nvSpPr>
        <p:spPr>
          <a:xfrm>
            <a:off x="8330184" y="2706624"/>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33" name="Text 31"/>
          <p:cNvSpPr txBox="1"/>
          <p:nvPr/>
        </p:nvSpPr>
        <p:spPr>
          <a:xfrm>
            <a:off x="8924544" y="2706624"/>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34" name="Text 32"/>
          <p:cNvSpPr txBox="1"/>
          <p:nvPr/>
        </p:nvSpPr>
        <p:spPr>
          <a:xfrm>
            <a:off x="9518904" y="2706624"/>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35" name="Text 33"/>
          <p:cNvSpPr txBox="1"/>
          <p:nvPr/>
        </p:nvSpPr>
        <p:spPr>
          <a:xfrm>
            <a:off x="7735824" y="3081528"/>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36" name="Text 34"/>
          <p:cNvSpPr txBox="1"/>
          <p:nvPr/>
        </p:nvSpPr>
        <p:spPr>
          <a:xfrm>
            <a:off x="8330184" y="3081528"/>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37" name="Text 35"/>
          <p:cNvSpPr txBox="1"/>
          <p:nvPr/>
        </p:nvSpPr>
        <p:spPr>
          <a:xfrm>
            <a:off x="8924544" y="3081528"/>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38" name="Text 36"/>
          <p:cNvSpPr txBox="1"/>
          <p:nvPr/>
        </p:nvSpPr>
        <p:spPr>
          <a:xfrm>
            <a:off x="9518904" y="3081528"/>
            <a:ext cx="548640" cy="329184"/>
          </a:xfrm>
          <a:prstGeom prst="roundRect">
            <a:avLst>
              <a:gd name="adj" fmla="val 27778"/>
            </a:avLst>
          </a:prstGeom>
          <a:solidFill>
            <a:srgbClr val="FFFFFF"/>
          </a:solidFill>
          <a:ln w="15875">
            <a:solidFill>
              <a:srgbClr val="D9E1E8"/>
            </a:solidFill>
          </a:ln>
        </p:spPr>
        <p:txBody>
          <a:bodyPr wrap="square" lIns="0" tIns="0" rIns="0" bIns="0" rtlCol="0" anchor="ctr"/>
          <a:lstStyle/>
          <a:p>
            <a:pPr algn="ctr" indent="0" marL="0">
              <a:buNone/>
            </a:pPr>
            <a:endParaRPr lang="en-US" sz="1200" dirty="0"/>
          </a:p>
        </p:txBody>
      </p:sp>
      <p:sp>
        <p:nvSpPr>
          <p:cNvPr id="39" name="Text 37"/>
          <p:cNvSpPr txBox="1"/>
          <p:nvPr/>
        </p:nvSpPr>
        <p:spPr>
          <a:xfrm>
            <a:off x="7735824" y="3456432"/>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40" name="Text 38"/>
          <p:cNvSpPr txBox="1"/>
          <p:nvPr/>
        </p:nvSpPr>
        <p:spPr>
          <a:xfrm>
            <a:off x="8330184" y="3456432"/>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41" name="Text 39"/>
          <p:cNvSpPr txBox="1"/>
          <p:nvPr/>
        </p:nvSpPr>
        <p:spPr>
          <a:xfrm>
            <a:off x="8924544" y="3456432"/>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42" name="Text 40"/>
          <p:cNvSpPr txBox="1"/>
          <p:nvPr/>
        </p:nvSpPr>
        <p:spPr>
          <a:xfrm>
            <a:off x="9518904" y="3456432"/>
            <a:ext cx="548640" cy="329184"/>
          </a:xfrm>
          <a:prstGeom prst="roundRect">
            <a:avLst>
              <a:gd name="adj" fmla="val 27778"/>
            </a:avLst>
          </a:prstGeom>
          <a:solidFill>
            <a:srgbClr val="E8EFF7"/>
          </a:solidFill>
          <a:ln w="15875">
            <a:solidFill>
              <a:srgbClr val="A9C0D8"/>
            </a:solidFill>
          </a:ln>
        </p:spPr>
        <p:txBody>
          <a:bodyPr wrap="square" lIns="0" tIns="0" rIns="0" bIns="0" rtlCol="0" anchor="ctr"/>
          <a:lstStyle/>
          <a:p>
            <a:pPr algn="ctr" indent="0" marL="0">
              <a:buNone/>
            </a:pPr>
            <a:endParaRPr lang="en-US" sz="1200" dirty="0"/>
          </a:p>
        </p:txBody>
      </p:sp>
      <p:sp>
        <p:nvSpPr>
          <p:cNvPr id="43" name="Text 41"/>
          <p:cNvSpPr txBox="1"/>
          <p:nvPr/>
        </p:nvSpPr>
        <p:spPr>
          <a:xfrm>
            <a:off x="3017520" y="4069080"/>
            <a:ext cx="292608" cy="237744"/>
          </a:xfrm>
          <a:prstGeom prst="roundRect">
            <a:avLst>
              <a:gd name="adj" fmla="val 38462"/>
            </a:avLst>
          </a:prstGeom>
          <a:solidFill>
            <a:srgbClr val="E8EFF7"/>
          </a:solidFill>
          <a:ln w="15875">
            <a:solidFill>
              <a:srgbClr val="A9C0D8"/>
            </a:solidFill>
          </a:ln>
        </p:spPr>
        <p:txBody>
          <a:bodyPr wrap="square" lIns="0" tIns="0" rIns="0" bIns="0" rtlCol="0" anchor="ctr"/>
          <a:lstStyle/>
          <a:p>
            <a:pPr algn="ctr" indent="0" marL="0">
              <a:buNone/>
            </a:pPr>
            <a:endParaRPr lang="en-US" sz="1000" dirty="0"/>
          </a:p>
        </p:txBody>
      </p:sp>
      <p:sp>
        <p:nvSpPr>
          <p:cNvPr id="44" name="Text 42"/>
          <p:cNvSpPr txBox="1"/>
          <p:nvPr/>
        </p:nvSpPr>
        <p:spPr>
          <a:xfrm>
            <a:off x="3401568" y="4023360"/>
            <a:ext cx="1737360" cy="329184"/>
          </a:xfrm>
          <a:prstGeom prst="rect">
            <a:avLst/>
          </a:prstGeom>
          <a:noFill/>
          <a:ln/>
        </p:spPr>
        <p:txBody>
          <a:bodyPr wrap="square" lIns="0" tIns="0" rIns="0" bIns="0" rtlCol="0" anchor="ctr"/>
          <a:lstStyle/>
          <a:p>
            <a:pPr indent="0" marL="0">
              <a:buNone/>
            </a:pPr>
            <a:r>
              <a:rPr lang="en-US" sz="1300" dirty="0">
                <a:solidFill>
                  <a:srgbClr val="435466"/>
                </a:solidFill>
                <a:latin typeface="Inter" pitchFamily="34" charset="0"/>
                <a:ea typeface="Inter" pitchFamily="34" charset="-122"/>
                <a:cs typeface="Inter" pitchFamily="34" charset="-120"/>
              </a:rPr>
              <a:t>kept</a:t>
            </a:r>
            <a:endParaRPr lang="en-US" sz="1300" dirty="0"/>
          </a:p>
        </p:txBody>
      </p:sp>
      <p:sp>
        <p:nvSpPr>
          <p:cNvPr id="45" name="Text 43"/>
          <p:cNvSpPr txBox="1"/>
          <p:nvPr/>
        </p:nvSpPr>
        <p:spPr>
          <a:xfrm>
            <a:off x="5212080" y="4069080"/>
            <a:ext cx="292608" cy="237744"/>
          </a:xfrm>
          <a:prstGeom prst="roundRect">
            <a:avLst>
              <a:gd name="adj" fmla="val 38462"/>
            </a:avLst>
          </a:prstGeom>
          <a:solidFill>
            <a:srgbClr val="F4E4DE"/>
          </a:solidFill>
          <a:ln w="15875">
            <a:solidFill>
              <a:srgbClr val="C98F7D"/>
            </a:solidFill>
          </a:ln>
        </p:spPr>
        <p:txBody>
          <a:bodyPr wrap="square" lIns="0" tIns="0" rIns="0" bIns="0" rtlCol="0" anchor="ctr"/>
          <a:lstStyle/>
          <a:p>
            <a:pPr algn="ctr" indent="0" marL="0">
              <a:buNone/>
            </a:pPr>
            <a:endParaRPr lang="en-US" sz="1000" dirty="0"/>
          </a:p>
        </p:txBody>
      </p:sp>
      <p:sp>
        <p:nvSpPr>
          <p:cNvPr id="46" name="Text 44"/>
          <p:cNvSpPr txBox="1"/>
          <p:nvPr/>
        </p:nvSpPr>
        <p:spPr>
          <a:xfrm>
            <a:off x="5596128" y="4023360"/>
            <a:ext cx="1737360" cy="329184"/>
          </a:xfrm>
          <a:prstGeom prst="rect">
            <a:avLst/>
          </a:prstGeom>
          <a:noFill/>
          <a:ln/>
        </p:spPr>
        <p:txBody>
          <a:bodyPr wrap="square" lIns="0" tIns="0" rIns="0" bIns="0" rtlCol="0" anchor="ctr"/>
          <a:lstStyle/>
          <a:p>
            <a:pPr indent="0" marL="0">
              <a:buNone/>
            </a:pPr>
            <a:r>
              <a:rPr lang="en-US" sz="1300" dirty="0">
                <a:solidFill>
                  <a:srgbClr val="435466"/>
                </a:solidFill>
                <a:latin typeface="Inter" pitchFamily="34" charset="0"/>
                <a:ea typeface="Inter" pitchFamily="34" charset="-122"/>
                <a:cs typeface="Inter" pitchFamily="34" charset="-120"/>
              </a:rPr>
              <a:t>dropped</a:t>
            </a:r>
            <a:endParaRPr lang="en-US" sz="1300" dirty="0"/>
          </a:p>
        </p:txBody>
      </p:sp>
      <p:sp>
        <p:nvSpPr>
          <p:cNvPr id="47" name="Text 45"/>
          <p:cNvSpPr txBox="1"/>
          <p:nvPr/>
        </p:nvSpPr>
        <p:spPr>
          <a:xfrm>
            <a:off x="7406640" y="4069080"/>
            <a:ext cx="292608" cy="237744"/>
          </a:xfrm>
          <a:prstGeom prst="roundRect">
            <a:avLst>
              <a:gd name="adj" fmla="val 38462"/>
            </a:avLst>
          </a:prstGeom>
          <a:solidFill>
            <a:srgbClr val="FFFFFF"/>
          </a:solidFill>
          <a:ln w="15875">
            <a:solidFill>
              <a:srgbClr val="D9E1E8"/>
            </a:solidFill>
          </a:ln>
        </p:spPr>
        <p:txBody>
          <a:bodyPr wrap="square" lIns="0" tIns="0" rIns="0" bIns="0" rtlCol="0" anchor="ctr"/>
          <a:lstStyle/>
          <a:p>
            <a:pPr algn="ctr" indent="0" marL="0">
              <a:buNone/>
            </a:pPr>
            <a:endParaRPr lang="en-US" sz="1000" dirty="0"/>
          </a:p>
        </p:txBody>
      </p:sp>
      <p:sp>
        <p:nvSpPr>
          <p:cNvPr id="48" name="Text 46"/>
          <p:cNvSpPr txBox="1"/>
          <p:nvPr/>
        </p:nvSpPr>
        <p:spPr>
          <a:xfrm>
            <a:off x="7790688" y="4023360"/>
            <a:ext cx="1737360" cy="329184"/>
          </a:xfrm>
          <a:prstGeom prst="rect">
            <a:avLst/>
          </a:prstGeom>
          <a:noFill/>
          <a:ln/>
        </p:spPr>
        <p:txBody>
          <a:bodyPr wrap="square" lIns="0" tIns="0" rIns="0" bIns="0" rtlCol="0" anchor="ctr"/>
          <a:lstStyle/>
          <a:p>
            <a:pPr indent="0" marL="0">
              <a:buNone/>
            </a:pPr>
            <a:r>
              <a:rPr lang="en-US" sz="1300" dirty="0">
                <a:solidFill>
                  <a:srgbClr val="435466"/>
                </a:solidFill>
                <a:latin typeface="Inter" pitchFamily="34" charset="0"/>
                <a:ea typeface="Inter" pitchFamily="34" charset="-122"/>
                <a:cs typeface="Inter" pitchFamily="34" charset="-120"/>
              </a:rPr>
              <a:t>future (masked)</a:t>
            </a:r>
            <a:endParaRPr lang="en-US" sz="1300" dirty="0"/>
          </a:p>
        </p:txBody>
      </p:sp>
      <p:sp>
        <p:nvSpPr>
          <p:cNvPr id="49" name="Shape 47"/>
          <p:cNvSpPr/>
          <p:nvPr/>
        </p:nvSpPr>
        <p:spPr>
          <a:xfrm>
            <a:off x="640080" y="4526280"/>
            <a:ext cx="10908792" cy="749808"/>
          </a:xfrm>
          <a:prstGeom prst="roundRect">
            <a:avLst>
              <a:gd name="adj" fmla="val 18293"/>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50" name="Text 48"/>
          <p:cNvSpPr txBox="1"/>
          <p:nvPr/>
        </p:nvSpPr>
        <p:spPr>
          <a:xfrm>
            <a:off x="822960" y="4526280"/>
            <a:ext cx="1097280" cy="749808"/>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51" name="Text 49"/>
          <p:cNvSpPr txBox="1"/>
          <p:nvPr/>
        </p:nvSpPr>
        <p:spPr>
          <a:xfrm>
            <a:off x="1920240" y="4572000"/>
            <a:ext cx="3017520" cy="65836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Dropout</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randomly setting some weights to 0 while training</a:t>
            </a:r>
            <a:endParaRPr lang="en-US" sz="1800" dirty="0"/>
          </a:p>
        </p:txBody>
      </p:sp>
      <p:sp>
        <p:nvSpPr>
          <p:cNvPr id="52" name="Text 50"/>
          <p:cNvSpPr txBox="1"/>
          <p:nvPr/>
        </p:nvSpPr>
        <p:spPr>
          <a:xfrm>
            <a:off x="5074920" y="4572000"/>
            <a:ext cx="3017520" cy="65836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Evaluating</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using the model after training; nothing is dropped</a:t>
            </a:r>
            <a:endParaRPr lang="en-US" sz="1800" dirty="0"/>
          </a:p>
        </p:txBody>
      </p:sp>
      <p:sp>
        <p:nvSpPr>
          <p:cNvPr id="53" name="Text 51"/>
          <p:cNvSpPr txBox="1"/>
          <p:nvPr/>
        </p:nvSpPr>
        <p:spPr>
          <a:xfrm>
            <a:off x="8229600" y="4572000"/>
            <a:ext cx="3017520" cy="65836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Overfitting</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memorizing the examples instead of learning patterns</a:t>
            </a:r>
            <a:endParaRPr lang="en-US" sz="1800" dirty="0"/>
          </a:p>
        </p:txBody>
      </p:sp>
      <p:sp>
        <p:nvSpPr>
          <p:cNvPr id="54" name="Shape 52"/>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55" name="Shape 53"/>
          <p:cNvSpPr/>
          <p:nvPr/>
        </p:nvSpPr>
        <p:spPr>
          <a:xfrm>
            <a:off x="914400" y="5509260"/>
            <a:ext cx="548640" cy="548640"/>
          </a:xfrm>
          <a:prstGeom prst="ellipse">
            <a:avLst/>
          </a:prstGeom>
          <a:solidFill>
            <a:srgbClr val="FFFFFF"/>
          </a:solidFill>
          <a:ln w="15875">
            <a:solidFill>
              <a:srgbClr val="8FA99B"/>
            </a:solidFill>
            <a:prstDash val="solid"/>
          </a:ln>
        </p:spPr>
      </p:sp>
      <p:pic>
        <p:nvPicPr>
          <p:cNvPr id="56"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57" name="Text 54"/>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Dropout makes learning more robust, and it only runs during training.</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14</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Multiple heads, multiple perspectives</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MultiHeadAttentionV1 runs several causal attention heads on the same input and joins their outputs.</a:t>
            </a:r>
            <a:endParaRPr lang="en-US" sz="1600" dirty="0"/>
          </a:p>
        </p:txBody>
      </p:sp>
      <p:sp>
        <p:nvSpPr>
          <p:cNvPr id="5" name="Text 3"/>
          <p:cNvSpPr txBox="1"/>
          <p:nvPr/>
        </p:nvSpPr>
        <p:spPr>
          <a:xfrm>
            <a:off x="640080" y="2011680"/>
            <a:ext cx="1463040" cy="402336"/>
          </a:xfrm>
          <a:prstGeom prst="roundRect">
            <a:avLst>
              <a:gd name="adj" fmla="val 22727"/>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"rain"</a:t>
            </a:r>
            <a:endParaRPr lang="en-US" sz="1400" dirty="0"/>
          </a:p>
        </p:txBody>
      </p:sp>
      <p:sp>
        <p:nvSpPr>
          <p:cNvPr id="6" name="Text 4"/>
          <p:cNvSpPr txBox="1"/>
          <p:nvPr/>
        </p:nvSpPr>
        <p:spPr>
          <a:xfrm>
            <a:off x="640080" y="2514600"/>
            <a:ext cx="1463040" cy="402336"/>
          </a:xfrm>
          <a:prstGeom prst="roundRect">
            <a:avLst>
              <a:gd name="adj" fmla="val 22727"/>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"falls"</a:t>
            </a:r>
            <a:endParaRPr lang="en-US" sz="1400" dirty="0"/>
          </a:p>
        </p:txBody>
      </p:sp>
      <p:sp>
        <p:nvSpPr>
          <p:cNvPr id="7" name="Text 5"/>
          <p:cNvSpPr txBox="1"/>
          <p:nvPr/>
        </p:nvSpPr>
        <p:spPr>
          <a:xfrm>
            <a:off x="640080" y="3017520"/>
            <a:ext cx="1463040" cy="402336"/>
          </a:xfrm>
          <a:prstGeom prst="roundRect">
            <a:avLst>
              <a:gd name="adj" fmla="val 22727"/>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"softly"</a:t>
            </a:r>
            <a:endParaRPr lang="en-US" sz="1400" dirty="0"/>
          </a:p>
        </p:txBody>
      </p:sp>
      <p:sp>
        <p:nvSpPr>
          <p:cNvPr id="8" name="Shape 6"/>
          <p:cNvSpPr/>
          <p:nvPr/>
        </p:nvSpPr>
        <p:spPr>
          <a:xfrm>
            <a:off x="2148840" y="2715768"/>
            <a:ext cx="320040" cy="0"/>
          </a:xfrm>
          <a:prstGeom prst="line">
            <a:avLst/>
          </a:prstGeom>
          <a:noFill/>
          <a:ln w="31750">
            <a:solidFill>
              <a:srgbClr val="A9C0D8"/>
            </a:solidFill>
            <a:prstDash val="solid"/>
          </a:ln>
        </p:spPr>
      </p:sp>
      <p:sp>
        <p:nvSpPr>
          <p:cNvPr id="9" name="Shape 7"/>
          <p:cNvSpPr/>
          <p:nvPr/>
        </p:nvSpPr>
        <p:spPr>
          <a:xfrm>
            <a:off x="2468880" y="1892808"/>
            <a:ext cx="0" cy="1645920"/>
          </a:xfrm>
          <a:prstGeom prst="line">
            <a:avLst/>
          </a:prstGeom>
          <a:noFill/>
          <a:ln w="31750">
            <a:solidFill>
              <a:srgbClr val="A9C0D8"/>
            </a:solidFill>
            <a:prstDash val="solid"/>
          </a:ln>
        </p:spPr>
      </p:sp>
      <p:sp>
        <p:nvSpPr>
          <p:cNvPr id="10" name="Shape 8"/>
          <p:cNvSpPr/>
          <p:nvPr/>
        </p:nvSpPr>
        <p:spPr>
          <a:xfrm>
            <a:off x="2468880" y="1892808"/>
            <a:ext cx="365760" cy="0"/>
          </a:xfrm>
          <a:prstGeom prst="line">
            <a:avLst/>
          </a:prstGeom>
          <a:noFill/>
          <a:ln w="31750">
            <a:solidFill>
              <a:srgbClr val="A9C0D8"/>
            </a:solidFill>
            <a:prstDash val="solid"/>
            <a:tailEnd type="triangle"/>
          </a:ln>
        </p:spPr>
      </p:sp>
      <p:sp>
        <p:nvSpPr>
          <p:cNvPr id="11" name="Text 9"/>
          <p:cNvSpPr txBox="1"/>
          <p:nvPr/>
        </p:nvSpPr>
        <p:spPr>
          <a:xfrm>
            <a:off x="2926080" y="1572768"/>
            <a:ext cx="1920240" cy="640080"/>
          </a:xfrm>
          <a:prstGeom prst="roundRect">
            <a:avLst>
              <a:gd name="adj" fmla="val 14286"/>
            </a:avLst>
          </a:prstGeom>
          <a:solidFill>
            <a:srgbClr val="E8EFF7"/>
          </a:solidFill>
          <a:ln w="15875">
            <a:solidFill>
              <a:srgbClr val="A9C0D8"/>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Head 1</a:t>
            </a:r>
            <a:endParaRPr lang="en-US" sz="1500" dirty="0"/>
          </a:p>
          <a:p>
            <a:pPr algn="ctr" indent="0" marL="0">
              <a:buNone/>
            </a:pPr>
            <a:r>
              <a:rPr lang="en-US" sz="1200" dirty="0">
                <a:solidFill>
                  <a:srgbClr val="435466"/>
                </a:solidFill>
                <a:latin typeface="Inter" pitchFamily="34" charset="0"/>
                <a:ea typeface="Inter" pitchFamily="34" charset="-122"/>
                <a:cs typeface="Inter" pitchFamily="34" charset="-120"/>
              </a:rPr>
              <a:t>own Q, K, V</a:t>
            </a:r>
            <a:endParaRPr lang="en-US" sz="1500" dirty="0"/>
          </a:p>
        </p:txBody>
      </p:sp>
      <p:sp>
        <p:nvSpPr>
          <p:cNvPr id="12" name="Shape 10"/>
          <p:cNvSpPr/>
          <p:nvPr/>
        </p:nvSpPr>
        <p:spPr>
          <a:xfrm>
            <a:off x="4937760" y="1892808"/>
            <a:ext cx="548640" cy="0"/>
          </a:xfrm>
          <a:prstGeom prst="line">
            <a:avLst/>
          </a:prstGeom>
          <a:noFill/>
          <a:ln w="31750">
            <a:solidFill>
              <a:srgbClr val="A9C0D8"/>
            </a:solidFill>
            <a:prstDash val="solid"/>
            <a:tailEnd type="triangle"/>
          </a:ln>
        </p:spPr>
      </p:sp>
      <p:sp>
        <p:nvSpPr>
          <p:cNvPr id="13" name="Shape 11"/>
          <p:cNvSpPr/>
          <p:nvPr/>
        </p:nvSpPr>
        <p:spPr>
          <a:xfrm>
            <a:off x="5577840" y="1709928"/>
            <a:ext cx="320040" cy="365760"/>
          </a:xfrm>
          <a:prstGeom prst="roundRect">
            <a:avLst>
              <a:gd name="adj" fmla="val 14286"/>
            </a:avLst>
          </a:prstGeom>
          <a:solidFill>
            <a:srgbClr val="E8EFF7"/>
          </a:solidFill>
          <a:ln w="12700">
            <a:solidFill>
              <a:srgbClr val="A9C0D8"/>
            </a:solidFill>
            <a:prstDash val="solid"/>
          </a:ln>
        </p:spPr>
      </p:sp>
      <p:sp>
        <p:nvSpPr>
          <p:cNvPr id="14" name="Shape 12"/>
          <p:cNvSpPr/>
          <p:nvPr/>
        </p:nvSpPr>
        <p:spPr>
          <a:xfrm>
            <a:off x="5943600" y="1709928"/>
            <a:ext cx="320040" cy="365760"/>
          </a:xfrm>
          <a:prstGeom prst="roundRect">
            <a:avLst>
              <a:gd name="adj" fmla="val 14286"/>
            </a:avLst>
          </a:prstGeom>
          <a:solidFill>
            <a:srgbClr val="E8EFF7"/>
          </a:solidFill>
          <a:ln w="12700">
            <a:solidFill>
              <a:srgbClr val="A9C0D8"/>
            </a:solidFill>
            <a:prstDash val="solid"/>
          </a:ln>
        </p:spPr>
      </p:sp>
      <p:sp>
        <p:nvSpPr>
          <p:cNvPr id="15" name="Shape 13"/>
          <p:cNvSpPr/>
          <p:nvPr/>
        </p:nvSpPr>
        <p:spPr>
          <a:xfrm>
            <a:off x="6309360" y="1709928"/>
            <a:ext cx="320040" cy="365760"/>
          </a:xfrm>
          <a:prstGeom prst="roundRect">
            <a:avLst>
              <a:gd name="adj" fmla="val 14286"/>
            </a:avLst>
          </a:prstGeom>
          <a:solidFill>
            <a:srgbClr val="E8EFF7"/>
          </a:solidFill>
          <a:ln w="12700">
            <a:solidFill>
              <a:srgbClr val="A9C0D8"/>
            </a:solidFill>
            <a:prstDash val="solid"/>
          </a:ln>
        </p:spPr>
      </p:sp>
      <p:sp>
        <p:nvSpPr>
          <p:cNvPr id="16" name="Shape 14"/>
          <p:cNvSpPr/>
          <p:nvPr/>
        </p:nvSpPr>
        <p:spPr>
          <a:xfrm>
            <a:off x="6675120" y="1709928"/>
            <a:ext cx="320040" cy="365760"/>
          </a:xfrm>
          <a:prstGeom prst="roundRect">
            <a:avLst>
              <a:gd name="adj" fmla="val 14286"/>
            </a:avLst>
          </a:prstGeom>
          <a:solidFill>
            <a:srgbClr val="E8EFF7"/>
          </a:solidFill>
          <a:ln w="12700">
            <a:solidFill>
              <a:srgbClr val="A9C0D8"/>
            </a:solidFill>
            <a:prstDash val="solid"/>
          </a:ln>
        </p:spPr>
      </p:sp>
      <p:sp>
        <p:nvSpPr>
          <p:cNvPr id="17" name="Shape 15"/>
          <p:cNvSpPr/>
          <p:nvPr/>
        </p:nvSpPr>
        <p:spPr>
          <a:xfrm>
            <a:off x="7040880" y="1892808"/>
            <a:ext cx="320040" cy="0"/>
          </a:xfrm>
          <a:prstGeom prst="line">
            <a:avLst/>
          </a:prstGeom>
          <a:noFill/>
          <a:ln w="31750">
            <a:solidFill>
              <a:srgbClr val="A9C0D8"/>
            </a:solidFill>
            <a:prstDash val="solid"/>
          </a:ln>
        </p:spPr>
      </p:sp>
      <p:sp>
        <p:nvSpPr>
          <p:cNvPr id="18" name="Shape 16"/>
          <p:cNvSpPr/>
          <p:nvPr/>
        </p:nvSpPr>
        <p:spPr>
          <a:xfrm>
            <a:off x="2468880" y="2715768"/>
            <a:ext cx="365760" cy="0"/>
          </a:xfrm>
          <a:prstGeom prst="line">
            <a:avLst/>
          </a:prstGeom>
          <a:noFill/>
          <a:ln w="31750">
            <a:solidFill>
              <a:srgbClr val="A9C0D8"/>
            </a:solidFill>
            <a:prstDash val="solid"/>
            <a:tailEnd type="triangle"/>
          </a:ln>
        </p:spPr>
      </p:sp>
      <p:sp>
        <p:nvSpPr>
          <p:cNvPr id="19" name="Text 17"/>
          <p:cNvSpPr txBox="1"/>
          <p:nvPr/>
        </p:nvSpPr>
        <p:spPr>
          <a:xfrm>
            <a:off x="2926080" y="2395728"/>
            <a:ext cx="1920240" cy="640080"/>
          </a:xfrm>
          <a:prstGeom prst="roundRect">
            <a:avLst>
              <a:gd name="adj" fmla="val 14286"/>
            </a:avLst>
          </a:prstGeom>
          <a:solidFill>
            <a:srgbClr val="E4ECE7"/>
          </a:solidFill>
          <a:ln w="15875">
            <a:solidFill>
              <a:srgbClr val="8FA99B"/>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Head 2</a:t>
            </a:r>
            <a:endParaRPr lang="en-US" sz="1500" dirty="0"/>
          </a:p>
          <a:p>
            <a:pPr algn="ctr" indent="0" marL="0">
              <a:buNone/>
            </a:pPr>
            <a:r>
              <a:rPr lang="en-US" sz="1200" dirty="0">
                <a:solidFill>
                  <a:srgbClr val="435466"/>
                </a:solidFill>
                <a:latin typeface="Inter" pitchFamily="34" charset="0"/>
                <a:ea typeface="Inter" pitchFamily="34" charset="-122"/>
                <a:cs typeface="Inter" pitchFamily="34" charset="-120"/>
              </a:rPr>
              <a:t>own Q, K, V</a:t>
            </a:r>
            <a:endParaRPr lang="en-US" sz="1500" dirty="0"/>
          </a:p>
        </p:txBody>
      </p:sp>
      <p:sp>
        <p:nvSpPr>
          <p:cNvPr id="20" name="Shape 18"/>
          <p:cNvSpPr/>
          <p:nvPr/>
        </p:nvSpPr>
        <p:spPr>
          <a:xfrm>
            <a:off x="4937760" y="2715768"/>
            <a:ext cx="548640" cy="0"/>
          </a:xfrm>
          <a:prstGeom prst="line">
            <a:avLst/>
          </a:prstGeom>
          <a:noFill/>
          <a:ln w="31750">
            <a:solidFill>
              <a:srgbClr val="A9C0D8"/>
            </a:solidFill>
            <a:prstDash val="solid"/>
            <a:tailEnd type="triangle"/>
          </a:ln>
        </p:spPr>
      </p:sp>
      <p:sp>
        <p:nvSpPr>
          <p:cNvPr id="21" name="Shape 19"/>
          <p:cNvSpPr/>
          <p:nvPr/>
        </p:nvSpPr>
        <p:spPr>
          <a:xfrm>
            <a:off x="5577840" y="2532888"/>
            <a:ext cx="320040" cy="365760"/>
          </a:xfrm>
          <a:prstGeom prst="roundRect">
            <a:avLst>
              <a:gd name="adj" fmla="val 14286"/>
            </a:avLst>
          </a:prstGeom>
          <a:solidFill>
            <a:srgbClr val="E4ECE7"/>
          </a:solidFill>
          <a:ln w="12700">
            <a:solidFill>
              <a:srgbClr val="8FA99B"/>
            </a:solidFill>
            <a:prstDash val="solid"/>
          </a:ln>
        </p:spPr>
      </p:sp>
      <p:sp>
        <p:nvSpPr>
          <p:cNvPr id="22" name="Shape 20"/>
          <p:cNvSpPr/>
          <p:nvPr/>
        </p:nvSpPr>
        <p:spPr>
          <a:xfrm>
            <a:off x="5943600" y="2532888"/>
            <a:ext cx="320040" cy="365760"/>
          </a:xfrm>
          <a:prstGeom prst="roundRect">
            <a:avLst>
              <a:gd name="adj" fmla="val 14286"/>
            </a:avLst>
          </a:prstGeom>
          <a:solidFill>
            <a:srgbClr val="E4ECE7"/>
          </a:solidFill>
          <a:ln w="12700">
            <a:solidFill>
              <a:srgbClr val="8FA99B"/>
            </a:solidFill>
            <a:prstDash val="solid"/>
          </a:ln>
        </p:spPr>
      </p:sp>
      <p:sp>
        <p:nvSpPr>
          <p:cNvPr id="23" name="Shape 21"/>
          <p:cNvSpPr/>
          <p:nvPr/>
        </p:nvSpPr>
        <p:spPr>
          <a:xfrm>
            <a:off x="6309360" y="2532888"/>
            <a:ext cx="320040" cy="365760"/>
          </a:xfrm>
          <a:prstGeom prst="roundRect">
            <a:avLst>
              <a:gd name="adj" fmla="val 14286"/>
            </a:avLst>
          </a:prstGeom>
          <a:solidFill>
            <a:srgbClr val="E4ECE7"/>
          </a:solidFill>
          <a:ln w="12700">
            <a:solidFill>
              <a:srgbClr val="8FA99B"/>
            </a:solidFill>
            <a:prstDash val="solid"/>
          </a:ln>
        </p:spPr>
      </p:sp>
      <p:sp>
        <p:nvSpPr>
          <p:cNvPr id="24" name="Shape 22"/>
          <p:cNvSpPr/>
          <p:nvPr/>
        </p:nvSpPr>
        <p:spPr>
          <a:xfrm>
            <a:off x="6675120" y="2532888"/>
            <a:ext cx="320040" cy="365760"/>
          </a:xfrm>
          <a:prstGeom prst="roundRect">
            <a:avLst>
              <a:gd name="adj" fmla="val 14286"/>
            </a:avLst>
          </a:prstGeom>
          <a:solidFill>
            <a:srgbClr val="E4ECE7"/>
          </a:solidFill>
          <a:ln w="12700">
            <a:solidFill>
              <a:srgbClr val="8FA99B"/>
            </a:solidFill>
            <a:prstDash val="solid"/>
          </a:ln>
        </p:spPr>
      </p:sp>
      <p:sp>
        <p:nvSpPr>
          <p:cNvPr id="25" name="Shape 23"/>
          <p:cNvSpPr/>
          <p:nvPr/>
        </p:nvSpPr>
        <p:spPr>
          <a:xfrm>
            <a:off x="7040880" y="2715768"/>
            <a:ext cx="320040" cy="0"/>
          </a:xfrm>
          <a:prstGeom prst="line">
            <a:avLst/>
          </a:prstGeom>
          <a:noFill/>
          <a:ln w="31750">
            <a:solidFill>
              <a:srgbClr val="A9C0D8"/>
            </a:solidFill>
            <a:prstDash val="solid"/>
          </a:ln>
        </p:spPr>
      </p:sp>
      <p:sp>
        <p:nvSpPr>
          <p:cNvPr id="26" name="Shape 24"/>
          <p:cNvSpPr/>
          <p:nvPr/>
        </p:nvSpPr>
        <p:spPr>
          <a:xfrm>
            <a:off x="2468880" y="3538728"/>
            <a:ext cx="365760" cy="0"/>
          </a:xfrm>
          <a:prstGeom prst="line">
            <a:avLst/>
          </a:prstGeom>
          <a:noFill/>
          <a:ln w="31750">
            <a:solidFill>
              <a:srgbClr val="A9C0D8"/>
            </a:solidFill>
            <a:prstDash val="solid"/>
            <a:tailEnd type="triangle"/>
          </a:ln>
        </p:spPr>
      </p:sp>
      <p:sp>
        <p:nvSpPr>
          <p:cNvPr id="27" name="Text 25"/>
          <p:cNvSpPr txBox="1"/>
          <p:nvPr/>
        </p:nvSpPr>
        <p:spPr>
          <a:xfrm>
            <a:off x="2926080" y="3218688"/>
            <a:ext cx="1920240" cy="640080"/>
          </a:xfrm>
          <a:prstGeom prst="roundRect">
            <a:avLst>
              <a:gd name="adj" fmla="val 14286"/>
            </a:avLst>
          </a:prstGeom>
          <a:solidFill>
            <a:srgbClr val="F4E4DE"/>
          </a:solidFill>
          <a:ln w="15875">
            <a:solidFill>
              <a:srgbClr val="C98F7D"/>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Head 3</a:t>
            </a:r>
            <a:endParaRPr lang="en-US" sz="1500" dirty="0"/>
          </a:p>
          <a:p>
            <a:pPr algn="ctr" indent="0" marL="0">
              <a:buNone/>
            </a:pPr>
            <a:r>
              <a:rPr lang="en-US" sz="1200" dirty="0">
                <a:solidFill>
                  <a:srgbClr val="435466"/>
                </a:solidFill>
                <a:latin typeface="Inter" pitchFamily="34" charset="0"/>
                <a:ea typeface="Inter" pitchFamily="34" charset="-122"/>
                <a:cs typeface="Inter" pitchFamily="34" charset="-120"/>
              </a:rPr>
              <a:t>own Q, K, V</a:t>
            </a:r>
            <a:endParaRPr lang="en-US" sz="1500" dirty="0"/>
          </a:p>
        </p:txBody>
      </p:sp>
      <p:sp>
        <p:nvSpPr>
          <p:cNvPr id="28" name="Shape 26"/>
          <p:cNvSpPr/>
          <p:nvPr/>
        </p:nvSpPr>
        <p:spPr>
          <a:xfrm>
            <a:off x="4937760" y="3538728"/>
            <a:ext cx="548640" cy="0"/>
          </a:xfrm>
          <a:prstGeom prst="line">
            <a:avLst/>
          </a:prstGeom>
          <a:noFill/>
          <a:ln w="31750">
            <a:solidFill>
              <a:srgbClr val="A9C0D8"/>
            </a:solidFill>
            <a:prstDash val="solid"/>
            <a:tailEnd type="triangle"/>
          </a:ln>
        </p:spPr>
      </p:sp>
      <p:sp>
        <p:nvSpPr>
          <p:cNvPr id="29" name="Shape 27"/>
          <p:cNvSpPr/>
          <p:nvPr/>
        </p:nvSpPr>
        <p:spPr>
          <a:xfrm>
            <a:off x="5577840" y="3355848"/>
            <a:ext cx="320040" cy="365760"/>
          </a:xfrm>
          <a:prstGeom prst="roundRect">
            <a:avLst>
              <a:gd name="adj" fmla="val 14286"/>
            </a:avLst>
          </a:prstGeom>
          <a:solidFill>
            <a:srgbClr val="F4E4DE"/>
          </a:solidFill>
          <a:ln w="12700">
            <a:solidFill>
              <a:srgbClr val="C98F7D"/>
            </a:solidFill>
            <a:prstDash val="solid"/>
          </a:ln>
        </p:spPr>
      </p:sp>
      <p:sp>
        <p:nvSpPr>
          <p:cNvPr id="30" name="Shape 28"/>
          <p:cNvSpPr/>
          <p:nvPr/>
        </p:nvSpPr>
        <p:spPr>
          <a:xfrm>
            <a:off x="5943600" y="3355848"/>
            <a:ext cx="320040" cy="365760"/>
          </a:xfrm>
          <a:prstGeom prst="roundRect">
            <a:avLst>
              <a:gd name="adj" fmla="val 14286"/>
            </a:avLst>
          </a:prstGeom>
          <a:solidFill>
            <a:srgbClr val="F4E4DE"/>
          </a:solidFill>
          <a:ln w="12700">
            <a:solidFill>
              <a:srgbClr val="C98F7D"/>
            </a:solidFill>
            <a:prstDash val="solid"/>
          </a:ln>
        </p:spPr>
      </p:sp>
      <p:sp>
        <p:nvSpPr>
          <p:cNvPr id="31" name="Shape 29"/>
          <p:cNvSpPr/>
          <p:nvPr/>
        </p:nvSpPr>
        <p:spPr>
          <a:xfrm>
            <a:off x="6309360" y="3355848"/>
            <a:ext cx="320040" cy="365760"/>
          </a:xfrm>
          <a:prstGeom prst="roundRect">
            <a:avLst>
              <a:gd name="adj" fmla="val 14286"/>
            </a:avLst>
          </a:prstGeom>
          <a:solidFill>
            <a:srgbClr val="F4E4DE"/>
          </a:solidFill>
          <a:ln w="12700">
            <a:solidFill>
              <a:srgbClr val="C98F7D"/>
            </a:solidFill>
            <a:prstDash val="solid"/>
          </a:ln>
        </p:spPr>
      </p:sp>
      <p:sp>
        <p:nvSpPr>
          <p:cNvPr id="32" name="Shape 30"/>
          <p:cNvSpPr/>
          <p:nvPr/>
        </p:nvSpPr>
        <p:spPr>
          <a:xfrm>
            <a:off x="6675120" y="3355848"/>
            <a:ext cx="320040" cy="365760"/>
          </a:xfrm>
          <a:prstGeom prst="roundRect">
            <a:avLst>
              <a:gd name="adj" fmla="val 14286"/>
            </a:avLst>
          </a:prstGeom>
          <a:solidFill>
            <a:srgbClr val="F4E4DE"/>
          </a:solidFill>
          <a:ln w="12700">
            <a:solidFill>
              <a:srgbClr val="C98F7D"/>
            </a:solidFill>
            <a:prstDash val="solid"/>
          </a:ln>
        </p:spPr>
      </p:sp>
      <p:sp>
        <p:nvSpPr>
          <p:cNvPr id="33" name="Shape 31"/>
          <p:cNvSpPr/>
          <p:nvPr/>
        </p:nvSpPr>
        <p:spPr>
          <a:xfrm>
            <a:off x="7040880" y="3538728"/>
            <a:ext cx="320040" cy="0"/>
          </a:xfrm>
          <a:prstGeom prst="line">
            <a:avLst/>
          </a:prstGeom>
          <a:noFill/>
          <a:ln w="31750">
            <a:solidFill>
              <a:srgbClr val="A9C0D8"/>
            </a:solidFill>
            <a:prstDash val="solid"/>
          </a:ln>
        </p:spPr>
      </p:sp>
      <p:sp>
        <p:nvSpPr>
          <p:cNvPr id="34" name="Shape 32"/>
          <p:cNvSpPr/>
          <p:nvPr/>
        </p:nvSpPr>
        <p:spPr>
          <a:xfrm>
            <a:off x="7360920" y="1892808"/>
            <a:ext cx="0" cy="1645920"/>
          </a:xfrm>
          <a:prstGeom prst="line">
            <a:avLst/>
          </a:prstGeom>
          <a:noFill/>
          <a:ln w="31750">
            <a:solidFill>
              <a:srgbClr val="A9C0D8"/>
            </a:solidFill>
            <a:prstDash val="solid"/>
          </a:ln>
        </p:spPr>
      </p:sp>
      <p:sp>
        <p:nvSpPr>
          <p:cNvPr id="35" name="Shape 33"/>
          <p:cNvSpPr/>
          <p:nvPr/>
        </p:nvSpPr>
        <p:spPr>
          <a:xfrm>
            <a:off x="7360920" y="2715768"/>
            <a:ext cx="411480" cy="0"/>
          </a:xfrm>
          <a:prstGeom prst="line">
            <a:avLst/>
          </a:prstGeom>
          <a:noFill/>
          <a:ln w="31750">
            <a:solidFill>
              <a:srgbClr val="A9C0D8"/>
            </a:solidFill>
            <a:prstDash val="solid"/>
            <a:tailEnd type="triangle"/>
          </a:ln>
        </p:spPr>
      </p:sp>
      <p:sp>
        <p:nvSpPr>
          <p:cNvPr id="36" name="Shape 34"/>
          <p:cNvSpPr/>
          <p:nvPr/>
        </p:nvSpPr>
        <p:spPr>
          <a:xfrm>
            <a:off x="7863840" y="2532888"/>
            <a:ext cx="256032" cy="365760"/>
          </a:xfrm>
          <a:prstGeom prst="roundRect">
            <a:avLst>
              <a:gd name="adj" fmla="val 17857"/>
            </a:avLst>
          </a:prstGeom>
          <a:solidFill>
            <a:srgbClr val="E8EFF7"/>
          </a:solidFill>
          <a:ln w="12700">
            <a:solidFill>
              <a:srgbClr val="A9C0D8"/>
            </a:solidFill>
            <a:prstDash val="solid"/>
          </a:ln>
        </p:spPr>
      </p:sp>
      <p:sp>
        <p:nvSpPr>
          <p:cNvPr id="37" name="Shape 35"/>
          <p:cNvSpPr/>
          <p:nvPr/>
        </p:nvSpPr>
        <p:spPr>
          <a:xfrm>
            <a:off x="8156448" y="2532888"/>
            <a:ext cx="256032" cy="365760"/>
          </a:xfrm>
          <a:prstGeom prst="roundRect">
            <a:avLst>
              <a:gd name="adj" fmla="val 17857"/>
            </a:avLst>
          </a:prstGeom>
          <a:solidFill>
            <a:srgbClr val="E8EFF7"/>
          </a:solidFill>
          <a:ln w="12700">
            <a:solidFill>
              <a:srgbClr val="A9C0D8"/>
            </a:solidFill>
            <a:prstDash val="solid"/>
          </a:ln>
        </p:spPr>
      </p:sp>
      <p:sp>
        <p:nvSpPr>
          <p:cNvPr id="38" name="Shape 36"/>
          <p:cNvSpPr/>
          <p:nvPr/>
        </p:nvSpPr>
        <p:spPr>
          <a:xfrm>
            <a:off x="8449056" y="2532888"/>
            <a:ext cx="256032" cy="365760"/>
          </a:xfrm>
          <a:prstGeom prst="roundRect">
            <a:avLst>
              <a:gd name="adj" fmla="val 17857"/>
            </a:avLst>
          </a:prstGeom>
          <a:solidFill>
            <a:srgbClr val="E8EFF7"/>
          </a:solidFill>
          <a:ln w="12700">
            <a:solidFill>
              <a:srgbClr val="A9C0D8"/>
            </a:solidFill>
            <a:prstDash val="solid"/>
          </a:ln>
        </p:spPr>
      </p:sp>
      <p:sp>
        <p:nvSpPr>
          <p:cNvPr id="39" name="Shape 37"/>
          <p:cNvSpPr/>
          <p:nvPr/>
        </p:nvSpPr>
        <p:spPr>
          <a:xfrm>
            <a:off x="8741664" y="2532888"/>
            <a:ext cx="256032" cy="365760"/>
          </a:xfrm>
          <a:prstGeom prst="roundRect">
            <a:avLst>
              <a:gd name="adj" fmla="val 17857"/>
            </a:avLst>
          </a:prstGeom>
          <a:solidFill>
            <a:srgbClr val="E8EFF7"/>
          </a:solidFill>
          <a:ln w="12700">
            <a:solidFill>
              <a:srgbClr val="A9C0D8"/>
            </a:solidFill>
            <a:prstDash val="solid"/>
          </a:ln>
        </p:spPr>
      </p:sp>
      <p:sp>
        <p:nvSpPr>
          <p:cNvPr id="40" name="Shape 38"/>
          <p:cNvSpPr/>
          <p:nvPr/>
        </p:nvSpPr>
        <p:spPr>
          <a:xfrm>
            <a:off x="9052560" y="2532888"/>
            <a:ext cx="256032" cy="365760"/>
          </a:xfrm>
          <a:prstGeom prst="roundRect">
            <a:avLst>
              <a:gd name="adj" fmla="val 17857"/>
            </a:avLst>
          </a:prstGeom>
          <a:solidFill>
            <a:srgbClr val="E4ECE7"/>
          </a:solidFill>
          <a:ln w="12700">
            <a:solidFill>
              <a:srgbClr val="8FA99B"/>
            </a:solidFill>
            <a:prstDash val="solid"/>
          </a:ln>
        </p:spPr>
      </p:sp>
      <p:sp>
        <p:nvSpPr>
          <p:cNvPr id="41" name="Shape 39"/>
          <p:cNvSpPr/>
          <p:nvPr/>
        </p:nvSpPr>
        <p:spPr>
          <a:xfrm>
            <a:off x="9345168" y="2532888"/>
            <a:ext cx="256032" cy="365760"/>
          </a:xfrm>
          <a:prstGeom prst="roundRect">
            <a:avLst>
              <a:gd name="adj" fmla="val 17857"/>
            </a:avLst>
          </a:prstGeom>
          <a:solidFill>
            <a:srgbClr val="E4ECE7"/>
          </a:solidFill>
          <a:ln w="12700">
            <a:solidFill>
              <a:srgbClr val="8FA99B"/>
            </a:solidFill>
            <a:prstDash val="solid"/>
          </a:ln>
        </p:spPr>
      </p:sp>
      <p:sp>
        <p:nvSpPr>
          <p:cNvPr id="42" name="Shape 40"/>
          <p:cNvSpPr/>
          <p:nvPr/>
        </p:nvSpPr>
        <p:spPr>
          <a:xfrm>
            <a:off x="9637776" y="2532888"/>
            <a:ext cx="256032" cy="365760"/>
          </a:xfrm>
          <a:prstGeom prst="roundRect">
            <a:avLst>
              <a:gd name="adj" fmla="val 17857"/>
            </a:avLst>
          </a:prstGeom>
          <a:solidFill>
            <a:srgbClr val="E4ECE7"/>
          </a:solidFill>
          <a:ln w="12700">
            <a:solidFill>
              <a:srgbClr val="8FA99B"/>
            </a:solidFill>
            <a:prstDash val="solid"/>
          </a:ln>
        </p:spPr>
      </p:sp>
      <p:sp>
        <p:nvSpPr>
          <p:cNvPr id="43" name="Shape 41"/>
          <p:cNvSpPr/>
          <p:nvPr/>
        </p:nvSpPr>
        <p:spPr>
          <a:xfrm>
            <a:off x="9930384" y="2532888"/>
            <a:ext cx="256032" cy="365760"/>
          </a:xfrm>
          <a:prstGeom prst="roundRect">
            <a:avLst>
              <a:gd name="adj" fmla="val 17857"/>
            </a:avLst>
          </a:prstGeom>
          <a:solidFill>
            <a:srgbClr val="E4ECE7"/>
          </a:solidFill>
          <a:ln w="12700">
            <a:solidFill>
              <a:srgbClr val="8FA99B"/>
            </a:solidFill>
            <a:prstDash val="solid"/>
          </a:ln>
        </p:spPr>
      </p:sp>
      <p:sp>
        <p:nvSpPr>
          <p:cNvPr id="44" name="Shape 42"/>
          <p:cNvSpPr/>
          <p:nvPr/>
        </p:nvSpPr>
        <p:spPr>
          <a:xfrm>
            <a:off x="10241280" y="2532888"/>
            <a:ext cx="256032" cy="365760"/>
          </a:xfrm>
          <a:prstGeom prst="roundRect">
            <a:avLst>
              <a:gd name="adj" fmla="val 17857"/>
            </a:avLst>
          </a:prstGeom>
          <a:solidFill>
            <a:srgbClr val="F4E4DE"/>
          </a:solidFill>
          <a:ln w="12700">
            <a:solidFill>
              <a:srgbClr val="C98F7D"/>
            </a:solidFill>
            <a:prstDash val="solid"/>
          </a:ln>
        </p:spPr>
      </p:sp>
      <p:sp>
        <p:nvSpPr>
          <p:cNvPr id="45" name="Shape 43"/>
          <p:cNvSpPr/>
          <p:nvPr/>
        </p:nvSpPr>
        <p:spPr>
          <a:xfrm>
            <a:off x="10533888" y="2532888"/>
            <a:ext cx="256032" cy="365760"/>
          </a:xfrm>
          <a:prstGeom prst="roundRect">
            <a:avLst>
              <a:gd name="adj" fmla="val 17857"/>
            </a:avLst>
          </a:prstGeom>
          <a:solidFill>
            <a:srgbClr val="F4E4DE"/>
          </a:solidFill>
          <a:ln w="12700">
            <a:solidFill>
              <a:srgbClr val="C98F7D"/>
            </a:solidFill>
            <a:prstDash val="solid"/>
          </a:ln>
        </p:spPr>
      </p:sp>
      <p:sp>
        <p:nvSpPr>
          <p:cNvPr id="46" name="Shape 44"/>
          <p:cNvSpPr/>
          <p:nvPr/>
        </p:nvSpPr>
        <p:spPr>
          <a:xfrm>
            <a:off x="10826496" y="2532888"/>
            <a:ext cx="256032" cy="365760"/>
          </a:xfrm>
          <a:prstGeom prst="roundRect">
            <a:avLst>
              <a:gd name="adj" fmla="val 17857"/>
            </a:avLst>
          </a:prstGeom>
          <a:solidFill>
            <a:srgbClr val="F4E4DE"/>
          </a:solidFill>
          <a:ln w="12700">
            <a:solidFill>
              <a:srgbClr val="C98F7D"/>
            </a:solidFill>
            <a:prstDash val="solid"/>
          </a:ln>
        </p:spPr>
      </p:sp>
      <p:sp>
        <p:nvSpPr>
          <p:cNvPr id="47" name="Shape 45"/>
          <p:cNvSpPr/>
          <p:nvPr/>
        </p:nvSpPr>
        <p:spPr>
          <a:xfrm>
            <a:off x="11119104" y="2532888"/>
            <a:ext cx="256032" cy="365760"/>
          </a:xfrm>
          <a:prstGeom prst="roundRect">
            <a:avLst>
              <a:gd name="adj" fmla="val 17857"/>
            </a:avLst>
          </a:prstGeom>
          <a:solidFill>
            <a:srgbClr val="F4E4DE"/>
          </a:solidFill>
          <a:ln w="12700">
            <a:solidFill>
              <a:srgbClr val="C98F7D"/>
            </a:solidFill>
            <a:prstDash val="solid"/>
          </a:ln>
        </p:spPr>
      </p:sp>
      <p:sp>
        <p:nvSpPr>
          <p:cNvPr id="48" name="Text 46"/>
          <p:cNvSpPr txBox="1"/>
          <p:nvPr/>
        </p:nvSpPr>
        <p:spPr>
          <a:xfrm>
            <a:off x="7863840" y="2971800"/>
            <a:ext cx="356616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joined end to end</a:t>
            </a:r>
            <a:endParaRPr lang="en-US" sz="1300" dirty="0"/>
          </a:p>
        </p:txBody>
      </p:sp>
      <p:sp>
        <p:nvSpPr>
          <p:cNvPr id="49" name="Text 47"/>
          <p:cNvSpPr txBox="1"/>
          <p:nvPr/>
        </p:nvSpPr>
        <p:spPr>
          <a:xfrm>
            <a:off x="640080" y="3977640"/>
            <a:ext cx="10908792" cy="365760"/>
          </a:xfrm>
          <a:prstGeom prst="rect">
            <a:avLst/>
          </a:prstGeom>
          <a:noFill/>
          <a:ln/>
        </p:spPr>
        <p:txBody>
          <a:bodyPr wrap="square" lIns="0" tIns="0" rIns="0" bIns="0" rtlCol="0" anchor="t"/>
          <a:lstStyle/>
          <a:p>
            <a:pPr algn="ctr" indent="0" marL="0">
              <a:buNone/>
            </a:pPr>
            <a:r>
              <a:rPr lang="en-US" sz="1600" b="1" dirty="0">
                <a:solidFill>
                  <a:srgbClr val="435466"/>
                </a:solidFill>
                <a:latin typeface="Inter" pitchFamily="34" charset="0"/>
                <a:ea typeface="Inter" pitchFamily="34" charset="-122"/>
                <a:cs typeface="Inter" pitchFamily="34" charset="-120"/>
              </a:rPr>
              <a:t>output width = output_dimension × num_heads   (here 4 × 3 = 12)</a:t>
            </a:r>
            <a:endParaRPr lang="en-US" sz="1600" dirty="0"/>
          </a:p>
        </p:txBody>
      </p:sp>
      <p:sp>
        <p:nvSpPr>
          <p:cNvPr id="50" name="Shape 48"/>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51" name="Text 49"/>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52" name="Text 50"/>
          <p:cNvSpPr txBox="1"/>
          <p:nvPr/>
        </p:nvSpPr>
        <p:spPr>
          <a:xfrm>
            <a:off x="192024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Head</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one full attention unit with its own Q, K, V</a:t>
            </a:r>
            <a:endParaRPr lang="en-US" sz="1800" dirty="0"/>
          </a:p>
        </p:txBody>
      </p:sp>
      <p:sp>
        <p:nvSpPr>
          <p:cNvPr id="53" name="Text 51"/>
          <p:cNvSpPr txBox="1"/>
          <p:nvPr/>
        </p:nvSpPr>
        <p:spPr>
          <a:xfrm>
            <a:off x="428625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num_heads</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how many heads run side by side</a:t>
            </a:r>
            <a:endParaRPr lang="en-US" sz="1800" dirty="0"/>
          </a:p>
        </p:txBody>
      </p:sp>
      <p:sp>
        <p:nvSpPr>
          <p:cNvPr id="54" name="Text 52"/>
          <p:cNvSpPr txBox="1"/>
          <p:nvPr/>
        </p:nvSpPr>
        <p:spPr>
          <a:xfrm>
            <a:off x="665226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output_dimension</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numbers in each head's output vector</a:t>
            </a:r>
            <a:endParaRPr lang="en-US" sz="1800" dirty="0"/>
          </a:p>
        </p:txBody>
      </p:sp>
      <p:sp>
        <p:nvSpPr>
          <p:cNvPr id="55" name="Text 53"/>
          <p:cNvSpPr txBox="1"/>
          <p:nvPr/>
        </p:nvSpPr>
        <p:spPr>
          <a:xfrm>
            <a:off x="901827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Concatenate</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join vectors end to end</a:t>
            </a:r>
            <a:endParaRPr lang="en-US" sz="1800" dirty="0"/>
          </a:p>
        </p:txBody>
      </p:sp>
      <p:sp>
        <p:nvSpPr>
          <p:cNvPr id="56" name="Shape 54"/>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57" name="Shape 55"/>
          <p:cNvSpPr/>
          <p:nvPr/>
        </p:nvSpPr>
        <p:spPr>
          <a:xfrm>
            <a:off x="914400" y="5509260"/>
            <a:ext cx="548640" cy="548640"/>
          </a:xfrm>
          <a:prstGeom prst="ellipse">
            <a:avLst/>
          </a:prstGeom>
          <a:solidFill>
            <a:srgbClr val="FFFFFF"/>
          </a:solidFill>
          <a:ln w="15875">
            <a:solidFill>
              <a:srgbClr val="8FA99B"/>
            </a:solidFill>
            <a:prstDash val="solid"/>
          </a:ln>
        </p:spPr>
      </p:sp>
      <p:pic>
        <p:nvPicPr>
          <p:cNvPr id="58"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59" name="Text 56"/>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Several heads let the model notice several kinds of relationships at once.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15</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The fast versions PyTorch provides</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Same ideas, already written and optimized by PyTorch.</a:t>
            </a:r>
            <a:endParaRPr lang="en-US" sz="1600" dirty="0"/>
          </a:p>
        </p:txBody>
      </p:sp>
      <p:sp>
        <p:nvSpPr>
          <p:cNvPr id="5" name="Shape 3"/>
          <p:cNvSpPr/>
          <p:nvPr/>
        </p:nvSpPr>
        <p:spPr>
          <a:xfrm>
            <a:off x="640080" y="1554480"/>
            <a:ext cx="5257800" cy="2697480"/>
          </a:xfrm>
          <a:prstGeom prst="roundRect">
            <a:avLst>
              <a:gd name="adj" fmla="val 5085"/>
            </a:avLst>
          </a:prstGeom>
          <a:solidFill>
            <a:srgbClr val="FFFFFF"/>
          </a:solidFill>
          <a:ln w="15875">
            <a:solidFill>
              <a:srgbClr val="A9C0D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60120" y="1673352"/>
            <a:ext cx="4617720" cy="384048"/>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PyTorchAttentionV1</a:t>
            </a:r>
            <a:endParaRPr lang="en-US" sz="1900" dirty="0"/>
          </a:p>
        </p:txBody>
      </p:sp>
      <p:sp>
        <p:nvSpPr>
          <p:cNvPr id="7" name="Text 5"/>
          <p:cNvSpPr txBox="1"/>
          <p:nvPr/>
        </p:nvSpPr>
        <p:spPr>
          <a:xfrm>
            <a:off x="960120" y="2103120"/>
            <a:ext cx="3785616" cy="347472"/>
          </a:xfrm>
          <a:prstGeom prst="roundRect">
            <a:avLst>
              <a:gd name="adj" fmla="val 26316"/>
            </a:avLst>
          </a:prstGeom>
          <a:solidFill>
            <a:srgbClr val="E8EFF7"/>
          </a:solidFill>
          <a:ln w="15875">
            <a:solidFill>
              <a:srgbClr val="A9C0D8"/>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scaled_dot_product_attention</a:t>
            </a:r>
            <a:endParaRPr lang="en-US" sz="1300" dirty="0"/>
          </a:p>
        </p:txBody>
      </p:sp>
      <p:sp>
        <p:nvSpPr>
          <p:cNvPr id="8" name="Shape 6"/>
          <p:cNvSpPr/>
          <p:nvPr/>
        </p:nvSpPr>
        <p:spPr>
          <a:xfrm>
            <a:off x="1005840" y="2697480"/>
            <a:ext cx="109728" cy="109728"/>
          </a:xfrm>
          <a:prstGeom prst="ellipse">
            <a:avLst/>
          </a:prstGeom>
          <a:solidFill>
            <a:srgbClr val="8FA99B"/>
          </a:solidFill>
          <a:ln w="6350">
            <a:solidFill>
              <a:srgbClr val="8FA99B"/>
            </a:solidFill>
            <a:prstDash val="solid"/>
          </a:ln>
        </p:spPr>
      </p:sp>
      <p:sp>
        <p:nvSpPr>
          <p:cNvPr id="9" name="Text 7"/>
          <p:cNvSpPr txBox="1"/>
          <p:nvPr/>
        </p:nvSpPr>
        <p:spPr>
          <a:xfrm>
            <a:off x="1234440" y="2578608"/>
            <a:ext cx="4389120" cy="36576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Uses the input directly as Q, K and V</a:t>
            </a:r>
            <a:endParaRPr lang="en-US" sz="1400" dirty="0"/>
          </a:p>
        </p:txBody>
      </p:sp>
      <p:sp>
        <p:nvSpPr>
          <p:cNvPr id="10" name="Shape 8"/>
          <p:cNvSpPr/>
          <p:nvPr/>
        </p:nvSpPr>
        <p:spPr>
          <a:xfrm>
            <a:off x="1005840" y="3099816"/>
            <a:ext cx="109728" cy="109728"/>
          </a:xfrm>
          <a:prstGeom prst="ellipse">
            <a:avLst/>
          </a:prstGeom>
          <a:solidFill>
            <a:srgbClr val="8FA99B"/>
          </a:solidFill>
          <a:ln w="6350">
            <a:solidFill>
              <a:srgbClr val="8FA99B"/>
            </a:solidFill>
            <a:prstDash val="solid"/>
          </a:ln>
        </p:spPr>
      </p:sp>
      <p:sp>
        <p:nvSpPr>
          <p:cNvPr id="11" name="Text 9"/>
          <p:cNvSpPr txBox="1"/>
          <p:nvPr/>
        </p:nvSpPr>
        <p:spPr>
          <a:xfrm>
            <a:off x="1234440" y="2980944"/>
            <a:ext cx="4389120" cy="36576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Nothing learned: simple attention plus scaling</a:t>
            </a:r>
            <a:endParaRPr lang="en-US" sz="1400" dirty="0"/>
          </a:p>
        </p:txBody>
      </p:sp>
      <p:sp>
        <p:nvSpPr>
          <p:cNvPr id="12" name="Shape 10"/>
          <p:cNvSpPr/>
          <p:nvPr/>
        </p:nvSpPr>
        <p:spPr>
          <a:xfrm>
            <a:off x="1005840" y="3502152"/>
            <a:ext cx="109728" cy="109728"/>
          </a:xfrm>
          <a:prstGeom prst="ellipse">
            <a:avLst/>
          </a:prstGeom>
          <a:solidFill>
            <a:srgbClr val="8FA99B"/>
          </a:solidFill>
          <a:ln w="6350">
            <a:solidFill>
              <a:srgbClr val="8FA99B"/>
            </a:solidFill>
            <a:prstDash val="solid"/>
          </a:ln>
        </p:spPr>
      </p:sp>
      <p:sp>
        <p:nvSpPr>
          <p:cNvPr id="13" name="Text 11"/>
          <p:cNvSpPr txBox="1"/>
          <p:nvPr/>
        </p:nvSpPr>
        <p:spPr>
          <a:xfrm>
            <a:off x="1234440" y="3383280"/>
            <a:ext cx="4389120" cy="36576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Optional causal mask (is_causal)</a:t>
            </a:r>
            <a:endParaRPr lang="en-US" sz="1400" dirty="0"/>
          </a:p>
        </p:txBody>
      </p:sp>
      <p:sp>
        <p:nvSpPr>
          <p:cNvPr id="14" name="Shape 12"/>
          <p:cNvSpPr/>
          <p:nvPr/>
        </p:nvSpPr>
        <p:spPr>
          <a:xfrm>
            <a:off x="1005840" y="3904488"/>
            <a:ext cx="109728" cy="109728"/>
          </a:xfrm>
          <a:prstGeom prst="ellipse">
            <a:avLst/>
          </a:prstGeom>
          <a:solidFill>
            <a:srgbClr val="8FA99B"/>
          </a:solidFill>
          <a:ln w="6350">
            <a:solidFill>
              <a:srgbClr val="8FA99B"/>
            </a:solidFill>
            <a:prstDash val="solid"/>
          </a:ln>
        </p:spPr>
      </p:sp>
      <p:sp>
        <p:nvSpPr>
          <p:cNvPr id="15" name="Text 13"/>
          <p:cNvSpPr txBox="1"/>
          <p:nvPr/>
        </p:nvSpPr>
        <p:spPr>
          <a:xfrm>
            <a:off x="1234440" y="3785616"/>
            <a:ext cx="4389120" cy="36576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May use a fused kernel for speed</a:t>
            </a:r>
            <a:endParaRPr lang="en-US" sz="1400" dirty="0"/>
          </a:p>
        </p:txBody>
      </p:sp>
      <p:sp>
        <p:nvSpPr>
          <p:cNvPr id="16" name="Shape 14"/>
          <p:cNvSpPr/>
          <p:nvPr/>
        </p:nvSpPr>
        <p:spPr>
          <a:xfrm>
            <a:off x="6291072" y="1554480"/>
            <a:ext cx="5257800" cy="2697480"/>
          </a:xfrm>
          <a:prstGeom prst="roundRect">
            <a:avLst>
              <a:gd name="adj" fmla="val 5085"/>
            </a:avLst>
          </a:prstGeom>
          <a:solidFill>
            <a:srgbClr val="FFFFFF"/>
          </a:solidFill>
          <a:ln w="15875">
            <a:solidFill>
              <a:srgbClr val="A9C0D8"/>
            </a:solidFill>
            <a:prstDash val="solid"/>
          </a:ln>
          <a:effectLst>
            <a:outerShdw sx="100000" sy="100000" kx="0" ky="0" algn="bl" rotWithShape="0" blurRad="101600" dist="25400" dir="5400000">
              <a:srgbClr val="435466">
                <a:alpha val="8000"/>
              </a:srgbClr>
            </a:outerShdw>
          </a:effectLst>
        </p:spPr>
      </p:sp>
      <p:sp>
        <p:nvSpPr>
          <p:cNvPr id="17" name="Text 15"/>
          <p:cNvSpPr txBox="1"/>
          <p:nvPr/>
        </p:nvSpPr>
        <p:spPr>
          <a:xfrm>
            <a:off x="6611112" y="1673352"/>
            <a:ext cx="4617720" cy="384048"/>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PyTorchAttentionV2</a:t>
            </a:r>
            <a:endParaRPr lang="en-US" sz="1900" dirty="0"/>
          </a:p>
        </p:txBody>
      </p:sp>
      <p:sp>
        <p:nvSpPr>
          <p:cNvPr id="18" name="Text 16"/>
          <p:cNvSpPr txBox="1"/>
          <p:nvPr/>
        </p:nvSpPr>
        <p:spPr>
          <a:xfrm>
            <a:off x="6611112" y="2103120"/>
            <a:ext cx="2953512" cy="347472"/>
          </a:xfrm>
          <a:prstGeom prst="roundRect">
            <a:avLst>
              <a:gd name="adj" fmla="val 26316"/>
            </a:avLst>
          </a:prstGeom>
          <a:solidFill>
            <a:srgbClr val="E8EFF7"/>
          </a:solidFill>
          <a:ln w="15875">
            <a:solidFill>
              <a:srgbClr val="A9C0D8"/>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nn.MultiheadAttention</a:t>
            </a:r>
            <a:endParaRPr lang="en-US" sz="1300" dirty="0"/>
          </a:p>
        </p:txBody>
      </p:sp>
      <p:sp>
        <p:nvSpPr>
          <p:cNvPr id="19" name="Shape 17"/>
          <p:cNvSpPr/>
          <p:nvPr/>
        </p:nvSpPr>
        <p:spPr>
          <a:xfrm>
            <a:off x="6656832" y="2697480"/>
            <a:ext cx="109728" cy="109728"/>
          </a:xfrm>
          <a:prstGeom prst="ellipse">
            <a:avLst/>
          </a:prstGeom>
          <a:solidFill>
            <a:srgbClr val="8FA99B"/>
          </a:solidFill>
          <a:ln w="6350">
            <a:solidFill>
              <a:srgbClr val="8FA99B"/>
            </a:solidFill>
            <a:prstDash val="solid"/>
          </a:ln>
        </p:spPr>
      </p:sp>
      <p:sp>
        <p:nvSpPr>
          <p:cNvPr id="20" name="Text 18"/>
          <p:cNvSpPr txBox="1"/>
          <p:nvPr/>
        </p:nvSpPr>
        <p:spPr>
          <a:xfrm>
            <a:off x="6885432" y="2578608"/>
            <a:ext cx="4389120" cy="36576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Learned Q, K, V layers, split into heads</a:t>
            </a:r>
            <a:endParaRPr lang="en-US" sz="1400" dirty="0"/>
          </a:p>
        </p:txBody>
      </p:sp>
      <p:sp>
        <p:nvSpPr>
          <p:cNvPr id="21" name="Shape 19"/>
          <p:cNvSpPr/>
          <p:nvPr/>
        </p:nvSpPr>
        <p:spPr>
          <a:xfrm>
            <a:off x="6656832" y="3099816"/>
            <a:ext cx="109728" cy="109728"/>
          </a:xfrm>
          <a:prstGeom prst="ellipse">
            <a:avLst/>
          </a:prstGeom>
          <a:solidFill>
            <a:srgbClr val="8FA99B"/>
          </a:solidFill>
          <a:ln w="6350">
            <a:solidFill>
              <a:srgbClr val="8FA99B"/>
            </a:solidFill>
            <a:prstDash val="solid"/>
          </a:ln>
        </p:spPr>
      </p:sp>
      <p:sp>
        <p:nvSpPr>
          <p:cNvPr id="22" name="Text 20"/>
          <p:cNvSpPr txBox="1"/>
          <p:nvPr/>
        </p:nvSpPr>
        <p:spPr>
          <a:xfrm>
            <a:off x="6885432" y="2980944"/>
            <a:ext cx="4389120" cy="36576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Joins heads with a final output layer</a:t>
            </a:r>
            <a:endParaRPr lang="en-US" sz="1400" dirty="0"/>
          </a:p>
        </p:txBody>
      </p:sp>
      <p:sp>
        <p:nvSpPr>
          <p:cNvPr id="23" name="Shape 21"/>
          <p:cNvSpPr/>
          <p:nvPr/>
        </p:nvSpPr>
        <p:spPr>
          <a:xfrm>
            <a:off x="6656832" y="3502152"/>
            <a:ext cx="109728" cy="109728"/>
          </a:xfrm>
          <a:prstGeom prst="ellipse">
            <a:avLst/>
          </a:prstGeom>
          <a:solidFill>
            <a:srgbClr val="8FA99B"/>
          </a:solidFill>
          <a:ln w="6350">
            <a:solidFill>
              <a:srgbClr val="8FA99B"/>
            </a:solidFill>
            <a:prstDash val="solid"/>
          </a:ln>
        </p:spPr>
      </p:sp>
      <p:sp>
        <p:nvSpPr>
          <p:cNvPr id="24" name="Text 22"/>
          <p:cNvSpPr txBox="1"/>
          <p:nvPr/>
        </p:nvSpPr>
        <p:spPr>
          <a:xfrm>
            <a:off x="6885432" y="3383280"/>
            <a:ext cx="4389120" cy="36576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Input must be a batch</a:t>
            </a:r>
            <a:endParaRPr lang="en-US" sz="1400" dirty="0"/>
          </a:p>
        </p:txBody>
      </p:sp>
      <p:sp>
        <p:nvSpPr>
          <p:cNvPr id="25" name="Shape 23"/>
          <p:cNvSpPr/>
          <p:nvPr/>
        </p:nvSpPr>
        <p:spPr>
          <a:xfrm>
            <a:off x="6656832" y="3904488"/>
            <a:ext cx="109728" cy="109728"/>
          </a:xfrm>
          <a:prstGeom prst="ellipse">
            <a:avLst/>
          </a:prstGeom>
          <a:solidFill>
            <a:srgbClr val="8FA99B"/>
          </a:solidFill>
          <a:ln w="6350">
            <a:solidFill>
              <a:srgbClr val="8FA99B"/>
            </a:solidFill>
            <a:prstDash val="solid"/>
          </a:ln>
        </p:spPr>
      </p:sp>
      <p:sp>
        <p:nvSpPr>
          <p:cNvPr id="26" name="Text 24"/>
          <p:cNvSpPr txBox="1"/>
          <p:nvPr/>
        </p:nvSpPr>
        <p:spPr>
          <a:xfrm>
            <a:off x="6885432" y="3785616"/>
            <a:ext cx="4389120" cy="365760"/>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Output keeps the input's width</a:t>
            </a:r>
            <a:endParaRPr lang="en-US" sz="1400" dirty="0"/>
          </a:p>
        </p:txBody>
      </p:sp>
      <p:sp>
        <p:nvSpPr>
          <p:cNvPr id="27" name="Shape 25"/>
          <p:cNvSpPr/>
          <p:nvPr/>
        </p:nvSpPr>
        <p:spPr>
          <a:xfrm>
            <a:off x="640080" y="4434840"/>
            <a:ext cx="10908792" cy="777240"/>
          </a:xfrm>
          <a:prstGeom prst="roundRect">
            <a:avLst>
              <a:gd name="adj" fmla="val 1764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8" name="Text 26"/>
          <p:cNvSpPr txBox="1"/>
          <p:nvPr/>
        </p:nvSpPr>
        <p:spPr>
          <a:xfrm>
            <a:off x="822960" y="4434840"/>
            <a:ext cx="1097280" cy="777240"/>
          </a:xfrm>
          <a:prstGeom prst="rect">
            <a:avLst/>
          </a:prstGeom>
          <a:noFill/>
          <a:ln/>
        </p:spPr>
        <p:txBody>
          <a:bodyPr wrap="square" lIns="0" tIns="0" rIns="0" bIns="0" rtlCol="0" anchor="ctr"/>
          <a:lstStyle/>
          <a:p>
            <a:pPr indent="0" marL="0">
              <a:buNone/>
            </a:pPr>
            <a:r>
              <a:rPr lang="en-US" sz="1100" b="1" spc="200" kern="0" dirty="0">
                <a:solidFill>
                  <a:srgbClr val="66768A"/>
                </a:solidFill>
                <a:latin typeface="Inter" pitchFamily="34" charset="0"/>
                <a:ea typeface="Inter" pitchFamily="34" charset="-122"/>
                <a:cs typeface="Inter" pitchFamily="34" charset="-120"/>
              </a:rPr>
              <a:t>NEW</a:t>
            </a:r>
            <a:endParaRPr lang="en-US" sz="1100" dirty="0"/>
          </a:p>
          <a:p>
            <a:pPr indent="0" marL="0">
              <a:buNone/>
            </a:pPr>
            <a:r>
              <a:rPr lang="en-US" sz="1100" b="1" spc="200" kern="0" dirty="0">
                <a:solidFill>
                  <a:srgbClr val="66768A"/>
                </a:solidFill>
                <a:latin typeface="Inter" pitchFamily="34" charset="0"/>
                <a:ea typeface="Inter" pitchFamily="34" charset="-122"/>
                <a:cs typeface="Inter" pitchFamily="34" charset="-120"/>
              </a:rPr>
              <a:t>WORDS</a:t>
            </a:r>
            <a:endParaRPr lang="en-US" sz="1100" dirty="0"/>
          </a:p>
        </p:txBody>
      </p:sp>
      <p:sp>
        <p:nvSpPr>
          <p:cNvPr id="29" name="Text 27"/>
          <p:cNvSpPr txBox="1"/>
          <p:nvPr/>
        </p:nvSpPr>
        <p:spPr>
          <a:xfrm>
            <a:off x="192024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Batch</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several sentences processed together</a:t>
            </a:r>
            <a:endParaRPr lang="en-US" sz="1800" dirty="0"/>
          </a:p>
        </p:txBody>
      </p:sp>
      <p:sp>
        <p:nvSpPr>
          <p:cNvPr id="30" name="Text 28"/>
          <p:cNvSpPr txBox="1"/>
          <p:nvPr/>
        </p:nvSpPr>
        <p:spPr>
          <a:xfrm>
            <a:off x="428625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Fused kernel</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one combined, speed-tuned routine for the chip</a:t>
            </a:r>
            <a:endParaRPr lang="en-US" sz="1800" dirty="0"/>
          </a:p>
        </p:txBody>
      </p:sp>
      <p:sp>
        <p:nvSpPr>
          <p:cNvPr id="31" name="Text 29"/>
          <p:cNvSpPr txBox="1"/>
          <p:nvPr/>
        </p:nvSpPr>
        <p:spPr>
          <a:xfrm>
            <a:off x="665226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embedding_dim</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numbers per token; divisible by num_heads</a:t>
            </a:r>
            <a:endParaRPr lang="en-US" sz="1800" dirty="0"/>
          </a:p>
        </p:txBody>
      </p:sp>
      <p:sp>
        <p:nvSpPr>
          <p:cNvPr id="32" name="Text 30"/>
          <p:cNvSpPr txBox="1"/>
          <p:nvPr/>
        </p:nvSpPr>
        <p:spPr>
          <a:xfrm>
            <a:off x="9018270" y="4480560"/>
            <a:ext cx="2228850" cy="685800"/>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Built-in</a:t>
            </a:r>
            <a:endParaRPr lang="en-US" sz="1800" dirty="0"/>
          </a:p>
          <a:p>
            <a:pPr indent="0" marL="0">
              <a:buNone/>
            </a:pPr>
            <a:r>
              <a:rPr lang="en-US" sz="1200" dirty="0">
                <a:solidFill>
                  <a:srgbClr val="66768A"/>
                </a:solidFill>
                <a:latin typeface="Inter" pitchFamily="34" charset="0"/>
                <a:ea typeface="Inter" pitchFamily="34" charset="-122"/>
                <a:cs typeface="Inter" pitchFamily="34" charset="-120"/>
              </a:rPr>
              <a:t>provided by PyTorch, no need to write it</a:t>
            </a:r>
            <a:endParaRPr lang="en-US" sz="1800" dirty="0"/>
          </a:p>
        </p:txBody>
      </p:sp>
      <p:sp>
        <p:nvSpPr>
          <p:cNvPr id="33" name="Shape 31"/>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34" name="Shape 32"/>
          <p:cNvSpPr/>
          <p:nvPr/>
        </p:nvSpPr>
        <p:spPr>
          <a:xfrm>
            <a:off x="914400" y="5509260"/>
            <a:ext cx="548640" cy="548640"/>
          </a:xfrm>
          <a:prstGeom prst="ellipse">
            <a:avLst/>
          </a:prstGeom>
          <a:solidFill>
            <a:srgbClr val="FFFFFF"/>
          </a:solidFill>
          <a:ln w="15875">
            <a:solidFill>
              <a:srgbClr val="8FA99B"/>
            </a:solidFill>
            <a:prstDash val="solid"/>
          </a:ln>
        </p:spPr>
      </p:sp>
      <p:pic>
        <p:nvPicPr>
          <p:cNvPr id="35"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36" name="Text 33"/>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In real projects, use the built-ins: same ideas, faster code.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16</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Side by side</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Filled dot = yes.   "opt" = optional.   Dash = no.</a:t>
            </a:r>
            <a:endParaRPr lang="en-US" sz="1600" dirty="0"/>
          </a:p>
        </p:txBody>
      </p:sp>
      <p:sp>
        <p:nvSpPr>
          <p:cNvPr id="5" name="Shape 3"/>
          <p:cNvSpPr/>
          <p:nvPr/>
        </p:nvSpPr>
        <p:spPr>
          <a:xfrm>
            <a:off x="640080" y="1508760"/>
            <a:ext cx="10908792" cy="3712464"/>
          </a:xfrm>
          <a:prstGeom prst="roundRect">
            <a:avLst>
              <a:gd name="adj" fmla="val 369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4206240" y="1618488"/>
            <a:ext cx="1413662" cy="365760"/>
          </a:xfrm>
          <a:prstGeom prst="rect">
            <a:avLst/>
          </a:prstGeom>
          <a:noFill/>
          <a:ln/>
        </p:spPr>
        <p:txBody>
          <a:bodyPr wrap="square" lIns="0" tIns="0" rIns="0" bIns="0" rtlCol="0" anchor="ctr"/>
          <a:lstStyle/>
          <a:p>
            <a:pPr algn="ctr" indent="0" marL="0">
              <a:buNone/>
            </a:pPr>
            <a:r>
              <a:rPr lang="en-US" sz="1300" b="1" dirty="0">
                <a:solidFill>
                  <a:srgbClr val="66768A"/>
                </a:solidFill>
                <a:latin typeface="Inter" pitchFamily="34" charset="0"/>
                <a:ea typeface="Inter" pitchFamily="34" charset="-122"/>
                <a:cs typeface="Inter" pitchFamily="34" charset="-120"/>
              </a:rPr>
              <a:t>Learned Q/K/V</a:t>
            </a:r>
            <a:endParaRPr lang="en-US" sz="1300" dirty="0"/>
          </a:p>
        </p:txBody>
      </p:sp>
      <p:sp>
        <p:nvSpPr>
          <p:cNvPr id="7" name="Text 5"/>
          <p:cNvSpPr txBox="1"/>
          <p:nvPr/>
        </p:nvSpPr>
        <p:spPr>
          <a:xfrm>
            <a:off x="5619902" y="1618488"/>
            <a:ext cx="1413662" cy="365760"/>
          </a:xfrm>
          <a:prstGeom prst="rect">
            <a:avLst/>
          </a:prstGeom>
          <a:noFill/>
          <a:ln/>
        </p:spPr>
        <p:txBody>
          <a:bodyPr wrap="square" lIns="0" tIns="0" rIns="0" bIns="0" rtlCol="0" anchor="ctr"/>
          <a:lstStyle/>
          <a:p>
            <a:pPr algn="ctr" indent="0" marL="0">
              <a:buNone/>
            </a:pPr>
            <a:r>
              <a:rPr lang="en-US" sz="1300" b="1" dirty="0">
                <a:solidFill>
                  <a:srgbClr val="66768A"/>
                </a:solidFill>
                <a:latin typeface="Inter" pitchFamily="34" charset="0"/>
                <a:ea typeface="Inter" pitchFamily="34" charset="-122"/>
                <a:cs typeface="Inter" pitchFamily="34" charset="-120"/>
              </a:rPr>
              <a:t>Scaled</a:t>
            </a:r>
            <a:endParaRPr lang="en-US" sz="1300" dirty="0"/>
          </a:p>
        </p:txBody>
      </p:sp>
      <p:sp>
        <p:nvSpPr>
          <p:cNvPr id="8" name="Text 6"/>
          <p:cNvSpPr txBox="1"/>
          <p:nvPr/>
        </p:nvSpPr>
        <p:spPr>
          <a:xfrm>
            <a:off x="7033565" y="1618488"/>
            <a:ext cx="1413662" cy="365760"/>
          </a:xfrm>
          <a:prstGeom prst="rect">
            <a:avLst/>
          </a:prstGeom>
          <a:noFill/>
          <a:ln/>
        </p:spPr>
        <p:txBody>
          <a:bodyPr wrap="square" lIns="0" tIns="0" rIns="0" bIns="0" rtlCol="0" anchor="ctr"/>
          <a:lstStyle/>
          <a:p>
            <a:pPr algn="ctr" indent="0" marL="0">
              <a:buNone/>
            </a:pPr>
            <a:r>
              <a:rPr lang="en-US" sz="1300" b="1" dirty="0">
                <a:solidFill>
                  <a:srgbClr val="66768A"/>
                </a:solidFill>
                <a:latin typeface="Inter" pitchFamily="34" charset="0"/>
                <a:ea typeface="Inter" pitchFamily="34" charset="-122"/>
                <a:cs typeface="Inter" pitchFamily="34" charset="-120"/>
              </a:rPr>
              <a:t>Causal mask</a:t>
            </a:r>
            <a:endParaRPr lang="en-US" sz="1300" dirty="0"/>
          </a:p>
        </p:txBody>
      </p:sp>
      <p:sp>
        <p:nvSpPr>
          <p:cNvPr id="9" name="Text 7"/>
          <p:cNvSpPr txBox="1"/>
          <p:nvPr/>
        </p:nvSpPr>
        <p:spPr>
          <a:xfrm>
            <a:off x="8447227" y="1618488"/>
            <a:ext cx="1413662" cy="365760"/>
          </a:xfrm>
          <a:prstGeom prst="rect">
            <a:avLst/>
          </a:prstGeom>
          <a:noFill/>
          <a:ln/>
        </p:spPr>
        <p:txBody>
          <a:bodyPr wrap="square" lIns="0" tIns="0" rIns="0" bIns="0" rtlCol="0" anchor="ctr"/>
          <a:lstStyle/>
          <a:p>
            <a:pPr algn="ctr" indent="0" marL="0">
              <a:buNone/>
            </a:pPr>
            <a:r>
              <a:rPr lang="en-US" sz="1300" b="1" dirty="0">
                <a:solidFill>
                  <a:srgbClr val="66768A"/>
                </a:solidFill>
                <a:latin typeface="Inter" pitchFamily="34" charset="0"/>
                <a:ea typeface="Inter" pitchFamily="34" charset="-122"/>
                <a:cs typeface="Inter" pitchFamily="34" charset="-120"/>
              </a:rPr>
              <a:t>Dropout</a:t>
            </a:r>
            <a:endParaRPr lang="en-US" sz="1300" dirty="0"/>
          </a:p>
        </p:txBody>
      </p:sp>
      <p:sp>
        <p:nvSpPr>
          <p:cNvPr id="10" name="Text 8"/>
          <p:cNvSpPr txBox="1"/>
          <p:nvPr/>
        </p:nvSpPr>
        <p:spPr>
          <a:xfrm>
            <a:off x="9860890" y="1618488"/>
            <a:ext cx="1413662" cy="365760"/>
          </a:xfrm>
          <a:prstGeom prst="rect">
            <a:avLst/>
          </a:prstGeom>
          <a:noFill/>
          <a:ln/>
        </p:spPr>
        <p:txBody>
          <a:bodyPr wrap="square" lIns="0" tIns="0" rIns="0" bIns="0" rtlCol="0" anchor="ctr"/>
          <a:lstStyle/>
          <a:p>
            <a:pPr algn="ctr" indent="0" marL="0">
              <a:buNone/>
            </a:pPr>
            <a:r>
              <a:rPr lang="en-US" sz="1300" b="1" dirty="0">
                <a:solidFill>
                  <a:srgbClr val="66768A"/>
                </a:solidFill>
                <a:latin typeface="Inter" pitchFamily="34" charset="0"/>
                <a:ea typeface="Inter" pitchFamily="34" charset="-122"/>
                <a:cs typeface="Inter" pitchFamily="34" charset="-120"/>
              </a:rPr>
              <a:t>Heads</a:t>
            </a:r>
            <a:endParaRPr lang="en-US" sz="1300" dirty="0"/>
          </a:p>
        </p:txBody>
      </p:sp>
      <p:sp>
        <p:nvSpPr>
          <p:cNvPr id="11" name="Shape 9"/>
          <p:cNvSpPr/>
          <p:nvPr/>
        </p:nvSpPr>
        <p:spPr>
          <a:xfrm>
            <a:off x="777240" y="2057400"/>
            <a:ext cx="10634472" cy="384048"/>
          </a:xfrm>
          <a:prstGeom prst="rect">
            <a:avLst/>
          </a:prstGeom>
          <a:solidFill>
            <a:srgbClr val="FAF7F2"/>
          </a:solidFill>
          <a:ln w="12700">
            <a:solidFill>
              <a:srgbClr val="FAF7F2"/>
            </a:solidFill>
            <a:prstDash val="solid"/>
          </a:ln>
        </p:spPr>
      </p:sp>
      <p:sp>
        <p:nvSpPr>
          <p:cNvPr id="12" name="Text 10"/>
          <p:cNvSpPr txBox="1"/>
          <p:nvPr/>
        </p:nvSpPr>
        <p:spPr>
          <a:xfrm>
            <a:off x="1005840" y="2057400"/>
            <a:ext cx="3291840" cy="384048"/>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SimpleAttentionV1</a:t>
            </a:r>
            <a:endParaRPr lang="en-US" sz="1500" dirty="0"/>
          </a:p>
        </p:txBody>
      </p:sp>
      <p:sp>
        <p:nvSpPr>
          <p:cNvPr id="13" name="Shape 11"/>
          <p:cNvSpPr/>
          <p:nvPr/>
        </p:nvSpPr>
        <p:spPr>
          <a:xfrm>
            <a:off x="4803343" y="2249424"/>
            <a:ext cx="219456" cy="0"/>
          </a:xfrm>
          <a:prstGeom prst="line">
            <a:avLst/>
          </a:prstGeom>
          <a:noFill/>
          <a:ln w="19050">
            <a:solidFill>
              <a:srgbClr val="66768A"/>
            </a:solidFill>
            <a:prstDash val="solid"/>
          </a:ln>
        </p:spPr>
      </p:sp>
      <p:sp>
        <p:nvSpPr>
          <p:cNvPr id="14" name="Shape 12"/>
          <p:cNvSpPr/>
          <p:nvPr/>
        </p:nvSpPr>
        <p:spPr>
          <a:xfrm>
            <a:off x="6217006" y="2249424"/>
            <a:ext cx="219456" cy="0"/>
          </a:xfrm>
          <a:prstGeom prst="line">
            <a:avLst/>
          </a:prstGeom>
          <a:noFill/>
          <a:ln w="19050">
            <a:solidFill>
              <a:srgbClr val="66768A"/>
            </a:solidFill>
            <a:prstDash val="solid"/>
          </a:ln>
        </p:spPr>
      </p:sp>
      <p:sp>
        <p:nvSpPr>
          <p:cNvPr id="15" name="Shape 13"/>
          <p:cNvSpPr/>
          <p:nvPr/>
        </p:nvSpPr>
        <p:spPr>
          <a:xfrm>
            <a:off x="7630668" y="2249424"/>
            <a:ext cx="219456" cy="0"/>
          </a:xfrm>
          <a:prstGeom prst="line">
            <a:avLst/>
          </a:prstGeom>
          <a:noFill/>
          <a:ln w="19050">
            <a:solidFill>
              <a:srgbClr val="66768A"/>
            </a:solidFill>
            <a:prstDash val="solid"/>
          </a:ln>
        </p:spPr>
      </p:sp>
      <p:sp>
        <p:nvSpPr>
          <p:cNvPr id="16" name="Shape 14"/>
          <p:cNvSpPr/>
          <p:nvPr/>
        </p:nvSpPr>
        <p:spPr>
          <a:xfrm>
            <a:off x="9044330" y="2249424"/>
            <a:ext cx="219456" cy="0"/>
          </a:xfrm>
          <a:prstGeom prst="line">
            <a:avLst/>
          </a:prstGeom>
          <a:noFill/>
          <a:ln w="19050">
            <a:solidFill>
              <a:srgbClr val="66768A"/>
            </a:solidFill>
            <a:prstDash val="solid"/>
          </a:ln>
        </p:spPr>
      </p:sp>
      <p:sp>
        <p:nvSpPr>
          <p:cNvPr id="17" name="Text 15"/>
          <p:cNvSpPr txBox="1"/>
          <p:nvPr/>
        </p:nvSpPr>
        <p:spPr>
          <a:xfrm>
            <a:off x="10019081" y="2057400"/>
            <a:ext cx="1097280" cy="384048"/>
          </a:xfrm>
          <a:prstGeom prst="rect">
            <a:avLst/>
          </a:prstGeom>
          <a:no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1</a:t>
            </a:r>
            <a:endParaRPr lang="en-US" sz="1500" dirty="0"/>
          </a:p>
        </p:txBody>
      </p:sp>
      <p:sp>
        <p:nvSpPr>
          <p:cNvPr id="18" name="Text 16"/>
          <p:cNvSpPr txBox="1"/>
          <p:nvPr/>
        </p:nvSpPr>
        <p:spPr>
          <a:xfrm>
            <a:off x="1005840" y="2441448"/>
            <a:ext cx="3291840" cy="384048"/>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SelfAttentionV1</a:t>
            </a:r>
            <a:endParaRPr lang="en-US" sz="1500" dirty="0"/>
          </a:p>
        </p:txBody>
      </p:sp>
      <p:sp>
        <p:nvSpPr>
          <p:cNvPr id="19" name="Shape 17"/>
          <p:cNvSpPr/>
          <p:nvPr/>
        </p:nvSpPr>
        <p:spPr>
          <a:xfrm>
            <a:off x="4821631" y="2542032"/>
            <a:ext cx="182880" cy="182880"/>
          </a:xfrm>
          <a:prstGeom prst="ellipse">
            <a:avLst/>
          </a:prstGeom>
          <a:solidFill>
            <a:srgbClr val="8FA99B"/>
          </a:solidFill>
          <a:ln w="6350">
            <a:solidFill>
              <a:srgbClr val="8FA99B"/>
            </a:solidFill>
            <a:prstDash val="solid"/>
          </a:ln>
        </p:spPr>
      </p:sp>
      <p:sp>
        <p:nvSpPr>
          <p:cNvPr id="20" name="Shape 18"/>
          <p:cNvSpPr/>
          <p:nvPr/>
        </p:nvSpPr>
        <p:spPr>
          <a:xfrm>
            <a:off x="6235294" y="2542032"/>
            <a:ext cx="182880" cy="182880"/>
          </a:xfrm>
          <a:prstGeom prst="ellipse">
            <a:avLst/>
          </a:prstGeom>
          <a:solidFill>
            <a:srgbClr val="8FA99B"/>
          </a:solidFill>
          <a:ln w="6350">
            <a:solidFill>
              <a:srgbClr val="8FA99B"/>
            </a:solidFill>
            <a:prstDash val="solid"/>
          </a:ln>
        </p:spPr>
      </p:sp>
      <p:sp>
        <p:nvSpPr>
          <p:cNvPr id="21" name="Shape 19"/>
          <p:cNvSpPr/>
          <p:nvPr/>
        </p:nvSpPr>
        <p:spPr>
          <a:xfrm>
            <a:off x="7630668" y="2633472"/>
            <a:ext cx="219456" cy="0"/>
          </a:xfrm>
          <a:prstGeom prst="line">
            <a:avLst/>
          </a:prstGeom>
          <a:noFill/>
          <a:ln w="19050">
            <a:solidFill>
              <a:srgbClr val="66768A"/>
            </a:solidFill>
            <a:prstDash val="solid"/>
          </a:ln>
        </p:spPr>
      </p:sp>
      <p:sp>
        <p:nvSpPr>
          <p:cNvPr id="22" name="Shape 20"/>
          <p:cNvSpPr/>
          <p:nvPr/>
        </p:nvSpPr>
        <p:spPr>
          <a:xfrm>
            <a:off x="9044330" y="2633472"/>
            <a:ext cx="219456" cy="0"/>
          </a:xfrm>
          <a:prstGeom prst="line">
            <a:avLst/>
          </a:prstGeom>
          <a:noFill/>
          <a:ln w="19050">
            <a:solidFill>
              <a:srgbClr val="66768A"/>
            </a:solidFill>
            <a:prstDash val="solid"/>
          </a:ln>
        </p:spPr>
      </p:sp>
      <p:sp>
        <p:nvSpPr>
          <p:cNvPr id="23" name="Text 21"/>
          <p:cNvSpPr txBox="1"/>
          <p:nvPr/>
        </p:nvSpPr>
        <p:spPr>
          <a:xfrm>
            <a:off x="10019081" y="2441448"/>
            <a:ext cx="1097280" cy="384048"/>
          </a:xfrm>
          <a:prstGeom prst="rect">
            <a:avLst/>
          </a:prstGeom>
          <a:no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1</a:t>
            </a:r>
            <a:endParaRPr lang="en-US" sz="1500" dirty="0"/>
          </a:p>
        </p:txBody>
      </p:sp>
      <p:sp>
        <p:nvSpPr>
          <p:cNvPr id="24" name="Shape 22"/>
          <p:cNvSpPr/>
          <p:nvPr/>
        </p:nvSpPr>
        <p:spPr>
          <a:xfrm>
            <a:off x="777240" y="2825496"/>
            <a:ext cx="10634472" cy="384048"/>
          </a:xfrm>
          <a:prstGeom prst="rect">
            <a:avLst/>
          </a:prstGeom>
          <a:solidFill>
            <a:srgbClr val="FAF7F2"/>
          </a:solidFill>
          <a:ln w="12700">
            <a:solidFill>
              <a:srgbClr val="FAF7F2"/>
            </a:solidFill>
            <a:prstDash val="solid"/>
          </a:ln>
        </p:spPr>
      </p:sp>
      <p:sp>
        <p:nvSpPr>
          <p:cNvPr id="25" name="Text 23"/>
          <p:cNvSpPr txBox="1"/>
          <p:nvPr/>
        </p:nvSpPr>
        <p:spPr>
          <a:xfrm>
            <a:off x="1005840" y="2825496"/>
            <a:ext cx="3291840" cy="384048"/>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SelfAttentionV2</a:t>
            </a:r>
            <a:endParaRPr lang="en-US" sz="1500" dirty="0"/>
          </a:p>
        </p:txBody>
      </p:sp>
      <p:sp>
        <p:nvSpPr>
          <p:cNvPr id="26" name="Shape 24"/>
          <p:cNvSpPr/>
          <p:nvPr/>
        </p:nvSpPr>
        <p:spPr>
          <a:xfrm>
            <a:off x="4821631" y="2926080"/>
            <a:ext cx="182880" cy="182880"/>
          </a:xfrm>
          <a:prstGeom prst="ellipse">
            <a:avLst/>
          </a:prstGeom>
          <a:solidFill>
            <a:srgbClr val="8FA99B"/>
          </a:solidFill>
          <a:ln w="6350">
            <a:solidFill>
              <a:srgbClr val="8FA99B"/>
            </a:solidFill>
            <a:prstDash val="solid"/>
          </a:ln>
        </p:spPr>
      </p:sp>
      <p:sp>
        <p:nvSpPr>
          <p:cNvPr id="27" name="Shape 25"/>
          <p:cNvSpPr/>
          <p:nvPr/>
        </p:nvSpPr>
        <p:spPr>
          <a:xfrm>
            <a:off x="6235294" y="2926080"/>
            <a:ext cx="182880" cy="182880"/>
          </a:xfrm>
          <a:prstGeom prst="ellipse">
            <a:avLst/>
          </a:prstGeom>
          <a:solidFill>
            <a:srgbClr val="8FA99B"/>
          </a:solidFill>
          <a:ln w="6350">
            <a:solidFill>
              <a:srgbClr val="8FA99B"/>
            </a:solidFill>
            <a:prstDash val="solid"/>
          </a:ln>
        </p:spPr>
      </p:sp>
      <p:sp>
        <p:nvSpPr>
          <p:cNvPr id="28" name="Shape 26"/>
          <p:cNvSpPr/>
          <p:nvPr/>
        </p:nvSpPr>
        <p:spPr>
          <a:xfrm>
            <a:off x="7630668" y="3017520"/>
            <a:ext cx="219456" cy="0"/>
          </a:xfrm>
          <a:prstGeom prst="line">
            <a:avLst/>
          </a:prstGeom>
          <a:noFill/>
          <a:ln w="19050">
            <a:solidFill>
              <a:srgbClr val="66768A"/>
            </a:solidFill>
            <a:prstDash val="solid"/>
          </a:ln>
        </p:spPr>
      </p:sp>
      <p:sp>
        <p:nvSpPr>
          <p:cNvPr id="29" name="Shape 27"/>
          <p:cNvSpPr/>
          <p:nvPr/>
        </p:nvSpPr>
        <p:spPr>
          <a:xfrm>
            <a:off x="9044330" y="3017520"/>
            <a:ext cx="219456" cy="0"/>
          </a:xfrm>
          <a:prstGeom prst="line">
            <a:avLst/>
          </a:prstGeom>
          <a:noFill/>
          <a:ln w="19050">
            <a:solidFill>
              <a:srgbClr val="66768A"/>
            </a:solidFill>
            <a:prstDash val="solid"/>
          </a:ln>
        </p:spPr>
      </p:sp>
      <p:sp>
        <p:nvSpPr>
          <p:cNvPr id="30" name="Text 28"/>
          <p:cNvSpPr txBox="1"/>
          <p:nvPr/>
        </p:nvSpPr>
        <p:spPr>
          <a:xfrm>
            <a:off x="10019081" y="2825496"/>
            <a:ext cx="1097280" cy="384048"/>
          </a:xfrm>
          <a:prstGeom prst="rect">
            <a:avLst/>
          </a:prstGeom>
          <a:no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1</a:t>
            </a:r>
            <a:endParaRPr lang="en-US" sz="1500" dirty="0"/>
          </a:p>
        </p:txBody>
      </p:sp>
      <p:sp>
        <p:nvSpPr>
          <p:cNvPr id="31" name="Text 29"/>
          <p:cNvSpPr txBox="1"/>
          <p:nvPr/>
        </p:nvSpPr>
        <p:spPr>
          <a:xfrm>
            <a:off x="1005840" y="3209544"/>
            <a:ext cx="3291840" cy="384048"/>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CausalAttentionV1</a:t>
            </a:r>
            <a:endParaRPr lang="en-US" sz="1500" dirty="0"/>
          </a:p>
        </p:txBody>
      </p:sp>
      <p:sp>
        <p:nvSpPr>
          <p:cNvPr id="32" name="Shape 30"/>
          <p:cNvSpPr/>
          <p:nvPr/>
        </p:nvSpPr>
        <p:spPr>
          <a:xfrm>
            <a:off x="4821631" y="3310128"/>
            <a:ext cx="182880" cy="182880"/>
          </a:xfrm>
          <a:prstGeom prst="ellipse">
            <a:avLst/>
          </a:prstGeom>
          <a:solidFill>
            <a:srgbClr val="8FA99B"/>
          </a:solidFill>
          <a:ln w="6350">
            <a:solidFill>
              <a:srgbClr val="8FA99B"/>
            </a:solidFill>
            <a:prstDash val="solid"/>
          </a:ln>
        </p:spPr>
      </p:sp>
      <p:sp>
        <p:nvSpPr>
          <p:cNvPr id="33" name="Shape 31"/>
          <p:cNvSpPr/>
          <p:nvPr/>
        </p:nvSpPr>
        <p:spPr>
          <a:xfrm>
            <a:off x="6235294" y="3310128"/>
            <a:ext cx="182880" cy="182880"/>
          </a:xfrm>
          <a:prstGeom prst="ellipse">
            <a:avLst/>
          </a:prstGeom>
          <a:solidFill>
            <a:srgbClr val="8FA99B"/>
          </a:solidFill>
          <a:ln w="6350">
            <a:solidFill>
              <a:srgbClr val="8FA99B"/>
            </a:solidFill>
            <a:prstDash val="solid"/>
          </a:ln>
        </p:spPr>
      </p:sp>
      <p:sp>
        <p:nvSpPr>
          <p:cNvPr id="34" name="Shape 32"/>
          <p:cNvSpPr/>
          <p:nvPr/>
        </p:nvSpPr>
        <p:spPr>
          <a:xfrm>
            <a:off x="7648956" y="3310128"/>
            <a:ext cx="182880" cy="182880"/>
          </a:xfrm>
          <a:prstGeom prst="ellipse">
            <a:avLst/>
          </a:prstGeom>
          <a:solidFill>
            <a:srgbClr val="8FA99B"/>
          </a:solidFill>
          <a:ln w="6350">
            <a:solidFill>
              <a:srgbClr val="8FA99B"/>
            </a:solidFill>
            <a:prstDash val="solid"/>
          </a:ln>
        </p:spPr>
      </p:sp>
      <p:sp>
        <p:nvSpPr>
          <p:cNvPr id="35" name="Shape 33"/>
          <p:cNvSpPr/>
          <p:nvPr/>
        </p:nvSpPr>
        <p:spPr>
          <a:xfrm>
            <a:off x="9044330" y="3401568"/>
            <a:ext cx="219456" cy="0"/>
          </a:xfrm>
          <a:prstGeom prst="line">
            <a:avLst/>
          </a:prstGeom>
          <a:noFill/>
          <a:ln w="19050">
            <a:solidFill>
              <a:srgbClr val="66768A"/>
            </a:solidFill>
            <a:prstDash val="solid"/>
          </a:ln>
        </p:spPr>
      </p:sp>
      <p:sp>
        <p:nvSpPr>
          <p:cNvPr id="36" name="Text 34"/>
          <p:cNvSpPr txBox="1"/>
          <p:nvPr/>
        </p:nvSpPr>
        <p:spPr>
          <a:xfrm>
            <a:off x="10019081" y="3209544"/>
            <a:ext cx="1097280" cy="384048"/>
          </a:xfrm>
          <a:prstGeom prst="rect">
            <a:avLst/>
          </a:prstGeom>
          <a:no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1</a:t>
            </a:r>
            <a:endParaRPr lang="en-US" sz="1500" dirty="0"/>
          </a:p>
        </p:txBody>
      </p:sp>
      <p:sp>
        <p:nvSpPr>
          <p:cNvPr id="37" name="Shape 35"/>
          <p:cNvSpPr/>
          <p:nvPr/>
        </p:nvSpPr>
        <p:spPr>
          <a:xfrm>
            <a:off x="777240" y="3593592"/>
            <a:ext cx="10634472" cy="384048"/>
          </a:xfrm>
          <a:prstGeom prst="rect">
            <a:avLst/>
          </a:prstGeom>
          <a:solidFill>
            <a:srgbClr val="FAF7F2"/>
          </a:solidFill>
          <a:ln w="12700">
            <a:solidFill>
              <a:srgbClr val="FAF7F2"/>
            </a:solidFill>
            <a:prstDash val="solid"/>
          </a:ln>
        </p:spPr>
      </p:sp>
      <p:sp>
        <p:nvSpPr>
          <p:cNvPr id="38" name="Text 36"/>
          <p:cNvSpPr txBox="1"/>
          <p:nvPr/>
        </p:nvSpPr>
        <p:spPr>
          <a:xfrm>
            <a:off x="1005840" y="3593592"/>
            <a:ext cx="3291840" cy="384048"/>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CausalAttentionV2</a:t>
            </a:r>
            <a:endParaRPr lang="en-US" sz="1500" dirty="0"/>
          </a:p>
        </p:txBody>
      </p:sp>
      <p:sp>
        <p:nvSpPr>
          <p:cNvPr id="39" name="Shape 37"/>
          <p:cNvSpPr/>
          <p:nvPr/>
        </p:nvSpPr>
        <p:spPr>
          <a:xfrm>
            <a:off x="4821631" y="3694176"/>
            <a:ext cx="182880" cy="182880"/>
          </a:xfrm>
          <a:prstGeom prst="ellipse">
            <a:avLst/>
          </a:prstGeom>
          <a:solidFill>
            <a:srgbClr val="8FA99B"/>
          </a:solidFill>
          <a:ln w="6350">
            <a:solidFill>
              <a:srgbClr val="8FA99B"/>
            </a:solidFill>
            <a:prstDash val="solid"/>
          </a:ln>
        </p:spPr>
      </p:sp>
      <p:sp>
        <p:nvSpPr>
          <p:cNvPr id="40" name="Shape 38"/>
          <p:cNvSpPr/>
          <p:nvPr/>
        </p:nvSpPr>
        <p:spPr>
          <a:xfrm>
            <a:off x="6235294" y="3694176"/>
            <a:ext cx="182880" cy="182880"/>
          </a:xfrm>
          <a:prstGeom prst="ellipse">
            <a:avLst/>
          </a:prstGeom>
          <a:solidFill>
            <a:srgbClr val="8FA99B"/>
          </a:solidFill>
          <a:ln w="6350">
            <a:solidFill>
              <a:srgbClr val="8FA99B"/>
            </a:solidFill>
            <a:prstDash val="solid"/>
          </a:ln>
        </p:spPr>
      </p:sp>
      <p:sp>
        <p:nvSpPr>
          <p:cNvPr id="41" name="Shape 39"/>
          <p:cNvSpPr/>
          <p:nvPr/>
        </p:nvSpPr>
        <p:spPr>
          <a:xfrm>
            <a:off x="7648956" y="3694176"/>
            <a:ext cx="182880" cy="182880"/>
          </a:xfrm>
          <a:prstGeom prst="ellipse">
            <a:avLst/>
          </a:prstGeom>
          <a:solidFill>
            <a:srgbClr val="8FA99B"/>
          </a:solidFill>
          <a:ln w="6350">
            <a:solidFill>
              <a:srgbClr val="8FA99B"/>
            </a:solidFill>
            <a:prstDash val="solid"/>
          </a:ln>
        </p:spPr>
      </p:sp>
      <p:sp>
        <p:nvSpPr>
          <p:cNvPr id="42" name="Shape 40"/>
          <p:cNvSpPr/>
          <p:nvPr/>
        </p:nvSpPr>
        <p:spPr>
          <a:xfrm>
            <a:off x="9062618" y="3694176"/>
            <a:ext cx="182880" cy="182880"/>
          </a:xfrm>
          <a:prstGeom prst="ellipse">
            <a:avLst/>
          </a:prstGeom>
          <a:solidFill>
            <a:srgbClr val="8FA99B"/>
          </a:solidFill>
          <a:ln w="6350">
            <a:solidFill>
              <a:srgbClr val="8FA99B"/>
            </a:solidFill>
            <a:prstDash val="solid"/>
          </a:ln>
        </p:spPr>
      </p:sp>
      <p:sp>
        <p:nvSpPr>
          <p:cNvPr id="43" name="Text 41"/>
          <p:cNvSpPr txBox="1"/>
          <p:nvPr/>
        </p:nvSpPr>
        <p:spPr>
          <a:xfrm>
            <a:off x="10019081" y="3593592"/>
            <a:ext cx="1097280" cy="384048"/>
          </a:xfrm>
          <a:prstGeom prst="rect">
            <a:avLst/>
          </a:prstGeom>
          <a:no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1</a:t>
            </a:r>
            <a:endParaRPr lang="en-US" sz="1500" dirty="0"/>
          </a:p>
        </p:txBody>
      </p:sp>
      <p:sp>
        <p:nvSpPr>
          <p:cNvPr id="44" name="Text 42"/>
          <p:cNvSpPr txBox="1"/>
          <p:nvPr/>
        </p:nvSpPr>
        <p:spPr>
          <a:xfrm>
            <a:off x="1005840" y="3977640"/>
            <a:ext cx="3291840" cy="384048"/>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MultiHeadAttentionV1</a:t>
            </a:r>
            <a:endParaRPr lang="en-US" sz="1500" dirty="0"/>
          </a:p>
        </p:txBody>
      </p:sp>
      <p:sp>
        <p:nvSpPr>
          <p:cNvPr id="45" name="Shape 43"/>
          <p:cNvSpPr/>
          <p:nvPr/>
        </p:nvSpPr>
        <p:spPr>
          <a:xfrm>
            <a:off x="4821631" y="4078224"/>
            <a:ext cx="182880" cy="182880"/>
          </a:xfrm>
          <a:prstGeom prst="ellipse">
            <a:avLst/>
          </a:prstGeom>
          <a:solidFill>
            <a:srgbClr val="8FA99B"/>
          </a:solidFill>
          <a:ln w="6350">
            <a:solidFill>
              <a:srgbClr val="8FA99B"/>
            </a:solidFill>
            <a:prstDash val="solid"/>
          </a:ln>
        </p:spPr>
      </p:sp>
      <p:sp>
        <p:nvSpPr>
          <p:cNvPr id="46" name="Shape 44"/>
          <p:cNvSpPr/>
          <p:nvPr/>
        </p:nvSpPr>
        <p:spPr>
          <a:xfrm>
            <a:off x="6235294" y="4078224"/>
            <a:ext cx="182880" cy="182880"/>
          </a:xfrm>
          <a:prstGeom prst="ellipse">
            <a:avLst/>
          </a:prstGeom>
          <a:solidFill>
            <a:srgbClr val="8FA99B"/>
          </a:solidFill>
          <a:ln w="6350">
            <a:solidFill>
              <a:srgbClr val="8FA99B"/>
            </a:solidFill>
            <a:prstDash val="solid"/>
          </a:ln>
        </p:spPr>
      </p:sp>
      <p:sp>
        <p:nvSpPr>
          <p:cNvPr id="47" name="Shape 45"/>
          <p:cNvSpPr/>
          <p:nvPr/>
        </p:nvSpPr>
        <p:spPr>
          <a:xfrm>
            <a:off x="7648956" y="4078224"/>
            <a:ext cx="182880" cy="182880"/>
          </a:xfrm>
          <a:prstGeom prst="ellipse">
            <a:avLst/>
          </a:prstGeom>
          <a:solidFill>
            <a:srgbClr val="8FA99B"/>
          </a:solidFill>
          <a:ln w="6350">
            <a:solidFill>
              <a:srgbClr val="8FA99B"/>
            </a:solidFill>
            <a:prstDash val="solid"/>
          </a:ln>
        </p:spPr>
      </p:sp>
      <p:sp>
        <p:nvSpPr>
          <p:cNvPr id="48" name="Shape 46"/>
          <p:cNvSpPr/>
          <p:nvPr/>
        </p:nvSpPr>
        <p:spPr>
          <a:xfrm>
            <a:off x="9062618" y="4078224"/>
            <a:ext cx="182880" cy="182880"/>
          </a:xfrm>
          <a:prstGeom prst="ellipse">
            <a:avLst/>
          </a:prstGeom>
          <a:solidFill>
            <a:srgbClr val="8FA99B"/>
          </a:solidFill>
          <a:ln w="6350">
            <a:solidFill>
              <a:srgbClr val="8FA99B"/>
            </a:solidFill>
            <a:prstDash val="solid"/>
          </a:ln>
        </p:spPr>
      </p:sp>
      <p:sp>
        <p:nvSpPr>
          <p:cNvPr id="49" name="Text 47"/>
          <p:cNvSpPr txBox="1"/>
          <p:nvPr/>
        </p:nvSpPr>
        <p:spPr>
          <a:xfrm>
            <a:off x="10019081" y="3977640"/>
            <a:ext cx="1097280" cy="384048"/>
          </a:xfrm>
          <a:prstGeom prst="rect">
            <a:avLst/>
          </a:prstGeom>
          <a:no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many</a:t>
            </a:r>
            <a:endParaRPr lang="en-US" sz="1500" dirty="0"/>
          </a:p>
        </p:txBody>
      </p:sp>
      <p:sp>
        <p:nvSpPr>
          <p:cNvPr id="50" name="Shape 48"/>
          <p:cNvSpPr/>
          <p:nvPr/>
        </p:nvSpPr>
        <p:spPr>
          <a:xfrm>
            <a:off x="777240" y="4361688"/>
            <a:ext cx="10634472" cy="384048"/>
          </a:xfrm>
          <a:prstGeom prst="rect">
            <a:avLst/>
          </a:prstGeom>
          <a:solidFill>
            <a:srgbClr val="FAF7F2"/>
          </a:solidFill>
          <a:ln w="12700">
            <a:solidFill>
              <a:srgbClr val="FAF7F2"/>
            </a:solidFill>
            <a:prstDash val="solid"/>
          </a:ln>
        </p:spPr>
      </p:sp>
      <p:sp>
        <p:nvSpPr>
          <p:cNvPr id="51" name="Text 49"/>
          <p:cNvSpPr txBox="1"/>
          <p:nvPr/>
        </p:nvSpPr>
        <p:spPr>
          <a:xfrm>
            <a:off x="1005840" y="4361688"/>
            <a:ext cx="3291840" cy="384048"/>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PyTorchAttentionV1</a:t>
            </a:r>
            <a:endParaRPr lang="en-US" sz="1500" dirty="0"/>
          </a:p>
        </p:txBody>
      </p:sp>
      <p:sp>
        <p:nvSpPr>
          <p:cNvPr id="52" name="Shape 50"/>
          <p:cNvSpPr/>
          <p:nvPr/>
        </p:nvSpPr>
        <p:spPr>
          <a:xfrm>
            <a:off x="4803343" y="4553712"/>
            <a:ext cx="219456" cy="0"/>
          </a:xfrm>
          <a:prstGeom prst="line">
            <a:avLst/>
          </a:prstGeom>
          <a:noFill/>
          <a:ln w="19050">
            <a:solidFill>
              <a:srgbClr val="66768A"/>
            </a:solidFill>
            <a:prstDash val="solid"/>
          </a:ln>
        </p:spPr>
      </p:sp>
      <p:sp>
        <p:nvSpPr>
          <p:cNvPr id="53" name="Shape 51"/>
          <p:cNvSpPr/>
          <p:nvPr/>
        </p:nvSpPr>
        <p:spPr>
          <a:xfrm>
            <a:off x="6235294" y="4462272"/>
            <a:ext cx="182880" cy="182880"/>
          </a:xfrm>
          <a:prstGeom prst="ellipse">
            <a:avLst/>
          </a:prstGeom>
          <a:solidFill>
            <a:srgbClr val="8FA99B"/>
          </a:solidFill>
          <a:ln w="6350">
            <a:solidFill>
              <a:srgbClr val="8FA99B"/>
            </a:solidFill>
            <a:prstDash val="solid"/>
          </a:ln>
        </p:spPr>
      </p:sp>
      <p:sp>
        <p:nvSpPr>
          <p:cNvPr id="54" name="Text 52"/>
          <p:cNvSpPr txBox="1"/>
          <p:nvPr/>
        </p:nvSpPr>
        <p:spPr>
          <a:xfrm>
            <a:off x="7466076" y="4416552"/>
            <a:ext cx="548640" cy="274320"/>
          </a:xfrm>
          <a:prstGeom prst="roundRect">
            <a:avLst>
              <a:gd name="adj" fmla="val 33333"/>
            </a:avLst>
          </a:prstGeom>
          <a:solidFill>
            <a:srgbClr val="E8EFF7"/>
          </a:solidFill>
          <a:ln w="15875">
            <a:solidFill>
              <a:srgbClr val="A9C0D8"/>
            </a:solidFill>
          </a:ln>
        </p:spPr>
        <p:txBody>
          <a:bodyPr wrap="square" lIns="0" tIns="0" rIns="0" bIns="0" rtlCol="0" anchor="ctr"/>
          <a:lstStyle/>
          <a:p>
            <a:pPr algn="ctr" indent="0" marL="0">
              <a:buNone/>
            </a:pPr>
            <a:r>
              <a:rPr lang="en-US" sz="1100" b="1" dirty="0">
                <a:solidFill>
                  <a:srgbClr val="435466"/>
                </a:solidFill>
                <a:latin typeface="Inter" pitchFamily="34" charset="0"/>
                <a:ea typeface="Inter" pitchFamily="34" charset="-122"/>
                <a:cs typeface="Inter" pitchFamily="34" charset="-120"/>
              </a:rPr>
              <a:t>opt</a:t>
            </a:r>
            <a:endParaRPr lang="en-US" sz="1100" dirty="0"/>
          </a:p>
        </p:txBody>
      </p:sp>
      <p:sp>
        <p:nvSpPr>
          <p:cNvPr id="55" name="Shape 53"/>
          <p:cNvSpPr/>
          <p:nvPr/>
        </p:nvSpPr>
        <p:spPr>
          <a:xfrm>
            <a:off x="9044330" y="4553712"/>
            <a:ext cx="219456" cy="0"/>
          </a:xfrm>
          <a:prstGeom prst="line">
            <a:avLst/>
          </a:prstGeom>
          <a:noFill/>
          <a:ln w="19050">
            <a:solidFill>
              <a:srgbClr val="66768A"/>
            </a:solidFill>
            <a:prstDash val="solid"/>
          </a:ln>
        </p:spPr>
      </p:sp>
      <p:sp>
        <p:nvSpPr>
          <p:cNvPr id="56" name="Text 54"/>
          <p:cNvSpPr txBox="1"/>
          <p:nvPr/>
        </p:nvSpPr>
        <p:spPr>
          <a:xfrm>
            <a:off x="10019081" y="4361688"/>
            <a:ext cx="1097280" cy="384048"/>
          </a:xfrm>
          <a:prstGeom prst="rect">
            <a:avLst/>
          </a:prstGeom>
          <a:no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1</a:t>
            </a:r>
            <a:endParaRPr lang="en-US" sz="1500" dirty="0"/>
          </a:p>
        </p:txBody>
      </p:sp>
      <p:sp>
        <p:nvSpPr>
          <p:cNvPr id="57" name="Text 55"/>
          <p:cNvSpPr txBox="1"/>
          <p:nvPr/>
        </p:nvSpPr>
        <p:spPr>
          <a:xfrm>
            <a:off x="1005840" y="4745736"/>
            <a:ext cx="3291840" cy="384048"/>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PyTorchAttentionV2</a:t>
            </a:r>
            <a:endParaRPr lang="en-US" sz="1500" dirty="0"/>
          </a:p>
        </p:txBody>
      </p:sp>
      <p:sp>
        <p:nvSpPr>
          <p:cNvPr id="58" name="Shape 56"/>
          <p:cNvSpPr/>
          <p:nvPr/>
        </p:nvSpPr>
        <p:spPr>
          <a:xfrm>
            <a:off x="4821631" y="4846320"/>
            <a:ext cx="182880" cy="182880"/>
          </a:xfrm>
          <a:prstGeom prst="ellipse">
            <a:avLst/>
          </a:prstGeom>
          <a:solidFill>
            <a:srgbClr val="8FA99B"/>
          </a:solidFill>
          <a:ln w="6350">
            <a:solidFill>
              <a:srgbClr val="8FA99B"/>
            </a:solidFill>
            <a:prstDash val="solid"/>
          </a:ln>
        </p:spPr>
      </p:sp>
      <p:sp>
        <p:nvSpPr>
          <p:cNvPr id="59" name="Shape 57"/>
          <p:cNvSpPr/>
          <p:nvPr/>
        </p:nvSpPr>
        <p:spPr>
          <a:xfrm>
            <a:off x="6235294" y="4846320"/>
            <a:ext cx="182880" cy="182880"/>
          </a:xfrm>
          <a:prstGeom prst="ellipse">
            <a:avLst/>
          </a:prstGeom>
          <a:solidFill>
            <a:srgbClr val="8FA99B"/>
          </a:solidFill>
          <a:ln w="6350">
            <a:solidFill>
              <a:srgbClr val="8FA99B"/>
            </a:solidFill>
            <a:prstDash val="solid"/>
          </a:ln>
        </p:spPr>
      </p:sp>
      <p:sp>
        <p:nvSpPr>
          <p:cNvPr id="60" name="Text 58"/>
          <p:cNvSpPr txBox="1"/>
          <p:nvPr/>
        </p:nvSpPr>
        <p:spPr>
          <a:xfrm>
            <a:off x="7466076" y="4800600"/>
            <a:ext cx="548640" cy="274320"/>
          </a:xfrm>
          <a:prstGeom prst="roundRect">
            <a:avLst>
              <a:gd name="adj" fmla="val 33333"/>
            </a:avLst>
          </a:prstGeom>
          <a:solidFill>
            <a:srgbClr val="E8EFF7"/>
          </a:solidFill>
          <a:ln w="15875">
            <a:solidFill>
              <a:srgbClr val="A9C0D8"/>
            </a:solidFill>
          </a:ln>
        </p:spPr>
        <p:txBody>
          <a:bodyPr wrap="square" lIns="0" tIns="0" rIns="0" bIns="0" rtlCol="0" anchor="ctr"/>
          <a:lstStyle/>
          <a:p>
            <a:pPr algn="ctr" indent="0" marL="0">
              <a:buNone/>
            </a:pPr>
            <a:r>
              <a:rPr lang="en-US" sz="1100" b="1" dirty="0">
                <a:solidFill>
                  <a:srgbClr val="435466"/>
                </a:solidFill>
                <a:latin typeface="Inter" pitchFamily="34" charset="0"/>
                <a:ea typeface="Inter" pitchFamily="34" charset="-122"/>
                <a:cs typeface="Inter" pitchFamily="34" charset="-120"/>
              </a:rPr>
              <a:t>opt</a:t>
            </a:r>
            <a:endParaRPr lang="en-US" sz="1100" dirty="0"/>
          </a:p>
        </p:txBody>
      </p:sp>
      <p:sp>
        <p:nvSpPr>
          <p:cNvPr id="61" name="Shape 59"/>
          <p:cNvSpPr/>
          <p:nvPr/>
        </p:nvSpPr>
        <p:spPr>
          <a:xfrm>
            <a:off x="9044330" y="4937760"/>
            <a:ext cx="219456" cy="0"/>
          </a:xfrm>
          <a:prstGeom prst="line">
            <a:avLst/>
          </a:prstGeom>
          <a:noFill/>
          <a:ln w="19050">
            <a:solidFill>
              <a:srgbClr val="66768A"/>
            </a:solidFill>
            <a:prstDash val="solid"/>
          </a:ln>
        </p:spPr>
      </p:sp>
      <p:sp>
        <p:nvSpPr>
          <p:cNvPr id="62" name="Text 60"/>
          <p:cNvSpPr txBox="1"/>
          <p:nvPr/>
        </p:nvSpPr>
        <p:spPr>
          <a:xfrm>
            <a:off x="10019081" y="4745736"/>
            <a:ext cx="1097280" cy="384048"/>
          </a:xfrm>
          <a:prstGeom prst="rect">
            <a:avLst/>
          </a:prstGeom>
          <a:no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many</a:t>
            </a:r>
            <a:endParaRPr lang="en-US" sz="1500" dirty="0"/>
          </a:p>
        </p:txBody>
      </p:sp>
      <p:sp>
        <p:nvSpPr>
          <p:cNvPr id="63" name="Shape 61"/>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64" name="Shape 62"/>
          <p:cNvSpPr/>
          <p:nvPr/>
        </p:nvSpPr>
        <p:spPr>
          <a:xfrm>
            <a:off x="914400" y="5509260"/>
            <a:ext cx="548640" cy="548640"/>
          </a:xfrm>
          <a:prstGeom prst="ellipse">
            <a:avLst/>
          </a:prstGeom>
          <a:solidFill>
            <a:srgbClr val="FFFFFF"/>
          </a:solidFill>
          <a:ln w="15875">
            <a:solidFill>
              <a:srgbClr val="8FA99B"/>
            </a:solidFill>
            <a:prstDash val="solid"/>
          </a:ln>
        </p:spPr>
      </p:sp>
      <p:pic>
        <p:nvPicPr>
          <p:cNvPr id="65"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66" name="Text 63"/>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GPT-style attention uses every idea in this table.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17</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Glossary</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Every term from this deck in one place.</a:t>
            </a:r>
            <a:endParaRPr lang="en-US" sz="1600" dirty="0"/>
          </a:p>
        </p:txBody>
      </p:sp>
      <p:sp>
        <p:nvSpPr>
          <p:cNvPr id="5" name="Shape 3"/>
          <p:cNvSpPr/>
          <p:nvPr/>
        </p:nvSpPr>
        <p:spPr>
          <a:xfrm>
            <a:off x="640080" y="1554480"/>
            <a:ext cx="5349240" cy="3703320"/>
          </a:xfrm>
          <a:prstGeom prst="roundRect">
            <a:avLst>
              <a:gd name="adj" fmla="val 3704"/>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Shape 4"/>
          <p:cNvSpPr/>
          <p:nvPr/>
        </p:nvSpPr>
        <p:spPr>
          <a:xfrm>
            <a:off x="6199632" y="1554480"/>
            <a:ext cx="5349240" cy="3703320"/>
          </a:xfrm>
          <a:prstGeom prst="roundRect">
            <a:avLst>
              <a:gd name="adj" fmla="val 3704"/>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7" name="Text 5"/>
          <p:cNvSpPr txBox="1"/>
          <p:nvPr/>
        </p:nvSpPr>
        <p:spPr>
          <a:xfrm>
            <a:off x="914400" y="1664208"/>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Token</a:t>
            </a:r>
            <a:endParaRPr lang="en-US" sz="1400" dirty="0"/>
          </a:p>
        </p:txBody>
      </p:sp>
      <p:sp>
        <p:nvSpPr>
          <p:cNvPr id="8" name="Text 6"/>
          <p:cNvSpPr txBox="1"/>
          <p:nvPr/>
        </p:nvSpPr>
        <p:spPr>
          <a:xfrm>
            <a:off x="2651760" y="1664208"/>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a small piece of text, often a word</a:t>
            </a:r>
            <a:endParaRPr lang="en-US" sz="1300" dirty="0"/>
          </a:p>
        </p:txBody>
      </p:sp>
      <p:sp>
        <p:nvSpPr>
          <p:cNvPr id="9" name="Text 7"/>
          <p:cNvSpPr txBox="1"/>
          <p:nvPr/>
        </p:nvSpPr>
        <p:spPr>
          <a:xfrm>
            <a:off x="914400" y="2103120"/>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Vector</a:t>
            </a:r>
            <a:endParaRPr lang="en-US" sz="1400" dirty="0"/>
          </a:p>
        </p:txBody>
      </p:sp>
      <p:sp>
        <p:nvSpPr>
          <p:cNvPr id="10" name="Text 8"/>
          <p:cNvSpPr txBox="1"/>
          <p:nvPr/>
        </p:nvSpPr>
        <p:spPr>
          <a:xfrm>
            <a:off x="2651760" y="2103120"/>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a list of numbers</a:t>
            </a:r>
            <a:endParaRPr lang="en-US" sz="1300" dirty="0"/>
          </a:p>
        </p:txBody>
      </p:sp>
      <p:sp>
        <p:nvSpPr>
          <p:cNvPr id="11" name="Text 9"/>
          <p:cNvSpPr txBox="1"/>
          <p:nvPr/>
        </p:nvSpPr>
        <p:spPr>
          <a:xfrm>
            <a:off x="914400" y="2542032"/>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Embedding</a:t>
            </a:r>
            <a:endParaRPr lang="en-US" sz="1400" dirty="0"/>
          </a:p>
        </p:txBody>
      </p:sp>
      <p:sp>
        <p:nvSpPr>
          <p:cNvPr id="12" name="Text 10"/>
          <p:cNvSpPr txBox="1"/>
          <p:nvPr/>
        </p:nvSpPr>
        <p:spPr>
          <a:xfrm>
            <a:off x="2651760" y="2542032"/>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the vector that stands for one token</a:t>
            </a:r>
            <a:endParaRPr lang="en-US" sz="1300" dirty="0"/>
          </a:p>
        </p:txBody>
      </p:sp>
      <p:sp>
        <p:nvSpPr>
          <p:cNvPr id="13" name="Text 11"/>
          <p:cNvSpPr txBox="1"/>
          <p:nvPr/>
        </p:nvSpPr>
        <p:spPr>
          <a:xfrm>
            <a:off x="914400" y="2980944"/>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Dot product</a:t>
            </a:r>
            <a:endParaRPr lang="en-US" sz="1400" dirty="0"/>
          </a:p>
        </p:txBody>
      </p:sp>
      <p:sp>
        <p:nvSpPr>
          <p:cNvPr id="14" name="Text 12"/>
          <p:cNvSpPr txBox="1"/>
          <p:nvPr/>
        </p:nvSpPr>
        <p:spPr>
          <a:xfrm>
            <a:off x="2651760" y="2980944"/>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multiply matching numbers, then add; measures how alike</a:t>
            </a:r>
            <a:endParaRPr lang="en-US" sz="1300" dirty="0"/>
          </a:p>
        </p:txBody>
      </p:sp>
      <p:sp>
        <p:nvSpPr>
          <p:cNvPr id="15" name="Text 13"/>
          <p:cNvSpPr txBox="1"/>
          <p:nvPr/>
        </p:nvSpPr>
        <p:spPr>
          <a:xfrm>
            <a:off x="914400" y="3419856"/>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Attention score</a:t>
            </a:r>
            <a:endParaRPr lang="en-US" sz="1400" dirty="0"/>
          </a:p>
        </p:txBody>
      </p:sp>
      <p:sp>
        <p:nvSpPr>
          <p:cNvPr id="16" name="Text 14"/>
          <p:cNvSpPr txBox="1"/>
          <p:nvPr/>
        </p:nvSpPr>
        <p:spPr>
          <a:xfrm>
            <a:off x="2651760" y="3419856"/>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dot product between two tokens</a:t>
            </a:r>
            <a:endParaRPr lang="en-US" sz="1300" dirty="0"/>
          </a:p>
        </p:txBody>
      </p:sp>
      <p:sp>
        <p:nvSpPr>
          <p:cNvPr id="17" name="Text 15"/>
          <p:cNvSpPr txBox="1"/>
          <p:nvPr/>
        </p:nvSpPr>
        <p:spPr>
          <a:xfrm>
            <a:off x="914400" y="3858768"/>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Softmax</a:t>
            </a:r>
            <a:endParaRPr lang="en-US" sz="1400" dirty="0"/>
          </a:p>
        </p:txBody>
      </p:sp>
      <p:sp>
        <p:nvSpPr>
          <p:cNvPr id="18" name="Text 16"/>
          <p:cNvSpPr txBox="1"/>
          <p:nvPr/>
        </p:nvSpPr>
        <p:spPr>
          <a:xfrm>
            <a:off x="2651760" y="3858768"/>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turns scores into shares that add up to 1</a:t>
            </a:r>
            <a:endParaRPr lang="en-US" sz="1300" dirty="0"/>
          </a:p>
        </p:txBody>
      </p:sp>
      <p:sp>
        <p:nvSpPr>
          <p:cNvPr id="19" name="Text 17"/>
          <p:cNvSpPr txBox="1"/>
          <p:nvPr/>
        </p:nvSpPr>
        <p:spPr>
          <a:xfrm>
            <a:off x="914400" y="4297680"/>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Attention weight</a:t>
            </a:r>
            <a:endParaRPr lang="en-US" sz="1400" dirty="0"/>
          </a:p>
        </p:txBody>
      </p:sp>
      <p:sp>
        <p:nvSpPr>
          <p:cNvPr id="20" name="Text 18"/>
          <p:cNvSpPr txBox="1"/>
          <p:nvPr/>
        </p:nvSpPr>
        <p:spPr>
          <a:xfrm>
            <a:off x="2651760" y="4297680"/>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a score after softmax</a:t>
            </a:r>
            <a:endParaRPr lang="en-US" sz="1300" dirty="0"/>
          </a:p>
        </p:txBody>
      </p:sp>
      <p:sp>
        <p:nvSpPr>
          <p:cNvPr id="21" name="Text 19"/>
          <p:cNvSpPr txBox="1"/>
          <p:nvPr/>
        </p:nvSpPr>
        <p:spPr>
          <a:xfrm>
            <a:off x="914400" y="4736592"/>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Context vector</a:t>
            </a:r>
            <a:endParaRPr lang="en-US" sz="1400" dirty="0"/>
          </a:p>
        </p:txBody>
      </p:sp>
      <p:sp>
        <p:nvSpPr>
          <p:cNvPr id="22" name="Text 20"/>
          <p:cNvSpPr txBox="1"/>
          <p:nvPr/>
        </p:nvSpPr>
        <p:spPr>
          <a:xfrm>
            <a:off x="2651760" y="4736592"/>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a token's vector after blending in other tokens</a:t>
            </a:r>
            <a:endParaRPr lang="en-US" sz="1300" dirty="0"/>
          </a:p>
        </p:txBody>
      </p:sp>
      <p:sp>
        <p:nvSpPr>
          <p:cNvPr id="23" name="Text 21"/>
          <p:cNvSpPr txBox="1"/>
          <p:nvPr/>
        </p:nvSpPr>
        <p:spPr>
          <a:xfrm>
            <a:off x="6473952" y="1664208"/>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Query</a:t>
            </a:r>
            <a:endParaRPr lang="en-US" sz="1400" dirty="0"/>
          </a:p>
        </p:txBody>
      </p:sp>
      <p:sp>
        <p:nvSpPr>
          <p:cNvPr id="24" name="Text 22"/>
          <p:cNvSpPr txBox="1"/>
          <p:nvPr/>
        </p:nvSpPr>
        <p:spPr>
          <a:xfrm>
            <a:off x="8211312" y="1664208"/>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what a token is looking for</a:t>
            </a:r>
            <a:endParaRPr lang="en-US" sz="1300" dirty="0"/>
          </a:p>
        </p:txBody>
      </p:sp>
      <p:sp>
        <p:nvSpPr>
          <p:cNvPr id="25" name="Text 23"/>
          <p:cNvSpPr txBox="1"/>
          <p:nvPr/>
        </p:nvSpPr>
        <p:spPr>
          <a:xfrm>
            <a:off x="6473952" y="2103120"/>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Key</a:t>
            </a:r>
            <a:endParaRPr lang="en-US" sz="1400" dirty="0"/>
          </a:p>
        </p:txBody>
      </p:sp>
      <p:sp>
        <p:nvSpPr>
          <p:cNvPr id="26" name="Text 24"/>
          <p:cNvSpPr txBox="1"/>
          <p:nvPr/>
        </p:nvSpPr>
        <p:spPr>
          <a:xfrm>
            <a:off x="8211312" y="2103120"/>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what a token offers to others</a:t>
            </a:r>
            <a:endParaRPr lang="en-US" sz="1300" dirty="0"/>
          </a:p>
        </p:txBody>
      </p:sp>
      <p:sp>
        <p:nvSpPr>
          <p:cNvPr id="27" name="Text 25"/>
          <p:cNvSpPr txBox="1"/>
          <p:nvPr/>
        </p:nvSpPr>
        <p:spPr>
          <a:xfrm>
            <a:off x="6473952" y="2542032"/>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Value</a:t>
            </a:r>
            <a:endParaRPr lang="en-US" sz="1400" dirty="0"/>
          </a:p>
        </p:txBody>
      </p:sp>
      <p:sp>
        <p:nvSpPr>
          <p:cNvPr id="28" name="Text 26"/>
          <p:cNvSpPr txBox="1"/>
          <p:nvPr/>
        </p:nvSpPr>
        <p:spPr>
          <a:xfrm>
            <a:off x="8211312" y="2542032"/>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the information a token passes on</a:t>
            </a:r>
            <a:endParaRPr lang="en-US" sz="1300" dirty="0"/>
          </a:p>
        </p:txBody>
      </p:sp>
      <p:sp>
        <p:nvSpPr>
          <p:cNvPr id="29" name="Text 27"/>
          <p:cNvSpPr txBox="1"/>
          <p:nvPr/>
        </p:nvSpPr>
        <p:spPr>
          <a:xfrm>
            <a:off x="6473952" y="2980944"/>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d_k</a:t>
            </a:r>
            <a:endParaRPr lang="en-US" sz="1400" dirty="0"/>
          </a:p>
        </p:txBody>
      </p:sp>
      <p:sp>
        <p:nvSpPr>
          <p:cNvPr id="30" name="Text 28"/>
          <p:cNvSpPr txBox="1"/>
          <p:nvPr/>
        </p:nvSpPr>
        <p:spPr>
          <a:xfrm>
            <a:off x="8211312" y="2980944"/>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length of each key vector</a:t>
            </a:r>
            <a:endParaRPr lang="en-US" sz="1300" dirty="0"/>
          </a:p>
        </p:txBody>
      </p:sp>
      <p:sp>
        <p:nvSpPr>
          <p:cNvPr id="31" name="Text 29"/>
          <p:cNvSpPr txBox="1"/>
          <p:nvPr/>
        </p:nvSpPr>
        <p:spPr>
          <a:xfrm>
            <a:off x="6473952" y="3419856"/>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Scaling</a:t>
            </a:r>
            <a:endParaRPr lang="en-US" sz="1400" dirty="0"/>
          </a:p>
        </p:txBody>
      </p:sp>
      <p:sp>
        <p:nvSpPr>
          <p:cNvPr id="32" name="Text 30"/>
          <p:cNvSpPr txBox="1"/>
          <p:nvPr/>
        </p:nvSpPr>
        <p:spPr>
          <a:xfrm>
            <a:off x="8211312" y="3419856"/>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dividing scores by √d_k</a:t>
            </a:r>
            <a:endParaRPr lang="en-US" sz="1300" dirty="0"/>
          </a:p>
        </p:txBody>
      </p:sp>
      <p:sp>
        <p:nvSpPr>
          <p:cNvPr id="33" name="Text 31"/>
          <p:cNvSpPr txBox="1"/>
          <p:nvPr/>
        </p:nvSpPr>
        <p:spPr>
          <a:xfrm>
            <a:off x="6473952" y="3858768"/>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Causal mask</a:t>
            </a:r>
            <a:endParaRPr lang="en-US" sz="1400" dirty="0"/>
          </a:p>
        </p:txBody>
      </p:sp>
      <p:sp>
        <p:nvSpPr>
          <p:cNvPr id="34" name="Text 32"/>
          <p:cNvSpPr txBox="1"/>
          <p:nvPr/>
        </p:nvSpPr>
        <p:spPr>
          <a:xfrm>
            <a:off x="8211312" y="3858768"/>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blocks future tokens</a:t>
            </a:r>
            <a:endParaRPr lang="en-US" sz="1300" dirty="0"/>
          </a:p>
        </p:txBody>
      </p:sp>
      <p:sp>
        <p:nvSpPr>
          <p:cNvPr id="35" name="Text 33"/>
          <p:cNvSpPr txBox="1"/>
          <p:nvPr/>
        </p:nvSpPr>
        <p:spPr>
          <a:xfrm>
            <a:off x="6473952" y="4297680"/>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Dropout</a:t>
            </a:r>
            <a:endParaRPr lang="en-US" sz="1400" dirty="0"/>
          </a:p>
        </p:txBody>
      </p:sp>
      <p:sp>
        <p:nvSpPr>
          <p:cNvPr id="36" name="Text 34"/>
          <p:cNvSpPr txBox="1"/>
          <p:nvPr/>
        </p:nvSpPr>
        <p:spPr>
          <a:xfrm>
            <a:off x="8211312" y="4297680"/>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randomly zeroes some weights while training</a:t>
            </a:r>
            <a:endParaRPr lang="en-US" sz="1300" dirty="0"/>
          </a:p>
        </p:txBody>
      </p:sp>
      <p:sp>
        <p:nvSpPr>
          <p:cNvPr id="37" name="Text 35"/>
          <p:cNvSpPr txBox="1"/>
          <p:nvPr/>
        </p:nvSpPr>
        <p:spPr>
          <a:xfrm>
            <a:off x="6473952" y="4736592"/>
            <a:ext cx="1737360" cy="384048"/>
          </a:xfrm>
          <a:prstGeom prst="rect">
            <a:avLst/>
          </a:prstGeom>
          <a:noFill/>
          <a:ln/>
        </p:spPr>
        <p:txBody>
          <a:bodyPr wrap="square" lIns="0" tIns="0" rIns="0" bIns="0" rtlCol="0" anchor="ctr"/>
          <a:lstStyle/>
          <a:p>
            <a:pPr indent="0" marL="0">
              <a:buNone/>
            </a:pPr>
            <a:r>
              <a:rPr lang="en-US" sz="1400" b="1" dirty="0">
                <a:solidFill>
                  <a:srgbClr val="435466"/>
                </a:solidFill>
                <a:latin typeface="Inter" pitchFamily="34" charset="0"/>
                <a:ea typeface="Inter" pitchFamily="34" charset="-122"/>
                <a:cs typeface="Inter" pitchFamily="34" charset="-120"/>
              </a:rPr>
              <a:t>Head</a:t>
            </a:r>
            <a:endParaRPr lang="en-US" sz="1400" dirty="0"/>
          </a:p>
        </p:txBody>
      </p:sp>
      <p:sp>
        <p:nvSpPr>
          <p:cNvPr id="38" name="Text 36"/>
          <p:cNvSpPr txBox="1"/>
          <p:nvPr/>
        </p:nvSpPr>
        <p:spPr>
          <a:xfrm>
            <a:off x="8211312" y="4736592"/>
            <a:ext cx="315468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one attention unit with its own Q, K, V</a:t>
            </a:r>
            <a:endParaRPr lang="en-US" sz="1300" dirty="0"/>
          </a:p>
        </p:txBody>
      </p:sp>
      <p:sp>
        <p:nvSpPr>
          <p:cNvPr id="39" name="Shape 37"/>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40" name="Shape 38"/>
          <p:cNvSpPr/>
          <p:nvPr/>
        </p:nvSpPr>
        <p:spPr>
          <a:xfrm>
            <a:off x="914400" y="5509260"/>
            <a:ext cx="548640" cy="548640"/>
          </a:xfrm>
          <a:prstGeom prst="ellipse">
            <a:avLst/>
          </a:prstGeom>
          <a:solidFill>
            <a:srgbClr val="FFFFFF"/>
          </a:solidFill>
          <a:ln w="15875">
            <a:solidFill>
              <a:srgbClr val="8FA99B"/>
            </a:solidFill>
            <a:prstDash val="solid"/>
          </a:ln>
        </p:spPr>
      </p:sp>
      <p:pic>
        <p:nvPicPr>
          <p:cNvPr id="41"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42" name="Text 39"/>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Come back to this page whenever a word feels unfamiliar.</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18</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Recommended learning order</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Work through the files in three stages.</a:t>
            </a:r>
            <a:endParaRPr lang="en-US" sz="1600" dirty="0"/>
          </a:p>
        </p:txBody>
      </p:sp>
      <p:sp>
        <p:nvSpPr>
          <p:cNvPr id="5" name="Shape 3"/>
          <p:cNvSpPr/>
          <p:nvPr/>
        </p:nvSpPr>
        <p:spPr>
          <a:xfrm>
            <a:off x="640080" y="1600200"/>
            <a:ext cx="3429000" cy="3383280"/>
          </a:xfrm>
          <a:prstGeom prst="roundRect">
            <a:avLst>
              <a:gd name="adj" fmla="val 4054"/>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14400" y="1783080"/>
            <a:ext cx="2880360" cy="411480"/>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1  The idea</a:t>
            </a:r>
            <a:endParaRPr lang="en-US" sz="1900" dirty="0"/>
          </a:p>
        </p:txBody>
      </p:sp>
      <p:sp>
        <p:nvSpPr>
          <p:cNvPr id="7" name="Text 5"/>
          <p:cNvSpPr txBox="1"/>
          <p:nvPr/>
        </p:nvSpPr>
        <p:spPr>
          <a:xfrm>
            <a:off x="914400" y="2377440"/>
            <a:ext cx="28803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SimpleAttentionV1</a:t>
            </a:r>
            <a:endParaRPr lang="en-US" sz="1400" dirty="0"/>
          </a:p>
        </p:txBody>
      </p:sp>
      <p:sp>
        <p:nvSpPr>
          <p:cNvPr id="8" name="Text 6"/>
          <p:cNvSpPr txBox="1"/>
          <p:nvPr/>
        </p:nvSpPr>
        <p:spPr>
          <a:xfrm>
            <a:off x="914400" y="2880360"/>
            <a:ext cx="28803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SelfAttentionV1</a:t>
            </a:r>
            <a:endParaRPr lang="en-US" sz="1400" dirty="0"/>
          </a:p>
        </p:txBody>
      </p:sp>
      <p:sp>
        <p:nvSpPr>
          <p:cNvPr id="9" name="Text 7"/>
          <p:cNvSpPr txBox="1"/>
          <p:nvPr/>
        </p:nvSpPr>
        <p:spPr>
          <a:xfrm>
            <a:off x="914400" y="4434840"/>
            <a:ext cx="2880360" cy="411480"/>
          </a:xfrm>
          <a:prstGeom prst="rect">
            <a:avLst/>
          </a:prstGeom>
          <a:noFill/>
          <a:ln/>
        </p:spPr>
        <p:txBody>
          <a:bodyPr wrap="square" lIns="0" tIns="0" rIns="0" bIns="0" rtlCol="0" anchor="t"/>
          <a:lstStyle/>
          <a:p>
            <a:pPr indent="0" marL="0">
              <a:buNone/>
            </a:pPr>
            <a:r>
              <a:rPr lang="en-US" sz="1300" dirty="0">
                <a:solidFill>
                  <a:srgbClr val="66768A"/>
                </a:solidFill>
                <a:latin typeface="Inter" pitchFamily="34" charset="0"/>
                <a:ea typeface="Inter" pitchFamily="34" charset="-122"/>
                <a:cs typeface="Inter" pitchFamily="34" charset="-120"/>
              </a:rPr>
              <a:t>Watch: scores, weights, Q/K/V, scaling</a:t>
            </a:r>
            <a:endParaRPr lang="en-US" sz="1300" dirty="0"/>
          </a:p>
        </p:txBody>
      </p:sp>
      <p:sp>
        <p:nvSpPr>
          <p:cNvPr id="10" name="Shape 8"/>
          <p:cNvSpPr/>
          <p:nvPr/>
        </p:nvSpPr>
        <p:spPr>
          <a:xfrm>
            <a:off x="4096512" y="3246120"/>
            <a:ext cx="256032" cy="0"/>
          </a:xfrm>
          <a:prstGeom prst="line">
            <a:avLst/>
          </a:prstGeom>
          <a:noFill/>
          <a:ln w="31750">
            <a:solidFill>
              <a:srgbClr val="A9C0D8"/>
            </a:solidFill>
            <a:prstDash val="solid"/>
            <a:tailEnd type="triangle"/>
          </a:ln>
        </p:spPr>
      </p:sp>
      <p:sp>
        <p:nvSpPr>
          <p:cNvPr id="11" name="Shape 9"/>
          <p:cNvSpPr/>
          <p:nvPr/>
        </p:nvSpPr>
        <p:spPr>
          <a:xfrm>
            <a:off x="4379976" y="1600200"/>
            <a:ext cx="3429000" cy="3383280"/>
          </a:xfrm>
          <a:prstGeom prst="roundRect">
            <a:avLst>
              <a:gd name="adj" fmla="val 4054"/>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12" name="Text 10"/>
          <p:cNvSpPr txBox="1"/>
          <p:nvPr/>
        </p:nvSpPr>
        <p:spPr>
          <a:xfrm>
            <a:off x="4654296" y="1783080"/>
            <a:ext cx="2880360" cy="411480"/>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2  Build it up</a:t>
            </a:r>
            <a:endParaRPr lang="en-US" sz="1900" dirty="0"/>
          </a:p>
        </p:txBody>
      </p:sp>
      <p:sp>
        <p:nvSpPr>
          <p:cNvPr id="13" name="Text 11"/>
          <p:cNvSpPr txBox="1"/>
          <p:nvPr/>
        </p:nvSpPr>
        <p:spPr>
          <a:xfrm>
            <a:off x="4654296" y="2377440"/>
            <a:ext cx="28803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SelfAttentionV2</a:t>
            </a:r>
            <a:endParaRPr lang="en-US" sz="1400" dirty="0"/>
          </a:p>
        </p:txBody>
      </p:sp>
      <p:sp>
        <p:nvSpPr>
          <p:cNvPr id="14" name="Text 12"/>
          <p:cNvSpPr txBox="1"/>
          <p:nvPr/>
        </p:nvSpPr>
        <p:spPr>
          <a:xfrm>
            <a:off x="4654296" y="2880360"/>
            <a:ext cx="28803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CausalAttentionV1</a:t>
            </a:r>
            <a:endParaRPr lang="en-US" sz="1400" dirty="0"/>
          </a:p>
        </p:txBody>
      </p:sp>
      <p:sp>
        <p:nvSpPr>
          <p:cNvPr id="15" name="Text 13"/>
          <p:cNvSpPr txBox="1"/>
          <p:nvPr/>
        </p:nvSpPr>
        <p:spPr>
          <a:xfrm>
            <a:off x="4654296" y="3383280"/>
            <a:ext cx="28803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CausalAttentionV2</a:t>
            </a:r>
            <a:endParaRPr lang="en-US" sz="1400" dirty="0"/>
          </a:p>
        </p:txBody>
      </p:sp>
      <p:sp>
        <p:nvSpPr>
          <p:cNvPr id="16" name="Text 14"/>
          <p:cNvSpPr txBox="1"/>
          <p:nvPr/>
        </p:nvSpPr>
        <p:spPr>
          <a:xfrm>
            <a:off x="4654296" y="3886200"/>
            <a:ext cx="28803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MultiHeadAttentionV1</a:t>
            </a:r>
            <a:endParaRPr lang="en-US" sz="1400" dirty="0"/>
          </a:p>
        </p:txBody>
      </p:sp>
      <p:sp>
        <p:nvSpPr>
          <p:cNvPr id="17" name="Text 15"/>
          <p:cNvSpPr txBox="1"/>
          <p:nvPr/>
        </p:nvSpPr>
        <p:spPr>
          <a:xfrm>
            <a:off x="4654296" y="4434840"/>
            <a:ext cx="2880360" cy="411480"/>
          </a:xfrm>
          <a:prstGeom prst="rect">
            <a:avLst/>
          </a:prstGeom>
          <a:noFill/>
          <a:ln/>
        </p:spPr>
        <p:txBody>
          <a:bodyPr wrap="square" lIns="0" tIns="0" rIns="0" bIns="0" rtlCol="0" anchor="t"/>
          <a:lstStyle/>
          <a:p>
            <a:pPr indent="0" marL="0">
              <a:buNone/>
            </a:pPr>
            <a:r>
              <a:rPr lang="en-US" sz="1300" dirty="0">
                <a:solidFill>
                  <a:srgbClr val="66768A"/>
                </a:solidFill>
                <a:latin typeface="Inter" pitchFamily="34" charset="0"/>
                <a:ea typeface="Inter" pitchFamily="34" charset="-122"/>
                <a:cs typeface="Inter" pitchFamily="34" charset="-120"/>
              </a:rPr>
              <a:t>Watch: masking, dropout, joining heads</a:t>
            </a:r>
            <a:endParaRPr lang="en-US" sz="1300" dirty="0"/>
          </a:p>
        </p:txBody>
      </p:sp>
      <p:sp>
        <p:nvSpPr>
          <p:cNvPr id="18" name="Shape 16"/>
          <p:cNvSpPr/>
          <p:nvPr/>
        </p:nvSpPr>
        <p:spPr>
          <a:xfrm>
            <a:off x="7836408" y="3246120"/>
            <a:ext cx="256032" cy="0"/>
          </a:xfrm>
          <a:prstGeom prst="line">
            <a:avLst/>
          </a:prstGeom>
          <a:noFill/>
          <a:ln w="31750">
            <a:solidFill>
              <a:srgbClr val="A9C0D8"/>
            </a:solidFill>
            <a:prstDash val="solid"/>
            <a:tailEnd type="triangle"/>
          </a:ln>
        </p:spPr>
      </p:sp>
      <p:sp>
        <p:nvSpPr>
          <p:cNvPr id="19" name="Shape 17"/>
          <p:cNvSpPr/>
          <p:nvPr/>
        </p:nvSpPr>
        <p:spPr>
          <a:xfrm>
            <a:off x="8119872" y="1600200"/>
            <a:ext cx="3429000" cy="3383280"/>
          </a:xfrm>
          <a:prstGeom prst="roundRect">
            <a:avLst>
              <a:gd name="adj" fmla="val 4054"/>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0" name="Text 18"/>
          <p:cNvSpPr txBox="1"/>
          <p:nvPr/>
        </p:nvSpPr>
        <p:spPr>
          <a:xfrm>
            <a:off x="8394192" y="1783080"/>
            <a:ext cx="2880360" cy="411480"/>
          </a:xfrm>
          <a:prstGeom prst="rect">
            <a:avLst/>
          </a:prstGeom>
          <a:noFill/>
          <a:ln/>
        </p:spPr>
        <p:txBody>
          <a:bodyPr wrap="square" lIns="0" tIns="0" rIns="0" bIns="0" rtlCol="0" anchor="ctr"/>
          <a:lstStyle/>
          <a:p>
            <a:pPr indent="0" marL="0">
              <a:buNone/>
            </a:pPr>
            <a:r>
              <a:rPr lang="en-US" sz="1900" b="1" dirty="0">
                <a:solidFill>
                  <a:srgbClr val="435466"/>
                </a:solidFill>
                <a:latin typeface="Inter" pitchFamily="34" charset="0"/>
                <a:ea typeface="Inter" pitchFamily="34" charset="-122"/>
                <a:cs typeface="Inter" pitchFamily="34" charset="-120"/>
              </a:rPr>
              <a:t>3  Fast versions</a:t>
            </a:r>
            <a:endParaRPr lang="en-US" sz="1900" dirty="0"/>
          </a:p>
        </p:txBody>
      </p:sp>
      <p:sp>
        <p:nvSpPr>
          <p:cNvPr id="21" name="Text 19"/>
          <p:cNvSpPr txBox="1"/>
          <p:nvPr/>
        </p:nvSpPr>
        <p:spPr>
          <a:xfrm>
            <a:off x="8394192" y="2377440"/>
            <a:ext cx="288036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PyTorchAttentionV1</a:t>
            </a:r>
            <a:endParaRPr lang="en-US" sz="1400" dirty="0"/>
          </a:p>
        </p:txBody>
      </p:sp>
      <p:sp>
        <p:nvSpPr>
          <p:cNvPr id="22" name="Text 20"/>
          <p:cNvSpPr txBox="1"/>
          <p:nvPr/>
        </p:nvSpPr>
        <p:spPr>
          <a:xfrm>
            <a:off x="8394192" y="2880360"/>
            <a:ext cx="288036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PyTorchAttentionV2</a:t>
            </a:r>
            <a:endParaRPr lang="en-US" sz="1400" dirty="0"/>
          </a:p>
        </p:txBody>
      </p:sp>
      <p:sp>
        <p:nvSpPr>
          <p:cNvPr id="23" name="Text 21"/>
          <p:cNvSpPr txBox="1"/>
          <p:nvPr/>
        </p:nvSpPr>
        <p:spPr>
          <a:xfrm>
            <a:off x="8394192" y="4434840"/>
            <a:ext cx="2880360" cy="411480"/>
          </a:xfrm>
          <a:prstGeom prst="rect">
            <a:avLst/>
          </a:prstGeom>
          <a:noFill/>
          <a:ln/>
        </p:spPr>
        <p:txBody>
          <a:bodyPr wrap="square" lIns="0" tIns="0" rIns="0" bIns="0" rtlCol="0" anchor="t"/>
          <a:lstStyle/>
          <a:p>
            <a:pPr indent="0" marL="0">
              <a:buNone/>
            </a:pPr>
            <a:r>
              <a:rPr lang="en-US" sz="1300" dirty="0">
                <a:solidFill>
                  <a:srgbClr val="66768A"/>
                </a:solidFill>
                <a:latin typeface="Inter" pitchFamily="34" charset="0"/>
                <a:ea typeface="Inter" pitchFamily="34" charset="-122"/>
                <a:cs typeface="Inter" pitchFamily="34" charset="-120"/>
              </a:rPr>
              <a:t>Watch: which options match your own code</a:t>
            </a:r>
            <a:endParaRPr lang="en-US" sz="1300" dirty="0"/>
          </a:p>
        </p:txBody>
      </p:sp>
      <p:sp>
        <p:nvSpPr>
          <p:cNvPr id="24" name="Shape 22"/>
          <p:cNvSpPr/>
          <p:nvPr/>
        </p:nvSpPr>
        <p:spPr>
          <a:xfrm>
            <a:off x="640080" y="539496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25" name="Shape 23"/>
          <p:cNvSpPr/>
          <p:nvPr/>
        </p:nvSpPr>
        <p:spPr>
          <a:xfrm>
            <a:off x="914400" y="5509260"/>
            <a:ext cx="548640" cy="548640"/>
          </a:xfrm>
          <a:prstGeom prst="ellipse">
            <a:avLst/>
          </a:prstGeom>
          <a:solidFill>
            <a:srgbClr val="FFFFFF"/>
          </a:solidFill>
          <a:ln w="15875">
            <a:solidFill>
              <a:srgbClr val="8FA99B"/>
            </a:solidFill>
            <a:prstDash val="solid"/>
          </a:ln>
        </p:spPr>
      </p:sp>
      <p:pic>
        <p:nvPicPr>
          <p:cNvPr id="26" name="Image 0" descr="preencoded.png">    </p:cNvPr>
          <p:cNvPicPr>
            <a:picLocks noChangeAspect="1"/>
          </p:cNvPicPr>
          <p:nvPr/>
        </p:nvPicPr>
        <p:blipFill>
          <a:blip r:embed="rId1"/>
          <a:stretch>
            <a:fillRect/>
          </a:stretch>
        </p:blipFill>
        <p:spPr>
          <a:xfrm>
            <a:off x="1042416" y="5637276"/>
            <a:ext cx="292608" cy="292608"/>
          </a:xfrm>
          <a:prstGeom prst="rect">
            <a:avLst/>
          </a:prstGeom>
        </p:spPr>
      </p:pic>
      <p:sp>
        <p:nvSpPr>
          <p:cNvPr id="27" name="Text 24"/>
          <p:cNvSpPr txBox="1"/>
          <p:nvPr/>
        </p:nvSpPr>
        <p:spPr>
          <a:xfrm>
            <a:off x="1691640" y="550468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TAKEAWAY</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Attention is compare, weight, blend. Everything else refines when and how.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Attention Models</dc:title>
  <dc:subject>PptxGenJS Presentation</dc:subject>
  <dc:creator>PptxGenJS</dc:creator>
  <cp:lastModifiedBy>PptxGenJS</cp:lastModifiedBy>
  <cp:revision>1</cp:revision>
  <dcterms:created xsi:type="dcterms:W3CDTF">2026-09-29T11:25:07Z</dcterms:created>
  <dcterms:modified xsi:type="dcterms:W3CDTF">2026-09-29T11:25:07Z</dcterms:modified>
</cp:coreProperties>
</file>
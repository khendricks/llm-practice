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tokenizer turns text into token IDs: numbers that stand for pieces of text. This deck shows how those IDs become practice material for GPT. Letters like A, B, C stand in for token IDs throughout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 tokenizer turns the text into one long list of token IDs, numbers that stand for pieces of text. A model cannot learn from one giant list at once. The dataset cuts it into small practice examples. The data loader groups those examples into batches and hands them to the model, one batch per training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practice example has two parts. The input is what the model sees. The target is the correct answer at each position: the token that comes next. So the target is simply the same stretch of text, shifted one token to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slides a window along the token stream. max_length is how many tokens fit in the window. stride is how far the window moves before cutting the next example. A small stride gives more examples that overlap a lot; a stride equal to max_length gives examples that do not overlap. The window stops early enough that the last target still has one extra token to look ahead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GPT dataset tokenizes the text, slides the window, and saves every input and target it cuts. PyTorch only needs two things from it: how many examples there are, and a way to fetch any example by its number. A tensor is PyTorch's container for numbers. Here each input and each target is a 1-D tensor, a single row of max_length token IDs. The dataset keeps them as separate rows in two lists; it does not store one big 2-D table. The 2-D shape only shows up when the data loader stacks rows into a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tools. You ask the dataset for one example by its number, and it gives back a 1-D row. You cannot ask a data loader by number; you loop over it instead, and each step hands you a whole batch: several examples stacked into a 2-D grid. Even a batch of one example is 2-D, with shape 1 by the number of tokens. Because shuffle is on by default, the first batch is not always examples 0 and 1; it can be any examples. With the real settings, a batch has shape batch size by 256.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switches control how the data loader serves batches. batch_size sets how many examples per batch. shuffle mixes up the order each time we go through the data. drop_last throws away a final batch that would be smaller than the rest. num_workers sets how many background helpers load data; zero means the main program does it, which is simplest.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class does all the setup. It creates the BPE tokenizer, builds the GPT dataset from your text, and then works as a PyTorch data loader. During training we loop over it: each loop gives an input batch and a target batch, the model guesses the next tokens, and it learns from its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731520" y="914400"/>
            <a:ext cx="10698480" cy="1554480"/>
          </a:xfrm>
          <a:prstGeom prst="rect">
            <a:avLst/>
          </a:prstGeom>
          <a:noFill/>
          <a:ln/>
        </p:spPr>
        <p:txBody>
          <a:bodyPr wrap="square" lIns="0" tIns="0" rIns="0" bIns="0" rtlCol="0" anchor="b"/>
          <a:lstStyle/>
          <a:p>
            <a:pPr indent="0" marL="0">
              <a:buNone/>
            </a:pPr>
            <a:r>
              <a:rPr lang="en-US" sz="4400" b="1" dirty="0">
                <a:solidFill>
                  <a:srgbClr val="435466"/>
                </a:solidFill>
                <a:latin typeface="Inter" pitchFamily="34" charset="0"/>
                <a:ea typeface="Inter" pitchFamily="34" charset="-122"/>
                <a:cs typeface="Inter" pitchFamily="34" charset="-120"/>
              </a:rPr>
              <a:t>From Tokens to Training Batches</a:t>
            </a:r>
            <a:endParaRPr lang="en-US" sz="4400" dirty="0"/>
          </a:p>
        </p:txBody>
      </p:sp>
      <p:sp>
        <p:nvSpPr>
          <p:cNvPr id="3" name="Text 1"/>
          <p:cNvSpPr txBox="1"/>
          <p:nvPr/>
        </p:nvSpPr>
        <p:spPr>
          <a:xfrm>
            <a:off x="731520" y="2606040"/>
            <a:ext cx="10698480" cy="548640"/>
          </a:xfrm>
          <a:prstGeom prst="rect">
            <a:avLst/>
          </a:prstGeom>
          <a:noFill/>
          <a:ln/>
        </p:spPr>
        <p:txBody>
          <a:bodyPr wrap="square" lIns="0" tIns="0" rIns="0" bIns="0" rtlCol="0" anchor="t"/>
          <a:lstStyle/>
          <a:p>
            <a:pPr indent="0" marL="0">
              <a:buNone/>
            </a:pPr>
            <a:r>
              <a:rPr lang="en-US" sz="2200" dirty="0">
                <a:solidFill>
                  <a:srgbClr val="66768A"/>
                </a:solidFill>
                <a:latin typeface="Inter" pitchFamily="34" charset="0"/>
                <a:ea typeface="Inter" pitchFamily="34" charset="-122"/>
                <a:cs typeface="Inter" pitchFamily="34" charset="-120"/>
              </a:rPr>
              <a:t>How a dataset and a data loader prepare practice for GPT</a:t>
            </a:r>
            <a:endParaRPr lang="en-US" sz="2200" dirty="0"/>
          </a:p>
        </p:txBody>
      </p:sp>
      <p:sp>
        <p:nvSpPr>
          <p:cNvPr id="4" name="Text 2"/>
          <p:cNvSpPr txBox="1"/>
          <p:nvPr/>
        </p:nvSpPr>
        <p:spPr>
          <a:xfrm>
            <a:off x="731520" y="4297680"/>
            <a:ext cx="457200" cy="54864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800" dirty="0">
                <a:solidFill>
                  <a:srgbClr val="435466"/>
                </a:solidFill>
                <a:latin typeface="Inter" pitchFamily="34" charset="0"/>
                <a:ea typeface="Inter" pitchFamily="34" charset="-122"/>
                <a:cs typeface="Inter" pitchFamily="34" charset="-120"/>
              </a:rPr>
              <a:t>A</a:t>
            </a:r>
            <a:endParaRPr lang="en-US" sz="1800" dirty="0"/>
          </a:p>
        </p:txBody>
      </p:sp>
      <p:sp>
        <p:nvSpPr>
          <p:cNvPr id="5" name="Text 3"/>
          <p:cNvSpPr txBox="1"/>
          <p:nvPr/>
        </p:nvSpPr>
        <p:spPr>
          <a:xfrm>
            <a:off x="1261872" y="4297680"/>
            <a:ext cx="457200" cy="54864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800" dirty="0">
                <a:solidFill>
                  <a:srgbClr val="435466"/>
                </a:solidFill>
                <a:latin typeface="Inter" pitchFamily="34" charset="0"/>
                <a:ea typeface="Inter" pitchFamily="34" charset="-122"/>
                <a:cs typeface="Inter" pitchFamily="34" charset="-120"/>
              </a:rPr>
              <a:t>B</a:t>
            </a:r>
            <a:endParaRPr lang="en-US" sz="1800" dirty="0"/>
          </a:p>
        </p:txBody>
      </p:sp>
      <p:sp>
        <p:nvSpPr>
          <p:cNvPr id="6" name="Text 4"/>
          <p:cNvSpPr txBox="1"/>
          <p:nvPr/>
        </p:nvSpPr>
        <p:spPr>
          <a:xfrm>
            <a:off x="1792224" y="4297680"/>
            <a:ext cx="457200" cy="54864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800" dirty="0">
                <a:solidFill>
                  <a:srgbClr val="435466"/>
                </a:solidFill>
                <a:latin typeface="Inter" pitchFamily="34" charset="0"/>
                <a:ea typeface="Inter" pitchFamily="34" charset="-122"/>
                <a:cs typeface="Inter" pitchFamily="34" charset="-120"/>
              </a:rPr>
              <a:t>C</a:t>
            </a:r>
            <a:endParaRPr lang="en-US" sz="1800" dirty="0"/>
          </a:p>
        </p:txBody>
      </p:sp>
      <p:sp>
        <p:nvSpPr>
          <p:cNvPr id="7" name="Text 5"/>
          <p:cNvSpPr txBox="1"/>
          <p:nvPr/>
        </p:nvSpPr>
        <p:spPr>
          <a:xfrm>
            <a:off x="2322576" y="4297680"/>
            <a:ext cx="457200" cy="54864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800" dirty="0">
                <a:solidFill>
                  <a:srgbClr val="435466"/>
                </a:solidFill>
                <a:latin typeface="Inter" pitchFamily="34" charset="0"/>
                <a:ea typeface="Inter" pitchFamily="34" charset="-122"/>
                <a:cs typeface="Inter" pitchFamily="34" charset="-120"/>
              </a:rPr>
              <a:t>D</a:t>
            </a:r>
            <a:endParaRPr lang="en-US" sz="1800" dirty="0"/>
          </a:p>
        </p:txBody>
      </p:sp>
      <p:sp>
        <p:nvSpPr>
          <p:cNvPr id="8" name="Text 6"/>
          <p:cNvSpPr txBox="1"/>
          <p:nvPr/>
        </p:nvSpPr>
        <p:spPr>
          <a:xfrm>
            <a:off x="2852928" y="4297680"/>
            <a:ext cx="457200" cy="54864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800" dirty="0">
                <a:solidFill>
                  <a:srgbClr val="435466"/>
                </a:solidFill>
                <a:latin typeface="Inter" pitchFamily="34" charset="0"/>
                <a:ea typeface="Inter" pitchFamily="34" charset="-122"/>
                <a:cs typeface="Inter" pitchFamily="34" charset="-120"/>
              </a:rPr>
              <a:t>E</a:t>
            </a:r>
            <a:endParaRPr lang="en-US" sz="1800" dirty="0"/>
          </a:p>
        </p:txBody>
      </p:sp>
      <p:sp>
        <p:nvSpPr>
          <p:cNvPr id="9" name="Text 7"/>
          <p:cNvSpPr txBox="1"/>
          <p:nvPr/>
        </p:nvSpPr>
        <p:spPr>
          <a:xfrm>
            <a:off x="3383280" y="4297680"/>
            <a:ext cx="457200" cy="54864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800" dirty="0">
                <a:solidFill>
                  <a:srgbClr val="435466"/>
                </a:solidFill>
                <a:latin typeface="Inter" pitchFamily="34" charset="0"/>
                <a:ea typeface="Inter" pitchFamily="34" charset="-122"/>
                <a:cs typeface="Inter" pitchFamily="34" charset="-120"/>
              </a:rPr>
              <a:t>F</a:t>
            </a:r>
            <a:endParaRPr lang="en-US" sz="1800" dirty="0"/>
          </a:p>
        </p:txBody>
      </p:sp>
      <p:sp>
        <p:nvSpPr>
          <p:cNvPr id="10" name="Shape 8"/>
          <p:cNvSpPr/>
          <p:nvPr/>
        </p:nvSpPr>
        <p:spPr>
          <a:xfrm>
            <a:off x="3977640" y="4572000"/>
            <a:ext cx="548640" cy="0"/>
          </a:xfrm>
          <a:prstGeom prst="line">
            <a:avLst/>
          </a:prstGeom>
          <a:noFill/>
          <a:ln w="31750">
            <a:solidFill>
              <a:srgbClr val="A9C0D8"/>
            </a:solidFill>
            <a:prstDash val="solid"/>
            <a:tailEnd type="triangle"/>
          </a:ln>
        </p:spPr>
      </p:sp>
      <p:sp>
        <p:nvSpPr>
          <p:cNvPr id="11" name="Text 9"/>
          <p:cNvSpPr txBox="1"/>
          <p:nvPr/>
        </p:nvSpPr>
        <p:spPr>
          <a:xfrm>
            <a:off x="4663440" y="4206240"/>
            <a:ext cx="1645920" cy="731520"/>
          </a:xfrm>
          <a:prstGeom prst="roundRect">
            <a:avLst>
              <a:gd name="adj" fmla="val 12500"/>
            </a:avLst>
          </a:prstGeom>
          <a:solidFill>
            <a:srgbClr val="A9C0D8"/>
          </a:solidFill>
          <a:ln w="15875">
            <a:solidFill>
              <a:srgbClr val="A9C0D8"/>
            </a:solidFill>
          </a:ln>
        </p:spPr>
        <p:txBody>
          <a:bodyPr wrap="square" lIns="0" tIns="0" rIns="0" bIns="0" rtlCol="0" anchor="ctr"/>
          <a:lstStyle/>
          <a:p>
            <a:pPr algn="ctr" indent="0" marL="0">
              <a:buNone/>
            </a:pPr>
            <a:r>
              <a:rPr lang="en-US" sz="2000" b="1" dirty="0">
                <a:solidFill>
                  <a:srgbClr val="435466"/>
                </a:solidFill>
                <a:latin typeface="Inter" pitchFamily="34" charset="0"/>
                <a:ea typeface="Inter" pitchFamily="34" charset="-122"/>
                <a:cs typeface="Inter" pitchFamily="34" charset="-120"/>
              </a:rPr>
              <a:t>Dataset</a:t>
            </a:r>
            <a:endParaRPr lang="en-US" sz="2000" dirty="0"/>
          </a:p>
        </p:txBody>
      </p:sp>
      <p:sp>
        <p:nvSpPr>
          <p:cNvPr id="12" name="Shape 10"/>
          <p:cNvSpPr/>
          <p:nvPr/>
        </p:nvSpPr>
        <p:spPr>
          <a:xfrm>
            <a:off x="6446520" y="4572000"/>
            <a:ext cx="548640" cy="0"/>
          </a:xfrm>
          <a:prstGeom prst="line">
            <a:avLst/>
          </a:prstGeom>
          <a:noFill/>
          <a:ln w="31750">
            <a:solidFill>
              <a:srgbClr val="A9C0D8"/>
            </a:solidFill>
            <a:prstDash val="solid"/>
            <a:tailEnd type="triangle"/>
          </a:ln>
        </p:spPr>
      </p:sp>
      <p:sp>
        <p:nvSpPr>
          <p:cNvPr id="13" name="Text 11"/>
          <p:cNvSpPr txBox="1"/>
          <p:nvPr/>
        </p:nvSpPr>
        <p:spPr>
          <a:xfrm>
            <a:off x="7132320" y="4206240"/>
            <a:ext cx="1828800" cy="731520"/>
          </a:xfrm>
          <a:prstGeom prst="roundRect">
            <a:avLst>
              <a:gd name="adj" fmla="val 12500"/>
            </a:avLst>
          </a:prstGeom>
          <a:solidFill>
            <a:srgbClr val="A9C0D8"/>
          </a:solidFill>
          <a:ln w="15875">
            <a:solidFill>
              <a:srgbClr val="A9C0D8"/>
            </a:solidFill>
          </a:ln>
        </p:spPr>
        <p:txBody>
          <a:bodyPr wrap="square" lIns="0" tIns="0" rIns="0" bIns="0" rtlCol="0" anchor="ctr"/>
          <a:lstStyle/>
          <a:p>
            <a:pPr algn="ctr" indent="0" marL="0">
              <a:buNone/>
            </a:pPr>
            <a:r>
              <a:rPr lang="en-US" sz="2000" b="1" dirty="0">
                <a:solidFill>
                  <a:srgbClr val="435466"/>
                </a:solidFill>
                <a:latin typeface="Inter" pitchFamily="34" charset="0"/>
                <a:ea typeface="Inter" pitchFamily="34" charset="-122"/>
                <a:cs typeface="Inter" pitchFamily="34" charset="-120"/>
              </a:rPr>
              <a:t>DataLoader</a:t>
            </a:r>
            <a:endParaRPr lang="en-US" sz="2000" dirty="0"/>
          </a:p>
        </p:txBody>
      </p:sp>
      <p:sp>
        <p:nvSpPr>
          <p:cNvPr id="14" name="Shape 12"/>
          <p:cNvSpPr/>
          <p:nvPr/>
        </p:nvSpPr>
        <p:spPr>
          <a:xfrm>
            <a:off x="9098280" y="4572000"/>
            <a:ext cx="548640" cy="0"/>
          </a:xfrm>
          <a:prstGeom prst="line">
            <a:avLst/>
          </a:prstGeom>
          <a:noFill/>
          <a:ln w="31750">
            <a:solidFill>
              <a:srgbClr val="A9C0D8"/>
            </a:solidFill>
            <a:prstDash val="solid"/>
            <a:tailEnd type="triangle"/>
          </a:ln>
        </p:spPr>
      </p:sp>
      <p:sp>
        <p:nvSpPr>
          <p:cNvPr id="15" name="Text 13"/>
          <p:cNvSpPr txBox="1"/>
          <p:nvPr/>
        </p:nvSpPr>
        <p:spPr>
          <a:xfrm>
            <a:off x="9784080" y="4206240"/>
            <a:ext cx="457200"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endParaRPr lang="en-US" sz="1600" dirty="0"/>
          </a:p>
        </p:txBody>
      </p:sp>
      <p:sp>
        <p:nvSpPr>
          <p:cNvPr id="16" name="Text 14"/>
          <p:cNvSpPr txBox="1"/>
          <p:nvPr/>
        </p:nvSpPr>
        <p:spPr>
          <a:xfrm>
            <a:off x="10314432" y="4206240"/>
            <a:ext cx="457200"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endParaRPr lang="en-US" sz="1600" dirty="0"/>
          </a:p>
        </p:txBody>
      </p:sp>
      <p:sp>
        <p:nvSpPr>
          <p:cNvPr id="17" name="Text 15"/>
          <p:cNvSpPr txBox="1"/>
          <p:nvPr/>
        </p:nvSpPr>
        <p:spPr>
          <a:xfrm>
            <a:off x="10844784" y="4206240"/>
            <a:ext cx="457200"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endParaRPr lang="en-US" sz="1600" dirty="0"/>
          </a:p>
        </p:txBody>
      </p:sp>
      <p:sp>
        <p:nvSpPr>
          <p:cNvPr id="18" name="Text 16"/>
          <p:cNvSpPr txBox="1"/>
          <p:nvPr/>
        </p:nvSpPr>
        <p:spPr>
          <a:xfrm>
            <a:off x="9784080" y="4608576"/>
            <a:ext cx="457200"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endParaRPr lang="en-US" sz="1600" dirty="0"/>
          </a:p>
        </p:txBody>
      </p:sp>
      <p:sp>
        <p:nvSpPr>
          <p:cNvPr id="19" name="Text 17"/>
          <p:cNvSpPr txBox="1"/>
          <p:nvPr/>
        </p:nvSpPr>
        <p:spPr>
          <a:xfrm>
            <a:off x="10314432" y="4608576"/>
            <a:ext cx="457200"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endParaRPr lang="en-US" sz="1600" dirty="0"/>
          </a:p>
        </p:txBody>
      </p:sp>
      <p:sp>
        <p:nvSpPr>
          <p:cNvPr id="20" name="Text 18"/>
          <p:cNvSpPr txBox="1"/>
          <p:nvPr/>
        </p:nvSpPr>
        <p:spPr>
          <a:xfrm>
            <a:off x="10844784" y="4608576"/>
            <a:ext cx="457200"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endParaRPr lang="en-US" sz="1600" dirty="0"/>
          </a:p>
        </p:txBody>
      </p:sp>
      <p:sp>
        <p:nvSpPr>
          <p:cNvPr id="21" name="Text 19"/>
          <p:cNvSpPr txBox="1"/>
          <p:nvPr/>
        </p:nvSpPr>
        <p:spPr>
          <a:xfrm>
            <a:off x="731520" y="5074920"/>
            <a:ext cx="3108960" cy="2743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token stream</a:t>
            </a:r>
            <a:endParaRPr lang="en-US" sz="1300" dirty="0"/>
          </a:p>
        </p:txBody>
      </p:sp>
      <p:sp>
        <p:nvSpPr>
          <p:cNvPr id="22" name="Text 20"/>
          <p:cNvSpPr txBox="1"/>
          <p:nvPr/>
        </p:nvSpPr>
        <p:spPr>
          <a:xfrm>
            <a:off x="4663440" y="5074920"/>
            <a:ext cx="1645920" cy="2743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cuts examples</a:t>
            </a:r>
            <a:endParaRPr lang="en-US" sz="1300" dirty="0"/>
          </a:p>
        </p:txBody>
      </p:sp>
      <p:sp>
        <p:nvSpPr>
          <p:cNvPr id="23" name="Text 21"/>
          <p:cNvSpPr txBox="1"/>
          <p:nvPr/>
        </p:nvSpPr>
        <p:spPr>
          <a:xfrm>
            <a:off x="7132320" y="5074920"/>
            <a:ext cx="1828800" cy="2743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groups them</a:t>
            </a:r>
            <a:endParaRPr lang="en-US" sz="1300" dirty="0"/>
          </a:p>
        </p:txBody>
      </p:sp>
      <p:sp>
        <p:nvSpPr>
          <p:cNvPr id="24" name="Text 22"/>
          <p:cNvSpPr txBox="1"/>
          <p:nvPr/>
        </p:nvSpPr>
        <p:spPr>
          <a:xfrm>
            <a:off x="9784080" y="5074920"/>
            <a:ext cx="1517904" cy="2743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a batch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2</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The big picture</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Before a model can learn from text, the text goes through a few steps.</a:t>
            </a:r>
            <a:endParaRPr lang="en-US" sz="1600" dirty="0"/>
          </a:p>
        </p:txBody>
      </p:sp>
      <p:sp>
        <p:nvSpPr>
          <p:cNvPr id="5" name="Text 3"/>
          <p:cNvSpPr txBox="1"/>
          <p:nvPr/>
        </p:nvSpPr>
        <p:spPr>
          <a:xfrm>
            <a:off x="655168" y="2514600"/>
            <a:ext cx="1508760" cy="1005840"/>
          </a:xfrm>
          <a:prstGeom prst="roundRect">
            <a:avLst>
              <a:gd name="adj" fmla="val 13636"/>
            </a:avLst>
          </a:prstGeom>
          <a:solidFill>
            <a:srgbClr val="E4ECE7"/>
          </a:solidFill>
          <a:ln w="15875">
            <a:solidFill>
              <a:srgbClr val="8FA99B"/>
            </a:solidFill>
          </a:ln>
        </p:spPr>
        <p:txBody>
          <a:bodyPr wrap="square" lIns="762" tIns="762" rIns="762" bIns="762"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Text</a:t>
            </a:r>
            <a:endParaRPr lang="en-US" sz="1600" dirty="0"/>
          </a:p>
        </p:txBody>
      </p:sp>
      <p:sp>
        <p:nvSpPr>
          <p:cNvPr id="6" name="Text 4"/>
          <p:cNvSpPr txBox="1"/>
          <p:nvPr/>
        </p:nvSpPr>
        <p:spPr>
          <a:xfrm>
            <a:off x="563728" y="3657600"/>
            <a:ext cx="1691640" cy="548640"/>
          </a:xfrm>
          <a:prstGeom prst="rect">
            <a:avLst/>
          </a:prstGeom>
          <a:noFill/>
          <a:ln/>
        </p:spPr>
        <p:txBody>
          <a:bodyPr wrap="square" lIns="0" tIns="0" rIns="0" bIns="0" rtlCol="0" anchor="t"/>
          <a:lstStyle/>
          <a:p>
            <a:pPr algn="ctr" indent="0" marL="0">
              <a:buNone/>
            </a:pPr>
            <a:r>
              <a:rPr lang="en-US" sz="1400" dirty="0">
                <a:solidFill>
                  <a:srgbClr val="66768A"/>
                </a:solidFill>
                <a:latin typeface="Inter" pitchFamily="34" charset="0"/>
                <a:ea typeface="Inter" pitchFamily="34" charset="-122"/>
                <a:cs typeface="Inter" pitchFamily="34" charset="-120"/>
              </a:rPr>
              <a:t>words</a:t>
            </a:r>
            <a:endParaRPr lang="en-US" sz="1400" dirty="0"/>
          </a:p>
        </p:txBody>
      </p:sp>
      <p:sp>
        <p:nvSpPr>
          <p:cNvPr id="7" name="Shape 5"/>
          <p:cNvSpPr/>
          <p:nvPr/>
        </p:nvSpPr>
        <p:spPr>
          <a:xfrm>
            <a:off x="2218792" y="3017520"/>
            <a:ext cx="256032" cy="0"/>
          </a:xfrm>
          <a:prstGeom prst="line">
            <a:avLst/>
          </a:prstGeom>
          <a:noFill/>
          <a:ln w="31750">
            <a:solidFill>
              <a:srgbClr val="A9C0D8"/>
            </a:solidFill>
            <a:prstDash val="solid"/>
            <a:tailEnd type="triangle"/>
          </a:ln>
        </p:spPr>
      </p:sp>
      <p:sp>
        <p:nvSpPr>
          <p:cNvPr id="8" name="Text 6"/>
          <p:cNvSpPr txBox="1"/>
          <p:nvPr/>
        </p:nvSpPr>
        <p:spPr>
          <a:xfrm>
            <a:off x="2529688" y="2514600"/>
            <a:ext cx="1508760" cy="1005840"/>
          </a:xfrm>
          <a:prstGeom prst="roundRect">
            <a:avLst>
              <a:gd name="adj" fmla="val 13636"/>
            </a:avLst>
          </a:prstGeom>
          <a:solidFill>
            <a:srgbClr val="A9C0D8"/>
          </a:solidFill>
          <a:ln w="15875">
            <a:solidFill>
              <a:srgbClr val="A9C0D8"/>
            </a:solidFill>
          </a:ln>
        </p:spPr>
        <p:txBody>
          <a:bodyPr wrap="square" lIns="762" tIns="762" rIns="762" bIns="762"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Tokenizer</a:t>
            </a:r>
            <a:endParaRPr lang="en-US" sz="1600" dirty="0"/>
          </a:p>
        </p:txBody>
      </p:sp>
      <p:sp>
        <p:nvSpPr>
          <p:cNvPr id="9" name="Text 7"/>
          <p:cNvSpPr txBox="1"/>
          <p:nvPr/>
        </p:nvSpPr>
        <p:spPr>
          <a:xfrm>
            <a:off x="2438248" y="3657600"/>
            <a:ext cx="1691640" cy="548640"/>
          </a:xfrm>
          <a:prstGeom prst="rect">
            <a:avLst/>
          </a:prstGeom>
          <a:noFill/>
          <a:ln/>
        </p:spPr>
        <p:txBody>
          <a:bodyPr wrap="square" lIns="0" tIns="0" rIns="0" bIns="0" rtlCol="0" anchor="t"/>
          <a:lstStyle/>
          <a:p>
            <a:pPr algn="ctr" indent="0" marL="0">
              <a:buNone/>
            </a:pPr>
            <a:r>
              <a:rPr lang="en-US" sz="1400" dirty="0">
                <a:solidFill>
                  <a:srgbClr val="66768A"/>
                </a:solidFill>
                <a:latin typeface="Inter" pitchFamily="34" charset="0"/>
                <a:ea typeface="Inter" pitchFamily="34" charset="-122"/>
                <a:cs typeface="Inter" pitchFamily="34" charset="-120"/>
              </a:rPr>
              <a:t>turns text into numbers</a:t>
            </a:r>
            <a:endParaRPr lang="en-US" sz="1400" dirty="0"/>
          </a:p>
        </p:txBody>
      </p:sp>
      <p:sp>
        <p:nvSpPr>
          <p:cNvPr id="10" name="Shape 8"/>
          <p:cNvSpPr/>
          <p:nvPr/>
        </p:nvSpPr>
        <p:spPr>
          <a:xfrm>
            <a:off x="4093312" y="3017520"/>
            <a:ext cx="256032" cy="0"/>
          </a:xfrm>
          <a:prstGeom prst="line">
            <a:avLst/>
          </a:prstGeom>
          <a:noFill/>
          <a:ln w="31750">
            <a:solidFill>
              <a:srgbClr val="A9C0D8"/>
            </a:solidFill>
            <a:prstDash val="solid"/>
            <a:tailEnd type="triangle"/>
          </a:ln>
        </p:spPr>
      </p:sp>
      <p:sp>
        <p:nvSpPr>
          <p:cNvPr id="11" name="Text 9"/>
          <p:cNvSpPr txBox="1"/>
          <p:nvPr/>
        </p:nvSpPr>
        <p:spPr>
          <a:xfrm>
            <a:off x="4404208" y="2514600"/>
            <a:ext cx="1508760" cy="1005840"/>
          </a:xfrm>
          <a:prstGeom prst="roundRect">
            <a:avLst>
              <a:gd name="adj" fmla="val 13636"/>
            </a:avLst>
          </a:prstGeom>
          <a:solidFill>
            <a:srgbClr val="E8EFF7"/>
          </a:solidFill>
          <a:ln w="15875">
            <a:solidFill>
              <a:srgbClr val="A9C0D8"/>
            </a:solidFill>
          </a:ln>
        </p:spPr>
        <p:txBody>
          <a:bodyPr wrap="square" lIns="762" tIns="762" rIns="762" bIns="762"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Token IDs</a:t>
            </a:r>
            <a:endParaRPr lang="en-US" sz="1600" dirty="0"/>
          </a:p>
        </p:txBody>
      </p:sp>
      <p:sp>
        <p:nvSpPr>
          <p:cNvPr id="12" name="Text 10"/>
          <p:cNvSpPr txBox="1"/>
          <p:nvPr/>
        </p:nvSpPr>
        <p:spPr>
          <a:xfrm>
            <a:off x="4312768" y="3657600"/>
            <a:ext cx="1691640" cy="548640"/>
          </a:xfrm>
          <a:prstGeom prst="rect">
            <a:avLst/>
          </a:prstGeom>
          <a:noFill/>
          <a:ln/>
        </p:spPr>
        <p:txBody>
          <a:bodyPr wrap="square" lIns="0" tIns="0" rIns="0" bIns="0" rtlCol="0" anchor="t"/>
          <a:lstStyle/>
          <a:p>
            <a:pPr algn="ctr" indent="0" marL="0">
              <a:buNone/>
            </a:pPr>
            <a:r>
              <a:rPr lang="en-US" sz="1400" dirty="0">
                <a:solidFill>
                  <a:srgbClr val="66768A"/>
                </a:solidFill>
                <a:latin typeface="Inter" pitchFamily="34" charset="0"/>
                <a:ea typeface="Inter" pitchFamily="34" charset="-122"/>
                <a:cs typeface="Inter" pitchFamily="34" charset="-120"/>
              </a:rPr>
              <a:t>one long list of numbers</a:t>
            </a:r>
            <a:endParaRPr lang="en-US" sz="1400" dirty="0"/>
          </a:p>
        </p:txBody>
      </p:sp>
      <p:sp>
        <p:nvSpPr>
          <p:cNvPr id="13" name="Shape 11"/>
          <p:cNvSpPr/>
          <p:nvPr/>
        </p:nvSpPr>
        <p:spPr>
          <a:xfrm>
            <a:off x="5967832" y="3017520"/>
            <a:ext cx="256032" cy="0"/>
          </a:xfrm>
          <a:prstGeom prst="line">
            <a:avLst/>
          </a:prstGeom>
          <a:noFill/>
          <a:ln w="31750">
            <a:solidFill>
              <a:srgbClr val="A9C0D8"/>
            </a:solidFill>
            <a:prstDash val="solid"/>
            <a:tailEnd type="triangle"/>
          </a:ln>
        </p:spPr>
      </p:sp>
      <p:sp>
        <p:nvSpPr>
          <p:cNvPr id="14" name="Text 12"/>
          <p:cNvSpPr txBox="1"/>
          <p:nvPr/>
        </p:nvSpPr>
        <p:spPr>
          <a:xfrm>
            <a:off x="6278728" y="2514600"/>
            <a:ext cx="1508760" cy="1005840"/>
          </a:xfrm>
          <a:prstGeom prst="roundRect">
            <a:avLst>
              <a:gd name="adj" fmla="val 13636"/>
            </a:avLst>
          </a:prstGeom>
          <a:solidFill>
            <a:srgbClr val="A9C0D8"/>
          </a:solidFill>
          <a:ln w="15875">
            <a:solidFill>
              <a:srgbClr val="A9C0D8"/>
            </a:solidFill>
          </a:ln>
        </p:spPr>
        <p:txBody>
          <a:bodyPr wrap="square" lIns="762" tIns="762" rIns="762" bIns="762"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Dataset</a:t>
            </a:r>
            <a:endParaRPr lang="en-US" sz="1600" dirty="0"/>
          </a:p>
        </p:txBody>
      </p:sp>
      <p:sp>
        <p:nvSpPr>
          <p:cNvPr id="15" name="Text 13"/>
          <p:cNvSpPr txBox="1"/>
          <p:nvPr/>
        </p:nvSpPr>
        <p:spPr>
          <a:xfrm>
            <a:off x="6187288" y="3657600"/>
            <a:ext cx="1691640" cy="548640"/>
          </a:xfrm>
          <a:prstGeom prst="rect">
            <a:avLst/>
          </a:prstGeom>
          <a:noFill/>
          <a:ln/>
        </p:spPr>
        <p:txBody>
          <a:bodyPr wrap="square" lIns="0" tIns="0" rIns="0" bIns="0" rtlCol="0" anchor="t"/>
          <a:lstStyle/>
          <a:p>
            <a:pPr algn="ctr" indent="0" marL="0">
              <a:buNone/>
            </a:pPr>
            <a:r>
              <a:rPr lang="en-US" sz="1400" dirty="0">
                <a:solidFill>
                  <a:srgbClr val="66768A"/>
                </a:solidFill>
                <a:latin typeface="Inter" pitchFamily="34" charset="0"/>
                <a:ea typeface="Inter" pitchFamily="34" charset="-122"/>
                <a:cs typeface="Inter" pitchFamily="34" charset="-120"/>
              </a:rPr>
              <a:t>cuts practice examples</a:t>
            </a:r>
            <a:endParaRPr lang="en-US" sz="1400" dirty="0"/>
          </a:p>
        </p:txBody>
      </p:sp>
      <p:sp>
        <p:nvSpPr>
          <p:cNvPr id="16" name="Shape 14"/>
          <p:cNvSpPr/>
          <p:nvPr/>
        </p:nvSpPr>
        <p:spPr>
          <a:xfrm>
            <a:off x="7842352" y="3017520"/>
            <a:ext cx="256032" cy="0"/>
          </a:xfrm>
          <a:prstGeom prst="line">
            <a:avLst/>
          </a:prstGeom>
          <a:noFill/>
          <a:ln w="31750">
            <a:solidFill>
              <a:srgbClr val="A9C0D8"/>
            </a:solidFill>
            <a:prstDash val="solid"/>
            <a:tailEnd type="triangle"/>
          </a:ln>
        </p:spPr>
      </p:sp>
      <p:sp>
        <p:nvSpPr>
          <p:cNvPr id="17" name="Text 15"/>
          <p:cNvSpPr txBox="1"/>
          <p:nvPr/>
        </p:nvSpPr>
        <p:spPr>
          <a:xfrm>
            <a:off x="8153248" y="2514600"/>
            <a:ext cx="1508760" cy="1005840"/>
          </a:xfrm>
          <a:prstGeom prst="roundRect">
            <a:avLst>
              <a:gd name="adj" fmla="val 13636"/>
            </a:avLst>
          </a:prstGeom>
          <a:solidFill>
            <a:srgbClr val="A9C0D8"/>
          </a:solidFill>
          <a:ln w="15875">
            <a:solidFill>
              <a:srgbClr val="A9C0D8"/>
            </a:solidFill>
          </a:ln>
        </p:spPr>
        <p:txBody>
          <a:bodyPr wrap="square" lIns="762" tIns="762" rIns="762" bIns="762"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DataLoader</a:t>
            </a:r>
            <a:endParaRPr lang="en-US" sz="1600" dirty="0"/>
          </a:p>
        </p:txBody>
      </p:sp>
      <p:sp>
        <p:nvSpPr>
          <p:cNvPr id="18" name="Text 16"/>
          <p:cNvSpPr txBox="1"/>
          <p:nvPr/>
        </p:nvSpPr>
        <p:spPr>
          <a:xfrm>
            <a:off x="8061808" y="3657600"/>
            <a:ext cx="1691640" cy="548640"/>
          </a:xfrm>
          <a:prstGeom prst="rect">
            <a:avLst/>
          </a:prstGeom>
          <a:noFill/>
          <a:ln/>
        </p:spPr>
        <p:txBody>
          <a:bodyPr wrap="square" lIns="0" tIns="0" rIns="0" bIns="0" rtlCol="0" anchor="t"/>
          <a:lstStyle/>
          <a:p>
            <a:pPr algn="ctr" indent="0" marL="0">
              <a:buNone/>
            </a:pPr>
            <a:r>
              <a:rPr lang="en-US" sz="1400" dirty="0">
                <a:solidFill>
                  <a:srgbClr val="66768A"/>
                </a:solidFill>
                <a:latin typeface="Inter" pitchFamily="34" charset="0"/>
                <a:ea typeface="Inter" pitchFamily="34" charset="-122"/>
                <a:cs typeface="Inter" pitchFamily="34" charset="-120"/>
              </a:rPr>
              <a:t>groups them into batches</a:t>
            </a:r>
            <a:endParaRPr lang="en-US" sz="1400" dirty="0"/>
          </a:p>
        </p:txBody>
      </p:sp>
      <p:sp>
        <p:nvSpPr>
          <p:cNvPr id="19" name="Shape 17"/>
          <p:cNvSpPr/>
          <p:nvPr/>
        </p:nvSpPr>
        <p:spPr>
          <a:xfrm>
            <a:off x="9716872" y="3017520"/>
            <a:ext cx="256032" cy="0"/>
          </a:xfrm>
          <a:prstGeom prst="line">
            <a:avLst/>
          </a:prstGeom>
          <a:noFill/>
          <a:ln w="31750">
            <a:solidFill>
              <a:srgbClr val="A9C0D8"/>
            </a:solidFill>
            <a:prstDash val="solid"/>
            <a:tailEnd type="triangle"/>
          </a:ln>
        </p:spPr>
      </p:sp>
      <p:sp>
        <p:nvSpPr>
          <p:cNvPr id="20" name="Text 18"/>
          <p:cNvSpPr txBox="1"/>
          <p:nvPr/>
        </p:nvSpPr>
        <p:spPr>
          <a:xfrm>
            <a:off x="10027768" y="2514600"/>
            <a:ext cx="1508760" cy="1005840"/>
          </a:xfrm>
          <a:prstGeom prst="roundRect">
            <a:avLst>
              <a:gd name="adj" fmla="val 13636"/>
            </a:avLst>
          </a:prstGeom>
          <a:solidFill>
            <a:srgbClr val="435466"/>
          </a:solidFill>
          <a:ln w="15875">
            <a:solidFill>
              <a:srgbClr val="435466"/>
            </a:solidFill>
          </a:ln>
        </p:spPr>
        <p:txBody>
          <a:bodyPr wrap="square" lIns="762" tIns="762" rIns="762" bIns="762"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Training step</a:t>
            </a:r>
            <a:endParaRPr lang="en-US" sz="1600" dirty="0"/>
          </a:p>
        </p:txBody>
      </p:sp>
      <p:sp>
        <p:nvSpPr>
          <p:cNvPr id="21" name="Text 19"/>
          <p:cNvSpPr txBox="1"/>
          <p:nvPr/>
        </p:nvSpPr>
        <p:spPr>
          <a:xfrm>
            <a:off x="9936328" y="3657600"/>
            <a:ext cx="1691640" cy="548640"/>
          </a:xfrm>
          <a:prstGeom prst="rect">
            <a:avLst/>
          </a:prstGeom>
          <a:noFill/>
          <a:ln/>
        </p:spPr>
        <p:txBody>
          <a:bodyPr wrap="square" lIns="0" tIns="0" rIns="0" bIns="0" rtlCol="0" anchor="t"/>
          <a:lstStyle/>
          <a:p>
            <a:pPr algn="ctr" indent="0" marL="0">
              <a:buNone/>
            </a:pPr>
            <a:r>
              <a:rPr lang="en-US" sz="1400" dirty="0">
                <a:solidFill>
                  <a:srgbClr val="66768A"/>
                </a:solidFill>
                <a:latin typeface="Inter" pitchFamily="34" charset="0"/>
                <a:ea typeface="Inter" pitchFamily="34" charset="-122"/>
                <a:cs typeface="Inter" pitchFamily="34" charset="-120"/>
              </a:rPr>
              <a:t>the model practices</a:t>
            </a:r>
            <a:endParaRPr lang="en-US" sz="1400" dirty="0"/>
          </a:p>
        </p:txBody>
      </p:sp>
      <p:sp>
        <p:nvSpPr>
          <p:cNvPr id="22" name="Text 20"/>
          <p:cNvSpPr txBox="1"/>
          <p:nvPr/>
        </p:nvSpPr>
        <p:spPr>
          <a:xfrm>
            <a:off x="6278728" y="2103120"/>
            <a:ext cx="3383280" cy="274320"/>
          </a:xfrm>
          <a:prstGeom prst="rect">
            <a:avLst/>
          </a:prstGeom>
          <a:noFill/>
          <a:ln/>
        </p:spPr>
        <p:txBody>
          <a:bodyPr wrap="square" lIns="0" tIns="0" rIns="0" bIns="0" rtlCol="0" anchor="t"/>
          <a:lstStyle/>
          <a:p>
            <a:pPr algn="ctr" indent="0" marL="0">
              <a:buNone/>
            </a:pPr>
            <a:r>
              <a:rPr lang="en-US" sz="1200" b="1" spc="200" kern="0" dirty="0">
                <a:solidFill>
                  <a:srgbClr val="66768A"/>
                </a:solidFill>
                <a:latin typeface="Inter" pitchFamily="34" charset="0"/>
                <a:ea typeface="Inter" pitchFamily="34" charset="-122"/>
                <a:cs typeface="Inter" pitchFamily="34" charset="-120"/>
              </a:rPr>
              <a:t>FOCUS OF THIS DECK</a:t>
            </a:r>
            <a:endParaRPr lang="en-US" sz="1200" dirty="0"/>
          </a:p>
        </p:txBody>
      </p:sp>
      <p:sp>
        <p:nvSpPr>
          <p:cNvPr id="23" name="Shape 21"/>
          <p:cNvSpPr/>
          <p:nvPr/>
        </p:nvSpPr>
        <p:spPr>
          <a:xfrm>
            <a:off x="655168" y="4754880"/>
            <a:ext cx="10881360" cy="960120"/>
          </a:xfrm>
          <a:prstGeom prst="roundRect">
            <a:avLst>
              <a:gd name="adj" fmla="val 14286"/>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24" name="Shape 22"/>
          <p:cNvSpPr/>
          <p:nvPr/>
        </p:nvSpPr>
        <p:spPr>
          <a:xfrm>
            <a:off x="929488" y="4960620"/>
            <a:ext cx="548640" cy="548640"/>
          </a:xfrm>
          <a:prstGeom prst="ellipse">
            <a:avLst/>
          </a:prstGeom>
          <a:solidFill>
            <a:srgbClr val="FFFFFF"/>
          </a:solidFill>
          <a:ln w="15875">
            <a:solidFill>
              <a:srgbClr val="8FA99B"/>
            </a:solidFill>
            <a:prstDash val="solid"/>
          </a:ln>
        </p:spPr>
      </p:sp>
      <p:pic>
        <p:nvPicPr>
          <p:cNvPr id="25" name="Image 0" descr="preencoded.png">    </p:cNvPr>
          <p:cNvPicPr>
            <a:picLocks noChangeAspect="1"/>
          </p:cNvPicPr>
          <p:nvPr/>
        </p:nvPicPr>
        <p:blipFill>
          <a:blip r:embed="rId1"/>
          <a:stretch>
            <a:fillRect/>
          </a:stretch>
        </p:blipFill>
        <p:spPr>
          <a:xfrm>
            <a:off x="1057504" y="5088636"/>
            <a:ext cx="292608" cy="292608"/>
          </a:xfrm>
          <a:prstGeom prst="rect">
            <a:avLst/>
          </a:prstGeom>
        </p:spPr>
      </p:pic>
      <p:sp>
        <p:nvSpPr>
          <p:cNvPr id="26" name="Text 23"/>
          <p:cNvSpPr txBox="1"/>
          <p:nvPr/>
        </p:nvSpPr>
        <p:spPr>
          <a:xfrm>
            <a:off x="1706728" y="4864608"/>
            <a:ext cx="9601200" cy="74066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2000" dirty="0">
                <a:solidFill>
                  <a:srgbClr val="435466"/>
                </a:solidFill>
                <a:latin typeface="Inter" pitchFamily="34" charset="0"/>
                <a:ea typeface="Inter" pitchFamily="34" charset="-122"/>
                <a:cs typeface="Inter" pitchFamily="34" charset="-120"/>
              </a:rPr>
              <a:t>A model learns from many small practice examples, served a few at a time.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3</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Practice: guess the next token</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Input = what the model sees. Target = the answers it should guess.</a:t>
            </a:r>
            <a:endParaRPr lang="en-US" sz="1600" dirty="0"/>
          </a:p>
        </p:txBody>
      </p:sp>
      <p:sp>
        <p:nvSpPr>
          <p:cNvPr id="5" name="Text 3"/>
          <p:cNvSpPr txBox="1"/>
          <p:nvPr/>
        </p:nvSpPr>
        <p:spPr>
          <a:xfrm>
            <a:off x="640080" y="1645920"/>
            <a:ext cx="2011680" cy="548640"/>
          </a:xfrm>
          <a:prstGeom prst="rect">
            <a:avLst/>
          </a:prstGeom>
          <a:noFill/>
          <a:ln/>
        </p:spPr>
        <p:txBody>
          <a:bodyPr wrap="square" lIns="0" tIns="0" rIns="0" bIns="0" rtlCol="0" anchor="ctr"/>
          <a:lstStyle/>
          <a:p>
            <a:pPr indent="0" marL="0">
              <a:buNone/>
            </a:pPr>
            <a:r>
              <a:rPr lang="en-US" sz="1600" b="1" dirty="0">
                <a:solidFill>
                  <a:srgbClr val="435466"/>
                </a:solidFill>
                <a:latin typeface="Inter" pitchFamily="34" charset="0"/>
                <a:ea typeface="Inter" pitchFamily="34" charset="-122"/>
                <a:cs typeface="Inter" pitchFamily="34" charset="-120"/>
              </a:rPr>
              <a:t>Token stream</a:t>
            </a:r>
            <a:endParaRPr lang="en-US" sz="1600" dirty="0"/>
          </a:p>
        </p:txBody>
      </p:sp>
      <p:sp>
        <p:nvSpPr>
          <p:cNvPr id="6" name="Text 4"/>
          <p:cNvSpPr txBox="1"/>
          <p:nvPr/>
        </p:nvSpPr>
        <p:spPr>
          <a:xfrm>
            <a:off x="2651760" y="1645920"/>
            <a:ext cx="68580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A</a:t>
            </a:r>
            <a:endParaRPr lang="en-US" sz="2000" dirty="0"/>
          </a:p>
        </p:txBody>
      </p:sp>
      <p:sp>
        <p:nvSpPr>
          <p:cNvPr id="7" name="Text 5"/>
          <p:cNvSpPr txBox="1"/>
          <p:nvPr/>
        </p:nvSpPr>
        <p:spPr>
          <a:xfrm>
            <a:off x="3447288" y="1645920"/>
            <a:ext cx="68580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B</a:t>
            </a:r>
            <a:endParaRPr lang="en-US" sz="2000" dirty="0"/>
          </a:p>
        </p:txBody>
      </p:sp>
      <p:sp>
        <p:nvSpPr>
          <p:cNvPr id="8" name="Text 6"/>
          <p:cNvSpPr txBox="1"/>
          <p:nvPr/>
        </p:nvSpPr>
        <p:spPr>
          <a:xfrm>
            <a:off x="4242816" y="1645920"/>
            <a:ext cx="68580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C</a:t>
            </a:r>
            <a:endParaRPr lang="en-US" sz="2000" dirty="0"/>
          </a:p>
        </p:txBody>
      </p:sp>
      <p:sp>
        <p:nvSpPr>
          <p:cNvPr id="9" name="Text 7"/>
          <p:cNvSpPr txBox="1"/>
          <p:nvPr/>
        </p:nvSpPr>
        <p:spPr>
          <a:xfrm>
            <a:off x="5038344" y="1645920"/>
            <a:ext cx="68580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D</a:t>
            </a:r>
            <a:endParaRPr lang="en-US" sz="2000" dirty="0"/>
          </a:p>
        </p:txBody>
      </p:sp>
      <p:sp>
        <p:nvSpPr>
          <p:cNvPr id="10" name="Text 8"/>
          <p:cNvSpPr txBox="1"/>
          <p:nvPr/>
        </p:nvSpPr>
        <p:spPr>
          <a:xfrm>
            <a:off x="5833872" y="1645920"/>
            <a:ext cx="68580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E</a:t>
            </a:r>
            <a:endParaRPr lang="en-US" sz="2000" dirty="0"/>
          </a:p>
        </p:txBody>
      </p:sp>
      <p:sp>
        <p:nvSpPr>
          <p:cNvPr id="11" name="Text 9"/>
          <p:cNvSpPr txBox="1"/>
          <p:nvPr/>
        </p:nvSpPr>
        <p:spPr>
          <a:xfrm>
            <a:off x="6629400" y="1645920"/>
            <a:ext cx="68580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F</a:t>
            </a:r>
            <a:endParaRPr lang="en-US" sz="2000" dirty="0"/>
          </a:p>
        </p:txBody>
      </p:sp>
      <p:sp>
        <p:nvSpPr>
          <p:cNvPr id="12" name="Text 10"/>
          <p:cNvSpPr txBox="1"/>
          <p:nvPr/>
        </p:nvSpPr>
        <p:spPr>
          <a:xfrm>
            <a:off x="7543800" y="1645920"/>
            <a:ext cx="3931920" cy="548640"/>
          </a:xfrm>
          <a:prstGeom prst="rect">
            <a:avLst/>
          </a:prstGeom>
          <a:noFill/>
          <a:ln/>
        </p:spPr>
        <p:txBody>
          <a:bodyPr wrap="square" lIns="0" tIns="0" rIns="0" bIns="0" rtlCol="0" anchor="ctr"/>
          <a:lstStyle/>
          <a:p>
            <a:pPr indent="0" marL="0">
              <a:buNone/>
            </a:pPr>
            <a:r>
              <a:rPr lang="en-US" sz="1400" dirty="0">
                <a:solidFill>
                  <a:srgbClr val="66768A"/>
                </a:solidFill>
                <a:latin typeface="Inter" pitchFamily="34" charset="0"/>
                <a:ea typeface="Inter" pitchFamily="34" charset="-122"/>
                <a:cs typeface="Inter" pitchFamily="34" charset="-120"/>
              </a:rPr>
              <a:t>Letters stand in for token IDs.</a:t>
            </a:r>
            <a:endParaRPr lang="en-US" sz="1400" dirty="0"/>
          </a:p>
        </p:txBody>
      </p:sp>
      <p:sp>
        <p:nvSpPr>
          <p:cNvPr id="13" name="Shape 11"/>
          <p:cNvSpPr/>
          <p:nvPr/>
        </p:nvSpPr>
        <p:spPr>
          <a:xfrm>
            <a:off x="640080" y="2514600"/>
            <a:ext cx="5257800" cy="2514600"/>
          </a:xfrm>
          <a:prstGeom prst="roundRect">
            <a:avLst>
              <a:gd name="adj" fmla="val 5455"/>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14" name="Text 12"/>
          <p:cNvSpPr txBox="1"/>
          <p:nvPr/>
        </p:nvSpPr>
        <p:spPr>
          <a:xfrm>
            <a:off x="960120" y="2697480"/>
            <a:ext cx="2743200" cy="365760"/>
          </a:xfrm>
          <a:prstGeom prst="rect">
            <a:avLst/>
          </a:prstGeom>
          <a:noFill/>
          <a:ln/>
        </p:spPr>
        <p:txBody>
          <a:bodyPr wrap="square" lIns="0" tIns="0" rIns="0" bIns="0" rtlCol="0" anchor="ctr"/>
          <a:lstStyle/>
          <a:p>
            <a:pPr indent="0" marL="0">
              <a:buNone/>
            </a:pPr>
            <a:r>
              <a:rPr lang="en-US" sz="1800" b="1" dirty="0">
                <a:solidFill>
                  <a:srgbClr val="435466"/>
                </a:solidFill>
                <a:latin typeface="Inter" pitchFamily="34" charset="0"/>
                <a:ea typeface="Inter" pitchFamily="34" charset="-122"/>
                <a:cs typeface="Inter" pitchFamily="34" charset="-120"/>
              </a:rPr>
              <a:t>Example 0</a:t>
            </a:r>
            <a:endParaRPr lang="en-US" sz="1800" dirty="0"/>
          </a:p>
        </p:txBody>
      </p:sp>
      <p:sp>
        <p:nvSpPr>
          <p:cNvPr id="15" name="Text 13"/>
          <p:cNvSpPr txBox="1"/>
          <p:nvPr/>
        </p:nvSpPr>
        <p:spPr>
          <a:xfrm>
            <a:off x="960120" y="3200400"/>
            <a:ext cx="1097280" cy="502920"/>
          </a:xfrm>
          <a:prstGeom prst="rect">
            <a:avLst/>
          </a:prstGeom>
          <a:noFill/>
          <a:ln/>
        </p:spPr>
        <p:txBody>
          <a:bodyPr wrap="square" lIns="0" tIns="0" rIns="0" bIns="0" rtlCol="0" anchor="ctr"/>
          <a:lstStyle/>
          <a:p>
            <a:pPr indent="0" marL="0">
              <a:buNone/>
            </a:pPr>
            <a:r>
              <a:rPr lang="en-US" sz="1600" dirty="0">
                <a:solidFill>
                  <a:srgbClr val="66768A"/>
                </a:solidFill>
                <a:latin typeface="Inter" pitchFamily="34" charset="0"/>
                <a:ea typeface="Inter" pitchFamily="34" charset="-122"/>
                <a:cs typeface="Inter" pitchFamily="34" charset="-120"/>
              </a:rPr>
              <a:t>input</a:t>
            </a:r>
            <a:endParaRPr lang="en-US" sz="1600" dirty="0"/>
          </a:p>
        </p:txBody>
      </p:sp>
      <p:sp>
        <p:nvSpPr>
          <p:cNvPr id="16" name="Text 14"/>
          <p:cNvSpPr txBox="1"/>
          <p:nvPr/>
        </p:nvSpPr>
        <p:spPr>
          <a:xfrm>
            <a:off x="960120" y="4023360"/>
            <a:ext cx="1097280" cy="502920"/>
          </a:xfrm>
          <a:prstGeom prst="rect">
            <a:avLst/>
          </a:prstGeom>
          <a:noFill/>
          <a:ln/>
        </p:spPr>
        <p:txBody>
          <a:bodyPr wrap="square" lIns="0" tIns="0" rIns="0" bIns="0" rtlCol="0" anchor="ctr"/>
          <a:lstStyle/>
          <a:p>
            <a:pPr indent="0" marL="0">
              <a:buNone/>
            </a:pPr>
            <a:r>
              <a:rPr lang="en-US" sz="1600" dirty="0">
                <a:solidFill>
                  <a:srgbClr val="66768A"/>
                </a:solidFill>
                <a:latin typeface="Inter" pitchFamily="34" charset="0"/>
                <a:ea typeface="Inter" pitchFamily="34" charset="-122"/>
                <a:cs typeface="Inter" pitchFamily="34" charset="-120"/>
              </a:rPr>
              <a:t>target</a:t>
            </a:r>
            <a:endParaRPr lang="en-US" sz="1600" dirty="0"/>
          </a:p>
        </p:txBody>
      </p:sp>
      <p:sp>
        <p:nvSpPr>
          <p:cNvPr id="17" name="Text 15"/>
          <p:cNvSpPr txBox="1"/>
          <p:nvPr/>
        </p:nvSpPr>
        <p:spPr>
          <a:xfrm>
            <a:off x="2194560" y="3200400"/>
            <a:ext cx="731520" cy="502920"/>
          </a:xfrm>
          <a:prstGeom prst="roundRect">
            <a:avLst>
              <a:gd name="adj" fmla="val 18182"/>
            </a:avLst>
          </a:prstGeom>
          <a:solidFill>
            <a:srgbClr val="E4ECE7"/>
          </a:solidFill>
          <a:ln w="15875">
            <a:solidFill>
              <a:srgbClr val="8FA99B"/>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A</a:t>
            </a:r>
            <a:endParaRPr lang="en-US" sz="2000" dirty="0"/>
          </a:p>
        </p:txBody>
      </p:sp>
      <p:sp>
        <p:nvSpPr>
          <p:cNvPr id="18" name="Text 16"/>
          <p:cNvSpPr txBox="1"/>
          <p:nvPr/>
        </p:nvSpPr>
        <p:spPr>
          <a:xfrm>
            <a:off x="3246120" y="3200400"/>
            <a:ext cx="731520" cy="502920"/>
          </a:xfrm>
          <a:prstGeom prst="roundRect">
            <a:avLst>
              <a:gd name="adj" fmla="val 18182"/>
            </a:avLst>
          </a:prstGeom>
          <a:solidFill>
            <a:srgbClr val="E4ECE7"/>
          </a:solidFill>
          <a:ln w="15875">
            <a:solidFill>
              <a:srgbClr val="8FA99B"/>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B</a:t>
            </a:r>
            <a:endParaRPr lang="en-US" sz="2000" dirty="0"/>
          </a:p>
        </p:txBody>
      </p:sp>
      <p:sp>
        <p:nvSpPr>
          <p:cNvPr id="19" name="Text 17"/>
          <p:cNvSpPr txBox="1"/>
          <p:nvPr/>
        </p:nvSpPr>
        <p:spPr>
          <a:xfrm>
            <a:off x="4297680" y="3200400"/>
            <a:ext cx="731520" cy="502920"/>
          </a:xfrm>
          <a:prstGeom prst="roundRect">
            <a:avLst>
              <a:gd name="adj" fmla="val 18182"/>
            </a:avLst>
          </a:prstGeom>
          <a:solidFill>
            <a:srgbClr val="E4ECE7"/>
          </a:solidFill>
          <a:ln w="15875">
            <a:solidFill>
              <a:srgbClr val="8FA99B"/>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C</a:t>
            </a:r>
            <a:endParaRPr lang="en-US" sz="2000" dirty="0"/>
          </a:p>
        </p:txBody>
      </p:sp>
      <p:sp>
        <p:nvSpPr>
          <p:cNvPr id="20" name="Text 18"/>
          <p:cNvSpPr txBox="1"/>
          <p:nvPr/>
        </p:nvSpPr>
        <p:spPr>
          <a:xfrm>
            <a:off x="2194560" y="4023360"/>
            <a:ext cx="731520" cy="502920"/>
          </a:xfrm>
          <a:prstGeom prst="roundRect">
            <a:avLst>
              <a:gd name="adj" fmla="val 18182"/>
            </a:avLst>
          </a:prstGeom>
          <a:solidFill>
            <a:srgbClr val="E8EFF7"/>
          </a:solidFill>
          <a:ln w="15875">
            <a:solidFill>
              <a:srgbClr val="A9C0D8"/>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B</a:t>
            </a:r>
            <a:endParaRPr lang="en-US" sz="2000" dirty="0"/>
          </a:p>
        </p:txBody>
      </p:sp>
      <p:sp>
        <p:nvSpPr>
          <p:cNvPr id="21" name="Text 19"/>
          <p:cNvSpPr txBox="1"/>
          <p:nvPr/>
        </p:nvSpPr>
        <p:spPr>
          <a:xfrm>
            <a:off x="3246120" y="4023360"/>
            <a:ext cx="731520" cy="502920"/>
          </a:xfrm>
          <a:prstGeom prst="roundRect">
            <a:avLst>
              <a:gd name="adj" fmla="val 18182"/>
            </a:avLst>
          </a:prstGeom>
          <a:solidFill>
            <a:srgbClr val="E8EFF7"/>
          </a:solidFill>
          <a:ln w="15875">
            <a:solidFill>
              <a:srgbClr val="A9C0D8"/>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C</a:t>
            </a:r>
            <a:endParaRPr lang="en-US" sz="2000" dirty="0"/>
          </a:p>
        </p:txBody>
      </p:sp>
      <p:sp>
        <p:nvSpPr>
          <p:cNvPr id="22" name="Text 20"/>
          <p:cNvSpPr txBox="1"/>
          <p:nvPr/>
        </p:nvSpPr>
        <p:spPr>
          <a:xfrm>
            <a:off x="4297680" y="4023360"/>
            <a:ext cx="731520" cy="502920"/>
          </a:xfrm>
          <a:prstGeom prst="roundRect">
            <a:avLst>
              <a:gd name="adj" fmla="val 18182"/>
            </a:avLst>
          </a:prstGeom>
          <a:solidFill>
            <a:srgbClr val="E8EFF7"/>
          </a:solidFill>
          <a:ln w="15875">
            <a:solidFill>
              <a:srgbClr val="A9C0D8"/>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D</a:t>
            </a:r>
            <a:endParaRPr lang="en-US" sz="2000" dirty="0"/>
          </a:p>
        </p:txBody>
      </p:sp>
      <p:sp>
        <p:nvSpPr>
          <p:cNvPr id="23" name="Shape 21"/>
          <p:cNvSpPr/>
          <p:nvPr/>
        </p:nvSpPr>
        <p:spPr>
          <a:xfrm>
            <a:off x="2560320" y="3739896"/>
            <a:ext cx="0" cy="246888"/>
          </a:xfrm>
          <a:prstGeom prst="line">
            <a:avLst/>
          </a:prstGeom>
          <a:noFill/>
          <a:ln w="31750">
            <a:solidFill>
              <a:srgbClr val="A9C0D8"/>
            </a:solidFill>
            <a:prstDash val="solid"/>
            <a:tailEnd type="triangle"/>
          </a:ln>
        </p:spPr>
      </p:sp>
      <p:sp>
        <p:nvSpPr>
          <p:cNvPr id="24" name="Shape 22"/>
          <p:cNvSpPr/>
          <p:nvPr/>
        </p:nvSpPr>
        <p:spPr>
          <a:xfrm>
            <a:off x="3611880" y="3739896"/>
            <a:ext cx="0" cy="246888"/>
          </a:xfrm>
          <a:prstGeom prst="line">
            <a:avLst/>
          </a:prstGeom>
          <a:noFill/>
          <a:ln w="31750">
            <a:solidFill>
              <a:srgbClr val="A9C0D8"/>
            </a:solidFill>
            <a:prstDash val="solid"/>
            <a:tailEnd type="triangle"/>
          </a:ln>
        </p:spPr>
      </p:sp>
      <p:sp>
        <p:nvSpPr>
          <p:cNvPr id="25" name="Shape 23"/>
          <p:cNvSpPr/>
          <p:nvPr/>
        </p:nvSpPr>
        <p:spPr>
          <a:xfrm>
            <a:off x="4663440" y="3739896"/>
            <a:ext cx="0" cy="246888"/>
          </a:xfrm>
          <a:prstGeom prst="line">
            <a:avLst/>
          </a:prstGeom>
          <a:noFill/>
          <a:ln w="31750">
            <a:solidFill>
              <a:srgbClr val="A9C0D8"/>
            </a:solidFill>
            <a:prstDash val="solid"/>
            <a:tailEnd type="triangle"/>
          </a:ln>
        </p:spPr>
      </p:sp>
      <p:sp>
        <p:nvSpPr>
          <p:cNvPr id="26" name="Text 24"/>
          <p:cNvSpPr txBox="1"/>
          <p:nvPr/>
        </p:nvSpPr>
        <p:spPr>
          <a:xfrm>
            <a:off x="960120" y="4617720"/>
            <a:ext cx="4617720" cy="274320"/>
          </a:xfrm>
          <a:prstGeom prst="rect">
            <a:avLst/>
          </a:prstGeom>
          <a:noFill/>
          <a:ln/>
        </p:spPr>
        <p:txBody>
          <a:bodyPr wrap="square" lIns="0" tIns="0" rIns="0" bIns="0" rtlCol="0" anchor="t"/>
          <a:lstStyle/>
          <a:p>
            <a:pPr indent="0" marL="0">
              <a:buNone/>
            </a:pPr>
            <a:r>
              <a:rPr lang="en-US" sz="1400" dirty="0">
                <a:solidFill>
                  <a:srgbClr val="66768A"/>
                </a:solidFill>
                <a:latin typeface="Inter" pitchFamily="34" charset="0"/>
                <a:ea typeface="Inter" pitchFamily="34" charset="-122"/>
                <a:cs typeface="Inter" pitchFamily="34" charset="-120"/>
              </a:rPr>
              <a:t>After A comes B. After B comes C.</a:t>
            </a:r>
            <a:endParaRPr lang="en-US" sz="1400" dirty="0"/>
          </a:p>
        </p:txBody>
      </p:sp>
      <p:sp>
        <p:nvSpPr>
          <p:cNvPr id="27" name="Shape 25"/>
          <p:cNvSpPr/>
          <p:nvPr/>
        </p:nvSpPr>
        <p:spPr>
          <a:xfrm>
            <a:off x="6291072" y="2514600"/>
            <a:ext cx="5257800" cy="2514600"/>
          </a:xfrm>
          <a:prstGeom prst="roundRect">
            <a:avLst>
              <a:gd name="adj" fmla="val 5455"/>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28" name="Text 26"/>
          <p:cNvSpPr txBox="1"/>
          <p:nvPr/>
        </p:nvSpPr>
        <p:spPr>
          <a:xfrm>
            <a:off x="6611112" y="2697480"/>
            <a:ext cx="2743200" cy="365760"/>
          </a:xfrm>
          <a:prstGeom prst="rect">
            <a:avLst/>
          </a:prstGeom>
          <a:noFill/>
          <a:ln/>
        </p:spPr>
        <p:txBody>
          <a:bodyPr wrap="square" lIns="0" tIns="0" rIns="0" bIns="0" rtlCol="0" anchor="ctr"/>
          <a:lstStyle/>
          <a:p>
            <a:pPr indent="0" marL="0">
              <a:buNone/>
            </a:pPr>
            <a:r>
              <a:rPr lang="en-US" sz="1800" b="1" dirty="0">
                <a:solidFill>
                  <a:srgbClr val="435466"/>
                </a:solidFill>
                <a:latin typeface="Inter" pitchFamily="34" charset="0"/>
                <a:ea typeface="Inter" pitchFamily="34" charset="-122"/>
                <a:cs typeface="Inter" pitchFamily="34" charset="-120"/>
              </a:rPr>
              <a:t>Example 1</a:t>
            </a:r>
            <a:endParaRPr lang="en-US" sz="1800" dirty="0"/>
          </a:p>
        </p:txBody>
      </p:sp>
      <p:sp>
        <p:nvSpPr>
          <p:cNvPr id="29" name="Text 27"/>
          <p:cNvSpPr txBox="1"/>
          <p:nvPr/>
        </p:nvSpPr>
        <p:spPr>
          <a:xfrm>
            <a:off x="6611112" y="3200400"/>
            <a:ext cx="1097280" cy="502920"/>
          </a:xfrm>
          <a:prstGeom prst="rect">
            <a:avLst/>
          </a:prstGeom>
          <a:noFill/>
          <a:ln/>
        </p:spPr>
        <p:txBody>
          <a:bodyPr wrap="square" lIns="0" tIns="0" rIns="0" bIns="0" rtlCol="0" anchor="ctr"/>
          <a:lstStyle/>
          <a:p>
            <a:pPr indent="0" marL="0">
              <a:buNone/>
            </a:pPr>
            <a:r>
              <a:rPr lang="en-US" sz="1600" dirty="0">
                <a:solidFill>
                  <a:srgbClr val="66768A"/>
                </a:solidFill>
                <a:latin typeface="Inter" pitchFamily="34" charset="0"/>
                <a:ea typeface="Inter" pitchFamily="34" charset="-122"/>
                <a:cs typeface="Inter" pitchFamily="34" charset="-120"/>
              </a:rPr>
              <a:t>input</a:t>
            </a:r>
            <a:endParaRPr lang="en-US" sz="1600" dirty="0"/>
          </a:p>
        </p:txBody>
      </p:sp>
      <p:sp>
        <p:nvSpPr>
          <p:cNvPr id="30" name="Text 28"/>
          <p:cNvSpPr txBox="1"/>
          <p:nvPr/>
        </p:nvSpPr>
        <p:spPr>
          <a:xfrm>
            <a:off x="6611112" y="4023360"/>
            <a:ext cx="1097280" cy="502920"/>
          </a:xfrm>
          <a:prstGeom prst="rect">
            <a:avLst/>
          </a:prstGeom>
          <a:noFill/>
          <a:ln/>
        </p:spPr>
        <p:txBody>
          <a:bodyPr wrap="square" lIns="0" tIns="0" rIns="0" bIns="0" rtlCol="0" anchor="ctr"/>
          <a:lstStyle/>
          <a:p>
            <a:pPr indent="0" marL="0">
              <a:buNone/>
            </a:pPr>
            <a:r>
              <a:rPr lang="en-US" sz="1600" dirty="0">
                <a:solidFill>
                  <a:srgbClr val="66768A"/>
                </a:solidFill>
                <a:latin typeface="Inter" pitchFamily="34" charset="0"/>
                <a:ea typeface="Inter" pitchFamily="34" charset="-122"/>
                <a:cs typeface="Inter" pitchFamily="34" charset="-120"/>
              </a:rPr>
              <a:t>target</a:t>
            </a:r>
            <a:endParaRPr lang="en-US" sz="1600" dirty="0"/>
          </a:p>
        </p:txBody>
      </p:sp>
      <p:sp>
        <p:nvSpPr>
          <p:cNvPr id="31" name="Text 29"/>
          <p:cNvSpPr txBox="1"/>
          <p:nvPr/>
        </p:nvSpPr>
        <p:spPr>
          <a:xfrm>
            <a:off x="7845552" y="3200400"/>
            <a:ext cx="731520" cy="502920"/>
          </a:xfrm>
          <a:prstGeom prst="roundRect">
            <a:avLst>
              <a:gd name="adj" fmla="val 18182"/>
            </a:avLst>
          </a:prstGeom>
          <a:solidFill>
            <a:srgbClr val="E4ECE7"/>
          </a:solidFill>
          <a:ln w="15875">
            <a:solidFill>
              <a:srgbClr val="8FA99B"/>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B</a:t>
            </a:r>
            <a:endParaRPr lang="en-US" sz="2000" dirty="0"/>
          </a:p>
        </p:txBody>
      </p:sp>
      <p:sp>
        <p:nvSpPr>
          <p:cNvPr id="32" name="Text 30"/>
          <p:cNvSpPr txBox="1"/>
          <p:nvPr/>
        </p:nvSpPr>
        <p:spPr>
          <a:xfrm>
            <a:off x="8897112" y="3200400"/>
            <a:ext cx="731520" cy="502920"/>
          </a:xfrm>
          <a:prstGeom prst="roundRect">
            <a:avLst>
              <a:gd name="adj" fmla="val 18182"/>
            </a:avLst>
          </a:prstGeom>
          <a:solidFill>
            <a:srgbClr val="E4ECE7"/>
          </a:solidFill>
          <a:ln w="15875">
            <a:solidFill>
              <a:srgbClr val="8FA99B"/>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C</a:t>
            </a:r>
            <a:endParaRPr lang="en-US" sz="2000" dirty="0"/>
          </a:p>
        </p:txBody>
      </p:sp>
      <p:sp>
        <p:nvSpPr>
          <p:cNvPr id="33" name="Text 31"/>
          <p:cNvSpPr txBox="1"/>
          <p:nvPr/>
        </p:nvSpPr>
        <p:spPr>
          <a:xfrm>
            <a:off x="9948672" y="3200400"/>
            <a:ext cx="731520" cy="502920"/>
          </a:xfrm>
          <a:prstGeom prst="roundRect">
            <a:avLst>
              <a:gd name="adj" fmla="val 18182"/>
            </a:avLst>
          </a:prstGeom>
          <a:solidFill>
            <a:srgbClr val="E4ECE7"/>
          </a:solidFill>
          <a:ln w="15875">
            <a:solidFill>
              <a:srgbClr val="8FA99B"/>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D</a:t>
            </a:r>
            <a:endParaRPr lang="en-US" sz="2000" dirty="0"/>
          </a:p>
        </p:txBody>
      </p:sp>
      <p:sp>
        <p:nvSpPr>
          <p:cNvPr id="34" name="Text 32"/>
          <p:cNvSpPr txBox="1"/>
          <p:nvPr/>
        </p:nvSpPr>
        <p:spPr>
          <a:xfrm>
            <a:off x="7845552" y="4023360"/>
            <a:ext cx="731520" cy="502920"/>
          </a:xfrm>
          <a:prstGeom prst="roundRect">
            <a:avLst>
              <a:gd name="adj" fmla="val 18182"/>
            </a:avLst>
          </a:prstGeom>
          <a:solidFill>
            <a:srgbClr val="E8EFF7"/>
          </a:solidFill>
          <a:ln w="15875">
            <a:solidFill>
              <a:srgbClr val="A9C0D8"/>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C</a:t>
            </a:r>
            <a:endParaRPr lang="en-US" sz="2000" dirty="0"/>
          </a:p>
        </p:txBody>
      </p:sp>
      <p:sp>
        <p:nvSpPr>
          <p:cNvPr id="35" name="Text 33"/>
          <p:cNvSpPr txBox="1"/>
          <p:nvPr/>
        </p:nvSpPr>
        <p:spPr>
          <a:xfrm>
            <a:off x="8897112" y="4023360"/>
            <a:ext cx="731520" cy="502920"/>
          </a:xfrm>
          <a:prstGeom prst="roundRect">
            <a:avLst>
              <a:gd name="adj" fmla="val 18182"/>
            </a:avLst>
          </a:prstGeom>
          <a:solidFill>
            <a:srgbClr val="E8EFF7"/>
          </a:solidFill>
          <a:ln w="15875">
            <a:solidFill>
              <a:srgbClr val="A9C0D8"/>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D</a:t>
            </a:r>
            <a:endParaRPr lang="en-US" sz="2000" dirty="0"/>
          </a:p>
        </p:txBody>
      </p:sp>
      <p:sp>
        <p:nvSpPr>
          <p:cNvPr id="36" name="Text 34"/>
          <p:cNvSpPr txBox="1"/>
          <p:nvPr/>
        </p:nvSpPr>
        <p:spPr>
          <a:xfrm>
            <a:off x="9948672" y="4023360"/>
            <a:ext cx="731520" cy="502920"/>
          </a:xfrm>
          <a:prstGeom prst="roundRect">
            <a:avLst>
              <a:gd name="adj" fmla="val 18182"/>
            </a:avLst>
          </a:prstGeom>
          <a:solidFill>
            <a:srgbClr val="E8EFF7"/>
          </a:solidFill>
          <a:ln w="15875">
            <a:solidFill>
              <a:srgbClr val="A9C0D8"/>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E</a:t>
            </a:r>
            <a:endParaRPr lang="en-US" sz="2000" dirty="0"/>
          </a:p>
        </p:txBody>
      </p:sp>
      <p:sp>
        <p:nvSpPr>
          <p:cNvPr id="37" name="Shape 35"/>
          <p:cNvSpPr/>
          <p:nvPr/>
        </p:nvSpPr>
        <p:spPr>
          <a:xfrm>
            <a:off x="8211312" y="3739896"/>
            <a:ext cx="0" cy="246888"/>
          </a:xfrm>
          <a:prstGeom prst="line">
            <a:avLst/>
          </a:prstGeom>
          <a:noFill/>
          <a:ln w="31750">
            <a:solidFill>
              <a:srgbClr val="A9C0D8"/>
            </a:solidFill>
            <a:prstDash val="solid"/>
            <a:tailEnd type="triangle"/>
          </a:ln>
        </p:spPr>
      </p:sp>
      <p:sp>
        <p:nvSpPr>
          <p:cNvPr id="38" name="Shape 36"/>
          <p:cNvSpPr/>
          <p:nvPr/>
        </p:nvSpPr>
        <p:spPr>
          <a:xfrm>
            <a:off x="9262872" y="3739896"/>
            <a:ext cx="0" cy="246888"/>
          </a:xfrm>
          <a:prstGeom prst="line">
            <a:avLst/>
          </a:prstGeom>
          <a:noFill/>
          <a:ln w="31750">
            <a:solidFill>
              <a:srgbClr val="A9C0D8"/>
            </a:solidFill>
            <a:prstDash val="solid"/>
            <a:tailEnd type="triangle"/>
          </a:ln>
        </p:spPr>
      </p:sp>
      <p:sp>
        <p:nvSpPr>
          <p:cNvPr id="39" name="Shape 37"/>
          <p:cNvSpPr/>
          <p:nvPr/>
        </p:nvSpPr>
        <p:spPr>
          <a:xfrm>
            <a:off x="10314432" y="3739896"/>
            <a:ext cx="0" cy="246888"/>
          </a:xfrm>
          <a:prstGeom prst="line">
            <a:avLst/>
          </a:prstGeom>
          <a:noFill/>
          <a:ln w="31750">
            <a:solidFill>
              <a:srgbClr val="A9C0D8"/>
            </a:solidFill>
            <a:prstDash val="solid"/>
            <a:tailEnd type="triangle"/>
          </a:ln>
        </p:spPr>
      </p:sp>
      <p:sp>
        <p:nvSpPr>
          <p:cNvPr id="40" name="Text 38"/>
          <p:cNvSpPr txBox="1"/>
          <p:nvPr/>
        </p:nvSpPr>
        <p:spPr>
          <a:xfrm>
            <a:off x="6611112" y="4617720"/>
            <a:ext cx="4617720" cy="274320"/>
          </a:xfrm>
          <a:prstGeom prst="rect">
            <a:avLst/>
          </a:prstGeom>
          <a:noFill/>
          <a:ln/>
        </p:spPr>
        <p:txBody>
          <a:bodyPr wrap="square" lIns="0" tIns="0" rIns="0" bIns="0" rtlCol="0" anchor="t"/>
          <a:lstStyle/>
          <a:p>
            <a:pPr indent="0" marL="0">
              <a:buNone/>
            </a:pPr>
            <a:r>
              <a:rPr lang="en-US" sz="1400" dirty="0">
                <a:solidFill>
                  <a:srgbClr val="66768A"/>
                </a:solidFill>
                <a:latin typeface="Inter" pitchFamily="34" charset="0"/>
                <a:ea typeface="Inter" pitchFamily="34" charset="-122"/>
                <a:cs typeface="Inter" pitchFamily="34" charset="-120"/>
              </a:rPr>
              <a:t>After B comes C. After C comes D.</a:t>
            </a:r>
            <a:endParaRPr lang="en-US" sz="1400" dirty="0"/>
          </a:p>
        </p:txBody>
      </p:sp>
      <p:sp>
        <p:nvSpPr>
          <p:cNvPr id="41" name="Shape 39"/>
          <p:cNvSpPr/>
          <p:nvPr/>
        </p:nvSpPr>
        <p:spPr>
          <a:xfrm>
            <a:off x="640080" y="5303520"/>
            <a:ext cx="10908792" cy="868680"/>
          </a:xfrm>
          <a:prstGeom prst="roundRect">
            <a:avLst>
              <a:gd name="adj" fmla="val 15789"/>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42" name="Shape 40"/>
          <p:cNvSpPr/>
          <p:nvPr/>
        </p:nvSpPr>
        <p:spPr>
          <a:xfrm>
            <a:off x="914400" y="5463540"/>
            <a:ext cx="548640" cy="548640"/>
          </a:xfrm>
          <a:prstGeom prst="ellipse">
            <a:avLst/>
          </a:prstGeom>
          <a:solidFill>
            <a:srgbClr val="FFFFFF"/>
          </a:solidFill>
          <a:ln w="15875">
            <a:solidFill>
              <a:srgbClr val="8FA99B"/>
            </a:solidFill>
            <a:prstDash val="solid"/>
          </a:ln>
        </p:spPr>
      </p:sp>
      <p:pic>
        <p:nvPicPr>
          <p:cNvPr id="43" name="Image 0" descr="preencoded.png">    </p:cNvPr>
          <p:cNvPicPr>
            <a:picLocks noChangeAspect="1"/>
          </p:cNvPicPr>
          <p:nvPr/>
        </p:nvPicPr>
        <p:blipFill>
          <a:blip r:embed="rId1"/>
          <a:stretch>
            <a:fillRect/>
          </a:stretch>
        </p:blipFill>
        <p:spPr>
          <a:xfrm>
            <a:off x="1042416" y="5591556"/>
            <a:ext cx="292608" cy="292608"/>
          </a:xfrm>
          <a:prstGeom prst="rect">
            <a:avLst/>
          </a:prstGeom>
        </p:spPr>
      </p:pic>
      <p:sp>
        <p:nvSpPr>
          <p:cNvPr id="44" name="Text 41"/>
          <p:cNvSpPr txBox="1"/>
          <p:nvPr/>
        </p:nvSpPr>
        <p:spPr>
          <a:xfrm>
            <a:off x="1691640" y="5413248"/>
            <a:ext cx="9628632" cy="64922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2000" dirty="0">
                <a:solidFill>
                  <a:srgbClr val="435466"/>
                </a:solidFill>
                <a:latin typeface="Inter" pitchFamily="34" charset="0"/>
                <a:ea typeface="Inter" pitchFamily="34" charset="-122"/>
                <a:cs typeface="Inter" pitchFamily="34" charset="-120"/>
              </a:rPr>
              <a:t>The target is the input moved one token forward.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4</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Sliding a window: max_length and stride</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max_length = tokens per example (here, 3).   stride = how far the window slides each time.</a:t>
            </a:r>
            <a:endParaRPr lang="en-US" sz="1600" dirty="0"/>
          </a:p>
        </p:txBody>
      </p:sp>
      <p:sp>
        <p:nvSpPr>
          <p:cNvPr id="5" name="Shape 3"/>
          <p:cNvSpPr/>
          <p:nvPr/>
        </p:nvSpPr>
        <p:spPr>
          <a:xfrm>
            <a:off x="640080" y="1645920"/>
            <a:ext cx="5257800" cy="3657600"/>
          </a:xfrm>
          <a:prstGeom prst="roundRect">
            <a:avLst>
              <a:gd name="adj" fmla="val 3750"/>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Text 4"/>
          <p:cNvSpPr txBox="1"/>
          <p:nvPr/>
        </p:nvSpPr>
        <p:spPr>
          <a:xfrm>
            <a:off x="960120" y="1874520"/>
            <a:ext cx="2743200" cy="411480"/>
          </a:xfrm>
          <a:prstGeom prst="rect">
            <a:avLst/>
          </a:prstGeom>
          <a:noFill/>
          <a:ln/>
        </p:spPr>
        <p:txBody>
          <a:bodyPr wrap="square" lIns="0" tIns="0" rIns="0" bIns="0" rtlCol="0" anchor="ctr"/>
          <a:lstStyle/>
          <a:p>
            <a:pPr indent="0" marL="0">
              <a:buNone/>
            </a:pPr>
            <a:r>
              <a:rPr lang="en-US" sz="2000" b="1" dirty="0">
                <a:solidFill>
                  <a:srgbClr val="435466"/>
                </a:solidFill>
                <a:latin typeface="Inter" pitchFamily="34" charset="0"/>
                <a:ea typeface="Inter" pitchFamily="34" charset="-122"/>
                <a:cs typeface="Inter" pitchFamily="34" charset="-120"/>
              </a:rPr>
              <a:t>stride = 1</a:t>
            </a:r>
            <a:endParaRPr lang="en-US" sz="2000" dirty="0"/>
          </a:p>
        </p:txBody>
      </p:sp>
      <p:sp>
        <p:nvSpPr>
          <p:cNvPr id="7" name="Text 5"/>
          <p:cNvSpPr txBox="1"/>
          <p:nvPr/>
        </p:nvSpPr>
        <p:spPr>
          <a:xfrm>
            <a:off x="960120" y="2286000"/>
            <a:ext cx="4617720" cy="274320"/>
          </a:xfrm>
          <a:prstGeom prst="rect">
            <a:avLst/>
          </a:prstGeom>
          <a:noFill/>
          <a:ln/>
        </p:spPr>
        <p:txBody>
          <a:bodyPr wrap="square" lIns="0" tIns="0" rIns="0" bIns="0" rtlCol="0" anchor="t"/>
          <a:lstStyle/>
          <a:p>
            <a:pPr indent="0" marL="0">
              <a:buNone/>
            </a:pPr>
            <a:r>
              <a:rPr lang="en-US" sz="1400" dirty="0">
                <a:solidFill>
                  <a:srgbClr val="66768A"/>
                </a:solidFill>
                <a:latin typeface="Inter" pitchFamily="34" charset="0"/>
                <a:ea typeface="Inter" pitchFamily="34" charset="-122"/>
                <a:cs typeface="Inter" pitchFamily="34" charset="-120"/>
              </a:rPr>
              <a:t>Windows overlap  ·  4 examples</a:t>
            </a:r>
            <a:endParaRPr lang="en-US" sz="1400" dirty="0"/>
          </a:p>
        </p:txBody>
      </p:sp>
      <p:sp>
        <p:nvSpPr>
          <p:cNvPr id="8" name="Text 6"/>
          <p:cNvSpPr txBox="1"/>
          <p:nvPr/>
        </p:nvSpPr>
        <p:spPr>
          <a:xfrm>
            <a:off x="960120" y="2743200"/>
            <a:ext cx="1005840" cy="384048"/>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tokens</a:t>
            </a:r>
            <a:endParaRPr lang="en-US" sz="1300" dirty="0"/>
          </a:p>
        </p:txBody>
      </p:sp>
      <p:sp>
        <p:nvSpPr>
          <p:cNvPr id="9" name="Text 7"/>
          <p:cNvSpPr txBox="1"/>
          <p:nvPr/>
        </p:nvSpPr>
        <p:spPr>
          <a:xfrm>
            <a:off x="2011680" y="2743200"/>
            <a:ext cx="438912" cy="384048"/>
          </a:xfrm>
          <a:prstGeom prst="roundRect">
            <a:avLst>
              <a:gd name="adj" fmla="val 23810"/>
            </a:avLst>
          </a:prstGeom>
          <a:solidFill>
            <a:srgbClr val="E8EFF7"/>
          </a:solidFill>
          <a:ln w="15875">
            <a:solidFill>
              <a:srgbClr val="A9C0D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A</a:t>
            </a:r>
            <a:endParaRPr lang="en-US" sz="1500" dirty="0"/>
          </a:p>
        </p:txBody>
      </p:sp>
      <p:sp>
        <p:nvSpPr>
          <p:cNvPr id="10" name="Text 8"/>
          <p:cNvSpPr txBox="1"/>
          <p:nvPr/>
        </p:nvSpPr>
        <p:spPr>
          <a:xfrm>
            <a:off x="2514600" y="2743200"/>
            <a:ext cx="438912" cy="384048"/>
          </a:xfrm>
          <a:prstGeom prst="roundRect">
            <a:avLst>
              <a:gd name="adj" fmla="val 23810"/>
            </a:avLst>
          </a:prstGeom>
          <a:solidFill>
            <a:srgbClr val="E8EFF7"/>
          </a:solidFill>
          <a:ln w="15875">
            <a:solidFill>
              <a:srgbClr val="A9C0D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B</a:t>
            </a:r>
            <a:endParaRPr lang="en-US" sz="1500" dirty="0"/>
          </a:p>
        </p:txBody>
      </p:sp>
      <p:sp>
        <p:nvSpPr>
          <p:cNvPr id="11" name="Text 9"/>
          <p:cNvSpPr txBox="1"/>
          <p:nvPr/>
        </p:nvSpPr>
        <p:spPr>
          <a:xfrm>
            <a:off x="3017520" y="2743200"/>
            <a:ext cx="438912" cy="384048"/>
          </a:xfrm>
          <a:prstGeom prst="roundRect">
            <a:avLst>
              <a:gd name="adj" fmla="val 23810"/>
            </a:avLst>
          </a:prstGeom>
          <a:solidFill>
            <a:srgbClr val="E8EFF7"/>
          </a:solidFill>
          <a:ln w="15875">
            <a:solidFill>
              <a:srgbClr val="A9C0D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C</a:t>
            </a:r>
            <a:endParaRPr lang="en-US" sz="1500" dirty="0"/>
          </a:p>
        </p:txBody>
      </p:sp>
      <p:sp>
        <p:nvSpPr>
          <p:cNvPr id="12" name="Text 10"/>
          <p:cNvSpPr txBox="1"/>
          <p:nvPr/>
        </p:nvSpPr>
        <p:spPr>
          <a:xfrm>
            <a:off x="3520440" y="2743200"/>
            <a:ext cx="438912" cy="384048"/>
          </a:xfrm>
          <a:prstGeom prst="roundRect">
            <a:avLst>
              <a:gd name="adj" fmla="val 23810"/>
            </a:avLst>
          </a:prstGeom>
          <a:solidFill>
            <a:srgbClr val="E8EFF7"/>
          </a:solidFill>
          <a:ln w="15875">
            <a:solidFill>
              <a:srgbClr val="A9C0D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D</a:t>
            </a:r>
            <a:endParaRPr lang="en-US" sz="1500" dirty="0"/>
          </a:p>
        </p:txBody>
      </p:sp>
      <p:sp>
        <p:nvSpPr>
          <p:cNvPr id="13" name="Text 11"/>
          <p:cNvSpPr txBox="1"/>
          <p:nvPr/>
        </p:nvSpPr>
        <p:spPr>
          <a:xfrm>
            <a:off x="4023360" y="2743200"/>
            <a:ext cx="438912" cy="384048"/>
          </a:xfrm>
          <a:prstGeom prst="roundRect">
            <a:avLst>
              <a:gd name="adj" fmla="val 23810"/>
            </a:avLst>
          </a:prstGeom>
          <a:solidFill>
            <a:srgbClr val="E8EFF7"/>
          </a:solidFill>
          <a:ln w="15875">
            <a:solidFill>
              <a:srgbClr val="A9C0D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E</a:t>
            </a:r>
            <a:endParaRPr lang="en-US" sz="1500" dirty="0"/>
          </a:p>
        </p:txBody>
      </p:sp>
      <p:sp>
        <p:nvSpPr>
          <p:cNvPr id="14" name="Text 12"/>
          <p:cNvSpPr txBox="1"/>
          <p:nvPr/>
        </p:nvSpPr>
        <p:spPr>
          <a:xfrm>
            <a:off x="4526280" y="2743200"/>
            <a:ext cx="438912" cy="384048"/>
          </a:xfrm>
          <a:prstGeom prst="roundRect">
            <a:avLst>
              <a:gd name="adj" fmla="val 23810"/>
            </a:avLst>
          </a:prstGeom>
          <a:solidFill>
            <a:srgbClr val="E8EFF7"/>
          </a:solidFill>
          <a:ln w="15875">
            <a:solidFill>
              <a:srgbClr val="A9C0D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F</a:t>
            </a:r>
            <a:endParaRPr lang="en-US" sz="1500" dirty="0"/>
          </a:p>
        </p:txBody>
      </p:sp>
      <p:sp>
        <p:nvSpPr>
          <p:cNvPr id="15" name="Text 13"/>
          <p:cNvSpPr txBox="1"/>
          <p:nvPr/>
        </p:nvSpPr>
        <p:spPr>
          <a:xfrm>
            <a:off x="5029200" y="2743200"/>
            <a:ext cx="438912" cy="384048"/>
          </a:xfrm>
          <a:prstGeom prst="roundRect">
            <a:avLst>
              <a:gd name="adj" fmla="val 23810"/>
            </a:avLst>
          </a:prstGeom>
          <a:solidFill>
            <a:srgbClr val="E8EFF7"/>
          </a:solidFill>
          <a:ln w="15875">
            <a:solidFill>
              <a:srgbClr val="A9C0D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G</a:t>
            </a:r>
            <a:endParaRPr lang="en-US" sz="1500" dirty="0"/>
          </a:p>
        </p:txBody>
      </p:sp>
      <p:sp>
        <p:nvSpPr>
          <p:cNvPr id="16" name="Text 14"/>
          <p:cNvSpPr txBox="1"/>
          <p:nvPr/>
        </p:nvSpPr>
        <p:spPr>
          <a:xfrm>
            <a:off x="960120" y="3383280"/>
            <a:ext cx="1097280" cy="365760"/>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Example 0</a:t>
            </a:r>
            <a:endParaRPr lang="en-US" sz="1300" dirty="0"/>
          </a:p>
        </p:txBody>
      </p:sp>
      <p:sp>
        <p:nvSpPr>
          <p:cNvPr id="17" name="Text 15"/>
          <p:cNvSpPr txBox="1"/>
          <p:nvPr/>
        </p:nvSpPr>
        <p:spPr>
          <a:xfrm>
            <a:off x="2011680" y="3383280"/>
            <a:ext cx="438912"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A</a:t>
            </a:r>
            <a:endParaRPr lang="en-US" sz="1400" dirty="0"/>
          </a:p>
        </p:txBody>
      </p:sp>
      <p:sp>
        <p:nvSpPr>
          <p:cNvPr id="18" name="Text 16"/>
          <p:cNvSpPr txBox="1"/>
          <p:nvPr/>
        </p:nvSpPr>
        <p:spPr>
          <a:xfrm>
            <a:off x="2514600" y="3383280"/>
            <a:ext cx="438912"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B</a:t>
            </a:r>
            <a:endParaRPr lang="en-US" sz="1400" dirty="0"/>
          </a:p>
        </p:txBody>
      </p:sp>
      <p:sp>
        <p:nvSpPr>
          <p:cNvPr id="19" name="Text 17"/>
          <p:cNvSpPr txBox="1"/>
          <p:nvPr/>
        </p:nvSpPr>
        <p:spPr>
          <a:xfrm>
            <a:off x="3017520" y="3383280"/>
            <a:ext cx="438912"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C</a:t>
            </a:r>
            <a:endParaRPr lang="en-US" sz="1400" dirty="0"/>
          </a:p>
        </p:txBody>
      </p:sp>
      <p:sp>
        <p:nvSpPr>
          <p:cNvPr id="20" name="Text 18"/>
          <p:cNvSpPr txBox="1"/>
          <p:nvPr/>
        </p:nvSpPr>
        <p:spPr>
          <a:xfrm>
            <a:off x="3520440" y="33832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D</a:t>
            </a:r>
            <a:endParaRPr lang="en-US" sz="1400" dirty="0"/>
          </a:p>
        </p:txBody>
      </p:sp>
      <p:sp>
        <p:nvSpPr>
          <p:cNvPr id="21" name="Text 19"/>
          <p:cNvSpPr txBox="1"/>
          <p:nvPr/>
        </p:nvSpPr>
        <p:spPr>
          <a:xfrm>
            <a:off x="4023360" y="33832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E</a:t>
            </a:r>
            <a:endParaRPr lang="en-US" sz="1400" dirty="0"/>
          </a:p>
        </p:txBody>
      </p:sp>
      <p:sp>
        <p:nvSpPr>
          <p:cNvPr id="22" name="Text 20"/>
          <p:cNvSpPr txBox="1"/>
          <p:nvPr/>
        </p:nvSpPr>
        <p:spPr>
          <a:xfrm>
            <a:off x="4526280" y="33832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F</a:t>
            </a:r>
            <a:endParaRPr lang="en-US" sz="1400" dirty="0"/>
          </a:p>
        </p:txBody>
      </p:sp>
      <p:sp>
        <p:nvSpPr>
          <p:cNvPr id="23" name="Text 21"/>
          <p:cNvSpPr txBox="1"/>
          <p:nvPr/>
        </p:nvSpPr>
        <p:spPr>
          <a:xfrm>
            <a:off x="5029200" y="33832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G</a:t>
            </a:r>
            <a:endParaRPr lang="en-US" sz="1400" dirty="0"/>
          </a:p>
        </p:txBody>
      </p:sp>
      <p:sp>
        <p:nvSpPr>
          <p:cNvPr id="24" name="Text 22"/>
          <p:cNvSpPr txBox="1"/>
          <p:nvPr/>
        </p:nvSpPr>
        <p:spPr>
          <a:xfrm>
            <a:off x="960120" y="3840480"/>
            <a:ext cx="1097280" cy="365760"/>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Example 1</a:t>
            </a:r>
            <a:endParaRPr lang="en-US" sz="1300" dirty="0"/>
          </a:p>
        </p:txBody>
      </p:sp>
      <p:sp>
        <p:nvSpPr>
          <p:cNvPr id="25" name="Text 23"/>
          <p:cNvSpPr txBox="1"/>
          <p:nvPr/>
        </p:nvSpPr>
        <p:spPr>
          <a:xfrm>
            <a:off x="2011680" y="38404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A</a:t>
            </a:r>
            <a:endParaRPr lang="en-US" sz="1400" dirty="0"/>
          </a:p>
        </p:txBody>
      </p:sp>
      <p:sp>
        <p:nvSpPr>
          <p:cNvPr id="26" name="Text 24"/>
          <p:cNvSpPr txBox="1"/>
          <p:nvPr/>
        </p:nvSpPr>
        <p:spPr>
          <a:xfrm>
            <a:off x="2514600" y="3840480"/>
            <a:ext cx="438912"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B</a:t>
            </a:r>
            <a:endParaRPr lang="en-US" sz="1400" dirty="0"/>
          </a:p>
        </p:txBody>
      </p:sp>
      <p:sp>
        <p:nvSpPr>
          <p:cNvPr id="27" name="Text 25"/>
          <p:cNvSpPr txBox="1"/>
          <p:nvPr/>
        </p:nvSpPr>
        <p:spPr>
          <a:xfrm>
            <a:off x="3017520" y="3840480"/>
            <a:ext cx="438912"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C</a:t>
            </a:r>
            <a:endParaRPr lang="en-US" sz="1400" dirty="0"/>
          </a:p>
        </p:txBody>
      </p:sp>
      <p:sp>
        <p:nvSpPr>
          <p:cNvPr id="28" name="Text 26"/>
          <p:cNvSpPr txBox="1"/>
          <p:nvPr/>
        </p:nvSpPr>
        <p:spPr>
          <a:xfrm>
            <a:off x="3520440" y="3840480"/>
            <a:ext cx="438912"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D</a:t>
            </a:r>
            <a:endParaRPr lang="en-US" sz="1400" dirty="0"/>
          </a:p>
        </p:txBody>
      </p:sp>
      <p:sp>
        <p:nvSpPr>
          <p:cNvPr id="29" name="Text 27"/>
          <p:cNvSpPr txBox="1"/>
          <p:nvPr/>
        </p:nvSpPr>
        <p:spPr>
          <a:xfrm>
            <a:off x="4023360" y="38404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E</a:t>
            </a:r>
            <a:endParaRPr lang="en-US" sz="1400" dirty="0"/>
          </a:p>
        </p:txBody>
      </p:sp>
      <p:sp>
        <p:nvSpPr>
          <p:cNvPr id="30" name="Text 28"/>
          <p:cNvSpPr txBox="1"/>
          <p:nvPr/>
        </p:nvSpPr>
        <p:spPr>
          <a:xfrm>
            <a:off x="4526280" y="38404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F</a:t>
            </a:r>
            <a:endParaRPr lang="en-US" sz="1400" dirty="0"/>
          </a:p>
        </p:txBody>
      </p:sp>
      <p:sp>
        <p:nvSpPr>
          <p:cNvPr id="31" name="Text 29"/>
          <p:cNvSpPr txBox="1"/>
          <p:nvPr/>
        </p:nvSpPr>
        <p:spPr>
          <a:xfrm>
            <a:off x="5029200" y="38404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G</a:t>
            </a:r>
            <a:endParaRPr lang="en-US" sz="1400" dirty="0"/>
          </a:p>
        </p:txBody>
      </p:sp>
      <p:sp>
        <p:nvSpPr>
          <p:cNvPr id="32" name="Text 30"/>
          <p:cNvSpPr txBox="1"/>
          <p:nvPr/>
        </p:nvSpPr>
        <p:spPr>
          <a:xfrm>
            <a:off x="960120" y="4297680"/>
            <a:ext cx="1097280" cy="365760"/>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Example 2</a:t>
            </a:r>
            <a:endParaRPr lang="en-US" sz="1300" dirty="0"/>
          </a:p>
        </p:txBody>
      </p:sp>
      <p:sp>
        <p:nvSpPr>
          <p:cNvPr id="33" name="Text 31"/>
          <p:cNvSpPr txBox="1"/>
          <p:nvPr/>
        </p:nvSpPr>
        <p:spPr>
          <a:xfrm>
            <a:off x="2011680" y="42976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A</a:t>
            </a:r>
            <a:endParaRPr lang="en-US" sz="1400" dirty="0"/>
          </a:p>
        </p:txBody>
      </p:sp>
      <p:sp>
        <p:nvSpPr>
          <p:cNvPr id="34" name="Text 32"/>
          <p:cNvSpPr txBox="1"/>
          <p:nvPr/>
        </p:nvSpPr>
        <p:spPr>
          <a:xfrm>
            <a:off x="2514600" y="42976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B</a:t>
            </a:r>
            <a:endParaRPr lang="en-US" sz="1400" dirty="0"/>
          </a:p>
        </p:txBody>
      </p:sp>
      <p:sp>
        <p:nvSpPr>
          <p:cNvPr id="35" name="Text 33"/>
          <p:cNvSpPr txBox="1"/>
          <p:nvPr/>
        </p:nvSpPr>
        <p:spPr>
          <a:xfrm>
            <a:off x="3017520" y="4297680"/>
            <a:ext cx="438912"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C</a:t>
            </a:r>
            <a:endParaRPr lang="en-US" sz="1400" dirty="0"/>
          </a:p>
        </p:txBody>
      </p:sp>
      <p:sp>
        <p:nvSpPr>
          <p:cNvPr id="36" name="Text 34"/>
          <p:cNvSpPr txBox="1"/>
          <p:nvPr/>
        </p:nvSpPr>
        <p:spPr>
          <a:xfrm>
            <a:off x="3520440" y="4297680"/>
            <a:ext cx="438912"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D</a:t>
            </a:r>
            <a:endParaRPr lang="en-US" sz="1400" dirty="0"/>
          </a:p>
        </p:txBody>
      </p:sp>
      <p:sp>
        <p:nvSpPr>
          <p:cNvPr id="37" name="Text 35"/>
          <p:cNvSpPr txBox="1"/>
          <p:nvPr/>
        </p:nvSpPr>
        <p:spPr>
          <a:xfrm>
            <a:off x="4023360" y="4297680"/>
            <a:ext cx="438912"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E</a:t>
            </a:r>
            <a:endParaRPr lang="en-US" sz="1400" dirty="0"/>
          </a:p>
        </p:txBody>
      </p:sp>
      <p:sp>
        <p:nvSpPr>
          <p:cNvPr id="38" name="Text 36"/>
          <p:cNvSpPr txBox="1"/>
          <p:nvPr/>
        </p:nvSpPr>
        <p:spPr>
          <a:xfrm>
            <a:off x="4526280" y="42976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F</a:t>
            </a:r>
            <a:endParaRPr lang="en-US" sz="1400" dirty="0"/>
          </a:p>
        </p:txBody>
      </p:sp>
      <p:sp>
        <p:nvSpPr>
          <p:cNvPr id="39" name="Text 37"/>
          <p:cNvSpPr txBox="1"/>
          <p:nvPr/>
        </p:nvSpPr>
        <p:spPr>
          <a:xfrm>
            <a:off x="5029200" y="42976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G</a:t>
            </a:r>
            <a:endParaRPr lang="en-US" sz="1400" dirty="0"/>
          </a:p>
        </p:txBody>
      </p:sp>
      <p:sp>
        <p:nvSpPr>
          <p:cNvPr id="40" name="Text 38"/>
          <p:cNvSpPr txBox="1"/>
          <p:nvPr/>
        </p:nvSpPr>
        <p:spPr>
          <a:xfrm>
            <a:off x="960120" y="4754880"/>
            <a:ext cx="1097280" cy="365760"/>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Example 3</a:t>
            </a:r>
            <a:endParaRPr lang="en-US" sz="1300" dirty="0"/>
          </a:p>
        </p:txBody>
      </p:sp>
      <p:sp>
        <p:nvSpPr>
          <p:cNvPr id="41" name="Text 39"/>
          <p:cNvSpPr txBox="1"/>
          <p:nvPr/>
        </p:nvSpPr>
        <p:spPr>
          <a:xfrm>
            <a:off x="2011680" y="47548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A</a:t>
            </a:r>
            <a:endParaRPr lang="en-US" sz="1400" dirty="0"/>
          </a:p>
        </p:txBody>
      </p:sp>
      <p:sp>
        <p:nvSpPr>
          <p:cNvPr id="42" name="Text 40"/>
          <p:cNvSpPr txBox="1"/>
          <p:nvPr/>
        </p:nvSpPr>
        <p:spPr>
          <a:xfrm>
            <a:off x="2514600" y="47548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B</a:t>
            </a:r>
            <a:endParaRPr lang="en-US" sz="1400" dirty="0"/>
          </a:p>
        </p:txBody>
      </p:sp>
      <p:sp>
        <p:nvSpPr>
          <p:cNvPr id="43" name="Text 41"/>
          <p:cNvSpPr txBox="1"/>
          <p:nvPr/>
        </p:nvSpPr>
        <p:spPr>
          <a:xfrm>
            <a:off x="3017520" y="47548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C</a:t>
            </a:r>
            <a:endParaRPr lang="en-US" sz="1400" dirty="0"/>
          </a:p>
        </p:txBody>
      </p:sp>
      <p:sp>
        <p:nvSpPr>
          <p:cNvPr id="44" name="Text 42"/>
          <p:cNvSpPr txBox="1"/>
          <p:nvPr/>
        </p:nvSpPr>
        <p:spPr>
          <a:xfrm>
            <a:off x="3520440" y="4754880"/>
            <a:ext cx="438912"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D</a:t>
            </a:r>
            <a:endParaRPr lang="en-US" sz="1400" dirty="0"/>
          </a:p>
        </p:txBody>
      </p:sp>
      <p:sp>
        <p:nvSpPr>
          <p:cNvPr id="45" name="Text 43"/>
          <p:cNvSpPr txBox="1"/>
          <p:nvPr/>
        </p:nvSpPr>
        <p:spPr>
          <a:xfrm>
            <a:off x="4023360" y="4754880"/>
            <a:ext cx="438912"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E</a:t>
            </a:r>
            <a:endParaRPr lang="en-US" sz="1400" dirty="0"/>
          </a:p>
        </p:txBody>
      </p:sp>
      <p:sp>
        <p:nvSpPr>
          <p:cNvPr id="46" name="Text 44"/>
          <p:cNvSpPr txBox="1"/>
          <p:nvPr/>
        </p:nvSpPr>
        <p:spPr>
          <a:xfrm>
            <a:off x="4526280" y="4754880"/>
            <a:ext cx="438912"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F</a:t>
            </a:r>
            <a:endParaRPr lang="en-US" sz="1400" dirty="0"/>
          </a:p>
        </p:txBody>
      </p:sp>
      <p:sp>
        <p:nvSpPr>
          <p:cNvPr id="47" name="Text 45"/>
          <p:cNvSpPr txBox="1"/>
          <p:nvPr/>
        </p:nvSpPr>
        <p:spPr>
          <a:xfrm>
            <a:off x="5029200" y="47548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G</a:t>
            </a:r>
            <a:endParaRPr lang="en-US" sz="1400" dirty="0"/>
          </a:p>
        </p:txBody>
      </p:sp>
      <p:sp>
        <p:nvSpPr>
          <p:cNvPr id="48" name="Shape 46"/>
          <p:cNvSpPr/>
          <p:nvPr/>
        </p:nvSpPr>
        <p:spPr>
          <a:xfrm>
            <a:off x="6291072" y="1645920"/>
            <a:ext cx="5257800" cy="3657600"/>
          </a:xfrm>
          <a:prstGeom prst="roundRect">
            <a:avLst>
              <a:gd name="adj" fmla="val 3750"/>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49" name="Text 47"/>
          <p:cNvSpPr txBox="1"/>
          <p:nvPr/>
        </p:nvSpPr>
        <p:spPr>
          <a:xfrm>
            <a:off x="6611112" y="1874520"/>
            <a:ext cx="2743200" cy="411480"/>
          </a:xfrm>
          <a:prstGeom prst="rect">
            <a:avLst/>
          </a:prstGeom>
          <a:noFill/>
          <a:ln/>
        </p:spPr>
        <p:txBody>
          <a:bodyPr wrap="square" lIns="0" tIns="0" rIns="0" bIns="0" rtlCol="0" anchor="ctr"/>
          <a:lstStyle/>
          <a:p>
            <a:pPr indent="0" marL="0">
              <a:buNone/>
            </a:pPr>
            <a:r>
              <a:rPr lang="en-US" sz="2000" b="1" dirty="0">
                <a:solidFill>
                  <a:srgbClr val="435466"/>
                </a:solidFill>
                <a:latin typeface="Inter" pitchFamily="34" charset="0"/>
                <a:ea typeface="Inter" pitchFamily="34" charset="-122"/>
                <a:cs typeface="Inter" pitchFamily="34" charset="-120"/>
              </a:rPr>
              <a:t>stride = 3</a:t>
            </a:r>
            <a:endParaRPr lang="en-US" sz="2000" dirty="0"/>
          </a:p>
        </p:txBody>
      </p:sp>
      <p:sp>
        <p:nvSpPr>
          <p:cNvPr id="50" name="Text 48"/>
          <p:cNvSpPr txBox="1"/>
          <p:nvPr/>
        </p:nvSpPr>
        <p:spPr>
          <a:xfrm>
            <a:off x="6611112" y="2286000"/>
            <a:ext cx="4617720" cy="274320"/>
          </a:xfrm>
          <a:prstGeom prst="rect">
            <a:avLst/>
          </a:prstGeom>
          <a:noFill/>
          <a:ln/>
        </p:spPr>
        <p:txBody>
          <a:bodyPr wrap="square" lIns="0" tIns="0" rIns="0" bIns="0" rtlCol="0" anchor="t"/>
          <a:lstStyle/>
          <a:p>
            <a:pPr indent="0" marL="0">
              <a:buNone/>
            </a:pPr>
            <a:r>
              <a:rPr lang="en-US" sz="1400" dirty="0">
                <a:solidFill>
                  <a:srgbClr val="66768A"/>
                </a:solidFill>
                <a:latin typeface="Inter" pitchFamily="34" charset="0"/>
                <a:ea typeface="Inter" pitchFamily="34" charset="-122"/>
                <a:cs typeface="Inter" pitchFamily="34" charset="-120"/>
              </a:rPr>
              <a:t>No overlap  ·  2 examples</a:t>
            </a:r>
            <a:endParaRPr lang="en-US" sz="1400" dirty="0"/>
          </a:p>
        </p:txBody>
      </p:sp>
      <p:sp>
        <p:nvSpPr>
          <p:cNvPr id="51" name="Text 49"/>
          <p:cNvSpPr txBox="1"/>
          <p:nvPr/>
        </p:nvSpPr>
        <p:spPr>
          <a:xfrm>
            <a:off x="6611112" y="4480560"/>
            <a:ext cx="4617720" cy="365760"/>
          </a:xfrm>
          <a:prstGeom prst="rect">
            <a:avLst/>
          </a:prstGeom>
          <a:noFill/>
          <a:ln/>
        </p:spPr>
        <p:txBody>
          <a:bodyPr wrap="square" lIns="0" tIns="0" rIns="0" bIns="0" rtlCol="0" anchor="t"/>
          <a:lstStyle/>
          <a:p>
            <a:pPr algn="ctr" indent="0" marL="0">
              <a:buNone/>
            </a:pPr>
            <a:r>
              <a:rPr lang="en-US" sz="1400" dirty="0">
                <a:solidFill>
                  <a:srgbClr val="66768A"/>
                </a:solidFill>
                <a:latin typeface="Inter" pitchFamily="34" charset="0"/>
                <a:ea typeface="Inter" pitchFamily="34" charset="-122"/>
                <a:cs typeface="Inter" pitchFamily="34" charset="-120"/>
              </a:rPr>
              <a:t>Fewer examples, but each one covers new text.</a:t>
            </a:r>
            <a:endParaRPr lang="en-US" sz="1400" dirty="0"/>
          </a:p>
        </p:txBody>
      </p:sp>
      <p:sp>
        <p:nvSpPr>
          <p:cNvPr id="52" name="Text 50"/>
          <p:cNvSpPr txBox="1"/>
          <p:nvPr/>
        </p:nvSpPr>
        <p:spPr>
          <a:xfrm>
            <a:off x="6611112" y="2743200"/>
            <a:ext cx="1005840" cy="384048"/>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tokens</a:t>
            </a:r>
            <a:endParaRPr lang="en-US" sz="1300" dirty="0"/>
          </a:p>
        </p:txBody>
      </p:sp>
      <p:sp>
        <p:nvSpPr>
          <p:cNvPr id="53" name="Text 51"/>
          <p:cNvSpPr txBox="1"/>
          <p:nvPr/>
        </p:nvSpPr>
        <p:spPr>
          <a:xfrm>
            <a:off x="7662672" y="2743200"/>
            <a:ext cx="438912" cy="384048"/>
          </a:xfrm>
          <a:prstGeom prst="roundRect">
            <a:avLst>
              <a:gd name="adj" fmla="val 23810"/>
            </a:avLst>
          </a:prstGeom>
          <a:solidFill>
            <a:srgbClr val="E8EFF7"/>
          </a:solidFill>
          <a:ln w="15875">
            <a:solidFill>
              <a:srgbClr val="A9C0D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A</a:t>
            </a:r>
            <a:endParaRPr lang="en-US" sz="1500" dirty="0"/>
          </a:p>
        </p:txBody>
      </p:sp>
      <p:sp>
        <p:nvSpPr>
          <p:cNvPr id="54" name="Text 52"/>
          <p:cNvSpPr txBox="1"/>
          <p:nvPr/>
        </p:nvSpPr>
        <p:spPr>
          <a:xfrm>
            <a:off x="8165592" y="2743200"/>
            <a:ext cx="438912" cy="384048"/>
          </a:xfrm>
          <a:prstGeom prst="roundRect">
            <a:avLst>
              <a:gd name="adj" fmla="val 23810"/>
            </a:avLst>
          </a:prstGeom>
          <a:solidFill>
            <a:srgbClr val="E8EFF7"/>
          </a:solidFill>
          <a:ln w="15875">
            <a:solidFill>
              <a:srgbClr val="A9C0D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B</a:t>
            </a:r>
            <a:endParaRPr lang="en-US" sz="1500" dirty="0"/>
          </a:p>
        </p:txBody>
      </p:sp>
      <p:sp>
        <p:nvSpPr>
          <p:cNvPr id="55" name="Text 53"/>
          <p:cNvSpPr txBox="1"/>
          <p:nvPr/>
        </p:nvSpPr>
        <p:spPr>
          <a:xfrm>
            <a:off x="8668512" y="2743200"/>
            <a:ext cx="438912" cy="384048"/>
          </a:xfrm>
          <a:prstGeom prst="roundRect">
            <a:avLst>
              <a:gd name="adj" fmla="val 23810"/>
            </a:avLst>
          </a:prstGeom>
          <a:solidFill>
            <a:srgbClr val="E8EFF7"/>
          </a:solidFill>
          <a:ln w="15875">
            <a:solidFill>
              <a:srgbClr val="A9C0D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C</a:t>
            </a:r>
            <a:endParaRPr lang="en-US" sz="1500" dirty="0"/>
          </a:p>
        </p:txBody>
      </p:sp>
      <p:sp>
        <p:nvSpPr>
          <p:cNvPr id="56" name="Text 54"/>
          <p:cNvSpPr txBox="1"/>
          <p:nvPr/>
        </p:nvSpPr>
        <p:spPr>
          <a:xfrm>
            <a:off x="9171432" y="2743200"/>
            <a:ext cx="438912" cy="384048"/>
          </a:xfrm>
          <a:prstGeom prst="roundRect">
            <a:avLst>
              <a:gd name="adj" fmla="val 23810"/>
            </a:avLst>
          </a:prstGeom>
          <a:solidFill>
            <a:srgbClr val="E8EFF7"/>
          </a:solidFill>
          <a:ln w="15875">
            <a:solidFill>
              <a:srgbClr val="A9C0D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D</a:t>
            </a:r>
            <a:endParaRPr lang="en-US" sz="1500" dirty="0"/>
          </a:p>
        </p:txBody>
      </p:sp>
      <p:sp>
        <p:nvSpPr>
          <p:cNvPr id="57" name="Text 55"/>
          <p:cNvSpPr txBox="1"/>
          <p:nvPr/>
        </p:nvSpPr>
        <p:spPr>
          <a:xfrm>
            <a:off x="9674352" y="2743200"/>
            <a:ext cx="438912" cy="384048"/>
          </a:xfrm>
          <a:prstGeom prst="roundRect">
            <a:avLst>
              <a:gd name="adj" fmla="val 23810"/>
            </a:avLst>
          </a:prstGeom>
          <a:solidFill>
            <a:srgbClr val="E8EFF7"/>
          </a:solidFill>
          <a:ln w="15875">
            <a:solidFill>
              <a:srgbClr val="A9C0D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E</a:t>
            </a:r>
            <a:endParaRPr lang="en-US" sz="1500" dirty="0"/>
          </a:p>
        </p:txBody>
      </p:sp>
      <p:sp>
        <p:nvSpPr>
          <p:cNvPr id="58" name="Text 56"/>
          <p:cNvSpPr txBox="1"/>
          <p:nvPr/>
        </p:nvSpPr>
        <p:spPr>
          <a:xfrm>
            <a:off x="10177272" y="2743200"/>
            <a:ext cx="438912" cy="384048"/>
          </a:xfrm>
          <a:prstGeom prst="roundRect">
            <a:avLst>
              <a:gd name="adj" fmla="val 23810"/>
            </a:avLst>
          </a:prstGeom>
          <a:solidFill>
            <a:srgbClr val="E8EFF7"/>
          </a:solidFill>
          <a:ln w="15875">
            <a:solidFill>
              <a:srgbClr val="A9C0D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F</a:t>
            </a:r>
            <a:endParaRPr lang="en-US" sz="1500" dirty="0"/>
          </a:p>
        </p:txBody>
      </p:sp>
      <p:sp>
        <p:nvSpPr>
          <p:cNvPr id="59" name="Text 57"/>
          <p:cNvSpPr txBox="1"/>
          <p:nvPr/>
        </p:nvSpPr>
        <p:spPr>
          <a:xfrm>
            <a:off x="10680192" y="2743200"/>
            <a:ext cx="438912" cy="384048"/>
          </a:xfrm>
          <a:prstGeom prst="roundRect">
            <a:avLst>
              <a:gd name="adj" fmla="val 23810"/>
            </a:avLst>
          </a:prstGeom>
          <a:solidFill>
            <a:srgbClr val="E8EFF7"/>
          </a:solidFill>
          <a:ln w="15875">
            <a:solidFill>
              <a:srgbClr val="A9C0D8"/>
            </a:solidFill>
          </a:ln>
        </p:spPr>
        <p:txBody>
          <a:bodyPr wrap="square" lIns="0" tIns="0" rIns="0" bIns="0" rtlCol="0" anchor="ctr"/>
          <a:lstStyle/>
          <a:p>
            <a:pPr algn="ctr" indent="0" marL="0">
              <a:buNone/>
            </a:pPr>
            <a:r>
              <a:rPr lang="en-US" sz="1500" dirty="0">
                <a:solidFill>
                  <a:srgbClr val="435466"/>
                </a:solidFill>
                <a:latin typeface="Inter" pitchFamily="34" charset="0"/>
                <a:ea typeface="Inter" pitchFamily="34" charset="-122"/>
                <a:cs typeface="Inter" pitchFamily="34" charset="-120"/>
              </a:rPr>
              <a:t>G</a:t>
            </a:r>
            <a:endParaRPr lang="en-US" sz="1500" dirty="0"/>
          </a:p>
        </p:txBody>
      </p:sp>
      <p:sp>
        <p:nvSpPr>
          <p:cNvPr id="60" name="Text 58"/>
          <p:cNvSpPr txBox="1"/>
          <p:nvPr/>
        </p:nvSpPr>
        <p:spPr>
          <a:xfrm>
            <a:off x="6611112" y="3383280"/>
            <a:ext cx="1097280" cy="365760"/>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Example 0</a:t>
            </a:r>
            <a:endParaRPr lang="en-US" sz="1300" dirty="0"/>
          </a:p>
        </p:txBody>
      </p:sp>
      <p:sp>
        <p:nvSpPr>
          <p:cNvPr id="61" name="Text 59"/>
          <p:cNvSpPr txBox="1"/>
          <p:nvPr/>
        </p:nvSpPr>
        <p:spPr>
          <a:xfrm>
            <a:off x="7662672" y="3383280"/>
            <a:ext cx="438912"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A</a:t>
            </a:r>
            <a:endParaRPr lang="en-US" sz="1400" dirty="0"/>
          </a:p>
        </p:txBody>
      </p:sp>
      <p:sp>
        <p:nvSpPr>
          <p:cNvPr id="62" name="Text 60"/>
          <p:cNvSpPr txBox="1"/>
          <p:nvPr/>
        </p:nvSpPr>
        <p:spPr>
          <a:xfrm>
            <a:off x="8165592" y="3383280"/>
            <a:ext cx="438912"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B</a:t>
            </a:r>
            <a:endParaRPr lang="en-US" sz="1400" dirty="0"/>
          </a:p>
        </p:txBody>
      </p:sp>
      <p:sp>
        <p:nvSpPr>
          <p:cNvPr id="63" name="Text 61"/>
          <p:cNvSpPr txBox="1"/>
          <p:nvPr/>
        </p:nvSpPr>
        <p:spPr>
          <a:xfrm>
            <a:off x="8668512" y="3383280"/>
            <a:ext cx="438912"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C</a:t>
            </a:r>
            <a:endParaRPr lang="en-US" sz="1400" dirty="0"/>
          </a:p>
        </p:txBody>
      </p:sp>
      <p:sp>
        <p:nvSpPr>
          <p:cNvPr id="64" name="Text 62"/>
          <p:cNvSpPr txBox="1"/>
          <p:nvPr/>
        </p:nvSpPr>
        <p:spPr>
          <a:xfrm>
            <a:off x="9171432" y="33832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D</a:t>
            </a:r>
            <a:endParaRPr lang="en-US" sz="1400" dirty="0"/>
          </a:p>
        </p:txBody>
      </p:sp>
      <p:sp>
        <p:nvSpPr>
          <p:cNvPr id="65" name="Text 63"/>
          <p:cNvSpPr txBox="1"/>
          <p:nvPr/>
        </p:nvSpPr>
        <p:spPr>
          <a:xfrm>
            <a:off x="9674352" y="33832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E</a:t>
            </a:r>
            <a:endParaRPr lang="en-US" sz="1400" dirty="0"/>
          </a:p>
        </p:txBody>
      </p:sp>
      <p:sp>
        <p:nvSpPr>
          <p:cNvPr id="66" name="Text 64"/>
          <p:cNvSpPr txBox="1"/>
          <p:nvPr/>
        </p:nvSpPr>
        <p:spPr>
          <a:xfrm>
            <a:off x="10177272" y="33832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F</a:t>
            </a:r>
            <a:endParaRPr lang="en-US" sz="1400" dirty="0"/>
          </a:p>
        </p:txBody>
      </p:sp>
      <p:sp>
        <p:nvSpPr>
          <p:cNvPr id="67" name="Text 65"/>
          <p:cNvSpPr txBox="1"/>
          <p:nvPr/>
        </p:nvSpPr>
        <p:spPr>
          <a:xfrm>
            <a:off x="10680192" y="33832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G</a:t>
            </a:r>
            <a:endParaRPr lang="en-US" sz="1400" dirty="0"/>
          </a:p>
        </p:txBody>
      </p:sp>
      <p:sp>
        <p:nvSpPr>
          <p:cNvPr id="68" name="Text 66"/>
          <p:cNvSpPr txBox="1"/>
          <p:nvPr/>
        </p:nvSpPr>
        <p:spPr>
          <a:xfrm>
            <a:off x="6611112" y="3840480"/>
            <a:ext cx="1097280" cy="365760"/>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Example 1</a:t>
            </a:r>
            <a:endParaRPr lang="en-US" sz="1300" dirty="0"/>
          </a:p>
        </p:txBody>
      </p:sp>
      <p:sp>
        <p:nvSpPr>
          <p:cNvPr id="69" name="Text 67"/>
          <p:cNvSpPr txBox="1"/>
          <p:nvPr/>
        </p:nvSpPr>
        <p:spPr>
          <a:xfrm>
            <a:off x="7662672" y="38404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A</a:t>
            </a:r>
            <a:endParaRPr lang="en-US" sz="1400" dirty="0"/>
          </a:p>
        </p:txBody>
      </p:sp>
      <p:sp>
        <p:nvSpPr>
          <p:cNvPr id="70" name="Text 68"/>
          <p:cNvSpPr txBox="1"/>
          <p:nvPr/>
        </p:nvSpPr>
        <p:spPr>
          <a:xfrm>
            <a:off x="8165592" y="38404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B</a:t>
            </a:r>
            <a:endParaRPr lang="en-US" sz="1400" dirty="0"/>
          </a:p>
        </p:txBody>
      </p:sp>
      <p:sp>
        <p:nvSpPr>
          <p:cNvPr id="71" name="Text 69"/>
          <p:cNvSpPr txBox="1"/>
          <p:nvPr/>
        </p:nvSpPr>
        <p:spPr>
          <a:xfrm>
            <a:off x="8668512" y="38404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C</a:t>
            </a:r>
            <a:endParaRPr lang="en-US" sz="1400" dirty="0"/>
          </a:p>
        </p:txBody>
      </p:sp>
      <p:sp>
        <p:nvSpPr>
          <p:cNvPr id="72" name="Text 70"/>
          <p:cNvSpPr txBox="1"/>
          <p:nvPr/>
        </p:nvSpPr>
        <p:spPr>
          <a:xfrm>
            <a:off x="9171432" y="3840480"/>
            <a:ext cx="438912"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D</a:t>
            </a:r>
            <a:endParaRPr lang="en-US" sz="1400" dirty="0"/>
          </a:p>
        </p:txBody>
      </p:sp>
      <p:sp>
        <p:nvSpPr>
          <p:cNvPr id="73" name="Text 71"/>
          <p:cNvSpPr txBox="1"/>
          <p:nvPr/>
        </p:nvSpPr>
        <p:spPr>
          <a:xfrm>
            <a:off x="9674352" y="3840480"/>
            <a:ext cx="438912"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E</a:t>
            </a:r>
            <a:endParaRPr lang="en-US" sz="1400" dirty="0"/>
          </a:p>
        </p:txBody>
      </p:sp>
      <p:sp>
        <p:nvSpPr>
          <p:cNvPr id="74" name="Text 72"/>
          <p:cNvSpPr txBox="1"/>
          <p:nvPr/>
        </p:nvSpPr>
        <p:spPr>
          <a:xfrm>
            <a:off x="10177272" y="3840480"/>
            <a:ext cx="438912" cy="365760"/>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F</a:t>
            </a:r>
            <a:endParaRPr lang="en-US" sz="1400" dirty="0"/>
          </a:p>
        </p:txBody>
      </p:sp>
      <p:sp>
        <p:nvSpPr>
          <p:cNvPr id="75" name="Text 73"/>
          <p:cNvSpPr txBox="1"/>
          <p:nvPr/>
        </p:nvSpPr>
        <p:spPr>
          <a:xfrm>
            <a:off x="10680192" y="3840480"/>
            <a:ext cx="438912"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400" dirty="0">
                <a:solidFill>
                  <a:srgbClr val="9AA6B2"/>
                </a:solidFill>
                <a:latin typeface="Inter" pitchFamily="34" charset="0"/>
                <a:ea typeface="Inter" pitchFamily="34" charset="-122"/>
                <a:cs typeface="Inter" pitchFamily="34" charset="-120"/>
              </a:rPr>
              <a:t>G</a:t>
            </a:r>
            <a:endParaRPr lang="en-US" sz="1400" dirty="0"/>
          </a:p>
        </p:txBody>
      </p:sp>
      <p:sp>
        <p:nvSpPr>
          <p:cNvPr id="76" name="Shape 74"/>
          <p:cNvSpPr/>
          <p:nvPr/>
        </p:nvSpPr>
        <p:spPr>
          <a:xfrm>
            <a:off x="640080" y="5486400"/>
            <a:ext cx="10908792" cy="822960"/>
          </a:xfrm>
          <a:prstGeom prst="roundRect">
            <a:avLst>
              <a:gd name="adj" fmla="val 1666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77" name="Shape 75"/>
          <p:cNvSpPr/>
          <p:nvPr/>
        </p:nvSpPr>
        <p:spPr>
          <a:xfrm>
            <a:off x="914400" y="5623560"/>
            <a:ext cx="548640" cy="548640"/>
          </a:xfrm>
          <a:prstGeom prst="ellipse">
            <a:avLst/>
          </a:prstGeom>
          <a:solidFill>
            <a:srgbClr val="FFFFFF"/>
          </a:solidFill>
          <a:ln w="15875">
            <a:solidFill>
              <a:srgbClr val="8FA99B"/>
            </a:solidFill>
            <a:prstDash val="solid"/>
          </a:ln>
        </p:spPr>
      </p:sp>
      <p:pic>
        <p:nvPicPr>
          <p:cNvPr id="78" name="Image 0" descr="preencoded.png">    </p:cNvPr>
          <p:cNvPicPr>
            <a:picLocks noChangeAspect="1"/>
          </p:cNvPicPr>
          <p:nvPr/>
        </p:nvPicPr>
        <p:blipFill>
          <a:blip r:embed="rId1"/>
          <a:stretch>
            <a:fillRect/>
          </a:stretch>
        </p:blipFill>
        <p:spPr>
          <a:xfrm>
            <a:off x="1042416" y="5751576"/>
            <a:ext cx="292608" cy="292608"/>
          </a:xfrm>
          <a:prstGeom prst="rect">
            <a:avLst/>
          </a:prstGeom>
        </p:spPr>
      </p:pic>
      <p:sp>
        <p:nvSpPr>
          <p:cNvPr id="79" name="Text 76"/>
          <p:cNvSpPr txBox="1"/>
          <p:nvPr/>
        </p:nvSpPr>
        <p:spPr>
          <a:xfrm>
            <a:off x="1691640" y="5596128"/>
            <a:ext cx="9628632" cy="60350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IN THE CODE</a:t>
            </a:r>
            <a:endParaRPr lang="en-US" sz="1800" dirty="0"/>
          </a:p>
          <a:p>
            <a:pPr indent="0" marL="0">
              <a:buNone/>
            </a:pPr>
            <a:r>
              <a:rPr lang="en-US" sz="1700" dirty="0">
                <a:solidFill>
                  <a:srgbClr val="435466"/>
                </a:solidFill>
                <a:latin typeface="Inter" pitchFamily="34" charset="0"/>
                <a:ea typeface="Inter" pitchFamily="34" charset="-122"/>
                <a:cs typeface="Inter" pitchFamily="34" charset="-120"/>
              </a:rPr>
              <a:t>Real settings: max_length 256, stride 128. Each example overlaps the next by half.</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5</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The Dataset: a numbered list of examples</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A PyTorch Dataset stores practice examples. Each input and target is a 1-D tensor: one row of numbers.</a:t>
            </a:r>
            <a:endParaRPr lang="en-US" sz="1600" dirty="0"/>
          </a:p>
        </p:txBody>
      </p:sp>
      <p:sp>
        <p:nvSpPr>
          <p:cNvPr id="5" name="Shape 3"/>
          <p:cNvSpPr/>
          <p:nvPr/>
        </p:nvSpPr>
        <p:spPr>
          <a:xfrm>
            <a:off x="640080" y="1645920"/>
            <a:ext cx="5669280" cy="3566160"/>
          </a:xfrm>
          <a:prstGeom prst="roundRect">
            <a:avLst>
              <a:gd name="adj" fmla="val 3846"/>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Text 4"/>
          <p:cNvSpPr txBox="1"/>
          <p:nvPr/>
        </p:nvSpPr>
        <p:spPr>
          <a:xfrm>
            <a:off x="960120" y="1874520"/>
            <a:ext cx="3657600" cy="411480"/>
          </a:xfrm>
          <a:prstGeom prst="rect">
            <a:avLst/>
          </a:prstGeom>
          <a:noFill/>
          <a:ln/>
        </p:spPr>
        <p:txBody>
          <a:bodyPr wrap="square" lIns="0" tIns="0" rIns="0" bIns="0" rtlCol="0" anchor="ctr"/>
          <a:lstStyle/>
          <a:p>
            <a:pPr indent="0" marL="0">
              <a:buNone/>
            </a:pPr>
            <a:r>
              <a:rPr lang="en-US" sz="2000" b="1" dirty="0">
                <a:solidFill>
                  <a:srgbClr val="435466"/>
                </a:solidFill>
                <a:latin typeface="Inter" pitchFamily="34" charset="0"/>
                <a:ea typeface="Inter" pitchFamily="34" charset="-122"/>
                <a:cs typeface="Inter" pitchFamily="34" charset="-120"/>
              </a:rPr>
              <a:t>GPT dataset</a:t>
            </a:r>
            <a:endParaRPr lang="en-US" sz="2000" dirty="0"/>
          </a:p>
        </p:txBody>
      </p:sp>
      <p:sp>
        <p:nvSpPr>
          <p:cNvPr id="7" name="Text 5"/>
          <p:cNvSpPr txBox="1"/>
          <p:nvPr/>
        </p:nvSpPr>
        <p:spPr>
          <a:xfrm>
            <a:off x="2148840" y="2423160"/>
            <a:ext cx="1517904" cy="274320"/>
          </a:xfrm>
          <a:prstGeom prst="rect">
            <a:avLst/>
          </a:prstGeom>
          <a:noFill/>
          <a:ln/>
        </p:spPr>
        <p:txBody>
          <a:bodyPr wrap="square" lIns="0" tIns="0" rIns="0" bIns="0" rtlCol="0" anchor="t"/>
          <a:lstStyle/>
          <a:p>
            <a:pPr algn="ctr" indent="0" marL="0">
              <a:buNone/>
            </a:pPr>
            <a:r>
              <a:rPr lang="en-US" sz="1300" b="1" dirty="0">
                <a:solidFill>
                  <a:srgbClr val="66768A"/>
                </a:solidFill>
                <a:latin typeface="Inter" pitchFamily="34" charset="0"/>
                <a:ea typeface="Inter" pitchFamily="34" charset="-122"/>
                <a:cs typeface="Inter" pitchFamily="34" charset="-120"/>
              </a:rPr>
              <a:t>input</a:t>
            </a:r>
            <a:endParaRPr lang="en-US" sz="1300" dirty="0"/>
          </a:p>
        </p:txBody>
      </p:sp>
      <p:sp>
        <p:nvSpPr>
          <p:cNvPr id="8" name="Text 6"/>
          <p:cNvSpPr txBox="1"/>
          <p:nvPr/>
        </p:nvSpPr>
        <p:spPr>
          <a:xfrm>
            <a:off x="4160520" y="2423160"/>
            <a:ext cx="1517904" cy="274320"/>
          </a:xfrm>
          <a:prstGeom prst="rect">
            <a:avLst/>
          </a:prstGeom>
          <a:noFill/>
          <a:ln/>
        </p:spPr>
        <p:txBody>
          <a:bodyPr wrap="square" lIns="0" tIns="0" rIns="0" bIns="0" rtlCol="0" anchor="t"/>
          <a:lstStyle/>
          <a:p>
            <a:pPr algn="ctr" indent="0" marL="0">
              <a:buNone/>
            </a:pPr>
            <a:r>
              <a:rPr lang="en-US" sz="1300" b="1" dirty="0">
                <a:solidFill>
                  <a:srgbClr val="66768A"/>
                </a:solidFill>
                <a:latin typeface="Inter" pitchFamily="34" charset="0"/>
                <a:ea typeface="Inter" pitchFamily="34" charset="-122"/>
                <a:cs typeface="Inter" pitchFamily="34" charset="-120"/>
              </a:rPr>
              <a:t>target</a:t>
            </a:r>
            <a:endParaRPr lang="en-US" sz="1300" dirty="0"/>
          </a:p>
        </p:txBody>
      </p:sp>
      <p:sp>
        <p:nvSpPr>
          <p:cNvPr id="9" name="Shape 7"/>
          <p:cNvSpPr/>
          <p:nvPr/>
        </p:nvSpPr>
        <p:spPr>
          <a:xfrm>
            <a:off x="1188720" y="2752344"/>
            <a:ext cx="4617720" cy="512064"/>
          </a:xfrm>
          <a:prstGeom prst="roundRect">
            <a:avLst>
              <a:gd name="adj" fmla="val 17857"/>
            </a:avLst>
          </a:prstGeom>
          <a:solidFill>
            <a:srgbClr val="FAF7F2"/>
          </a:solidFill>
          <a:ln w="9525">
            <a:solidFill>
              <a:srgbClr val="D9E1E8"/>
            </a:solidFill>
            <a:prstDash val="solid"/>
          </a:ln>
        </p:spPr>
      </p:sp>
      <p:sp>
        <p:nvSpPr>
          <p:cNvPr id="10" name="Text 8"/>
          <p:cNvSpPr txBox="1"/>
          <p:nvPr/>
        </p:nvSpPr>
        <p:spPr>
          <a:xfrm>
            <a:off x="1325880" y="2788920"/>
            <a:ext cx="548640" cy="438912"/>
          </a:xfrm>
          <a:prstGeom prst="roundRect">
            <a:avLst>
              <a:gd name="adj" fmla="val 20833"/>
            </a:avLst>
          </a:prstGeom>
          <a:solidFill>
            <a:srgbClr val="FFFFFF"/>
          </a:solidFill>
          <a:ln w="15875">
            <a:solidFill>
              <a:srgbClr val="D9E1E8"/>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#0</a:t>
            </a:r>
            <a:endParaRPr lang="en-US" sz="1400" dirty="0"/>
          </a:p>
        </p:txBody>
      </p:sp>
      <p:sp>
        <p:nvSpPr>
          <p:cNvPr id="11" name="Text 9"/>
          <p:cNvSpPr txBox="1"/>
          <p:nvPr/>
        </p:nvSpPr>
        <p:spPr>
          <a:xfrm>
            <a:off x="2148840" y="2788920"/>
            <a:ext cx="457200" cy="438912"/>
          </a:xfrm>
          <a:prstGeom prst="roundRect">
            <a:avLst>
              <a:gd name="adj" fmla="val 20833"/>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A</a:t>
            </a:r>
            <a:endParaRPr lang="en-US" sz="1600" dirty="0"/>
          </a:p>
        </p:txBody>
      </p:sp>
      <p:sp>
        <p:nvSpPr>
          <p:cNvPr id="12" name="Text 10"/>
          <p:cNvSpPr txBox="1"/>
          <p:nvPr/>
        </p:nvSpPr>
        <p:spPr>
          <a:xfrm>
            <a:off x="2679192" y="2788920"/>
            <a:ext cx="457200" cy="438912"/>
          </a:xfrm>
          <a:prstGeom prst="roundRect">
            <a:avLst>
              <a:gd name="adj" fmla="val 20833"/>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B</a:t>
            </a:r>
            <a:endParaRPr lang="en-US" sz="1600" dirty="0"/>
          </a:p>
        </p:txBody>
      </p:sp>
      <p:sp>
        <p:nvSpPr>
          <p:cNvPr id="13" name="Text 11"/>
          <p:cNvSpPr txBox="1"/>
          <p:nvPr/>
        </p:nvSpPr>
        <p:spPr>
          <a:xfrm>
            <a:off x="3209544" y="2788920"/>
            <a:ext cx="457200" cy="438912"/>
          </a:xfrm>
          <a:prstGeom prst="roundRect">
            <a:avLst>
              <a:gd name="adj" fmla="val 20833"/>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C</a:t>
            </a:r>
            <a:endParaRPr lang="en-US" sz="1600" dirty="0"/>
          </a:p>
        </p:txBody>
      </p:sp>
      <p:sp>
        <p:nvSpPr>
          <p:cNvPr id="14" name="Text 12"/>
          <p:cNvSpPr txBox="1"/>
          <p:nvPr/>
        </p:nvSpPr>
        <p:spPr>
          <a:xfrm>
            <a:off x="4160520" y="2788920"/>
            <a:ext cx="457200" cy="438912"/>
          </a:xfrm>
          <a:prstGeom prst="roundRect">
            <a:avLst>
              <a:gd name="adj" fmla="val 20833"/>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B</a:t>
            </a:r>
            <a:endParaRPr lang="en-US" sz="1600" dirty="0"/>
          </a:p>
        </p:txBody>
      </p:sp>
      <p:sp>
        <p:nvSpPr>
          <p:cNvPr id="15" name="Text 13"/>
          <p:cNvSpPr txBox="1"/>
          <p:nvPr/>
        </p:nvSpPr>
        <p:spPr>
          <a:xfrm>
            <a:off x="4690872" y="2788920"/>
            <a:ext cx="457200" cy="438912"/>
          </a:xfrm>
          <a:prstGeom prst="roundRect">
            <a:avLst>
              <a:gd name="adj" fmla="val 20833"/>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C</a:t>
            </a:r>
            <a:endParaRPr lang="en-US" sz="1600" dirty="0"/>
          </a:p>
        </p:txBody>
      </p:sp>
      <p:sp>
        <p:nvSpPr>
          <p:cNvPr id="16" name="Text 14"/>
          <p:cNvSpPr txBox="1"/>
          <p:nvPr/>
        </p:nvSpPr>
        <p:spPr>
          <a:xfrm>
            <a:off x="5221224" y="2788920"/>
            <a:ext cx="457200" cy="438912"/>
          </a:xfrm>
          <a:prstGeom prst="roundRect">
            <a:avLst>
              <a:gd name="adj" fmla="val 20833"/>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D</a:t>
            </a:r>
            <a:endParaRPr lang="en-US" sz="1600" dirty="0"/>
          </a:p>
        </p:txBody>
      </p:sp>
      <p:sp>
        <p:nvSpPr>
          <p:cNvPr id="17" name="Shape 15"/>
          <p:cNvSpPr/>
          <p:nvPr/>
        </p:nvSpPr>
        <p:spPr>
          <a:xfrm>
            <a:off x="1188720" y="3337560"/>
            <a:ext cx="4617720" cy="512064"/>
          </a:xfrm>
          <a:prstGeom prst="roundRect">
            <a:avLst>
              <a:gd name="adj" fmla="val 17857"/>
            </a:avLst>
          </a:prstGeom>
          <a:solidFill>
            <a:srgbClr val="FAF7F2"/>
          </a:solidFill>
          <a:ln w="9525">
            <a:solidFill>
              <a:srgbClr val="D9E1E8"/>
            </a:solidFill>
            <a:prstDash val="solid"/>
          </a:ln>
        </p:spPr>
      </p:sp>
      <p:sp>
        <p:nvSpPr>
          <p:cNvPr id="18" name="Text 16"/>
          <p:cNvSpPr txBox="1"/>
          <p:nvPr/>
        </p:nvSpPr>
        <p:spPr>
          <a:xfrm>
            <a:off x="1325880" y="3374136"/>
            <a:ext cx="548640" cy="438912"/>
          </a:xfrm>
          <a:prstGeom prst="roundRect">
            <a:avLst>
              <a:gd name="adj" fmla="val 20833"/>
            </a:avLst>
          </a:prstGeom>
          <a:solidFill>
            <a:srgbClr val="FFFFFF"/>
          </a:solidFill>
          <a:ln w="15875">
            <a:solidFill>
              <a:srgbClr val="D9E1E8"/>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#1</a:t>
            </a:r>
            <a:endParaRPr lang="en-US" sz="1400" dirty="0"/>
          </a:p>
        </p:txBody>
      </p:sp>
      <p:sp>
        <p:nvSpPr>
          <p:cNvPr id="19" name="Text 17"/>
          <p:cNvSpPr txBox="1"/>
          <p:nvPr/>
        </p:nvSpPr>
        <p:spPr>
          <a:xfrm>
            <a:off x="2148840" y="3374136"/>
            <a:ext cx="457200" cy="438912"/>
          </a:xfrm>
          <a:prstGeom prst="roundRect">
            <a:avLst>
              <a:gd name="adj" fmla="val 20833"/>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B</a:t>
            </a:r>
            <a:endParaRPr lang="en-US" sz="1600" dirty="0"/>
          </a:p>
        </p:txBody>
      </p:sp>
      <p:sp>
        <p:nvSpPr>
          <p:cNvPr id="20" name="Text 18"/>
          <p:cNvSpPr txBox="1"/>
          <p:nvPr/>
        </p:nvSpPr>
        <p:spPr>
          <a:xfrm>
            <a:off x="2679192" y="3374136"/>
            <a:ext cx="457200" cy="438912"/>
          </a:xfrm>
          <a:prstGeom prst="roundRect">
            <a:avLst>
              <a:gd name="adj" fmla="val 20833"/>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C</a:t>
            </a:r>
            <a:endParaRPr lang="en-US" sz="1600" dirty="0"/>
          </a:p>
        </p:txBody>
      </p:sp>
      <p:sp>
        <p:nvSpPr>
          <p:cNvPr id="21" name="Text 19"/>
          <p:cNvSpPr txBox="1"/>
          <p:nvPr/>
        </p:nvSpPr>
        <p:spPr>
          <a:xfrm>
            <a:off x="3209544" y="3374136"/>
            <a:ext cx="457200" cy="438912"/>
          </a:xfrm>
          <a:prstGeom prst="roundRect">
            <a:avLst>
              <a:gd name="adj" fmla="val 20833"/>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D</a:t>
            </a:r>
            <a:endParaRPr lang="en-US" sz="1600" dirty="0"/>
          </a:p>
        </p:txBody>
      </p:sp>
      <p:sp>
        <p:nvSpPr>
          <p:cNvPr id="22" name="Text 20"/>
          <p:cNvSpPr txBox="1"/>
          <p:nvPr/>
        </p:nvSpPr>
        <p:spPr>
          <a:xfrm>
            <a:off x="4160520" y="3374136"/>
            <a:ext cx="457200" cy="438912"/>
          </a:xfrm>
          <a:prstGeom prst="roundRect">
            <a:avLst>
              <a:gd name="adj" fmla="val 20833"/>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C</a:t>
            </a:r>
            <a:endParaRPr lang="en-US" sz="1600" dirty="0"/>
          </a:p>
        </p:txBody>
      </p:sp>
      <p:sp>
        <p:nvSpPr>
          <p:cNvPr id="23" name="Text 21"/>
          <p:cNvSpPr txBox="1"/>
          <p:nvPr/>
        </p:nvSpPr>
        <p:spPr>
          <a:xfrm>
            <a:off x="4690872" y="3374136"/>
            <a:ext cx="457200" cy="438912"/>
          </a:xfrm>
          <a:prstGeom prst="roundRect">
            <a:avLst>
              <a:gd name="adj" fmla="val 20833"/>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D</a:t>
            </a:r>
            <a:endParaRPr lang="en-US" sz="1600" dirty="0"/>
          </a:p>
        </p:txBody>
      </p:sp>
      <p:sp>
        <p:nvSpPr>
          <p:cNvPr id="24" name="Text 22"/>
          <p:cNvSpPr txBox="1"/>
          <p:nvPr/>
        </p:nvSpPr>
        <p:spPr>
          <a:xfrm>
            <a:off x="5221224" y="3374136"/>
            <a:ext cx="457200" cy="438912"/>
          </a:xfrm>
          <a:prstGeom prst="roundRect">
            <a:avLst>
              <a:gd name="adj" fmla="val 20833"/>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E</a:t>
            </a:r>
            <a:endParaRPr lang="en-US" sz="1600" dirty="0"/>
          </a:p>
        </p:txBody>
      </p:sp>
      <p:sp>
        <p:nvSpPr>
          <p:cNvPr id="25" name="Shape 23"/>
          <p:cNvSpPr/>
          <p:nvPr/>
        </p:nvSpPr>
        <p:spPr>
          <a:xfrm>
            <a:off x="1188720" y="3922776"/>
            <a:ext cx="4617720" cy="512064"/>
          </a:xfrm>
          <a:prstGeom prst="roundRect">
            <a:avLst>
              <a:gd name="adj" fmla="val 17857"/>
            </a:avLst>
          </a:prstGeom>
          <a:solidFill>
            <a:srgbClr val="FAF7F2"/>
          </a:solidFill>
          <a:ln w="9525">
            <a:solidFill>
              <a:srgbClr val="D9E1E8"/>
            </a:solidFill>
            <a:prstDash val="solid"/>
          </a:ln>
        </p:spPr>
      </p:sp>
      <p:sp>
        <p:nvSpPr>
          <p:cNvPr id="26" name="Text 24"/>
          <p:cNvSpPr txBox="1"/>
          <p:nvPr/>
        </p:nvSpPr>
        <p:spPr>
          <a:xfrm>
            <a:off x="1325880" y="3959352"/>
            <a:ext cx="548640" cy="438912"/>
          </a:xfrm>
          <a:prstGeom prst="roundRect">
            <a:avLst>
              <a:gd name="adj" fmla="val 20833"/>
            </a:avLst>
          </a:prstGeom>
          <a:solidFill>
            <a:srgbClr val="FFFFFF"/>
          </a:solidFill>
          <a:ln w="15875">
            <a:solidFill>
              <a:srgbClr val="D9E1E8"/>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#2</a:t>
            </a:r>
            <a:endParaRPr lang="en-US" sz="1400" dirty="0"/>
          </a:p>
        </p:txBody>
      </p:sp>
      <p:sp>
        <p:nvSpPr>
          <p:cNvPr id="27" name="Text 25"/>
          <p:cNvSpPr txBox="1"/>
          <p:nvPr/>
        </p:nvSpPr>
        <p:spPr>
          <a:xfrm>
            <a:off x="2148840" y="3959352"/>
            <a:ext cx="457200" cy="438912"/>
          </a:xfrm>
          <a:prstGeom prst="roundRect">
            <a:avLst>
              <a:gd name="adj" fmla="val 20833"/>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C</a:t>
            </a:r>
            <a:endParaRPr lang="en-US" sz="1600" dirty="0"/>
          </a:p>
        </p:txBody>
      </p:sp>
      <p:sp>
        <p:nvSpPr>
          <p:cNvPr id="28" name="Text 26"/>
          <p:cNvSpPr txBox="1"/>
          <p:nvPr/>
        </p:nvSpPr>
        <p:spPr>
          <a:xfrm>
            <a:off x="2679192" y="3959352"/>
            <a:ext cx="457200" cy="438912"/>
          </a:xfrm>
          <a:prstGeom prst="roundRect">
            <a:avLst>
              <a:gd name="adj" fmla="val 20833"/>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D</a:t>
            </a:r>
            <a:endParaRPr lang="en-US" sz="1600" dirty="0"/>
          </a:p>
        </p:txBody>
      </p:sp>
      <p:sp>
        <p:nvSpPr>
          <p:cNvPr id="29" name="Text 27"/>
          <p:cNvSpPr txBox="1"/>
          <p:nvPr/>
        </p:nvSpPr>
        <p:spPr>
          <a:xfrm>
            <a:off x="3209544" y="3959352"/>
            <a:ext cx="457200" cy="438912"/>
          </a:xfrm>
          <a:prstGeom prst="roundRect">
            <a:avLst>
              <a:gd name="adj" fmla="val 20833"/>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E</a:t>
            </a:r>
            <a:endParaRPr lang="en-US" sz="1600" dirty="0"/>
          </a:p>
        </p:txBody>
      </p:sp>
      <p:sp>
        <p:nvSpPr>
          <p:cNvPr id="30" name="Text 28"/>
          <p:cNvSpPr txBox="1"/>
          <p:nvPr/>
        </p:nvSpPr>
        <p:spPr>
          <a:xfrm>
            <a:off x="4160520" y="3959352"/>
            <a:ext cx="457200" cy="438912"/>
          </a:xfrm>
          <a:prstGeom prst="roundRect">
            <a:avLst>
              <a:gd name="adj" fmla="val 20833"/>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D</a:t>
            </a:r>
            <a:endParaRPr lang="en-US" sz="1600" dirty="0"/>
          </a:p>
        </p:txBody>
      </p:sp>
      <p:sp>
        <p:nvSpPr>
          <p:cNvPr id="31" name="Text 29"/>
          <p:cNvSpPr txBox="1"/>
          <p:nvPr/>
        </p:nvSpPr>
        <p:spPr>
          <a:xfrm>
            <a:off x="4690872" y="3959352"/>
            <a:ext cx="457200" cy="438912"/>
          </a:xfrm>
          <a:prstGeom prst="roundRect">
            <a:avLst>
              <a:gd name="adj" fmla="val 20833"/>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E</a:t>
            </a:r>
            <a:endParaRPr lang="en-US" sz="1600" dirty="0"/>
          </a:p>
        </p:txBody>
      </p:sp>
      <p:sp>
        <p:nvSpPr>
          <p:cNvPr id="32" name="Text 30"/>
          <p:cNvSpPr txBox="1"/>
          <p:nvPr/>
        </p:nvSpPr>
        <p:spPr>
          <a:xfrm>
            <a:off x="5221224" y="3959352"/>
            <a:ext cx="457200" cy="438912"/>
          </a:xfrm>
          <a:prstGeom prst="roundRect">
            <a:avLst>
              <a:gd name="adj" fmla="val 20833"/>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F</a:t>
            </a:r>
            <a:endParaRPr lang="en-US" sz="1600" dirty="0"/>
          </a:p>
        </p:txBody>
      </p:sp>
      <p:sp>
        <p:nvSpPr>
          <p:cNvPr id="33" name="Shape 31"/>
          <p:cNvSpPr/>
          <p:nvPr/>
        </p:nvSpPr>
        <p:spPr>
          <a:xfrm>
            <a:off x="1188720" y="4507992"/>
            <a:ext cx="4617720" cy="512064"/>
          </a:xfrm>
          <a:prstGeom prst="roundRect">
            <a:avLst>
              <a:gd name="adj" fmla="val 17857"/>
            </a:avLst>
          </a:prstGeom>
          <a:solidFill>
            <a:srgbClr val="FAF7F2"/>
          </a:solidFill>
          <a:ln w="9525">
            <a:solidFill>
              <a:srgbClr val="D9E1E8"/>
            </a:solidFill>
            <a:prstDash val="solid"/>
          </a:ln>
        </p:spPr>
      </p:sp>
      <p:sp>
        <p:nvSpPr>
          <p:cNvPr id="34" name="Text 32"/>
          <p:cNvSpPr txBox="1"/>
          <p:nvPr/>
        </p:nvSpPr>
        <p:spPr>
          <a:xfrm>
            <a:off x="1325880" y="4544568"/>
            <a:ext cx="548640" cy="438912"/>
          </a:xfrm>
          <a:prstGeom prst="roundRect">
            <a:avLst>
              <a:gd name="adj" fmla="val 20833"/>
            </a:avLst>
          </a:prstGeom>
          <a:solidFill>
            <a:srgbClr val="FFFFFF"/>
          </a:solidFill>
          <a:ln w="15875">
            <a:solidFill>
              <a:srgbClr val="D9E1E8"/>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#3</a:t>
            </a:r>
            <a:endParaRPr lang="en-US" sz="1400" dirty="0"/>
          </a:p>
        </p:txBody>
      </p:sp>
      <p:sp>
        <p:nvSpPr>
          <p:cNvPr id="35" name="Text 33"/>
          <p:cNvSpPr txBox="1"/>
          <p:nvPr/>
        </p:nvSpPr>
        <p:spPr>
          <a:xfrm>
            <a:off x="2148840" y="4544568"/>
            <a:ext cx="457200" cy="438912"/>
          </a:xfrm>
          <a:prstGeom prst="roundRect">
            <a:avLst>
              <a:gd name="adj" fmla="val 20833"/>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D</a:t>
            </a:r>
            <a:endParaRPr lang="en-US" sz="1600" dirty="0"/>
          </a:p>
        </p:txBody>
      </p:sp>
      <p:sp>
        <p:nvSpPr>
          <p:cNvPr id="36" name="Text 34"/>
          <p:cNvSpPr txBox="1"/>
          <p:nvPr/>
        </p:nvSpPr>
        <p:spPr>
          <a:xfrm>
            <a:off x="2679192" y="4544568"/>
            <a:ext cx="457200" cy="438912"/>
          </a:xfrm>
          <a:prstGeom prst="roundRect">
            <a:avLst>
              <a:gd name="adj" fmla="val 20833"/>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E</a:t>
            </a:r>
            <a:endParaRPr lang="en-US" sz="1600" dirty="0"/>
          </a:p>
        </p:txBody>
      </p:sp>
      <p:sp>
        <p:nvSpPr>
          <p:cNvPr id="37" name="Text 35"/>
          <p:cNvSpPr txBox="1"/>
          <p:nvPr/>
        </p:nvSpPr>
        <p:spPr>
          <a:xfrm>
            <a:off x="3209544" y="4544568"/>
            <a:ext cx="457200" cy="438912"/>
          </a:xfrm>
          <a:prstGeom prst="roundRect">
            <a:avLst>
              <a:gd name="adj" fmla="val 20833"/>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F</a:t>
            </a:r>
            <a:endParaRPr lang="en-US" sz="1600" dirty="0"/>
          </a:p>
        </p:txBody>
      </p:sp>
      <p:sp>
        <p:nvSpPr>
          <p:cNvPr id="38" name="Text 36"/>
          <p:cNvSpPr txBox="1"/>
          <p:nvPr/>
        </p:nvSpPr>
        <p:spPr>
          <a:xfrm>
            <a:off x="4160520" y="4544568"/>
            <a:ext cx="457200" cy="438912"/>
          </a:xfrm>
          <a:prstGeom prst="roundRect">
            <a:avLst>
              <a:gd name="adj" fmla="val 20833"/>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E</a:t>
            </a:r>
            <a:endParaRPr lang="en-US" sz="1600" dirty="0"/>
          </a:p>
        </p:txBody>
      </p:sp>
      <p:sp>
        <p:nvSpPr>
          <p:cNvPr id="39" name="Text 37"/>
          <p:cNvSpPr txBox="1"/>
          <p:nvPr/>
        </p:nvSpPr>
        <p:spPr>
          <a:xfrm>
            <a:off x="4690872" y="4544568"/>
            <a:ext cx="457200" cy="438912"/>
          </a:xfrm>
          <a:prstGeom prst="roundRect">
            <a:avLst>
              <a:gd name="adj" fmla="val 20833"/>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F</a:t>
            </a:r>
            <a:endParaRPr lang="en-US" sz="1600" dirty="0"/>
          </a:p>
        </p:txBody>
      </p:sp>
      <p:sp>
        <p:nvSpPr>
          <p:cNvPr id="40" name="Text 38"/>
          <p:cNvSpPr txBox="1"/>
          <p:nvPr/>
        </p:nvSpPr>
        <p:spPr>
          <a:xfrm>
            <a:off x="5221224" y="4544568"/>
            <a:ext cx="457200" cy="438912"/>
          </a:xfrm>
          <a:prstGeom prst="roundRect">
            <a:avLst>
              <a:gd name="adj" fmla="val 20833"/>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G</a:t>
            </a:r>
            <a:endParaRPr lang="en-US" sz="1600" dirty="0"/>
          </a:p>
        </p:txBody>
      </p:sp>
      <p:sp>
        <p:nvSpPr>
          <p:cNvPr id="41" name="Text 39"/>
          <p:cNvSpPr txBox="1"/>
          <p:nvPr/>
        </p:nvSpPr>
        <p:spPr>
          <a:xfrm>
            <a:off x="6675120" y="1600200"/>
            <a:ext cx="4873752" cy="274320"/>
          </a:xfrm>
          <a:prstGeom prst="rect">
            <a:avLst/>
          </a:prstGeom>
          <a:noFill/>
          <a:ln/>
        </p:spPr>
        <p:txBody>
          <a:bodyPr wrap="square" lIns="0" tIns="0" rIns="0" bIns="0" rtlCol="0" anchor="t"/>
          <a:lstStyle/>
          <a:p>
            <a:pPr indent="0" marL="0">
              <a:buNone/>
            </a:pPr>
            <a:r>
              <a:rPr lang="en-US" sz="1400" b="1" dirty="0">
                <a:solidFill>
                  <a:srgbClr val="66768A"/>
                </a:solidFill>
                <a:latin typeface="Inter" pitchFamily="34" charset="0"/>
                <a:ea typeface="Inter" pitchFamily="34" charset="-122"/>
                <a:cs typeface="Inter" pitchFamily="34" charset="-120"/>
              </a:rPr>
              <a:t>It answers two questions:</a:t>
            </a:r>
            <a:endParaRPr lang="en-US" sz="1400" dirty="0"/>
          </a:p>
        </p:txBody>
      </p:sp>
      <p:sp>
        <p:nvSpPr>
          <p:cNvPr id="42" name="Shape 40"/>
          <p:cNvSpPr/>
          <p:nvPr/>
        </p:nvSpPr>
        <p:spPr>
          <a:xfrm>
            <a:off x="6675120" y="2011680"/>
            <a:ext cx="4873752" cy="1463040"/>
          </a:xfrm>
          <a:prstGeom prst="roundRect">
            <a:avLst>
              <a:gd name="adj" fmla="val 9375"/>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43" name="Text 41"/>
          <p:cNvSpPr txBox="1"/>
          <p:nvPr/>
        </p:nvSpPr>
        <p:spPr>
          <a:xfrm>
            <a:off x="6995160" y="2148840"/>
            <a:ext cx="3108960" cy="1188720"/>
          </a:xfrm>
          <a:prstGeom prst="rect">
            <a:avLst/>
          </a:prstGeom>
          <a:noFill/>
          <a:ln/>
        </p:spPr>
        <p:txBody>
          <a:bodyPr wrap="square" lIns="0" tIns="0" rIns="0" bIns="0" rtlCol="0" anchor="ctr"/>
          <a:lstStyle/>
          <a:p>
            <a:pPr indent="0" marL="0">
              <a:buNone/>
            </a:pPr>
            <a:r>
              <a:rPr lang="en-US" sz="1800" b="1" dirty="0">
                <a:solidFill>
                  <a:srgbClr val="435466"/>
                </a:solidFill>
                <a:latin typeface="Inter" pitchFamily="34" charset="0"/>
                <a:ea typeface="Inter" pitchFamily="34" charset="-122"/>
                <a:cs typeface="Inter" pitchFamily="34" charset="-120"/>
              </a:rPr>
              <a:t>How many examples?</a:t>
            </a:r>
            <a:endParaRPr lang="en-US" sz="1800" dirty="0"/>
          </a:p>
          <a:p>
            <a:pPr indent="0" marL="0">
              <a:buNone/>
            </a:pPr>
            <a:r>
              <a:rPr lang="en-US" sz="1400" dirty="0">
                <a:solidFill>
                  <a:srgbClr val="66768A"/>
                </a:solidFill>
                <a:latin typeface="Inter" pitchFamily="34" charset="0"/>
                <a:ea typeface="Inter" pitchFamily="34" charset="-122"/>
                <a:cs typeface="Inter" pitchFamily="34" charset="-120"/>
              </a:rPr>
              <a:t>So training knows when it has seen them all.</a:t>
            </a:r>
            <a:endParaRPr lang="en-US" sz="1800" dirty="0"/>
          </a:p>
        </p:txBody>
      </p:sp>
      <p:sp>
        <p:nvSpPr>
          <p:cNvPr id="44" name="Text 42"/>
          <p:cNvSpPr txBox="1"/>
          <p:nvPr/>
        </p:nvSpPr>
        <p:spPr>
          <a:xfrm>
            <a:off x="10332720" y="2377440"/>
            <a:ext cx="868680" cy="731520"/>
          </a:xfrm>
          <a:prstGeom prst="roundRect">
            <a:avLst>
              <a:gd name="adj" fmla="val 12500"/>
            </a:avLst>
          </a:prstGeom>
          <a:solidFill>
            <a:srgbClr val="E8EFF7"/>
          </a:solidFill>
          <a:ln w="15875">
            <a:solidFill>
              <a:srgbClr val="A9C0D8"/>
            </a:solidFill>
          </a:ln>
        </p:spPr>
        <p:txBody>
          <a:bodyPr wrap="square" lIns="0" tIns="0" rIns="0" bIns="0" rtlCol="0" anchor="ctr"/>
          <a:lstStyle/>
          <a:p>
            <a:pPr algn="ctr" indent="0" marL="0">
              <a:buNone/>
            </a:pPr>
            <a:r>
              <a:rPr lang="en-US" sz="2800" b="1" dirty="0">
                <a:solidFill>
                  <a:srgbClr val="435466"/>
                </a:solidFill>
                <a:latin typeface="Inter" pitchFamily="34" charset="0"/>
                <a:ea typeface="Inter" pitchFamily="34" charset="-122"/>
                <a:cs typeface="Inter" pitchFamily="34" charset="-120"/>
              </a:rPr>
              <a:t>4</a:t>
            </a:r>
            <a:endParaRPr lang="en-US" sz="2800" dirty="0"/>
          </a:p>
        </p:txBody>
      </p:sp>
      <p:sp>
        <p:nvSpPr>
          <p:cNvPr id="45" name="Shape 43"/>
          <p:cNvSpPr/>
          <p:nvPr/>
        </p:nvSpPr>
        <p:spPr>
          <a:xfrm>
            <a:off x="6675120" y="3703320"/>
            <a:ext cx="4873752" cy="1508760"/>
          </a:xfrm>
          <a:prstGeom prst="roundRect">
            <a:avLst>
              <a:gd name="adj" fmla="val 9091"/>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46" name="Text 44"/>
          <p:cNvSpPr txBox="1"/>
          <p:nvPr/>
        </p:nvSpPr>
        <p:spPr>
          <a:xfrm>
            <a:off x="6995160" y="3840480"/>
            <a:ext cx="3017520" cy="1234440"/>
          </a:xfrm>
          <a:prstGeom prst="rect">
            <a:avLst/>
          </a:prstGeom>
          <a:noFill/>
          <a:ln/>
        </p:spPr>
        <p:txBody>
          <a:bodyPr wrap="square" lIns="0" tIns="0" rIns="0" bIns="0" rtlCol="0" anchor="ctr"/>
          <a:lstStyle/>
          <a:p>
            <a:pPr indent="0" marL="0">
              <a:buNone/>
            </a:pPr>
            <a:r>
              <a:rPr lang="en-US" sz="1800" b="1" dirty="0">
                <a:solidFill>
                  <a:srgbClr val="435466"/>
                </a:solidFill>
                <a:latin typeface="Inter" pitchFamily="34" charset="0"/>
                <a:ea typeface="Inter" pitchFamily="34" charset="-122"/>
                <a:cs typeface="Inter" pitchFamily="34" charset="-120"/>
              </a:rPr>
              <a:t>Give me example #1.</a:t>
            </a:r>
            <a:endParaRPr lang="en-US" sz="1800" dirty="0"/>
          </a:p>
          <a:p>
            <a:pPr indent="0" marL="0">
              <a:buNone/>
            </a:pPr>
            <a:r>
              <a:rPr lang="en-US" sz="1400" dirty="0">
                <a:solidFill>
                  <a:srgbClr val="66768A"/>
                </a:solidFill>
                <a:latin typeface="Inter" pitchFamily="34" charset="0"/>
                <a:ea typeface="Inter" pitchFamily="34" charset="-122"/>
                <a:cs typeface="Inter" pitchFamily="34" charset="-120"/>
              </a:rPr>
              <a:t>It returns two 1-D tensors: input and target.</a:t>
            </a:r>
            <a:endParaRPr lang="en-US" sz="1800" dirty="0"/>
          </a:p>
        </p:txBody>
      </p:sp>
      <p:sp>
        <p:nvSpPr>
          <p:cNvPr id="47" name="Text 45"/>
          <p:cNvSpPr txBox="1"/>
          <p:nvPr/>
        </p:nvSpPr>
        <p:spPr>
          <a:xfrm>
            <a:off x="10058400" y="3977640"/>
            <a:ext cx="365760" cy="384048"/>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B</a:t>
            </a:r>
            <a:endParaRPr lang="en-US" sz="1400" dirty="0"/>
          </a:p>
        </p:txBody>
      </p:sp>
      <p:sp>
        <p:nvSpPr>
          <p:cNvPr id="48" name="Text 46"/>
          <p:cNvSpPr txBox="1"/>
          <p:nvPr/>
        </p:nvSpPr>
        <p:spPr>
          <a:xfrm>
            <a:off x="10469880" y="3977640"/>
            <a:ext cx="365760" cy="384048"/>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C</a:t>
            </a:r>
            <a:endParaRPr lang="en-US" sz="1400" dirty="0"/>
          </a:p>
        </p:txBody>
      </p:sp>
      <p:sp>
        <p:nvSpPr>
          <p:cNvPr id="49" name="Text 47"/>
          <p:cNvSpPr txBox="1"/>
          <p:nvPr/>
        </p:nvSpPr>
        <p:spPr>
          <a:xfrm>
            <a:off x="10881360" y="3977640"/>
            <a:ext cx="365760" cy="384048"/>
          </a:xfrm>
          <a:prstGeom prst="roundRect">
            <a:avLst>
              <a:gd name="adj" fmla="val 25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D</a:t>
            </a:r>
            <a:endParaRPr lang="en-US" sz="1400" dirty="0"/>
          </a:p>
        </p:txBody>
      </p:sp>
      <p:sp>
        <p:nvSpPr>
          <p:cNvPr id="50" name="Text 48"/>
          <p:cNvSpPr txBox="1"/>
          <p:nvPr/>
        </p:nvSpPr>
        <p:spPr>
          <a:xfrm>
            <a:off x="10058400" y="4526280"/>
            <a:ext cx="365760" cy="384048"/>
          </a:xfrm>
          <a:prstGeom prst="roundRect">
            <a:avLst>
              <a:gd name="adj" fmla="val 25000"/>
            </a:avLst>
          </a:prstGeom>
          <a:solidFill>
            <a:srgbClr val="E8EFF7"/>
          </a:solidFill>
          <a:ln w="15875">
            <a:solidFill>
              <a:srgbClr val="A9C0D8"/>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C</a:t>
            </a:r>
            <a:endParaRPr lang="en-US" sz="1400" dirty="0"/>
          </a:p>
        </p:txBody>
      </p:sp>
      <p:sp>
        <p:nvSpPr>
          <p:cNvPr id="51" name="Text 49"/>
          <p:cNvSpPr txBox="1"/>
          <p:nvPr/>
        </p:nvSpPr>
        <p:spPr>
          <a:xfrm>
            <a:off x="10469880" y="4526280"/>
            <a:ext cx="365760" cy="384048"/>
          </a:xfrm>
          <a:prstGeom prst="roundRect">
            <a:avLst>
              <a:gd name="adj" fmla="val 25000"/>
            </a:avLst>
          </a:prstGeom>
          <a:solidFill>
            <a:srgbClr val="E8EFF7"/>
          </a:solidFill>
          <a:ln w="15875">
            <a:solidFill>
              <a:srgbClr val="A9C0D8"/>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D</a:t>
            </a:r>
            <a:endParaRPr lang="en-US" sz="1400" dirty="0"/>
          </a:p>
        </p:txBody>
      </p:sp>
      <p:sp>
        <p:nvSpPr>
          <p:cNvPr id="52" name="Text 50"/>
          <p:cNvSpPr txBox="1"/>
          <p:nvPr/>
        </p:nvSpPr>
        <p:spPr>
          <a:xfrm>
            <a:off x="10881360" y="4526280"/>
            <a:ext cx="365760" cy="384048"/>
          </a:xfrm>
          <a:prstGeom prst="roundRect">
            <a:avLst>
              <a:gd name="adj" fmla="val 25000"/>
            </a:avLst>
          </a:prstGeom>
          <a:solidFill>
            <a:srgbClr val="E8EFF7"/>
          </a:solidFill>
          <a:ln w="15875">
            <a:solidFill>
              <a:srgbClr val="A9C0D8"/>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E</a:t>
            </a:r>
            <a:endParaRPr lang="en-US" sz="1400" dirty="0"/>
          </a:p>
        </p:txBody>
      </p:sp>
      <p:sp>
        <p:nvSpPr>
          <p:cNvPr id="53" name="Shape 51"/>
          <p:cNvSpPr/>
          <p:nvPr/>
        </p:nvSpPr>
        <p:spPr>
          <a:xfrm>
            <a:off x="640080" y="5486400"/>
            <a:ext cx="10908792" cy="822960"/>
          </a:xfrm>
          <a:prstGeom prst="roundRect">
            <a:avLst>
              <a:gd name="adj" fmla="val 1666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54" name="Shape 52"/>
          <p:cNvSpPr/>
          <p:nvPr/>
        </p:nvSpPr>
        <p:spPr>
          <a:xfrm>
            <a:off x="914400" y="5623560"/>
            <a:ext cx="548640" cy="548640"/>
          </a:xfrm>
          <a:prstGeom prst="ellipse">
            <a:avLst/>
          </a:prstGeom>
          <a:solidFill>
            <a:srgbClr val="FFFFFF"/>
          </a:solidFill>
          <a:ln w="15875">
            <a:solidFill>
              <a:srgbClr val="8FA99B"/>
            </a:solidFill>
            <a:prstDash val="solid"/>
          </a:ln>
        </p:spPr>
      </p:sp>
      <p:pic>
        <p:nvPicPr>
          <p:cNvPr id="55" name="Image 0" descr="preencoded.png">    </p:cNvPr>
          <p:cNvPicPr>
            <a:picLocks noChangeAspect="1"/>
          </p:cNvPicPr>
          <p:nvPr/>
        </p:nvPicPr>
        <p:blipFill>
          <a:blip r:embed="rId1"/>
          <a:stretch>
            <a:fillRect/>
          </a:stretch>
        </p:blipFill>
        <p:spPr>
          <a:xfrm>
            <a:off x="1042416" y="5751576"/>
            <a:ext cx="292608" cy="292608"/>
          </a:xfrm>
          <a:prstGeom prst="rect">
            <a:avLst/>
          </a:prstGeom>
        </p:spPr>
      </p:pic>
      <p:sp>
        <p:nvSpPr>
          <p:cNvPr id="56" name="Text 53"/>
          <p:cNvSpPr txBox="1"/>
          <p:nvPr/>
        </p:nvSpPr>
        <p:spPr>
          <a:xfrm>
            <a:off x="1691640" y="5596128"/>
            <a:ext cx="9628632" cy="60350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2000" dirty="0">
                <a:solidFill>
                  <a:srgbClr val="435466"/>
                </a:solidFill>
                <a:latin typeface="Inter" pitchFamily="34" charset="0"/>
                <a:ea typeface="Inter" pitchFamily="34" charset="-122"/>
                <a:cs typeface="Inter" pitchFamily="34" charset="-120"/>
              </a:rPr>
              <a:t>Each example is a separate 1-D row. The 2-D grid only appears in a batch.</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6</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The DataLoader: examples into batches</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A batch is a group of examples the model practices on in one training step.</a:t>
            </a:r>
            <a:endParaRPr lang="en-US" sz="1600" dirty="0"/>
          </a:p>
        </p:txBody>
      </p:sp>
      <p:sp>
        <p:nvSpPr>
          <p:cNvPr id="5" name="Shape 3"/>
          <p:cNvSpPr/>
          <p:nvPr/>
        </p:nvSpPr>
        <p:spPr>
          <a:xfrm>
            <a:off x="640080" y="1600200"/>
            <a:ext cx="4206240" cy="2743200"/>
          </a:xfrm>
          <a:prstGeom prst="roundRect">
            <a:avLst>
              <a:gd name="adj" fmla="val 5000"/>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Text 4"/>
          <p:cNvSpPr txBox="1"/>
          <p:nvPr/>
        </p:nvSpPr>
        <p:spPr>
          <a:xfrm>
            <a:off x="960120" y="1828800"/>
            <a:ext cx="3200400" cy="411480"/>
          </a:xfrm>
          <a:prstGeom prst="rect">
            <a:avLst/>
          </a:prstGeom>
          <a:noFill/>
          <a:ln/>
        </p:spPr>
        <p:txBody>
          <a:bodyPr wrap="square" lIns="0" tIns="0" rIns="0" bIns="0" rtlCol="0" anchor="ctr"/>
          <a:lstStyle/>
          <a:p>
            <a:pPr indent="0" marL="0">
              <a:buNone/>
            </a:pPr>
            <a:r>
              <a:rPr lang="en-US" sz="2000" b="1" dirty="0">
                <a:solidFill>
                  <a:srgbClr val="435466"/>
                </a:solidFill>
                <a:latin typeface="Inter" pitchFamily="34" charset="0"/>
                <a:ea typeface="Inter" pitchFamily="34" charset="-122"/>
                <a:cs typeface="Inter" pitchFamily="34" charset="-120"/>
              </a:rPr>
              <a:t>Dataset</a:t>
            </a:r>
            <a:endParaRPr lang="en-US" sz="2000" dirty="0"/>
          </a:p>
        </p:txBody>
      </p:sp>
      <p:sp>
        <p:nvSpPr>
          <p:cNvPr id="7" name="Text 5"/>
          <p:cNvSpPr txBox="1"/>
          <p:nvPr/>
        </p:nvSpPr>
        <p:spPr>
          <a:xfrm>
            <a:off x="1463040" y="2377440"/>
            <a:ext cx="1499616" cy="274320"/>
          </a:xfrm>
          <a:prstGeom prst="rect">
            <a:avLst/>
          </a:prstGeom>
          <a:noFill/>
          <a:ln/>
        </p:spPr>
        <p:txBody>
          <a:bodyPr wrap="square" lIns="0" tIns="0" rIns="0" bIns="0" rtlCol="0" anchor="t"/>
          <a:lstStyle/>
          <a:p>
            <a:pPr algn="ctr" indent="0" marL="0">
              <a:buNone/>
            </a:pPr>
            <a:r>
              <a:rPr lang="en-US" sz="1300" b="1" dirty="0">
                <a:solidFill>
                  <a:srgbClr val="66768A"/>
                </a:solidFill>
                <a:latin typeface="Inter" pitchFamily="34" charset="0"/>
                <a:ea typeface="Inter" pitchFamily="34" charset="-122"/>
                <a:cs typeface="Inter" pitchFamily="34" charset="-120"/>
              </a:rPr>
              <a:t>input</a:t>
            </a:r>
            <a:endParaRPr lang="en-US" sz="1300" dirty="0"/>
          </a:p>
        </p:txBody>
      </p:sp>
      <p:sp>
        <p:nvSpPr>
          <p:cNvPr id="8" name="Text 6"/>
          <p:cNvSpPr txBox="1"/>
          <p:nvPr/>
        </p:nvSpPr>
        <p:spPr>
          <a:xfrm>
            <a:off x="3154680" y="2377440"/>
            <a:ext cx="1499616" cy="274320"/>
          </a:xfrm>
          <a:prstGeom prst="rect">
            <a:avLst/>
          </a:prstGeom>
          <a:noFill/>
          <a:ln/>
        </p:spPr>
        <p:txBody>
          <a:bodyPr wrap="square" lIns="0" tIns="0" rIns="0" bIns="0" rtlCol="0" anchor="t"/>
          <a:lstStyle/>
          <a:p>
            <a:pPr algn="ctr" indent="0" marL="0">
              <a:buNone/>
            </a:pPr>
            <a:r>
              <a:rPr lang="en-US" sz="1300" b="1" dirty="0">
                <a:solidFill>
                  <a:srgbClr val="66768A"/>
                </a:solidFill>
                <a:latin typeface="Inter" pitchFamily="34" charset="0"/>
                <a:ea typeface="Inter" pitchFamily="34" charset="-122"/>
                <a:cs typeface="Inter" pitchFamily="34" charset="-120"/>
              </a:rPr>
              <a:t>target</a:t>
            </a:r>
            <a:endParaRPr lang="en-US" sz="1300" dirty="0"/>
          </a:p>
        </p:txBody>
      </p:sp>
      <p:sp>
        <p:nvSpPr>
          <p:cNvPr id="9" name="Shape 7"/>
          <p:cNvSpPr/>
          <p:nvPr/>
        </p:nvSpPr>
        <p:spPr>
          <a:xfrm>
            <a:off x="822960" y="2697480"/>
            <a:ext cx="3886200" cy="548640"/>
          </a:xfrm>
          <a:prstGeom prst="roundRect">
            <a:avLst>
              <a:gd name="adj" fmla="val 16667"/>
            </a:avLst>
          </a:prstGeom>
          <a:solidFill>
            <a:srgbClr val="FAF7F2"/>
          </a:solidFill>
          <a:ln w="9525">
            <a:solidFill>
              <a:srgbClr val="D9E1E8"/>
            </a:solidFill>
            <a:prstDash val="solid"/>
          </a:ln>
        </p:spPr>
      </p:sp>
      <p:sp>
        <p:nvSpPr>
          <p:cNvPr id="10" name="Text 8"/>
          <p:cNvSpPr txBox="1"/>
          <p:nvPr/>
        </p:nvSpPr>
        <p:spPr>
          <a:xfrm>
            <a:off x="914400" y="2743200"/>
            <a:ext cx="457200" cy="457200"/>
          </a:xfrm>
          <a:prstGeom prst="roundRect">
            <a:avLst>
              <a:gd name="adj" fmla="val 20000"/>
            </a:avLst>
          </a:prstGeom>
          <a:solidFill>
            <a:srgbClr val="FFFFFF"/>
          </a:solidFill>
          <a:ln w="15875">
            <a:solidFill>
              <a:srgbClr val="D9E1E8"/>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#0</a:t>
            </a:r>
            <a:endParaRPr lang="en-US" sz="1400" dirty="0"/>
          </a:p>
        </p:txBody>
      </p:sp>
      <p:sp>
        <p:nvSpPr>
          <p:cNvPr id="11" name="Text 9"/>
          <p:cNvSpPr txBox="1"/>
          <p:nvPr/>
        </p:nvSpPr>
        <p:spPr>
          <a:xfrm>
            <a:off x="1463040" y="2743200"/>
            <a:ext cx="45720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A</a:t>
            </a:r>
            <a:endParaRPr lang="en-US" sz="1600" dirty="0"/>
          </a:p>
        </p:txBody>
      </p:sp>
      <p:sp>
        <p:nvSpPr>
          <p:cNvPr id="12" name="Text 10"/>
          <p:cNvSpPr txBox="1"/>
          <p:nvPr/>
        </p:nvSpPr>
        <p:spPr>
          <a:xfrm>
            <a:off x="1984248" y="2743200"/>
            <a:ext cx="45720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B</a:t>
            </a:r>
            <a:endParaRPr lang="en-US" sz="1600" dirty="0"/>
          </a:p>
        </p:txBody>
      </p:sp>
      <p:sp>
        <p:nvSpPr>
          <p:cNvPr id="13" name="Text 11"/>
          <p:cNvSpPr txBox="1"/>
          <p:nvPr/>
        </p:nvSpPr>
        <p:spPr>
          <a:xfrm>
            <a:off x="2505456" y="2743200"/>
            <a:ext cx="45720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C</a:t>
            </a:r>
            <a:endParaRPr lang="en-US" sz="1600" dirty="0"/>
          </a:p>
        </p:txBody>
      </p:sp>
      <p:sp>
        <p:nvSpPr>
          <p:cNvPr id="14" name="Text 12"/>
          <p:cNvSpPr txBox="1"/>
          <p:nvPr/>
        </p:nvSpPr>
        <p:spPr>
          <a:xfrm>
            <a:off x="3154680" y="2743200"/>
            <a:ext cx="45720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B</a:t>
            </a:r>
            <a:endParaRPr lang="en-US" sz="1600" dirty="0"/>
          </a:p>
        </p:txBody>
      </p:sp>
      <p:sp>
        <p:nvSpPr>
          <p:cNvPr id="15" name="Text 13"/>
          <p:cNvSpPr txBox="1"/>
          <p:nvPr/>
        </p:nvSpPr>
        <p:spPr>
          <a:xfrm>
            <a:off x="3675888" y="2743200"/>
            <a:ext cx="45720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C</a:t>
            </a:r>
            <a:endParaRPr lang="en-US" sz="1600" dirty="0"/>
          </a:p>
        </p:txBody>
      </p:sp>
      <p:sp>
        <p:nvSpPr>
          <p:cNvPr id="16" name="Text 14"/>
          <p:cNvSpPr txBox="1"/>
          <p:nvPr/>
        </p:nvSpPr>
        <p:spPr>
          <a:xfrm>
            <a:off x="4197096" y="2743200"/>
            <a:ext cx="45720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D</a:t>
            </a:r>
            <a:endParaRPr lang="en-US" sz="1600" dirty="0"/>
          </a:p>
        </p:txBody>
      </p:sp>
      <p:sp>
        <p:nvSpPr>
          <p:cNvPr id="17" name="Shape 15"/>
          <p:cNvSpPr/>
          <p:nvPr/>
        </p:nvSpPr>
        <p:spPr>
          <a:xfrm>
            <a:off x="822960" y="3383280"/>
            <a:ext cx="3886200" cy="548640"/>
          </a:xfrm>
          <a:prstGeom prst="roundRect">
            <a:avLst>
              <a:gd name="adj" fmla="val 16667"/>
            </a:avLst>
          </a:prstGeom>
          <a:solidFill>
            <a:srgbClr val="FAF7F2"/>
          </a:solidFill>
          <a:ln w="9525">
            <a:solidFill>
              <a:srgbClr val="D9E1E8"/>
            </a:solidFill>
            <a:prstDash val="solid"/>
          </a:ln>
        </p:spPr>
      </p:sp>
      <p:sp>
        <p:nvSpPr>
          <p:cNvPr id="18" name="Text 16"/>
          <p:cNvSpPr txBox="1"/>
          <p:nvPr/>
        </p:nvSpPr>
        <p:spPr>
          <a:xfrm>
            <a:off x="914400" y="3429000"/>
            <a:ext cx="457200" cy="457200"/>
          </a:xfrm>
          <a:prstGeom prst="roundRect">
            <a:avLst>
              <a:gd name="adj" fmla="val 20000"/>
            </a:avLst>
          </a:prstGeom>
          <a:solidFill>
            <a:srgbClr val="FFFFFF"/>
          </a:solidFill>
          <a:ln w="15875">
            <a:solidFill>
              <a:srgbClr val="D9E1E8"/>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#1</a:t>
            </a:r>
            <a:endParaRPr lang="en-US" sz="1400" dirty="0"/>
          </a:p>
        </p:txBody>
      </p:sp>
      <p:sp>
        <p:nvSpPr>
          <p:cNvPr id="19" name="Text 17"/>
          <p:cNvSpPr txBox="1"/>
          <p:nvPr/>
        </p:nvSpPr>
        <p:spPr>
          <a:xfrm>
            <a:off x="1463040" y="3429000"/>
            <a:ext cx="45720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B</a:t>
            </a:r>
            <a:endParaRPr lang="en-US" sz="1600" dirty="0"/>
          </a:p>
        </p:txBody>
      </p:sp>
      <p:sp>
        <p:nvSpPr>
          <p:cNvPr id="20" name="Text 18"/>
          <p:cNvSpPr txBox="1"/>
          <p:nvPr/>
        </p:nvSpPr>
        <p:spPr>
          <a:xfrm>
            <a:off x="1984248" y="3429000"/>
            <a:ext cx="45720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C</a:t>
            </a:r>
            <a:endParaRPr lang="en-US" sz="1600" dirty="0"/>
          </a:p>
        </p:txBody>
      </p:sp>
      <p:sp>
        <p:nvSpPr>
          <p:cNvPr id="21" name="Text 19"/>
          <p:cNvSpPr txBox="1"/>
          <p:nvPr/>
        </p:nvSpPr>
        <p:spPr>
          <a:xfrm>
            <a:off x="2505456" y="3429000"/>
            <a:ext cx="45720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D</a:t>
            </a:r>
            <a:endParaRPr lang="en-US" sz="1600" dirty="0"/>
          </a:p>
        </p:txBody>
      </p:sp>
      <p:sp>
        <p:nvSpPr>
          <p:cNvPr id="22" name="Text 20"/>
          <p:cNvSpPr txBox="1"/>
          <p:nvPr/>
        </p:nvSpPr>
        <p:spPr>
          <a:xfrm>
            <a:off x="3154680" y="3429000"/>
            <a:ext cx="45720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C</a:t>
            </a:r>
            <a:endParaRPr lang="en-US" sz="1600" dirty="0"/>
          </a:p>
        </p:txBody>
      </p:sp>
      <p:sp>
        <p:nvSpPr>
          <p:cNvPr id="23" name="Text 21"/>
          <p:cNvSpPr txBox="1"/>
          <p:nvPr/>
        </p:nvSpPr>
        <p:spPr>
          <a:xfrm>
            <a:off x="3675888" y="3429000"/>
            <a:ext cx="45720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D</a:t>
            </a:r>
            <a:endParaRPr lang="en-US" sz="1600" dirty="0"/>
          </a:p>
        </p:txBody>
      </p:sp>
      <p:sp>
        <p:nvSpPr>
          <p:cNvPr id="24" name="Text 22"/>
          <p:cNvSpPr txBox="1"/>
          <p:nvPr/>
        </p:nvSpPr>
        <p:spPr>
          <a:xfrm>
            <a:off x="4197096" y="3429000"/>
            <a:ext cx="45720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E</a:t>
            </a:r>
            <a:endParaRPr lang="en-US" sz="1600" dirty="0"/>
          </a:p>
        </p:txBody>
      </p:sp>
      <p:sp>
        <p:nvSpPr>
          <p:cNvPr id="25" name="Shape 23"/>
          <p:cNvSpPr/>
          <p:nvPr/>
        </p:nvSpPr>
        <p:spPr>
          <a:xfrm>
            <a:off x="4983480" y="2971800"/>
            <a:ext cx="822960" cy="0"/>
          </a:xfrm>
          <a:prstGeom prst="line">
            <a:avLst/>
          </a:prstGeom>
          <a:noFill/>
          <a:ln w="31750">
            <a:solidFill>
              <a:srgbClr val="A9C0D8"/>
            </a:solidFill>
            <a:prstDash val="solid"/>
            <a:tailEnd type="triangle"/>
          </a:ln>
        </p:spPr>
      </p:sp>
      <p:sp>
        <p:nvSpPr>
          <p:cNvPr id="26" name="Text 24"/>
          <p:cNvSpPr txBox="1"/>
          <p:nvPr/>
        </p:nvSpPr>
        <p:spPr>
          <a:xfrm>
            <a:off x="4846320" y="2331720"/>
            <a:ext cx="1097280" cy="548640"/>
          </a:xfrm>
          <a:prstGeom prst="rect">
            <a:avLst/>
          </a:prstGeom>
          <a:noFill/>
          <a:ln/>
        </p:spPr>
        <p:txBody>
          <a:bodyPr wrap="square" lIns="0" tIns="0" rIns="0" bIns="0" rtlCol="0" anchor="b"/>
          <a:lstStyle/>
          <a:p>
            <a:pPr algn="ctr" indent="0" marL="0">
              <a:buNone/>
            </a:pPr>
            <a:r>
              <a:rPr lang="en-US" sz="1300" b="1" dirty="0">
                <a:solidFill>
                  <a:srgbClr val="66768A"/>
                </a:solidFill>
                <a:latin typeface="Inter" pitchFamily="34" charset="0"/>
                <a:ea typeface="Inter" pitchFamily="34" charset="-122"/>
                <a:cs typeface="Inter" pitchFamily="34" charset="-120"/>
              </a:rPr>
              <a:t>batch size</a:t>
            </a:r>
            <a:endParaRPr lang="en-US" sz="1300" dirty="0"/>
          </a:p>
          <a:p>
            <a:pPr algn="ctr" indent="0" marL="0">
              <a:buNone/>
            </a:pPr>
            <a:r>
              <a:rPr lang="en-US" sz="1300" b="1" dirty="0">
                <a:solidFill>
                  <a:srgbClr val="66768A"/>
                </a:solidFill>
                <a:latin typeface="Inter" pitchFamily="34" charset="0"/>
                <a:ea typeface="Inter" pitchFamily="34" charset="-122"/>
                <a:cs typeface="Inter" pitchFamily="34" charset="-120"/>
              </a:rPr>
              <a:t>= 2</a:t>
            </a:r>
            <a:endParaRPr lang="en-US" sz="1300" dirty="0"/>
          </a:p>
        </p:txBody>
      </p:sp>
      <p:sp>
        <p:nvSpPr>
          <p:cNvPr id="27" name="Shape 25"/>
          <p:cNvSpPr/>
          <p:nvPr/>
        </p:nvSpPr>
        <p:spPr>
          <a:xfrm>
            <a:off x="5943600" y="1600200"/>
            <a:ext cx="5605272" cy="2743200"/>
          </a:xfrm>
          <a:prstGeom prst="roundRect">
            <a:avLst>
              <a:gd name="adj" fmla="val 5000"/>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28" name="Text 26"/>
          <p:cNvSpPr txBox="1"/>
          <p:nvPr/>
        </p:nvSpPr>
        <p:spPr>
          <a:xfrm>
            <a:off x="6263640" y="1828800"/>
            <a:ext cx="2743200" cy="411480"/>
          </a:xfrm>
          <a:prstGeom prst="rect">
            <a:avLst/>
          </a:prstGeom>
          <a:noFill/>
          <a:ln/>
        </p:spPr>
        <p:txBody>
          <a:bodyPr wrap="square" lIns="0" tIns="0" rIns="0" bIns="0" rtlCol="0" anchor="ctr"/>
          <a:lstStyle/>
          <a:p>
            <a:pPr indent="0" marL="0">
              <a:buNone/>
            </a:pPr>
            <a:r>
              <a:rPr lang="en-US" sz="2000" b="1" dirty="0">
                <a:solidFill>
                  <a:srgbClr val="435466"/>
                </a:solidFill>
                <a:latin typeface="Inter" pitchFamily="34" charset="0"/>
                <a:ea typeface="Inter" pitchFamily="34" charset="-122"/>
                <a:cs typeface="Inter" pitchFamily="34" charset="-120"/>
              </a:rPr>
              <a:t>DataLoader</a:t>
            </a:r>
            <a:endParaRPr lang="en-US" sz="2000" dirty="0"/>
          </a:p>
        </p:txBody>
      </p:sp>
      <p:sp>
        <p:nvSpPr>
          <p:cNvPr id="29" name="Text 27"/>
          <p:cNvSpPr txBox="1"/>
          <p:nvPr/>
        </p:nvSpPr>
        <p:spPr>
          <a:xfrm>
            <a:off x="6629400" y="2377440"/>
            <a:ext cx="1691640" cy="274320"/>
          </a:xfrm>
          <a:prstGeom prst="rect">
            <a:avLst/>
          </a:prstGeom>
          <a:noFill/>
          <a:ln/>
        </p:spPr>
        <p:txBody>
          <a:bodyPr wrap="square" lIns="0" tIns="0" rIns="0" bIns="0" rtlCol="0" anchor="t"/>
          <a:lstStyle/>
          <a:p>
            <a:pPr algn="ctr" indent="0" marL="0">
              <a:buNone/>
            </a:pPr>
            <a:r>
              <a:rPr lang="en-US" sz="1300" b="1" dirty="0">
                <a:solidFill>
                  <a:srgbClr val="66768A"/>
                </a:solidFill>
                <a:latin typeface="Inter" pitchFamily="34" charset="0"/>
                <a:ea typeface="Inter" pitchFamily="34" charset="-122"/>
                <a:cs typeface="Inter" pitchFamily="34" charset="-120"/>
              </a:rPr>
              <a:t>Input batch</a:t>
            </a:r>
            <a:endParaRPr lang="en-US" sz="1300" dirty="0"/>
          </a:p>
        </p:txBody>
      </p:sp>
      <p:sp>
        <p:nvSpPr>
          <p:cNvPr id="30" name="Text 28"/>
          <p:cNvSpPr txBox="1"/>
          <p:nvPr/>
        </p:nvSpPr>
        <p:spPr>
          <a:xfrm>
            <a:off x="6629400" y="2697480"/>
            <a:ext cx="50292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A</a:t>
            </a:r>
            <a:endParaRPr lang="en-US" sz="1600" dirty="0"/>
          </a:p>
        </p:txBody>
      </p:sp>
      <p:sp>
        <p:nvSpPr>
          <p:cNvPr id="31" name="Text 29"/>
          <p:cNvSpPr txBox="1"/>
          <p:nvPr/>
        </p:nvSpPr>
        <p:spPr>
          <a:xfrm>
            <a:off x="7223760" y="2697480"/>
            <a:ext cx="50292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B</a:t>
            </a:r>
            <a:endParaRPr lang="en-US" sz="1600" dirty="0"/>
          </a:p>
        </p:txBody>
      </p:sp>
      <p:sp>
        <p:nvSpPr>
          <p:cNvPr id="32" name="Text 30"/>
          <p:cNvSpPr txBox="1"/>
          <p:nvPr/>
        </p:nvSpPr>
        <p:spPr>
          <a:xfrm>
            <a:off x="7818120" y="2697480"/>
            <a:ext cx="50292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C</a:t>
            </a:r>
            <a:endParaRPr lang="en-US" sz="1600" dirty="0"/>
          </a:p>
        </p:txBody>
      </p:sp>
      <p:sp>
        <p:nvSpPr>
          <p:cNvPr id="33" name="Text 31"/>
          <p:cNvSpPr txBox="1"/>
          <p:nvPr/>
        </p:nvSpPr>
        <p:spPr>
          <a:xfrm>
            <a:off x="6629400" y="3227832"/>
            <a:ext cx="50292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B</a:t>
            </a:r>
            <a:endParaRPr lang="en-US" sz="1600" dirty="0"/>
          </a:p>
        </p:txBody>
      </p:sp>
      <p:sp>
        <p:nvSpPr>
          <p:cNvPr id="34" name="Text 32"/>
          <p:cNvSpPr txBox="1"/>
          <p:nvPr/>
        </p:nvSpPr>
        <p:spPr>
          <a:xfrm>
            <a:off x="7223760" y="3227832"/>
            <a:ext cx="50292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C</a:t>
            </a:r>
            <a:endParaRPr lang="en-US" sz="1600" dirty="0"/>
          </a:p>
        </p:txBody>
      </p:sp>
      <p:sp>
        <p:nvSpPr>
          <p:cNvPr id="35" name="Text 33"/>
          <p:cNvSpPr txBox="1"/>
          <p:nvPr/>
        </p:nvSpPr>
        <p:spPr>
          <a:xfrm>
            <a:off x="7818120" y="3227832"/>
            <a:ext cx="50292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D</a:t>
            </a:r>
            <a:endParaRPr lang="en-US" sz="1600" dirty="0"/>
          </a:p>
        </p:txBody>
      </p:sp>
      <p:sp>
        <p:nvSpPr>
          <p:cNvPr id="36" name="Text 34"/>
          <p:cNvSpPr txBox="1"/>
          <p:nvPr/>
        </p:nvSpPr>
        <p:spPr>
          <a:xfrm>
            <a:off x="9098280" y="2377440"/>
            <a:ext cx="1691640" cy="274320"/>
          </a:xfrm>
          <a:prstGeom prst="rect">
            <a:avLst/>
          </a:prstGeom>
          <a:noFill/>
          <a:ln/>
        </p:spPr>
        <p:txBody>
          <a:bodyPr wrap="square" lIns="0" tIns="0" rIns="0" bIns="0" rtlCol="0" anchor="t"/>
          <a:lstStyle/>
          <a:p>
            <a:pPr algn="ctr" indent="0" marL="0">
              <a:buNone/>
            </a:pPr>
            <a:r>
              <a:rPr lang="en-US" sz="1300" b="1" dirty="0">
                <a:solidFill>
                  <a:srgbClr val="66768A"/>
                </a:solidFill>
                <a:latin typeface="Inter" pitchFamily="34" charset="0"/>
                <a:ea typeface="Inter" pitchFamily="34" charset="-122"/>
                <a:cs typeface="Inter" pitchFamily="34" charset="-120"/>
              </a:rPr>
              <a:t>Target batch</a:t>
            </a:r>
            <a:endParaRPr lang="en-US" sz="1300" dirty="0"/>
          </a:p>
        </p:txBody>
      </p:sp>
      <p:sp>
        <p:nvSpPr>
          <p:cNvPr id="37" name="Text 35"/>
          <p:cNvSpPr txBox="1"/>
          <p:nvPr/>
        </p:nvSpPr>
        <p:spPr>
          <a:xfrm>
            <a:off x="9098280" y="2697480"/>
            <a:ext cx="50292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B</a:t>
            </a:r>
            <a:endParaRPr lang="en-US" sz="1600" dirty="0"/>
          </a:p>
        </p:txBody>
      </p:sp>
      <p:sp>
        <p:nvSpPr>
          <p:cNvPr id="38" name="Text 36"/>
          <p:cNvSpPr txBox="1"/>
          <p:nvPr/>
        </p:nvSpPr>
        <p:spPr>
          <a:xfrm>
            <a:off x="9692640" y="2697480"/>
            <a:ext cx="50292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C</a:t>
            </a:r>
            <a:endParaRPr lang="en-US" sz="1600" dirty="0"/>
          </a:p>
        </p:txBody>
      </p:sp>
      <p:sp>
        <p:nvSpPr>
          <p:cNvPr id="39" name="Text 37"/>
          <p:cNvSpPr txBox="1"/>
          <p:nvPr/>
        </p:nvSpPr>
        <p:spPr>
          <a:xfrm>
            <a:off x="10287000" y="2697480"/>
            <a:ext cx="50292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D</a:t>
            </a:r>
            <a:endParaRPr lang="en-US" sz="1600" dirty="0"/>
          </a:p>
        </p:txBody>
      </p:sp>
      <p:sp>
        <p:nvSpPr>
          <p:cNvPr id="40" name="Text 38"/>
          <p:cNvSpPr txBox="1"/>
          <p:nvPr/>
        </p:nvSpPr>
        <p:spPr>
          <a:xfrm>
            <a:off x="9098280" y="3227832"/>
            <a:ext cx="50292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C</a:t>
            </a:r>
            <a:endParaRPr lang="en-US" sz="1600" dirty="0"/>
          </a:p>
        </p:txBody>
      </p:sp>
      <p:sp>
        <p:nvSpPr>
          <p:cNvPr id="41" name="Text 39"/>
          <p:cNvSpPr txBox="1"/>
          <p:nvPr/>
        </p:nvSpPr>
        <p:spPr>
          <a:xfrm>
            <a:off x="9692640" y="3227832"/>
            <a:ext cx="50292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D</a:t>
            </a:r>
            <a:endParaRPr lang="en-US" sz="1600" dirty="0"/>
          </a:p>
        </p:txBody>
      </p:sp>
      <p:sp>
        <p:nvSpPr>
          <p:cNvPr id="42" name="Text 40"/>
          <p:cNvSpPr txBox="1"/>
          <p:nvPr/>
        </p:nvSpPr>
        <p:spPr>
          <a:xfrm>
            <a:off x="10287000" y="3227832"/>
            <a:ext cx="50292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E</a:t>
            </a:r>
            <a:endParaRPr lang="en-US" sz="1600" dirty="0"/>
          </a:p>
        </p:txBody>
      </p:sp>
      <p:sp>
        <p:nvSpPr>
          <p:cNvPr id="43" name="Text 41"/>
          <p:cNvSpPr txBox="1"/>
          <p:nvPr/>
        </p:nvSpPr>
        <p:spPr>
          <a:xfrm>
            <a:off x="6263640" y="3840480"/>
            <a:ext cx="4965192" cy="365760"/>
          </a:xfrm>
          <a:prstGeom prst="rect">
            <a:avLst/>
          </a:prstGeom>
          <a:noFill/>
          <a:ln/>
        </p:spPr>
        <p:txBody>
          <a:bodyPr wrap="square" lIns="0" tIns="0" rIns="0" bIns="0"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Stacked into 2-D: 2 examples × 3 tokens</a:t>
            </a:r>
            <a:endParaRPr lang="en-US" sz="1600" dirty="0"/>
          </a:p>
        </p:txBody>
      </p:sp>
      <p:sp>
        <p:nvSpPr>
          <p:cNvPr id="44" name="Shape 42"/>
          <p:cNvSpPr/>
          <p:nvPr/>
        </p:nvSpPr>
        <p:spPr>
          <a:xfrm>
            <a:off x="640080" y="4617720"/>
            <a:ext cx="4206240" cy="1508760"/>
          </a:xfrm>
          <a:prstGeom prst="roundRect">
            <a:avLst>
              <a:gd name="adj" fmla="val 9091"/>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45" name="Text 43"/>
          <p:cNvSpPr txBox="1"/>
          <p:nvPr/>
        </p:nvSpPr>
        <p:spPr>
          <a:xfrm>
            <a:off x="960120" y="4681728"/>
            <a:ext cx="3657600" cy="1371600"/>
          </a:xfrm>
          <a:prstGeom prst="rect">
            <a:avLst/>
          </a:prstGeom>
          <a:noFill/>
          <a:ln/>
        </p:spPr>
        <p:txBody>
          <a:bodyPr wrap="square" lIns="0" tIns="0" rIns="0" bIns="0" rtlCol="0" anchor="ctr"/>
          <a:lstStyle/>
          <a:p>
            <a:pPr indent="0" marL="0">
              <a:spcAft>
                <a:spcPts val="600"/>
              </a:spcAft>
              <a:buNone/>
            </a:pPr>
            <a:r>
              <a:rPr lang="en-US" sz="1500" b="1" dirty="0">
                <a:solidFill>
                  <a:srgbClr val="435466"/>
                </a:solidFill>
                <a:latin typeface="Inter" pitchFamily="34" charset="0"/>
                <a:ea typeface="Inter" pitchFamily="34" charset="-122"/>
                <a:cs typeface="Inter" pitchFamily="34" charset="-120"/>
              </a:rPr>
              <a:t>Use it:  </a:t>
            </a:r>
            <a:pPr indent="0" marL="0">
              <a:spcAft>
                <a:spcPts val="600"/>
              </a:spcAft>
              <a:buNone/>
            </a:pPr>
            <a:r>
              <a:rPr lang="en-US" sz="1500" dirty="0">
                <a:solidFill>
                  <a:srgbClr val="435466"/>
                </a:solidFill>
                <a:latin typeface="Inter" pitchFamily="34" charset="0"/>
                <a:ea typeface="Inter" pitchFamily="34" charset="-122"/>
                <a:cs typeface="Inter" pitchFamily="34" charset="-120"/>
              </a:rPr>
              <a:t>ask by number (#0, #1...)</a:t>
            </a:r>
            <a:endParaRPr lang="en-US" sz="1500" dirty="0"/>
          </a:p>
          <a:p>
            <a:pPr indent="0" marL="0">
              <a:spcAft>
                <a:spcPts val="600"/>
              </a:spcAft>
              <a:buNone/>
            </a:pPr>
            <a:r>
              <a:rPr lang="en-US" sz="1500" b="1" dirty="0">
                <a:solidFill>
                  <a:srgbClr val="435466"/>
                </a:solidFill>
                <a:latin typeface="Inter" pitchFamily="34" charset="0"/>
                <a:ea typeface="Inter" pitchFamily="34" charset="-122"/>
                <a:cs typeface="Inter" pitchFamily="34" charset="-120"/>
              </a:rPr>
              <a:t>You get:  </a:t>
            </a:r>
            <a:pPr indent="0" marL="0">
              <a:spcAft>
                <a:spcPts val="600"/>
              </a:spcAft>
              <a:buNone/>
            </a:pPr>
            <a:r>
              <a:rPr lang="en-US" sz="1500" dirty="0">
                <a:solidFill>
                  <a:srgbClr val="435466"/>
                </a:solidFill>
                <a:latin typeface="Inter" pitchFamily="34" charset="0"/>
                <a:ea typeface="Inter" pitchFamily="34" charset="-122"/>
                <a:cs typeface="Inter" pitchFamily="34" charset="-120"/>
              </a:rPr>
              <a:t>one example, a 1-D row</a:t>
            </a:r>
            <a:endParaRPr lang="en-US" sz="1500" dirty="0"/>
          </a:p>
          <a:p>
            <a:pPr indent="0" marL="0">
              <a:spcAft>
                <a:spcPts val="600"/>
              </a:spcAft>
              <a:buNone/>
            </a:pPr>
            <a:r>
              <a:rPr lang="en-US" sz="1500" b="1" dirty="0">
                <a:solidFill>
                  <a:srgbClr val="435466"/>
                </a:solidFill>
                <a:latin typeface="Inter" pitchFamily="34" charset="0"/>
                <a:ea typeface="Inter" pitchFamily="34" charset="-122"/>
                <a:cs typeface="Inter" pitchFamily="34" charset="-120"/>
              </a:rPr>
              <a:t>Order:  </a:t>
            </a:r>
            <a:pPr indent="0" marL="0">
              <a:spcAft>
                <a:spcPts val="600"/>
              </a:spcAft>
              <a:buNone/>
            </a:pPr>
            <a:r>
              <a:rPr lang="en-US" sz="1500" dirty="0">
                <a:solidFill>
                  <a:srgbClr val="435466"/>
                </a:solidFill>
                <a:latin typeface="Inter" pitchFamily="34" charset="0"/>
                <a:ea typeface="Inter" pitchFamily="34" charset="-122"/>
                <a:cs typeface="Inter" pitchFamily="34" charset="-120"/>
              </a:rPr>
              <a:t>the number you ask for</a:t>
            </a:r>
            <a:endParaRPr lang="en-US" sz="1500" dirty="0"/>
          </a:p>
        </p:txBody>
      </p:sp>
      <p:sp>
        <p:nvSpPr>
          <p:cNvPr id="46" name="Shape 44"/>
          <p:cNvSpPr/>
          <p:nvPr/>
        </p:nvSpPr>
        <p:spPr>
          <a:xfrm>
            <a:off x="5943600" y="4617720"/>
            <a:ext cx="5605272" cy="1508760"/>
          </a:xfrm>
          <a:prstGeom prst="roundRect">
            <a:avLst>
              <a:gd name="adj" fmla="val 9091"/>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47" name="Text 45"/>
          <p:cNvSpPr txBox="1"/>
          <p:nvPr/>
        </p:nvSpPr>
        <p:spPr>
          <a:xfrm>
            <a:off x="6263640" y="4681728"/>
            <a:ext cx="5056632" cy="1371600"/>
          </a:xfrm>
          <a:prstGeom prst="rect">
            <a:avLst/>
          </a:prstGeom>
          <a:noFill/>
          <a:ln/>
        </p:spPr>
        <p:txBody>
          <a:bodyPr wrap="square" lIns="0" tIns="0" rIns="0" bIns="0" rtlCol="0" anchor="ctr"/>
          <a:lstStyle/>
          <a:p>
            <a:pPr indent="0" marL="0">
              <a:spcAft>
                <a:spcPts val="600"/>
              </a:spcAft>
              <a:buNone/>
            </a:pPr>
            <a:r>
              <a:rPr lang="en-US" sz="1500" b="1" dirty="0">
                <a:solidFill>
                  <a:srgbClr val="435466"/>
                </a:solidFill>
                <a:latin typeface="Inter" pitchFamily="34" charset="0"/>
                <a:ea typeface="Inter" pitchFamily="34" charset="-122"/>
                <a:cs typeface="Inter" pitchFamily="34" charset="-120"/>
              </a:rPr>
              <a:t>Use it:  </a:t>
            </a:r>
            <a:pPr indent="0" marL="0">
              <a:spcAft>
                <a:spcPts val="600"/>
              </a:spcAft>
              <a:buNone/>
            </a:pPr>
            <a:r>
              <a:rPr lang="en-US" sz="1500" dirty="0">
                <a:solidFill>
                  <a:srgbClr val="435466"/>
                </a:solidFill>
                <a:latin typeface="Inter" pitchFamily="34" charset="0"/>
                <a:ea typeface="Inter" pitchFamily="34" charset="-122"/>
                <a:cs typeface="Inter" pitchFamily="34" charset="-120"/>
              </a:rPr>
              <a:t>loop over it, one step at a time</a:t>
            </a:r>
            <a:endParaRPr lang="en-US" sz="1500" dirty="0"/>
          </a:p>
          <a:p>
            <a:pPr indent="0" marL="0">
              <a:spcAft>
                <a:spcPts val="600"/>
              </a:spcAft>
              <a:buNone/>
            </a:pPr>
            <a:r>
              <a:rPr lang="en-US" sz="1500" b="1" dirty="0">
                <a:solidFill>
                  <a:srgbClr val="435466"/>
                </a:solidFill>
                <a:latin typeface="Inter" pitchFamily="34" charset="0"/>
                <a:ea typeface="Inter" pitchFamily="34" charset="-122"/>
                <a:cs typeface="Inter" pitchFamily="34" charset="-120"/>
              </a:rPr>
              <a:t>You get:  </a:t>
            </a:r>
            <a:pPr indent="0" marL="0">
              <a:spcAft>
                <a:spcPts val="600"/>
              </a:spcAft>
              <a:buNone/>
            </a:pPr>
            <a:r>
              <a:rPr lang="en-US" sz="1500" dirty="0">
                <a:solidFill>
                  <a:srgbClr val="435466"/>
                </a:solidFill>
                <a:latin typeface="Inter" pitchFamily="34" charset="0"/>
                <a:ea typeface="Inter" pitchFamily="34" charset="-122"/>
                <a:cs typeface="Inter" pitchFamily="34" charset="-120"/>
              </a:rPr>
              <a:t>one batch, a 2-D grid</a:t>
            </a:r>
            <a:endParaRPr lang="en-US" sz="1500" dirty="0"/>
          </a:p>
          <a:p>
            <a:pPr indent="0" marL="0">
              <a:spcAft>
                <a:spcPts val="600"/>
              </a:spcAft>
              <a:buNone/>
            </a:pPr>
            <a:r>
              <a:rPr lang="en-US" sz="1500" b="1" dirty="0">
                <a:solidFill>
                  <a:srgbClr val="435466"/>
                </a:solidFill>
                <a:latin typeface="Inter" pitchFamily="34" charset="0"/>
                <a:ea typeface="Inter" pitchFamily="34" charset="-122"/>
                <a:cs typeface="Inter" pitchFamily="34" charset="-120"/>
              </a:rPr>
              <a:t>Order:  </a:t>
            </a:r>
            <a:pPr indent="0" marL="0">
              <a:spcAft>
                <a:spcPts val="600"/>
              </a:spcAft>
              <a:buNone/>
            </a:pPr>
            <a:r>
              <a:rPr lang="en-US" sz="1500" dirty="0">
                <a:solidFill>
                  <a:srgbClr val="435466"/>
                </a:solidFill>
                <a:latin typeface="Inter" pitchFamily="34" charset="0"/>
                <a:ea typeface="Inter" pitchFamily="34" charset="-122"/>
                <a:cs typeface="Inter" pitchFamily="34" charset="-120"/>
              </a:rPr>
              <a:t>shuffled each pass (by default)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7</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DataLoader settings</a:t>
            </a:r>
            <a:endParaRPr lang="en-US" sz="3600" dirty="0"/>
          </a:p>
        </p:txBody>
      </p:sp>
      <p:sp>
        <p:nvSpPr>
          <p:cNvPr id="4" name="Shape 2"/>
          <p:cNvSpPr/>
          <p:nvPr/>
        </p:nvSpPr>
        <p:spPr>
          <a:xfrm>
            <a:off x="640080" y="1417320"/>
            <a:ext cx="5303520" cy="1828800"/>
          </a:xfrm>
          <a:prstGeom prst="roundRect">
            <a:avLst>
              <a:gd name="adj" fmla="val 7500"/>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5" name="Text 3"/>
          <p:cNvSpPr txBox="1"/>
          <p:nvPr/>
        </p:nvSpPr>
        <p:spPr>
          <a:xfrm>
            <a:off x="960120" y="1691640"/>
            <a:ext cx="1737360" cy="411480"/>
          </a:xfrm>
          <a:prstGeom prst="roundRect">
            <a:avLst>
              <a:gd name="adj" fmla="val 22222"/>
            </a:avLst>
          </a:prstGeom>
          <a:solidFill>
            <a:srgbClr val="E8EFF7"/>
          </a:solidFill>
          <a:ln w="15875">
            <a:solidFill>
              <a:srgbClr val="A9C0D8"/>
            </a:solidFill>
          </a:ln>
        </p:spPr>
        <p:txBody>
          <a:bodyPr wrap="square" lIns="0" tIns="0" rIns="0" bIns="0"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batch_size</a:t>
            </a:r>
            <a:endParaRPr lang="en-US" sz="1500" dirty="0"/>
          </a:p>
        </p:txBody>
      </p:sp>
      <p:sp>
        <p:nvSpPr>
          <p:cNvPr id="6" name="Text 4"/>
          <p:cNvSpPr txBox="1"/>
          <p:nvPr/>
        </p:nvSpPr>
        <p:spPr>
          <a:xfrm>
            <a:off x="2834640" y="1691640"/>
            <a:ext cx="1463040" cy="411480"/>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You choose</a:t>
            </a:r>
            <a:endParaRPr lang="en-US" sz="1300" dirty="0"/>
          </a:p>
        </p:txBody>
      </p:sp>
      <p:sp>
        <p:nvSpPr>
          <p:cNvPr id="7" name="Text 5"/>
          <p:cNvSpPr txBox="1"/>
          <p:nvPr/>
        </p:nvSpPr>
        <p:spPr>
          <a:xfrm>
            <a:off x="960120" y="2286000"/>
            <a:ext cx="2743200" cy="777240"/>
          </a:xfrm>
          <a:prstGeom prst="rect">
            <a:avLst/>
          </a:prstGeom>
          <a:noFill/>
          <a:ln/>
        </p:spPr>
        <p:txBody>
          <a:bodyPr wrap="square" lIns="0" tIns="0" rIns="0" bIns="0" rtlCol="0" anchor="t"/>
          <a:lstStyle/>
          <a:p>
            <a:pPr indent="0" marL="0">
              <a:buNone/>
            </a:pPr>
            <a:r>
              <a:rPr lang="en-US" sz="1500" dirty="0">
                <a:solidFill>
                  <a:srgbClr val="435466"/>
                </a:solidFill>
                <a:latin typeface="Inter" pitchFamily="34" charset="0"/>
                <a:ea typeface="Inter" pitchFamily="34" charset="-122"/>
                <a:cs typeface="Inter" pitchFamily="34" charset="-120"/>
              </a:rPr>
              <a:t>How many examples go in each batch.</a:t>
            </a:r>
            <a:endParaRPr lang="en-US" sz="1500" dirty="0"/>
          </a:p>
        </p:txBody>
      </p:sp>
      <p:sp>
        <p:nvSpPr>
          <p:cNvPr id="8" name="Text 6"/>
          <p:cNvSpPr txBox="1"/>
          <p:nvPr/>
        </p:nvSpPr>
        <p:spPr>
          <a:xfrm>
            <a:off x="3840480" y="2468880"/>
            <a:ext cx="329184" cy="365760"/>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a:t>
            </a:r>
            <a:endParaRPr lang="en-US" sz="1300" dirty="0"/>
          </a:p>
        </p:txBody>
      </p:sp>
      <p:sp>
        <p:nvSpPr>
          <p:cNvPr id="9" name="Text 7"/>
          <p:cNvSpPr txBox="1"/>
          <p:nvPr/>
        </p:nvSpPr>
        <p:spPr>
          <a:xfrm>
            <a:off x="4215384" y="2468880"/>
            <a:ext cx="329184" cy="365760"/>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1</a:t>
            </a:r>
            <a:endParaRPr lang="en-US" sz="1300" dirty="0"/>
          </a:p>
        </p:txBody>
      </p:sp>
      <p:sp>
        <p:nvSpPr>
          <p:cNvPr id="10" name="Text 8"/>
          <p:cNvSpPr txBox="1"/>
          <p:nvPr/>
        </p:nvSpPr>
        <p:spPr>
          <a:xfrm>
            <a:off x="4892040" y="2468880"/>
            <a:ext cx="329184" cy="365760"/>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2</a:t>
            </a:r>
            <a:endParaRPr lang="en-US" sz="1300" dirty="0"/>
          </a:p>
        </p:txBody>
      </p:sp>
      <p:sp>
        <p:nvSpPr>
          <p:cNvPr id="11" name="Text 9"/>
          <p:cNvSpPr txBox="1"/>
          <p:nvPr/>
        </p:nvSpPr>
        <p:spPr>
          <a:xfrm>
            <a:off x="5266944" y="2468880"/>
            <a:ext cx="329184" cy="365760"/>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3</a:t>
            </a:r>
            <a:endParaRPr lang="en-US" sz="1300" dirty="0"/>
          </a:p>
        </p:txBody>
      </p:sp>
      <p:sp>
        <p:nvSpPr>
          <p:cNvPr id="12" name="Text 10"/>
          <p:cNvSpPr txBox="1"/>
          <p:nvPr/>
        </p:nvSpPr>
        <p:spPr>
          <a:xfrm>
            <a:off x="3840480" y="2880360"/>
            <a:ext cx="1755648" cy="274320"/>
          </a:xfrm>
          <a:prstGeom prst="rect">
            <a:avLst/>
          </a:prstGeom>
          <a:noFill/>
          <a:ln/>
        </p:spPr>
        <p:txBody>
          <a:bodyPr wrap="square" lIns="0" tIns="0" rIns="0" bIns="0" rtlCol="0" anchor="t"/>
          <a:lstStyle/>
          <a:p>
            <a:pPr algn="ctr" indent="0" marL="0">
              <a:buNone/>
            </a:pPr>
            <a:r>
              <a:rPr lang="en-US" sz="1200" dirty="0">
                <a:solidFill>
                  <a:srgbClr val="66768A"/>
                </a:solidFill>
                <a:latin typeface="Inter" pitchFamily="34" charset="0"/>
                <a:ea typeface="Inter" pitchFamily="34" charset="-122"/>
                <a:cs typeface="Inter" pitchFamily="34" charset="-120"/>
              </a:rPr>
              <a:t>2 per batch</a:t>
            </a:r>
            <a:endParaRPr lang="en-US" sz="1200" dirty="0"/>
          </a:p>
        </p:txBody>
      </p:sp>
      <p:sp>
        <p:nvSpPr>
          <p:cNvPr id="13" name="Shape 11"/>
          <p:cNvSpPr/>
          <p:nvPr/>
        </p:nvSpPr>
        <p:spPr>
          <a:xfrm>
            <a:off x="6245352" y="1417320"/>
            <a:ext cx="5303520" cy="1828800"/>
          </a:xfrm>
          <a:prstGeom prst="roundRect">
            <a:avLst>
              <a:gd name="adj" fmla="val 7500"/>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14" name="Text 12"/>
          <p:cNvSpPr txBox="1"/>
          <p:nvPr/>
        </p:nvSpPr>
        <p:spPr>
          <a:xfrm>
            <a:off x="6565392" y="1691640"/>
            <a:ext cx="1737360" cy="411480"/>
          </a:xfrm>
          <a:prstGeom prst="roundRect">
            <a:avLst>
              <a:gd name="adj" fmla="val 22222"/>
            </a:avLst>
          </a:prstGeom>
          <a:solidFill>
            <a:srgbClr val="E8EFF7"/>
          </a:solidFill>
          <a:ln w="15875">
            <a:solidFill>
              <a:srgbClr val="A9C0D8"/>
            </a:solidFill>
          </a:ln>
        </p:spPr>
        <p:txBody>
          <a:bodyPr wrap="square" lIns="0" tIns="0" rIns="0" bIns="0"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shuffle</a:t>
            </a:r>
            <a:endParaRPr lang="en-US" sz="1500" dirty="0"/>
          </a:p>
        </p:txBody>
      </p:sp>
      <p:sp>
        <p:nvSpPr>
          <p:cNvPr id="15" name="Text 13"/>
          <p:cNvSpPr txBox="1"/>
          <p:nvPr/>
        </p:nvSpPr>
        <p:spPr>
          <a:xfrm>
            <a:off x="8439912" y="1691640"/>
            <a:ext cx="1463040" cy="411480"/>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Default: on</a:t>
            </a:r>
            <a:endParaRPr lang="en-US" sz="1300" dirty="0"/>
          </a:p>
        </p:txBody>
      </p:sp>
      <p:sp>
        <p:nvSpPr>
          <p:cNvPr id="16" name="Text 14"/>
          <p:cNvSpPr txBox="1"/>
          <p:nvPr/>
        </p:nvSpPr>
        <p:spPr>
          <a:xfrm>
            <a:off x="6565392" y="2286000"/>
            <a:ext cx="2743200" cy="777240"/>
          </a:xfrm>
          <a:prstGeom prst="rect">
            <a:avLst/>
          </a:prstGeom>
          <a:noFill/>
          <a:ln/>
        </p:spPr>
        <p:txBody>
          <a:bodyPr wrap="square" lIns="0" tIns="0" rIns="0" bIns="0" rtlCol="0" anchor="t"/>
          <a:lstStyle/>
          <a:p>
            <a:pPr indent="0" marL="0">
              <a:buNone/>
            </a:pPr>
            <a:r>
              <a:rPr lang="en-US" sz="1500" dirty="0">
                <a:solidFill>
                  <a:srgbClr val="435466"/>
                </a:solidFill>
                <a:latin typeface="Inter" pitchFamily="34" charset="0"/>
                <a:ea typeface="Inter" pitchFamily="34" charset="-122"/>
                <a:cs typeface="Inter" pitchFamily="34" charset="-120"/>
              </a:rPr>
              <a:t>Mixes the example order on each pass through the data.</a:t>
            </a:r>
            <a:endParaRPr lang="en-US" sz="1500" dirty="0"/>
          </a:p>
        </p:txBody>
      </p:sp>
      <p:sp>
        <p:nvSpPr>
          <p:cNvPr id="17" name="Text 15"/>
          <p:cNvSpPr txBox="1"/>
          <p:nvPr/>
        </p:nvSpPr>
        <p:spPr>
          <a:xfrm>
            <a:off x="9445752" y="2240280"/>
            <a:ext cx="329184"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a:t>
            </a:r>
            <a:endParaRPr lang="en-US" sz="1300" dirty="0"/>
          </a:p>
        </p:txBody>
      </p:sp>
      <p:sp>
        <p:nvSpPr>
          <p:cNvPr id="18" name="Text 16"/>
          <p:cNvSpPr txBox="1"/>
          <p:nvPr/>
        </p:nvSpPr>
        <p:spPr>
          <a:xfrm>
            <a:off x="9820656" y="2240280"/>
            <a:ext cx="329184"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1</a:t>
            </a:r>
            <a:endParaRPr lang="en-US" sz="1300" dirty="0"/>
          </a:p>
        </p:txBody>
      </p:sp>
      <p:sp>
        <p:nvSpPr>
          <p:cNvPr id="19" name="Text 17"/>
          <p:cNvSpPr txBox="1"/>
          <p:nvPr/>
        </p:nvSpPr>
        <p:spPr>
          <a:xfrm>
            <a:off x="10195560" y="2240280"/>
            <a:ext cx="329184"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2</a:t>
            </a:r>
            <a:endParaRPr lang="en-US" sz="1300" dirty="0"/>
          </a:p>
        </p:txBody>
      </p:sp>
      <p:sp>
        <p:nvSpPr>
          <p:cNvPr id="20" name="Text 18"/>
          <p:cNvSpPr txBox="1"/>
          <p:nvPr/>
        </p:nvSpPr>
        <p:spPr>
          <a:xfrm>
            <a:off x="10570464" y="2240280"/>
            <a:ext cx="329184"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3</a:t>
            </a:r>
            <a:endParaRPr lang="en-US" sz="1300" dirty="0"/>
          </a:p>
        </p:txBody>
      </p:sp>
      <p:sp>
        <p:nvSpPr>
          <p:cNvPr id="21" name="Shape 19"/>
          <p:cNvSpPr/>
          <p:nvPr/>
        </p:nvSpPr>
        <p:spPr>
          <a:xfrm>
            <a:off x="10168128" y="2587752"/>
            <a:ext cx="0" cy="182880"/>
          </a:xfrm>
          <a:prstGeom prst="line">
            <a:avLst/>
          </a:prstGeom>
          <a:noFill/>
          <a:ln w="31750">
            <a:solidFill>
              <a:srgbClr val="A9C0D8"/>
            </a:solidFill>
            <a:prstDash val="solid"/>
            <a:tailEnd type="triangle"/>
          </a:ln>
        </p:spPr>
      </p:sp>
      <p:sp>
        <p:nvSpPr>
          <p:cNvPr id="22" name="Text 20"/>
          <p:cNvSpPr txBox="1"/>
          <p:nvPr/>
        </p:nvSpPr>
        <p:spPr>
          <a:xfrm>
            <a:off x="9445752" y="2798064"/>
            <a:ext cx="329184"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2</a:t>
            </a:r>
            <a:endParaRPr lang="en-US" sz="1300" dirty="0"/>
          </a:p>
        </p:txBody>
      </p:sp>
      <p:sp>
        <p:nvSpPr>
          <p:cNvPr id="23" name="Text 21"/>
          <p:cNvSpPr txBox="1"/>
          <p:nvPr/>
        </p:nvSpPr>
        <p:spPr>
          <a:xfrm>
            <a:off x="9820656" y="2798064"/>
            <a:ext cx="329184"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a:t>
            </a:r>
            <a:endParaRPr lang="en-US" sz="1300" dirty="0"/>
          </a:p>
        </p:txBody>
      </p:sp>
      <p:sp>
        <p:nvSpPr>
          <p:cNvPr id="24" name="Text 22"/>
          <p:cNvSpPr txBox="1"/>
          <p:nvPr/>
        </p:nvSpPr>
        <p:spPr>
          <a:xfrm>
            <a:off x="10195560" y="2798064"/>
            <a:ext cx="329184"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3</a:t>
            </a:r>
            <a:endParaRPr lang="en-US" sz="1300" dirty="0"/>
          </a:p>
        </p:txBody>
      </p:sp>
      <p:sp>
        <p:nvSpPr>
          <p:cNvPr id="25" name="Text 23"/>
          <p:cNvSpPr txBox="1"/>
          <p:nvPr/>
        </p:nvSpPr>
        <p:spPr>
          <a:xfrm>
            <a:off x="10570464" y="2798064"/>
            <a:ext cx="329184" cy="329184"/>
          </a:xfrm>
          <a:prstGeom prst="roundRect">
            <a:avLst>
              <a:gd name="adj" fmla="val 27778"/>
            </a:avLst>
          </a:prstGeom>
          <a:solidFill>
            <a:srgbClr val="E4ECE7"/>
          </a:solidFill>
          <a:ln w="15875">
            <a:solidFill>
              <a:srgbClr val="8FA99B"/>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1</a:t>
            </a:r>
            <a:endParaRPr lang="en-US" sz="1300" dirty="0"/>
          </a:p>
        </p:txBody>
      </p:sp>
      <p:sp>
        <p:nvSpPr>
          <p:cNvPr id="26" name="Shape 24"/>
          <p:cNvSpPr/>
          <p:nvPr/>
        </p:nvSpPr>
        <p:spPr>
          <a:xfrm>
            <a:off x="640080" y="3520440"/>
            <a:ext cx="5303520" cy="1828800"/>
          </a:xfrm>
          <a:prstGeom prst="roundRect">
            <a:avLst>
              <a:gd name="adj" fmla="val 7500"/>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27" name="Text 25"/>
          <p:cNvSpPr txBox="1"/>
          <p:nvPr/>
        </p:nvSpPr>
        <p:spPr>
          <a:xfrm>
            <a:off x="960120" y="3794760"/>
            <a:ext cx="1737360" cy="411480"/>
          </a:xfrm>
          <a:prstGeom prst="roundRect">
            <a:avLst>
              <a:gd name="adj" fmla="val 22222"/>
            </a:avLst>
          </a:prstGeom>
          <a:solidFill>
            <a:srgbClr val="E8EFF7"/>
          </a:solidFill>
          <a:ln w="15875">
            <a:solidFill>
              <a:srgbClr val="A9C0D8"/>
            </a:solidFill>
          </a:ln>
        </p:spPr>
        <p:txBody>
          <a:bodyPr wrap="square" lIns="0" tIns="0" rIns="0" bIns="0"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drop_last</a:t>
            </a:r>
            <a:endParaRPr lang="en-US" sz="1500" dirty="0"/>
          </a:p>
        </p:txBody>
      </p:sp>
      <p:sp>
        <p:nvSpPr>
          <p:cNvPr id="28" name="Text 26"/>
          <p:cNvSpPr txBox="1"/>
          <p:nvPr/>
        </p:nvSpPr>
        <p:spPr>
          <a:xfrm>
            <a:off x="2834640" y="3794760"/>
            <a:ext cx="1463040" cy="411480"/>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Default: on</a:t>
            </a:r>
            <a:endParaRPr lang="en-US" sz="1300" dirty="0"/>
          </a:p>
        </p:txBody>
      </p:sp>
      <p:sp>
        <p:nvSpPr>
          <p:cNvPr id="29" name="Text 27"/>
          <p:cNvSpPr txBox="1"/>
          <p:nvPr/>
        </p:nvSpPr>
        <p:spPr>
          <a:xfrm>
            <a:off x="960120" y="4389120"/>
            <a:ext cx="2743200" cy="777240"/>
          </a:xfrm>
          <a:prstGeom prst="rect">
            <a:avLst/>
          </a:prstGeom>
          <a:noFill/>
          <a:ln/>
        </p:spPr>
        <p:txBody>
          <a:bodyPr wrap="square" lIns="0" tIns="0" rIns="0" bIns="0" rtlCol="0" anchor="t"/>
          <a:lstStyle/>
          <a:p>
            <a:pPr indent="0" marL="0">
              <a:buNone/>
            </a:pPr>
            <a:r>
              <a:rPr lang="en-US" sz="1500" dirty="0">
                <a:solidFill>
                  <a:srgbClr val="435466"/>
                </a:solidFill>
                <a:latin typeface="Inter" pitchFamily="34" charset="0"/>
                <a:ea typeface="Inter" pitchFamily="34" charset="-122"/>
                <a:cs typeface="Inter" pitchFamily="34" charset="-120"/>
              </a:rPr>
              <a:t>Skips a last batch that isn't full, so all batches match.</a:t>
            </a:r>
            <a:endParaRPr lang="en-US" sz="1500" dirty="0"/>
          </a:p>
        </p:txBody>
      </p:sp>
      <p:sp>
        <p:nvSpPr>
          <p:cNvPr id="30" name="Text 28"/>
          <p:cNvSpPr txBox="1"/>
          <p:nvPr/>
        </p:nvSpPr>
        <p:spPr>
          <a:xfrm>
            <a:off x="3840480" y="4572000"/>
            <a:ext cx="274320" cy="365760"/>
          </a:xfrm>
          <a:prstGeom prst="roundRect">
            <a:avLst>
              <a:gd name="adj" fmla="val 33333"/>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0</a:t>
            </a:r>
            <a:endParaRPr lang="en-US" sz="1200" dirty="0"/>
          </a:p>
        </p:txBody>
      </p:sp>
      <p:sp>
        <p:nvSpPr>
          <p:cNvPr id="31" name="Text 29"/>
          <p:cNvSpPr txBox="1"/>
          <p:nvPr/>
        </p:nvSpPr>
        <p:spPr>
          <a:xfrm>
            <a:off x="4151376" y="4572000"/>
            <a:ext cx="274320" cy="365760"/>
          </a:xfrm>
          <a:prstGeom prst="roundRect">
            <a:avLst>
              <a:gd name="adj" fmla="val 33333"/>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1</a:t>
            </a:r>
            <a:endParaRPr lang="en-US" sz="1200" dirty="0"/>
          </a:p>
        </p:txBody>
      </p:sp>
      <p:sp>
        <p:nvSpPr>
          <p:cNvPr id="32" name="Text 30"/>
          <p:cNvSpPr txBox="1"/>
          <p:nvPr/>
        </p:nvSpPr>
        <p:spPr>
          <a:xfrm>
            <a:off x="4572000" y="4572000"/>
            <a:ext cx="274320" cy="365760"/>
          </a:xfrm>
          <a:prstGeom prst="roundRect">
            <a:avLst>
              <a:gd name="adj" fmla="val 33333"/>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2</a:t>
            </a:r>
            <a:endParaRPr lang="en-US" sz="1200" dirty="0"/>
          </a:p>
        </p:txBody>
      </p:sp>
      <p:sp>
        <p:nvSpPr>
          <p:cNvPr id="33" name="Text 31"/>
          <p:cNvSpPr txBox="1"/>
          <p:nvPr/>
        </p:nvSpPr>
        <p:spPr>
          <a:xfrm>
            <a:off x="4882896" y="4572000"/>
            <a:ext cx="274320" cy="365760"/>
          </a:xfrm>
          <a:prstGeom prst="roundRect">
            <a:avLst>
              <a:gd name="adj" fmla="val 33333"/>
            </a:avLst>
          </a:prstGeom>
          <a:solidFill>
            <a:srgbClr val="E4ECE7"/>
          </a:solidFill>
          <a:ln w="15875">
            <a:solidFill>
              <a:srgbClr val="8FA99B"/>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3</a:t>
            </a:r>
            <a:endParaRPr lang="en-US" sz="1200" dirty="0"/>
          </a:p>
        </p:txBody>
      </p:sp>
      <p:sp>
        <p:nvSpPr>
          <p:cNvPr id="34" name="Text 32"/>
          <p:cNvSpPr txBox="1"/>
          <p:nvPr/>
        </p:nvSpPr>
        <p:spPr>
          <a:xfrm>
            <a:off x="5303520" y="4572000"/>
            <a:ext cx="274320" cy="365760"/>
          </a:xfrm>
          <a:prstGeom prst="roundRect">
            <a:avLst>
              <a:gd name="adj" fmla="val 33333"/>
            </a:avLst>
          </a:prstGeom>
          <a:solidFill>
            <a:srgbClr val="F4E4DE"/>
          </a:solidFill>
          <a:ln w="15875">
            <a:solidFill>
              <a:srgbClr val="C98F7D"/>
            </a:solidFill>
          </a:ln>
        </p:spPr>
        <p:txBody>
          <a:bodyPr wrap="square" lIns="0" tIns="0" rIns="0" bIns="0" rtlCol="0" anchor="ctr"/>
          <a:lstStyle/>
          <a:p>
            <a:pPr algn="ctr" indent="0" marL="0">
              <a:buNone/>
            </a:pPr>
            <a:r>
              <a:rPr lang="en-US" sz="1200" dirty="0">
                <a:solidFill>
                  <a:srgbClr val="435466"/>
                </a:solidFill>
                <a:latin typeface="Inter" pitchFamily="34" charset="0"/>
                <a:ea typeface="Inter" pitchFamily="34" charset="-122"/>
                <a:cs typeface="Inter" pitchFamily="34" charset="-120"/>
              </a:rPr>
              <a:t>4</a:t>
            </a:r>
            <a:endParaRPr lang="en-US" sz="1200" dirty="0"/>
          </a:p>
        </p:txBody>
      </p:sp>
      <p:sp>
        <p:nvSpPr>
          <p:cNvPr id="35" name="Text 33"/>
          <p:cNvSpPr txBox="1"/>
          <p:nvPr/>
        </p:nvSpPr>
        <p:spPr>
          <a:xfrm>
            <a:off x="4983480" y="4983480"/>
            <a:ext cx="914400" cy="274320"/>
          </a:xfrm>
          <a:prstGeom prst="rect">
            <a:avLst/>
          </a:prstGeom>
          <a:noFill/>
          <a:ln/>
        </p:spPr>
        <p:txBody>
          <a:bodyPr wrap="square" lIns="0" tIns="0" rIns="0" bIns="0" rtlCol="0" anchor="t"/>
          <a:lstStyle/>
          <a:p>
            <a:pPr algn="ctr" indent="0" marL="0">
              <a:buNone/>
            </a:pPr>
            <a:r>
              <a:rPr lang="en-US" sz="1200" dirty="0">
                <a:solidFill>
                  <a:srgbClr val="66768A"/>
                </a:solidFill>
                <a:latin typeface="Inter" pitchFamily="34" charset="0"/>
                <a:ea typeface="Inter" pitchFamily="34" charset="-122"/>
                <a:cs typeface="Inter" pitchFamily="34" charset="-120"/>
              </a:rPr>
              <a:t>skipped</a:t>
            </a:r>
            <a:endParaRPr lang="en-US" sz="1200" dirty="0"/>
          </a:p>
        </p:txBody>
      </p:sp>
      <p:sp>
        <p:nvSpPr>
          <p:cNvPr id="36" name="Shape 34"/>
          <p:cNvSpPr/>
          <p:nvPr/>
        </p:nvSpPr>
        <p:spPr>
          <a:xfrm>
            <a:off x="6245352" y="3520440"/>
            <a:ext cx="5303520" cy="1828800"/>
          </a:xfrm>
          <a:prstGeom prst="roundRect">
            <a:avLst>
              <a:gd name="adj" fmla="val 7500"/>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37" name="Text 35"/>
          <p:cNvSpPr txBox="1"/>
          <p:nvPr/>
        </p:nvSpPr>
        <p:spPr>
          <a:xfrm>
            <a:off x="6565392" y="3794760"/>
            <a:ext cx="1737360" cy="411480"/>
          </a:xfrm>
          <a:prstGeom prst="roundRect">
            <a:avLst>
              <a:gd name="adj" fmla="val 22222"/>
            </a:avLst>
          </a:prstGeom>
          <a:solidFill>
            <a:srgbClr val="E8EFF7"/>
          </a:solidFill>
          <a:ln w="15875">
            <a:solidFill>
              <a:srgbClr val="A9C0D8"/>
            </a:solidFill>
          </a:ln>
        </p:spPr>
        <p:txBody>
          <a:bodyPr wrap="square" lIns="0" tIns="0" rIns="0" bIns="0"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num_workers</a:t>
            </a:r>
            <a:endParaRPr lang="en-US" sz="1500" dirty="0"/>
          </a:p>
        </p:txBody>
      </p:sp>
      <p:sp>
        <p:nvSpPr>
          <p:cNvPr id="38" name="Text 36"/>
          <p:cNvSpPr txBox="1"/>
          <p:nvPr/>
        </p:nvSpPr>
        <p:spPr>
          <a:xfrm>
            <a:off x="8439912" y="3794760"/>
            <a:ext cx="1463040" cy="411480"/>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Default: 0</a:t>
            </a:r>
            <a:endParaRPr lang="en-US" sz="1300" dirty="0"/>
          </a:p>
        </p:txBody>
      </p:sp>
      <p:sp>
        <p:nvSpPr>
          <p:cNvPr id="39" name="Text 37"/>
          <p:cNvSpPr txBox="1"/>
          <p:nvPr/>
        </p:nvSpPr>
        <p:spPr>
          <a:xfrm>
            <a:off x="6565392" y="4389120"/>
            <a:ext cx="2743200" cy="777240"/>
          </a:xfrm>
          <a:prstGeom prst="rect">
            <a:avLst/>
          </a:prstGeom>
          <a:noFill/>
          <a:ln/>
        </p:spPr>
        <p:txBody>
          <a:bodyPr wrap="square" lIns="0" tIns="0" rIns="0" bIns="0" rtlCol="0" anchor="t"/>
          <a:lstStyle/>
          <a:p>
            <a:pPr indent="0" marL="0">
              <a:buNone/>
            </a:pPr>
            <a:r>
              <a:rPr lang="en-US" sz="1500" dirty="0">
                <a:solidFill>
                  <a:srgbClr val="435466"/>
                </a:solidFill>
                <a:latin typeface="Inter" pitchFamily="34" charset="0"/>
                <a:ea typeface="Inter" pitchFamily="34" charset="-122"/>
                <a:cs typeface="Inter" pitchFamily="34" charset="-120"/>
              </a:rPr>
              <a:t>Helpers that load data in the background. 0 = no extra helpers.</a:t>
            </a:r>
            <a:endParaRPr lang="en-US" sz="1500" dirty="0"/>
          </a:p>
        </p:txBody>
      </p:sp>
      <p:sp>
        <p:nvSpPr>
          <p:cNvPr id="40" name="Text 38"/>
          <p:cNvSpPr txBox="1"/>
          <p:nvPr/>
        </p:nvSpPr>
        <p:spPr>
          <a:xfrm>
            <a:off x="9948672" y="4480560"/>
            <a:ext cx="548640" cy="457200"/>
          </a:xfrm>
          <a:prstGeom prst="roundRect">
            <a:avLst>
              <a:gd name="adj" fmla="val 20000"/>
            </a:avLst>
          </a:prstGeom>
          <a:solidFill>
            <a:srgbClr val="FFFFFF"/>
          </a:solidFill>
          <a:ln w="15875">
            <a:solidFill>
              <a:srgbClr val="D9E1E8"/>
            </a:solidFill>
          </a:ln>
        </p:spPr>
        <p:txBody>
          <a:bodyPr wrap="square" lIns="0" tIns="0" rIns="0" bIns="0" rtlCol="0" anchor="ctr"/>
          <a:lstStyle/>
          <a:p>
            <a:pPr algn="ctr" indent="0" marL="0">
              <a:buNone/>
            </a:pPr>
            <a:r>
              <a:rPr lang="en-US" sz="1800" b="1" dirty="0">
                <a:solidFill>
                  <a:srgbClr val="435466"/>
                </a:solidFill>
                <a:latin typeface="Inter" pitchFamily="34" charset="0"/>
                <a:ea typeface="Inter" pitchFamily="34" charset="-122"/>
                <a:cs typeface="Inter" pitchFamily="34" charset="-120"/>
              </a:rPr>
              <a:t>0</a:t>
            </a:r>
            <a:endParaRPr lang="en-US" sz="1800" dirty="0"/>
          </a:p>
        </p:txBody>
      </p:sp>
      <p:sp>
        <p:nvSpPr>
          <p:cNvPr id="41" name="Text 39"/>
          <p:cNvSpPr txBox="1"/>
          <p:nvPr/>
        </p:nvSpPr>
        <p:spPr>
          <a:xfrm>
            <a:off x="9354312" y="4983480"/>
            <a:ext cx="1737360" cy="274320"/>
          </a:xfrm>
          <a:prstGeom prst="rect">
            <a:avLst/>
          </a:prstGeom>
          <a:noFill/>
          <a:ln/>
        </p:spPr>
        <p:txBody>
          <a:bodyPr wrap="square" lIns="0" tIns="0" rIns="0" bIns="0" rtlCol="0" anchor="t"/>
          <a:lstStyle/>
          <a:p>
            <a:pPr algn="ctr" indent="0" marL="0">
              <a:buNone/>
            </a:pPr>
            <a:r>
              <a:rPr lang="en-US" sz="1200" dirty="0">
                <a:solidFill>
                  <a:srgbClr val="66768A"/>
                </a:solidFill>
                <a:latin typeface="Inter" pitchFamily="34" charset="0"/>
                <a:ea typeface="Inter" pitchFamily="34" charset="-122"/>
                <a:cs typeface="Inter" pitchFamily="34" charset="-120"/>
              </a:rPr>
              <a:t>main program loads</a:t>
            </a:r>
            <a:endParaRPr lang="en-US" sz="1200" dirty="0"/>
          </a:p>
        </p:txBody>
      </p:sp>
      <p:sp>
        <p:nvSpPr>
          <p:cNvPr id="42" name="Text 40"/>
          <p:cNvSpPr txBox="1"/>
          <p:nvPr/>
        </p:nvSpPr>
        <p:spPr>
          <a:xfrm>
            <a:off x="640080" y="5760720"/>
            <a:ext cx="10908792" cy="457200"/>
          </a:xfrm>
          <a:prstGeom prst="rect">
            <a:avLst/>
          </a:prstGeom>
          <a:noFill/>
          <a:ln/>
        </p:spPr>
        <p:txBody>
          <a:bodyPr wrap="square" lIns="0" tIns="0" rIns="0" bIns="0" rtlCol="0" anchor="t"/>
          <a:lstStyle/>
          <a:p>
            <a:pPr algn="ctr" indent="0" marL="0">
              <a:buNone/>
            </a:pPr>
            <a:r>
              <a:rPr lang="en-US" sz="1400" dirty="0">
                <a:solidFill>
                  <a:srgbClr val="66768A"/>
                </a:solidFill>
                <a:latin typeface="Inter" pitchFamily="34" charset="0"/>
                <a:ea typeface="Inter" pitchFamily="34" charset="-122"/>
                <a:cs typeface="Inter" pitchFamily="34" charset="-120"/>
              </a:rPr>
              <a:t>Shuffling stops the model from leaning on the order of the text. Same-size batches keep every training step alike.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8</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Putting it together</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The GPT data loader sets everything up. You give it text and a batch size.</a:t>
            </a:r>
            <a:endParaRPr lang="en-US" sz="1600" dirty="0"/>
          </a:p>
        </p:txBody>
      </p:sp>
      <p:sp>
        <p:nvSpPr>
          <p:cNvPr id="5" name="Text 3"/>
          <p:cNvSpPr txBox="1"/>
          <p:nvPr/>
        </p:nvSpPr>
        <p:spPr>
          <a:xfrm>
            <a:off x="548640" y="2651760"/>
            <a:ext cx="1188720" cy="1005840"/>
          </a:xfrm>
          <a:prstGeom prst="roundRect">
            <a:avLst>
              <a:gd name="adj" fmla="val 13636"/>
            </a:avLst>
          </a:prstGeom>
          <a:solidFill>
            <a:srgbClr val="E4ECE7"/>
          </a:solidFill>
          <a:ln w="15875">
            <a:solidFill>
              <a:srgbClr val="8FA99B"/>
            </a:solidFill>
          </a:ln>
        </p:spPr>
        <p:txBody>
          <a:bodyPr wrap="square" lIns="762" tIns="762" rIns="762" bIns="762"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Text</a:t>
            </a:r>
            <a:endParaRPr lang="en-US" sz="1600" dirty="0"/>
          </a:p>
        </p:txBody>
      </p:sp>
      <p:sp>
        <p:nvSpPr>
          <p:cNvPr id="6" name="Shape 4"/>
          <p:cNvSpPr/>
          <p:nvPr/>
        </p:nvSpPr>
        <p:spPr>
          <a:xfrm>
            <a:off x="1783080" y="3154680"/>
            <a:ext cx="320040" cy="0"/>
          </a:xfrm>
          <a:prstGeom prst="line">
            <a:avLst/>
          </a:prstGeom>
          <a:noFill/>
          <a:ln w="31750">
            <a:solidFill>
              <a:srgbClr val="A9C0D8"/>
            </a:solidFill>
            <a:prstDash val="solid"/>
            <a:tailEnd type="triangle"/>
          </a:ln>
        </p:spPr>
      </p:sp>
      <p:sp>
        <p:nvSpPr>
          <p:cNvPr id="7" name="Shape 5"/>
          <p:cNvSpPr/>
          <p:nvPr/>
        </p:nvSpPr>
        <p:spPr>
          <a:xfrm>
            <a:off x="2148840" y="1783080"/>
            <a:ext cx="5943600" cy="2423160"/>
          </a:xfrm>
          <a:prstGeom prst="roundRect">
            <a:avLst>
              <a:gd name="adj" fmla="val 5660"/>
            </a:avLst>
          </a:prstGeom>
          <a:solidFill>
            <a:srgbClr val="FFFFFF"/>
          </a:solidFill>
          <a:ln w="15875">
            <a:solidFill>
              <a:srgbClr val="435466"/>
            </a:solidFill>
            <a:prstDash val="solid"/>
          </a:ln>
          <a:effectLst>
            <a:outerShdw sx="100000" sy="100000" kx="0" ky="0" algn="bl" rotWithShape="0" blurRad="101600" dist="25400" dir="5400000">
              <a:srgbClr val="435466">
                <a:alpha val="8000"/>
              </a:srgbClr>
            </a:outerShdw>
          </a:effectLst>
        </p:spPr>
      </p:sp>
      <p:sp>
        <p:nvSpPr>
          <p:cNvPr id="8" name="Text 6"/>
          <p:cNvSpPr txBox="1"/>
          <p:nvPr/>
        </p:nvSpPr>
        <p:spPr>
          <a:xfrm>
            <a:off x="2331720" y="1920240"/>
            <a:ext cx="5577840" cy="365760"/>
          </a:xfrm>
          <a:prstGeom prst="rect">
            <a:avLst/>
          </a:prstGeom>
          <a:noFill/>
          <a:ln/>
        </p:spPr>
        <p:txBody>
          <a:bodyPr wrap="square" lIns="0" tIns="0" rIns="0" bIns="0"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GPT data loader</a:t>
            </a:r>
            <a:endParaRPr lang="en-US" sz="1500" dirty="0"/>
          </a:p>
        </p:txBody>
      </p:sp>
      <p:sp>
        <p:nvSpPr>
          <p:cNvPr id="9" name="Text 7"/>
          <p:cNvSpPr txBox="1"/>
          <p:nvPr/>
        </p:nvSpPr>
        <p:spPr>
          <a:xfrm>
            <a:off x="2286000" y="3749040"/>
            <a:ext cx="1737360" cy="274320"/>
          </a:xfrm>
          <a:prstGeom prst="rect">
            <a:avLst/>
          </a:prstGeom>
          <a:noFill/>
          <a:ln/>
        </p:spPr>
        <p:txBody>
          <a:bodyPr wrap="square" lIns="0" tIns="0" rIns="0" bIns="0" rtlCol="0" anchor="t"/>
          <a:lstStyle/>
          <a:p>
            <a:pPr algn="ctr" indent="0" marL="0">
              <a:buNone/>
            </a:pPr>
            <a:r>
              <a:rPr lang="en-US" sz="1200" dirty="0">
                <a:solidFill>
                  <a:srgbClr val="66768A"/>
                </a:solidFill>
                <a:latin typeface="Inter" pitchFamily="34" charset="0"/>
                <a:ea typeface="Inter" pitchFamily="34" charset="-122"/>
                <a:cs typeface="Inter" pitchFamily="34" charset="-120"/>
              </a:rPr>
              <a:t>text → IDs</a:t>
            </a:r>
            <a:endParaRPr lang="en-US" sz="1200" dirty="0"/>
          </a:p>
        </p:txBody>
      </p:sp>
      <p:sp>
        <p:nvSpPr>
          <p:cNvPr id="10" name="Text 8"/>
          <p:cNvSpPr txBox="1"/>
          <p:nvPr/>
        </p:nvSpPr>
        <p:spPr>
          <a:xfrm>
            <a:off x="2377440" y="2651760"/>
            <a:ext cx="1554480" cy="1005840"/>
          </a:xfrm>
          <a:prstGeom prst="roundRect">
            <a:avLst>
              <a:gd name="adj" fmla="val 13636"/>
            </a:avLst>
          </a:prstGeom>
          <a:solidFill>
            <a:srgbClr val="A9C0D8"/>
          </a:solidFill>
          <a:ln w="15875">
            <a:solidFill>
              <a:srgbClr val="A9C0D8"/>
            </a:solidFill>
          </a:ln>
        </p:spPr>
        <p:txBody>
          <a:bodyPr wrap="square" lIns="762" tIns="762" rIns="762" bIns="762"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BPE tokenizer</a:t>
            </a:r>
            <a:endParaRPr lang="en-US" sz="1500" dirty="0"/>
          </a:p>
        </p:txBody>
      </p:sp>
      <p:sp>
        <p:nvSpPr>
          <p:cNvPr id="11" name="Shape 9"/>
          <p:cNvSpPr/>
          <p:nvPr/>
        </p:nvSpPr>
        <p:spPr>
          <a:xfrm>
            <a:off x="3977640" y="3154680"/>
            <a:ext cx="320040" cy="0"/>
          </a:xfrm>
          <a:prstGeom prst="line">
            <a:avLst/>
          </a:prstGeom>
          <a:noFill/>
          <a:ln w="31750">
            <a:solidFill>
              <a:srgbClr val="A9C0D8"/>
            </a:solidFill>
            <a:prstDash val="solid"/>
            <a:tailEnd type="triangle"/>
          </a:ln>
        </p:spPr>
      </p:sp>
      <p:sp>
        <p:nvSpPr>
          <p:cNvPr id="12" name="Text 10"/>
          <p:cNvSpPr txBox="1"/>
          <p:nvPr/>
        </p:nvSpPr>
        <p:spPr>
          <a:xfrm>
            <a:off x="4251960" y="3749040"/>
            <a:ext cx="1737360" cy="274320"/>
          </a:xfrm>
          <a:prstGeom prst="rect">
            <a:avLst/>
          </a:prstGeom>
          <a:noFill/>
          <a:ln/>
        </p:spPr>
        <p:txBody>
          <a:bodyPr wrap="square" lIns="0" tIns="0" rIns="0" bIns="0" rtlCol="0" anchor="t"/>
          <a:lstStyle/>
          <a:p>
            <a:pPr algn="ctr" indent="0" marL="0">
              <a:buNone/>
            </a:pPr>
            <a:r>
              <a:rPr lang="en-US" sz="1200" dirty="0">
                <a:solidFill>
                  <a:srgbClr val="66768A"/>
                </a:solidFill>
                <a:latin typeface="Inter" pitchFamily="34" charset="0"/>
                <a:ea typeface="Inter" pitchFamily="34" charset="-122"/>
                <a:cs typeface="Inter" pitchFamily="34" charset="-120"/>
              </a:rPr>
              <a:t>IDs → examples</a:t>
            </a:r>
            <a:endParaRPr lang="en-US" sz="1200" dirty="0"/>
          </a:p>
        </p:txBody>
      </p:sp>
      <p:sp>
        <p:nvSpPr>
          <p:cNvPr id="13" name="Text 11"/>
          <p:cNvSpPr txBox="1"/>
          <p:nvPr/>
        </p:nvSpPr>
        <p:spPr>
          <a:xfrm>
            <a:off x="4343400" y="2651760"/>
            <a:ext cx="1554480" cy="1005840"/>
          </a:xfrm>
          <a:prstGeom prst="roundRect">
            <a:avLst>
              <a:gd name="adj" fmla="val 13636"/>
            </a:avLst>
          </a:prstGeom>
          <a:solidFill>
            <a:srgbClr val="A9C0D8"/>
          </a:solidFill>
          <a:ln w="15875">
            <a:solidFill>
              <a:srgbClr val="A9C0D8"/>
            </a:solidFill>
          </a:ln>
        </p:spPr>
        <p:txBody>
          <a:bodyPr wrap="square" lIns="762" tIns="762" rIns="762" bIns="762"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GPT dataset</a:t>
            </a:r>
            <a:endParaRPr lang="en-US" sz="1500" dirty="0"/>
          </a:p>
        </p:txBody>
      </p:sp>
      <p:sp>
        <p:nvSpPr>
          <p:cNvPr id="14" name="Shape 12"/>
          <p:cNvSpPr/>
          <p:nvPr/>
        </p:nvSpPr>
        <p:spPr>
          <a:xfrm>
            <a:off x="5943600" y="3154680"/>
            <a:ext cx="320040" cy="0"/>
          </a:xfrm>
          <a:prstGeom prst="line">
            <a:avLst/>
          </a:prstGeom>
          <a:noFill/>
          <a:ln w="31750">
            <a:solidFill>
              <a:srgbClr val="A9C0D8"/>
            </a:solidFill>
            <a:prstDash val="solid"/>
            <a:tailEnd type="triangle"/>
          </a:ln>
        </p:spPr>
      </p:sp>
      <p:sp>
        <p:nvSpPr>
          <p:cNvPr id="15" name="Text 13"/>
          <p:cNvSpPr txBox="1"/>
          <p:nvPr/>
        </p:nvSpPr>
        <p:spPr>
          <a:xfrm>
            <a:off x="6217920" y="3749040"/>
            <a:ext cx="1737360" cy="274320"/>
          </a:xfrm>
          <a:prstGeom prst="rect">
            <a:avLst/>
          </a:prstGeom>
          <a:noFill/>
          <a:ln/>
        </p:spPr>
        <p:txBody>
          <a:bodyPr wrap="square" lIns="0" tIns="0" rIns="0" bIns="0" rtlCol="0" anchor="t"/>
          <a:lstStyle/>
          <a:p>
            <a:pPr algn="ctr" indent="0" marL="0">
              <a:buNone/>
            </a:pPr>
            <a:r>
              <a:rPr lang="en-US" sz="1200" dirty="0">
                <a:solidFill>
                  <a:srgbClr val="66768A"/>
                </a:solidFill>
                <a:latin typeface="Inter" pitchFamily="34" charset="0"/>
                <a:ea typeface="Inter" pitchFamily="34" charset="-122"/>
                <a:cs typeface="Inter" pitchFamily="34" charset="-120"/>
              </a:rPr>
              <a:t>examples → batches</a:t>
            </a:r>
            <a:endParaRPr lang="en-US" sz="1200" dirty="0"/>
          </a:p>
        </p:txBody>
      </p:sp>
      <p:sp>
        <p:nvSpPr>
          <p:cNvPr id="16" name="Text 14"/>
          <p:cNvSpPr txBox="1"/>
          <p:nvPr/>
        </p:nvSpPr>
        <p:spPr>
          <a:xfrm>
            <a:off x="6309360" y="2651760"/>
            <a:ext cx="1554480" cy="1005840"/>
          </a:xfrm>
          <a:prstGeom prst="roundRect">
            <a:avLst>
              <a:gd name="adj" fmla="val 13636"/>
            </a:avLst>
          </a:prstGeom>
          <a:solidFill>
            <a:srgbClr val="A9C0D8"/>
          </a:solidFill>
          <a:ln w="15875">
            <a:solidFill>
              <a:srgbClr val="A9C0D8"/>
            </a:solidFill>
          </a:ln>
        </p:spPr>
        <p:txBody>
          <a:bodyPr wrap="square" lIns="762" tIns="762" rIns="762" bIns="762"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Batching</a:t>
            </a:r>
            <a:endParaRPr lang="en-US" sz="1500" dirty="0"/>
          </a:p>
        </p:txBody>
      </p:sp>
      <p:sp>
        <p:nvSpPr>
          <p:cNvPr id="17" name="Shape 15"/>
          <p:cNvSpPr/>
          <p:nvPr/>
        </p:nvSpPr>
        <p:spPr>
          <a:xfrm>
            <a:off x="8138160" y="3154680"/>
            <a:ext cx="320040" cy="0"/>
          </a:xfrm>
          <a:prstGeom prst="line">
            <a:avLst/>
          </a:prstGeom>
          <a:noFill/>
          <a:ln w="31750">
            <a:solidFill>
              <a:srgbClr val="A9C0D8"/>
            </a:solidFill>
            <a:prstDash val="solid"/>
            <a:tailEnd type="triangle"/>
          </a:ln>
        </p:spPr>
      </p:sp>
      <p:sp>
        <p:nvSpPr>
          <p:cNvPr id="18" name="Text 16"/>
          <p:cNvSpPr txBox="1"/>
          <p:nvPr/>
        </p:nvSpPr>
        <p:spPr>
          <a:xfrm>
            <a:off x="8503920" y="2651760"/>
            <a:ext cx="1280160" cy="1005840"/>
          </a:xfrm>
          <a:prstGeom prst="roundRect">
            <a:avLst>
              <a:gd name="adj" fmla="val 13636"/>
            </a:avLst>
          </a:prstGeom>
          <a:solidFill>
            <a:srgbClr val="E8EFF7"/>
          </a:solidFill>
          <a:ln w="15875">
            <a:solidFill>
              <a:srgbClr val="A9C0D8"/>
            </a:solidFill>
          </a:ln>
        </p:spPr>
        <p:txBody>
          <a:bodyPr wrap="square" lIns="762" tIns="762" rIns="762" bIns="762"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Batches</a:t>
            </a:r>
            <a:endParaRPr lang="en-US" sz="1600" dirty="0"/>
          </a:p>
        </p:txBody>
      </p:sp>
      <p:sp>
        <p:nvSpPr>
          <p:cNvPr id="19" name="Shape 17"/>
          <p:cNvSpPr/>
          <p:nvPr/>
        </p:nvSpPr>
        <p:spPr>
          <a:xfrm>
            <a:off x="9829800" y="3154680"/>
            <a:ext cx="320040" cy="0"/>
          </a:xfrm>
          <a:prstGeom prst="line">
            <a:avLst/>
          </a:prstGeom>
          <a:noFill/>
          <a:ln w="31750">
            <a:solidFill>
              <a:srgbClr val="A9C0D8"/>
            </a:solidFill>
            <a:prstDash val="solid"/>
            <a:tailEnd type="triangle"/>
          </a:ln>
        </p:spPr>
      </p:sp>
      <p:sp>
        <p:nvSpPr>
          <p:cNvPr id="20" name="Text 18"/>
          <p:cNvSpPr txBox="1"/>
          <p:nvPr/>
        </p:nvSpPr>
        <p:spPr>
          <a:xfrm>
            <a:off x="10195560" y="2651760"/>
            <a:ext cx="1463040" cy="1005840"/>
          </a:xfrm>
          <a:prstGeom prst="roundRect">
            <a:avLst>
              <a:gd name="adj" fmla="val 13636"/>
            </a:avLst>
          </a:prstGeom>
          <a:solidFill>
            <a:srgbClr val="435466"/>
          </a:solidFill>
          <a:ln w="15875">
            <a:solidFill>
              <a:srgbClr val="435466"/>
            </a:solidFill>
          </a:ln>
        </p:spPr>
        <p:txBody>
          <a:bodyPr wrap="square" lIns="762" tIns="762" rIns="762" bIns="762"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Training step</a:t>
            </a:r>
            <a:endParaRPr lang="en-US" sz="1600" dirty="0"/>
          </a:p>
        </p:txBody>
      </p:sp>
      <p:sp>
        <p:nvSpPr>
          <p:cNvPr id="21" name="Text 19"/>
          <p:cNvSpPr txBox="1"/>
          <p:nvPr/>
        </p:nvSpPr>
        <p:spPr>
          <a:xfrm>
            <a:off x="640080" y="4434840"/>
            <a:ext cx="10908792" cy="457200"/>
          </a:xfrm>
          <a:prstGeom prst="rect">
            <a:avLst/>
          </a:prstGeom>
          <a:noFill/>
          <a:ln/>
        </p:spPr>
        <p:txBody>
          <a:bodyPr wrap="square" lIns="0" tIns="0" rIns="0" bIns="0" rtlCol="0" anchor="ctr"/>
          <a:lstStyle/>
          <a:p>
            <a:pPr algn="ctr" indent="0" marL="0">
              <a:buNone/>
            </a:pPr>
            <a:r>
              <a:rPr lang="en-US" sz="1800" dirty="0">
                <a:solidFill>
                  <a:srgbClr val="435466"/>
                </a:solidFill>
                <a:latin typeface="Inter" pitchFamily="34" charset="0"/>
                <a:ea typeface="Inter" pitchFamily="34" charset="-122"/>
                <a:cs typeface="Inter" pitchFamily="34" charset="-120"/>
              </a:rPr>
              <a:t>Each step, the model reads an input batch and checks its guesses against the target batch.</a:t>
            </a:r>
            <a:endParaRPr lang="en-US" sz="1800" dirty="0"/>
          </a:p>
        </p:txBody>
      </p:sp>
      <p:sp>
        <p:nvSpPr>
          <p:cNvPr id="22" name="Shape 20"/>
          <p:cNvSpPr/>
          <p:nvPr/>
        </p:nvSpPr>
        <p:spPr>
          <a:xfrm>
            <a:off x="640080" y="5166360"/>
            <a:ext cx="10908792" cy="960120"/>
          </a:xfrm>
          <a:prstGeom prst="roundRect">
            <a:avLst>
              <a:gd name="adj" fmla="val 14286"/>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23" name="Shape 21"/>
          <p:cNvSpPr/>
          <p:nvPr/>
        </p:nvSpPr>
        <p:spPr>
          <a:xfrm>
            <a:off x="914400" y="5372100"/>
            <a:ext cx="548640" cy="548640"/>
          </a:xfrm>
          <a:prstGeom prst="ellipse">
            <a:avLst/>
          </a:prstGeom>
          <a:solidFill>
            <a:srgbClr val="FFFFFF"/>
          </a:solidFill>
          <a:ln w="15875">
            <a:solidFill>
              <a:srgbClr val="8FA99B"/>
            </a:solidFill>
            <a:prstDash val="solid"/>
          </a:ln>
        </p:spPr>
      </p:sp>
      <p:pic>
        <p:nvPicPr>
          <p:cNvPr id="24" name="Image 0" descr="preencoded.png">    </p:cNvPr>
          <p:cNvPicPr>
            <a:picLocks noChangeAspect="1"/>
          </p:cNvPicPr>
          <p:nvPr/>
        </p:nvPicPr>
        <p:blipFill>
          <a:blip r:embed="rId1"/>
          <a:stretch>
            <a:fillRect/>
          </a:stretch>
        </p:blipFill>
        <p:spPr>
          <a:xfrm>
            <a:off x="1042416" y="5500116"/>
            <a:ext cx="292608" cy="292608"/>
          </a:xfrm>
          <a:prstGeom prst="rect">
            <a:avLst/>
          </a:prstGeom>
        </p:spPr>
      </p:pic>
      <p:sp>
        <p:nvSpPr>
          <p:cNvPr id="25" name="Text 22"/>
          <p:cNvSpPr txBox="1"/>
          <p:nvPr/>
        </p:nvSpPr>
        <p:spPr>
          <a:xfrm>
            <a:off x="1691640" y="5276088"/>
            <a:ext cx="9628632" cy="74066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TAKEAWAY</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The dataset makes the practice examples. The data loader serves them in batches.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Tokens to Training Batches</dc:title>
  <dc:subject>PptxGenJS Presentation</dc:subject>
  <dc:creator>PptxGenJS</dc:creator>
  <cp:lastModifiedBy>PptxGenJS</cp:lastModifiedBy>
  <cp:revision>1</cp:revision>
  <dcterms:created xsi:type="dcterms:W3CDTF">2026-09-24T09:27:57Z</dcterms:created>
  <dcterms:modified xsi:type="dcterms:W3CDTF">2026-09-24T09:27:57Z</dcterms:modified>
</cp:coreProperties>
</file>
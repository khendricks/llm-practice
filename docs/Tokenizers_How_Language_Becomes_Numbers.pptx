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slideLayouts/slideLayout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Inter"/>
              </a:rPr>
              <a:t>Click to move the slide</a:t>
            </a:r>
            <a:endParaRPr lang="en-US" sz="1800" b="0" u="none" strike="noStrike">
              <a:solidFill>
                <a:schemeClr val="dk1"/>
              </a:solidFill>
              <a:effectLst/>
              <a:uFillTx/>
              <a:latin typeface="Inter"/>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15A1FFC2-30B3-47BE-9B9D-2EF78191CFA3}"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sldImg"/>
          </p:nvPr>
        </p:nvSpPr>
        <p:spPr>
          <a:xfrm>
            <a:off x="685800" y="1143000"/>
            <a:ext cx="5486040" cy="3085920"/>
          </a:xfrm>
          <a:prstGeom prst="rect">
            <a:avLst/>
          </a:prstGeom>
          <a:ln w="0">
            <a:noFill/>
          </a:ln>
        </p:spPr>
      </p:sp>
      <p:sp>
        <p:nvSpPr>
          <p:cNvPr id="1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Today: how an AI language model turns sentences into numbers it can work with. That translation step is called tokenization.</a:t>
            </a:r>
            <a:endParaRPr lang="en-US" sz="2000" b="0" u="none" strike="noStrike">
              <a:solidFill>
                <a:srgbClr val="000000"/>
              </a:solidFill>
              <a:effectLst/>
              <a:uFillTx/>
              <a:latin typeface="Arial"/>
            </a:endParaRPr>
          </a:p>
        </p:txBody>
      </p:sp>
      <p:sp>
        <p:nvSpPr>
          <p:cNvPr id="155"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D337C2E-905D-4591-8E45-93BF0638B8E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sldImg"/>
          </p:nvPr>
        </p:nvSpPr>
        <p:spPr>
          <a:xfrm>
            <a:off x="685800" y="1143000"/>
            <a:ext cx="5486040" cy="3085920"/>
          </a:xfrm>
          <a:prstGeom prst="rect">
            <a:avLst/>
          </a:prstGeom>
          <a:ln w="0">
            <a:noFill/>
          </a:ln>
        </p:spPr>
      </p:sp>
      <p:sp>
        <p:nvSpPr>
          <p:cNvPr id="1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Computers only understand numbers. A tokenizer cuts a sentence into small pieces called tokens, then gives each token an ID number. Notice the space often travels with the word, so " falls" includes its leading space. The ID numbers here are examples.</a:t>
            </a:r>
            <a:endParaRPr lang="en-US" sz="2000" b="0" u="none" strike="noStrike">
              <a:solidFill>
                <a:srgbClr val="000000"/>
              </a:solidFill>
              <a:effectLst/>
              <a:uFillTx/>
              <a:latin typeface="Arial"/>
            </a:endParaRPr>
          </a:p>
        </p:txBody>
      </p:sp>
      <p:sp>
        <p:nvSpPr>
          <p:cNvPr id="158"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1E7AD51-3A8A-448B-8E88-77EFFCC09BD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sldImg"/>
          </p:nvPr>
        </p:nvSpPr>
        <p:spPr>
          <a:xfrm>
            <a:off x="685800" y="1143000"/>
            <a:ext cx="5486040" cy="3085920"/>
          </a:xfrm>
          <a:prstGeom prst="rect">
            <a:avLst/>
          </a:prstGeom>
          <a:ln w="0">
            <a:noFill/>
          </a:ln>
        </p:spPr>
      </p:sp>
      <p:sp>
        <p:nvSpPr>
          <p:cNvPr id="1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Encoding turns text into token IDs. Decoding turns token IDs back into readable text. A good tokenizer gives back exactly the sentence you started with. The IDs shown are examples.</a:t>
            </a:r>
            <a:endParaRPr lang="en-US" sz="2000" b="0" u="none" strike="noStrike">
              <a:solidFill>
                <a:srgbClr val="000000"/>
              </a:solidFill>
              <a:effectLst/>
              <a:uFillTx/>
              <a:latin typeface="Arial"/>
            </a:endParaRPr>
          </a:p>
        </p:txBody>
      </p:sp>
      <p:sp>
        <p:nvSpPr>
          <p:cNvPr id="161"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4455001-A771-44B4-B7D4-4DBB2F17CBB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sldImg"/>
          </p:nvPr>
        </p:nvSpPr>
        <p:spPr>
          <a:xfrm>
            <a:off x="685800" y="1143000"/>
            <a:ext cx="5486040" cy="3085920"/>
          </a:xfrm>
          <a:prstGeom prst="rect">
            <a:avLst/>
          </a:prstGeom>
          <a:ln w="0">
            <a:noFill/>
          </a:ln>
        </p:spPr>
      </p:sp>
      <p:sp>
        <p:nvSpPr>
          <p:cNvPr id="1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There are different kinds of tokenizers, and each cuts text differently. Character tokenizers: tiny pieces, simple but you get lots of them. Word tokenizers: natural, but any word the tokenizer never saw is a problem. BPE, byte pair encoding, reads lots of text and keeps a list of the word pieces that show up most often, like "sun" and "light". Common words can stay whole, and rare words get built from familiar pieces. The exact split depends on the tokenizer. BPE is a subword tokenizer; WordPiece and Unigram are other subword kinds you may hear about.</a:t>
            </a:r>
            <a:endParaRPr lang="en-US" sz="2000" b="0" u="none" strike="noStrike">
              <a:solidFill>
                <a:srgbClr val="000000"/>
              </a:solidFill>
              <a:effectLst/>
              <a:uFillTx/>
              <a:latin typeface="Arial"/>
            </a:endParaRPr>
          </a:p>
        </p:txBody>
      </p:sp>
      <p:sp>
        <p:nvSpPr>
          <p:cNvPr id="164"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6EE457A-17B1-4FAA-B997-9086228CE0F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sldImg"/>
          </p:nvPr>
        </p:nvSpPr>
        <p:spPr>
          <a:xfrm>
            <a:off x="685800" y="1143000"/>
            <a:ext cx="5486040" cy="3085920"/>
          </a:xfrm>
          <a:prstGeom prst="rect">
            <a:avLst/>
          </a:prstGeom>
          <a:ln w="0">
            <a:noFill/>
          </a:ln>
        </p:spPr>
      </p:sp>
      <p:sp>
        <p:nvSpPr>
          <p:cNvPr id="1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 vocabulary is a lookup list from text pieces to ID numbers. A simple word tokenizer looks up each word. "rain" is in the list, so it gets ID 1. "shimmers" is not, so it becomes the special unknown token, ID 3. Every unfamiliar word ends up looking the same to the model.</a:t>
            </a:r>
            <a:endParaRPr lang="en-US" sz="2000" b="0" u="none" strike="noStrike">
              <a:solidFill>
                <a:srgbClr val="000000"/>
              </a:solidFill>
              <a:effectLst/>
              <a:uFillTx/>
              <a:latin typeface="Arial"/>
            </a:endParaRPr>
          </a:p>
        </p:txBody>
      </p:sp>
      <p:sp>
        <p:nvSpPr>
          <p:cNvPr id="167"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099C1BC-F4B0-4EBD-A4D6-35A7EEB8472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sldImg"/>
          </p:nvPr>
        </p:nvSpPr>
        <p:spPr>
          <a:xfrm>
            <a:off x="685800" y="1143000"/>
            <a:ext cx="5486040" cy="3085920"/>
          </a:xfrm>
          <a:prstGeom prst="rect">
            <a:avLst/>
          </a:prstGeom>
          <a:ln w="0">
            <a:noFill/>
          </a:ln>
        </p:spPr>
      </p:sp>
      <p:sp>
        <p:nvSpPr>
          <p:cNvPr id="1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tokenizer is only one part of an LLM system. It turns text into token IDs at the start, and turns the predicted ID back into text at the end. In between, the language model does its own work: embeddings turn each ID into a list of numbers that carries meaning, transformer blocks look at how the tokens relate to each other, the output layer scores every token in the vocabulary, and sampling picks the next one. The loop repeats once for every new token.</a:t>
            </a:r>
            <a:endParaRPr lang="en-US" sz="2000" b="0" u="none" strike="noStrike">
              <a:solidFill>
                <a:srgbClr val="000000"/>
              </a:solidFill>
              <a:effectLst/>
              <a:uFillTx/>
              <a:latin typeface="Arial"/>
            </a:endParaRPr>
          </a:p>
        </p:txBody>
      </p:sp>
      <p:sp>
        <p:nvSpPr>
          <p:cNvPr id="170"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E5098A1-D645-4ACE-B28C-1F60C035DE5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Inter"/>
              </a:defRPr>
            </a:lvl1pPr>
          </a:lstStyle>
          <a:p>
            <a:pPr indent="0" algn="l">
              <a:buNone/>
            </a:pPr>
            <a:r>
              <a:rPr lang="en-US" sz="1800" b="0" u="none" strike="noStrike">
                <a:solidFill>
                  <a:schemeClr val="dk1"/>
                </a:solidFill>
                <a:effectLst/>
                <a:uFillTx/>
                <a:latin typeface="Inter"/>
              </a:rPr>
              <a:t>Click to edit the title text format</a:t>
            </a:r>
            <a:endParaRPr lang="en-US" sz="1800" b="0" u="none" strike="noStrike">
              <a:solidFill>
                <a:schemeClr val="dk1"/>
              </a:solidFill>
              <a:effectLst/>
              <a:uFillTx/>
              <a:latin typeface="Inter"/>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Inter"/>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Inter"/>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Inter"/>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Inter"/>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Inter"/>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Inter"/>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Inter"/>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Inter"/>
              </a:rPr>
              <a:t>Click to edit the outline text format</a:t>
            </a:r>
            <a:endParaRPr lang="en-US" sz="3200" b="0" u="none" strike="noStrike">
              <a:solidFill>
                <a:schemeClr val="dk1"/>
              </a:solidFill>
              <a:effectLst/>
              <a:uFillTx/>
              <a:latin typeface="Inter"/>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Inter"/>
              </a:rPr>
              <a:t>Second Outline Level</a:t>
            </a:r>
            <a:endParaRPr lang="en-US" sz="2400" b="0" u="none" strike="noStrike">
              <a:solidFill>
                <a:schemeClr val="dk1"/>
              </a:solidFill>
              <a:effectLst/>
              <a:uFillTx/>
              <a:latin typeface="Inter"/>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Inter"/>
              </a:rPr>
              <a:t>Third Outline Level</a:t>
            </a:r>
            <a:endParaRPr lang="en-US" sz="2000" b="0" u="none" strike="noStrike">
              <a:solidFill>
                <a:schemeClr val="dk1"/>
              </a:solidFill>
              <a:effectLst/>
              <a:uFillTx/>
              <a:latin typeface="Inter"/>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Inter"/>
              </a:rPr>
              <a:t>Fourth Outline Level</a:t>
            </a:r>
            <a:endParaRPr lang="en-US" sz="2000" b="0" u="none" strike="noStrike">
              <a:solidFill>
                <a:schemeClr val="dk1"/>
              </a:solidFill>
              <a:effectLst/>
              <a:uFillTx/>
              <a:latin typeface="Inter"/>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Inter"/>
              </a:rPr>
              <a:t>Fifth Outline Level</a:t>
            </a:r>
            <a:endParaRPr lang="en-US" sz="2000" b="0" u="none" strike="noStrike">
              <a:solidFill>
                <a:schemeClr val="dk1"/>
              </a:solidFill>
              <a:effectLst/>
              <a:uFillTx/>
              <a:latin typeface="Inter"/>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Inter"/>
              </a:rPr>
              <a:t>Sixth Outline Level</a:t>
            </a:r>
            <a:endParaRPr lang="en-US" sz="2000" b="0" u="none" strike="noStrike">
              <a:solidFill>
                <a:schemeClr val="dk1"/>
              </a:solidFill>
              <a:effectLst/>
              <a:uFillTx/>
              <a:latin typeface="Inter"/>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Inter"/>
              </a:rPr>
              <a:t>Seventh Outline Level</a:t>
            </a:r>
            <a:endParaRPr lang="en-US" sz="2000" b="0" u="none" strike="noStrike">
              <a:solidFill>
                <a:schemeClr val="dk1"/>
              </a:solidFill>
              <a:effectLst/>
              <a:uFillTx/>
              <a:latin typeface="Inter"/>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7F2"/>
        </a:solidFill>
      </p:bgPr>
    </p:bg>
    <p:spTree>
      <p:nvGrpSpPr>
        <p:cNvPr id="1" name=""/>
        <p:cNvGrpSpPr/>
        <p:nvPr/>
      </p:nvGrpSpPr>
      <p:grpSpPr>
        <a:xfrm>
          <a:off x="0" y="0"/>
          <a:ext cx="0" cy="0"/>
          <a:chOff x="0" y="0"/>
          <a:chExt cx="0" cy="0"/>
        </a:xfrm>
      </p:grpSpPr>
      <p:sp>
        <p:nvSpPr>
          <p:cNvPr id="10" name="Text 0"/>
          <p:cNvSpPr/>
          <p:nvPr/>
        </p:nvSpPr>
        <p:spPr>
          <a:xfrm>
            <a:off x="731520" y="1005840"/>
            <a:ext cx="10698120" cy="1554120"/>
          </a:xfrm>
          <a:prstGeom prst="rect">
            <a:avLst/>
          </a:prstGeom>
          <a:noFill/>
          <a:ln w="0">
            <a:noFill/>
          </a:ln>
        </p:spPr>
        <p:style>
          <a:lnRef idx="0"/>
          <a:fillRef idx="0"/>
          <a:effectRef idx="0"/>
          <a:fontRef idx="minor"/>
        </p:style>
        <p:txBody>
          <a:bodyPr lIns="0" tIns="0" rIns="0" bIns="0" anchor="b">
            <a:noAutofit/>
          </a:bodyPr>
          <a:p>
            <a:pPr defTabSz="914400">
              <a:lnSpc>
                <a:spcPct val="100000"/>
              </a:lnSpc>
              <a:tabLst>
                <a:tab pos="0" algn="l"/>
              </a:tabLst>
            </a:pPr>
            <a:r>
              <a:rPr lang="en-US" sz="4400" b="1" u="none" strike="noStrike">
                <a:solidFill>
                  <a:srgbClr val="435466"/>
                </a:solidFill>
                <a:effectLst/>
                <a:uFillTx/>
                <a:latin typeface="Inter"/>
                <a:ea typeface="Inter"/>
              </a:rPr>
              <a:t>Tokenizers: How Language Becomes Numbers</a:t>
            </a:r>
            <a:endParaRPr lang="en-US" sz="4400" b="0" u="none" strike="noStrike">
              <a:solidFill>
                <a:srgbClr val="000000"/>
              </a:solidFill>
              <a:effectLst/>
              <a:uFillTx/>
              <a:latin typeface="Arial"/>
            </a:endParaRPr>
          </a:p>
        </p:txBody>
      </p:sp>
      <p:sp>
        <p:nvSpPr>
          <p:cNvPr id="11" name="Text 1"/>
          <p:cNvSpPr/>
          <p:nvPr/>
        </p:nvSpPr>
        <p:spPr>
          <a:xfrm>
            <a:off x="731520" y="2743200"/>
            <a:ext cx="1069812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0" u="none" strike="noStrike">
                <a:solidFill>
                  <a:srgbClr val="66768A"/>
                </a:solidFill>
                <a:effectLst/>
                <a:uFillTx/>
                <a:latin typeface="Inter"/>
                <a:ea typeface="Inter"/>
              </a:rPr>
              <a:t>The first step in teaching a computer to read</a:t>
            </a:r>
            <a:endParaRPr lang="en-US" sz="2200" b="0" u="none" strike="noStrike">
              <a:solidFill>
                <a:srgbClr val="000000"/>
              </a:solidFill>
              <a:effectLst/>
              <a:uFillTx/>
              <a:latin typeface="Arial"/>
            </a:endParaRPr>
          </a:p>
        </p:txBody>
      </p:sp>
      <p:sp>
        <p:nvSpPr>
          <p:cNvPr id="12" name="Text 2"/>
          <p:cNvSpPr/>
          <p:nvPr/>
        </p:nvSpPr>
        <p:spPr>
          <a:xfrm>
            <a:off x="731520" y="4160520"/>
            <a:ext cx="3291480" cy="822600"/>
          </a:xfrm>
          <a:prstGeom prst="roundRect">
            <a:avLst>
              <a:gd name="adj" fmla="val 11111"/>
            </a:avLst>
          </a:prstGeom>
          <a:solidFill>
            <a:srgbClr val="E4ECE7"/>
          </a:solidFill>
          <a:ln w="15875">
            <a:solidFill>
              <a:srgbClr val="8FA99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2000" b="0" u="none" strike="noStrike">
                <a:solidFill>
                  <a:srgbClr val="435466"/>
                </a:solidFill>
                <a:effectLst/>
                <a:uFillTx/>
                <a:latin typeface="Inter"/>
                <a:ea typeface="Inter"/>
              </a:rPr>
              <a:t>"Rain falls softly"</a:t>
            </a:r>
            <a:endParaRPr lang="en-US" sz="2000" b="0" u="none" strike="noStrike">
              <a:solidFill>
                <a:srgbClr val="000000"/>
              </a:solidFill>
              <a:effectLst/>
              <a:uFillTx/>
              <a:latin typeface="Arial"/>
            </a:endParaRPr>
          </a:p>
        </p:txBody>
      </p:sp>
      <p:sp>
        <p:nvSpPr>
          <p:cNvPr id="13" name="Shape 3"/>
          <p:cNvSpPr/>
          <p:nvPr/>
        </p:nvSpPr>
        <p:spPr>
          <a:xfrm>
            <a:off x="4160520" y="4572000"/>
            <a:ext cx="640080" cy="360"/>
          </a:xfrm>
          <a:prstGeom prst="line">
            <a:avLst/>
          </a:prstGeom>
          <a:ln w="31750">
            <a:solidFill>
              <a:srgbClr val="A9C0D8"/>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4" name="Text 4"/>
          <p:cNvSpPr/>
          <p:nvPr/>
        </p:nvSpPr>
        <p:spPr>
          <a:xfrm>
            <a:off x="4937760" y="4160520"/>
            <a:ext cx="2194200" cy="822600"/>
          </a:xfrm>
          <a:prstGeom prst="roundRect">
            <a:avLst>
              <a:gd name="adj" fmla="val 11111"/>
            </a:avLst>
          </a:prstGeom>
          <a:solidFill>
            <a:srgbClr val="A9C0D8"/>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435466"/>
                </a:solidFill>
                <a:effectLst/>
                <a:uFillTx/>
                <a:latin typeface="Inter"/>
                <a:ea typeface="Inter"/>
              </a:rPr>
              <a:t>Tokenizer</a:t>
            </a:r>
            <a:endParaRPr lang="en-US" sz="2000" b="0" u="none" strike="noStrike">
              <a:solidFill>
                <a:srgbClr val="000000"/>
              </a:solidFill>
              <a:effectLst/>
              <a:uFillTx/>
              <a:latin typeface="Arial"/>
            </a:endParaRPr>
          </a:p>
        </p:txBody>
      </p:sp>
      <p:sp>
        <p:nvSpPr>
          <p:cNvPr id="15" name="Shape 5"/>
          <p:cNvSpPr/>
          <p:nvPr/>
        </p:nvSpPr>
        <p:spPr>
          <a:xfrm>
            <a:off x="7269480" y="4572000"/>
            <a:ext cx="640080" cy="360"/>
          </a:xfrm>
          <a:prstGeom prst="line">
            <a:avLst/>
          </a:prstGeom>
          <a:ln w="31750">
            <a:solidFill>
              <a:srgbClr val="A9C0D8"/>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6" name="Text 6"/>
          <p:cNvSpPr/>
          <p:nvPr/>
        </p:nvSpPr>
        <p:spPr>
          <a:xfrm>
            <a:off x="8046720" y="4160520"/>
            <a:ext cx="1051200" cy="822600"/>
          </a:xfrm>
          <a:prstGeom prst="roundRect">
            <a:avLst>
              <a:gd name="adj" fmla="val 11111"/>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2000" b="0" u="none" strike="noStrike">
                <a:solidFill>
                  <a:srgbClr val="435466"/>
                </a:solidFill>
                <a:effectLst/>
                <a:uFillTx/>
                <a:latin typeface="Inter"/>
                <a:ea typeface="Inter"/>
              </a:rPr>
              <a:t>18810</a:t>
            </a:r>
            <a:endParaRPr lang="en-US" sz="2000" b="0" u="none" strike="noStrike">
              <a:solidFill>
                <a:srgbClr val="000000"/>
              </a:solidFill>
              <a:effectLst/>
              <a:uFillTx/>
              <a:latin typeface="Arial"/>
            </a:endParaRPr>
          </a:p>
        </p:txBody>
      </p:sp>
      <p:sp>
        <p:nvSpPr>
          <p:cNvPr id="17" name="Text 7"/>
          <p:cNvSpPr/>
          <p:nvPr/>
        </p:nvSpPr>
        <p:spPr>
          <a:xfrm>
            <a:off x="9235440" y="4160520"/>
            <a:ext cx="1051200" cy="822600"/>
          </a:xfrm>
          <a:prstGeom prst="roundRect">
            <a:avLst>
              <a:gd name="adj" fmla="val 11111"/>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2000" b="0" u="none" strike="noStrike">
                <a:solidFill>
                  <a:srgbClr val="435466"/>
                </a:solidFill>
                <a:effectLst/>
                <a:uFillTx/>
                <a:latin typeface="Inter"/>
                <a:ea typeface="Inter"/>
              </a:rPr>
              <a:t>17118</a:t>
            </a:r>
            <a:endParaRPr lang="en-US" sz="2000" b="0" u="none" strike="noStrike">
              <a:solidFill>
                <a:srgbClr val="000000"/>
              </a:solidFill>
              <a:effectLst/>
              <a:uFillTx/>
              <a:latin typeface="Arial"/>
            </a:endParaRPr>
          </a:p>
        </p:txBody>
      </p:sp>
      <p:sp>
        <p:nvSpPr>
          <p:cNvPr id="18" name="Text 8"/>
          <p:cNvSpPr/>
          <p:nvPr/>
        </p:nvSpPr>
        <p:spPr>
          <a:xfrm>
            <a:off x="10424160" y="4160520"/>
            <a:ext cx="1051200" cy="822600"/>
          </a:xfrm>
          <a:prstGeom prst="roundRect">
            <a:avLst>
              <a:gd name="adj" fmla="val 11111"/>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2000" b="0" u="none" strike="noStrike">
                <a:solidFill>
                  <a:srgbClr val="435466"/>
                </a:solidFill>
                <a:effectLst/>
                <a:uFillTx/>
                <a:latin typeface="Inter"/>
                <a:ea typeface="Inter"/>
              </a:rPr>
              <a:t>23270</a:t>
            </a:r>
            <a:endParaRPr lang="en-US" sz="2000" b="0" u="none" strike="noStrike">
              <a:solidFill>
                <a:srgbClr val="000000"/>
              </a:solidFill>
              <a:effectLst/>
              <a:uFillTx/>
              <a:latin typeface="Arial"/>
            </a:endParaRPr>
          </a:p>
        </p:txBody>
      </p:sp>
      <p:sp>
        <p:nvSpPr>
          <p:cNvPr id="19" name="Text 9"/>
          <p:cNvSpPr/>
          <p:nvPr/>
        </p:nvSpPr>
        <p:spPr>
          <a:xfrm>
            <a:off x="731520" y="5120640"/>
            <a:ext cx="329148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0" u="none" strike="noStrike">
                <a:solidFill>
                  <a:srgbClr val="66768A"/>
                </a:solidFill>
                <a:effectLst/>
                <a:uFillTx/>
                <a:latin typeface="Inter"/>
                <a:ea typeface="Inter"/>
              </a:rPr>
              <a:t>text</a:t>
            </a:r>
            <a:endParaRPr lang="en-US" sz="1300" b="0" u="none" strike="noStrike">
              <a:solidFill>
                <a:srgbClr val="000000"/>
              </a:solidFill>
              <a:effectLst/>
              <a:uFillTx/>
              <a:latin typeface="Arial"/>
            </a:endParaRPr>
          </a:p>
        </p:txBody>
      </p:sp>
      <p:sp>
        <p:nvSpPr>
          <p:cNvPr id="20" name="Text 10"/>
          <p:cNvSpPr/>
          <p:nvPr/>
        </p:nvSpPr>
        <p:spPr>
          <a:xfrm>
            <a:off x="4937760" y="5120640"/>
            <a:ext cx="219420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0" u="none" strike="noStrike">
                <a:solidFill>
                  <a:srgbClr val="66768A"/>
                </a:solidFill>
                <a:effectLst/>
                <a:uFillTx/>
                <a:latin typeface="Inter"/>
                <a:ea typeface="Inter"/>
              </a:rPr>
              <a:t>splits and labels</a:t>
            </a:r>
            <a:endParaRPr lang="en-US" sz="1300" b="0" u="none" strike="noStrike">
              <a:solidFill>
                <a:srgbClr val="000000"/>
              </a:solidFill>
              <a:effectLst/>
              <a:uFillTx/>
              <a:latin typeface="Arial"/>
            </a:endParaRPr>
          </a:p>
        </p:txBody>
      </p:sp>
      <p:sp>
        <p:nvSpPr>
          <p:cNvPr id="21" name="Text 11"/>
          <p:cNvSpPr/>
          <p:nvPr/>
        </p:nvSpPr>
        <p:spPr>
          <a:xfrm>
            <a:off x="8046720" y="5120640"/>
            <a:ext cx="342864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0" u="none" strike="noStrike">
                <a:solidFill>
                  <a:srgbClr val="66768A"/>
                </a:solidFill>
                <a:effectLst/>
                <a:uFillTx/>
                <a:latin typeface="Inter"/>
                <a:ea typeface="Inter"/>
              </a:rPr>
              <a:t>numbers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7F2"/>
        </a:solidFill>
      </p:bgPr>
    </p:bg>
    <p:spTree>
      <p:nvGrpSpPr>
        <p:cNvPr id="1" name=""/>
        <p:cNvGrpSpPr/>
        <p:nvPr/>
      </p:nvGrpSpPr>
      <p:grpSpPr>
        <a:xfrm>
          <a:off x="0" y="0"/>
          <a:ext cx="0" cy="0"/>
          <a:chOff x="0" y="0"/>
          <a:chExt cx="0" cy="0"/>
        </a:xfrm>
      </p:grpSpPr>
      <p:sp>
        <p:nvSpPr>
          <p:cNvPr id="22" name="Text 0"/>
          <p:cNvSpPr/>
          <p:nvPr/>
        </p:nvSpPr>
        <p:spPr>
          <a:xfrm>
            <a:off x="11155680" y="6446520"/>
            <a:ext cx="54828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6768A"/>
                </a:solidFill>
                <a:effectLst/>
                <a:uFillTx/>
                <a:latin typeface="Inter"/>
                <a:ea typeface="Inter"/>
              </a:rPr>
              <a:t>2</a:t>
            </a:r>
            <a:endParaRPr lang="en-US" sz="1100" b="0" u="none" strike="noStrike">
              <a:solidFill>
                <a:srgbClr val="000000"/>
              </a:solidFill>
              <a:effectLst/>
              <a:uFillTx/>
              <a:latin typeface="Arial"/>
            </a:endParaRPr>
          </a:p>
        </p:txBody>
      </p:sp>
      <p:sp>
        <p:nvSpPr>
          <p:cNvPr id="23" name="Text 1"/>
          <p:cNvSpPr/>
          <p:nvPr/>
        </p:nvSpPr>
        <p:spPr>
          <a:xfrm>
            <a:off x="640080" y="411480"/>
            <a:ext cx="108810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rgbClr val="435466"/>
                </a:solidFill>
                <a:effectLst/>
                <a:uFillTx/>
                <a:latin typeface="Inter"/>
                <a:ea typeface="Inter"/>
              </a:rPr>
              <a:t>What is a tokenizer?</a:t>
            </a:r>
            <a:endParaRPr lang="en-US" sz="3600" b="0" u="none" strike="noStrike">
              <a:solidFill>
                <a:srgbClr val="000000"/>
              </a:solidFill>
              <a:effectLst/>
              <a:uFillTx/>
              <a:latin typeface="Arial"/>
            </a:endParaRPr>
          </a:p>
        </p:txBody>
      </p:sp>
      <p:sp>
        <p:nvSpPr>
          <p:cNvPr id="24" name="Text 2"/>
          <p:cNvSpPr/>
          <p:nvPr/>
        </p:nvSpPr>
        <p:spPr>
          <a:xfrm>
            <a:off x="640080" y="1645920"/>
            <a:ext cx="502560" cy="502560"/>
          </a:xfrm>
          <a:prstGeom prst="ellipse">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435466"/>
                </a:solidFill>
                <a:effectLst/>
                <a:uFillTx/>
                <a:latin typeface="Inter"/>
                <a:ea typeface="Inter"/>
              </a:rPr>
              <a:t>1</a:t>
            </a:r>
            <a:endParaRPr lang="en-US" sz="1600" b="0" u="none" strike="noStrike">
              <a:solidFill>
                <a:srgbClr val="000000"/>
              </a:solidFill>
              <a:effectLst/>
              <a:uFillTx/>
              <a:latin typeface="Arial"/>
            </a:endParaRPr>
          </a:p>
        </p:txBody>
      </p:sp>
      <p:sp>
        <p:nvSpPr>
          <p:cNvPr id="25" name="Text 3"/>
          <p:cNvSpPr/>
          <p:nvPr/>
        </p:nvSpPr>
        <p:spPr>
          <a:xfrm>
            <a:off x="1371600" y="1600200"/>
            <a:ext cx="438876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rgbClr val="435466"/>
                </a:solidFill>
                <a:effectLst/>
                <a:uFillTx/>
                <a:latin typeface="Inter"/>
                <a:ea typeface="Inter"/>
              </a:rPr>
              <a:t>Computers can't read words.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66768A"/>
                </a:solidFill>
                <a:effectLst/>
                <a:uFillTx/>
                <a:latin typeface="Inter"/>
                <a:ea typeface="Inter"/>
              </a:rPr>
              <a:t>They only work with numbers.</a:t>
            </a:r>
            <a:endParaRPr lang="en-US" sz="1800" b="0" u="none" strike="noStrike">
              <a:solidFill>
                <a:srgbClr val="000000"/>
              </a:solidFill>
              <a:effectLst/>
              <a:uFillTx/>
              <a:latin typeface="Arial"/>
            </a:endParaRPr>
          </a:p>
        </p:txBody>
      </p:sp>
      <p:sp>
        <p:nvSpPr>
          <p:cNvPr id="26" name="Text 4"/>
          <p:cNvSpPr/>
          <p:nvPr/>
        </p:nvSpPr>
        <p:spPr>
          <a:xfrm>
            <a:off x="640080" y="2743200"/>
            <a:ext cx="502560" cy="502560"/>
          </a:xfrm>
          <a:prstGeom prst="ellipse">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435466"/>
                </a:solidFill>
                <a:effectLst/>
                <a:uFillTx/>
                <a:latin typeface="Inter"/>
                <a:ea typeface="Inter"/>
              </a:rPr>
              <a:t>2</a:t>
            </a:r>
            <a:endParaRPr lang="en-US" sz="1600" b="0" u="none" strike="noStrike">
              <a:solidFill>
                <a:srgbClr val="000000"/>
              </a:solidFill>
              <a:effectLst/>
              <a:uFillTx/>
              <a:latin typeface="Arial"/>
            </a:endParaRPr>
          </a:p>
        </p:txBody>
      </p:sp>
      <p:sp>
        <p:nvSpPr>
          <p:cNvPr id="27" name="Text 5"/>
          <p:cNvSpPr/>
          <p:nvPr/>
        </p:nvSpPr>
        <p:spPr>
          <a:xfrm>
            <a:off x="1371600" y="2697480"/>
            <a:ext cx="438876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rgbClr val="435466"/>
                </a:solidFill>
                <a:effectLst/>
                <a:uFillTx/>
                <a:latin typeface="Inter"/>
                <a:ea typeface="Inter"/>
              </a:rPr>
              <a:t>A tokenizer cuts text into tokens.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66768A"/>
                </a:solidFill>
                <a:effectLst/>
                <a:uFillTx/>
                <a:latin typeface="Inter"/>
                <a:ea typeface="Inter"/>
              </a:rPr>
              <a:t>A token is a small piece of text.</a:t>
            </a:r>
            <a:endParaRPr lang="en-US" sz="1800" b="0" u="none" strike="noStrike">
              <a:solidFill>
                <a:srgbClr val="000000"/>
              </a:solidFill>
              <a:effectLst/>
              <a:uFillTx/>
              <a:latin typeface="Arial"/>
            </a:endParaRPr>
          </a:p>
        </p:txBody>
      </p:sp>
      <p:sp>
        <p:nvSpPr>
          <p:cNvPr id="28" name="Text 6"/>
          <p:cNvSpPr/>
          <p:nvPr/>
        </p:nvSpPr>
        <p:spPr>
          <a:xfrm>
            <a:off x="640080" y="3840480"/>
            <a:ext cx="502560" cy="502560"/>
          </a:xfrm>
          <a:prstGeom prst="ellipse">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435466"/>
                </a:solidFill>
                <a:effectLst/>
                <a:uFillTx/>
                <a:latin typeface="Inter"/>
                <a:ea typeface="Inter"/>
              </a:rPr>
              <a:t>3</a:t>
            </a:r>
            <a:endParaRPr lang="en-US" sz="1600" b="0" u="none" strike="noStrike">
              <a:solidFill>
                <a:srgbClr val="000000"/>
              </a:solidFill>
              <a:effectLst/>
              <a:uFillTx/>
              <a:latin typeface="Arial"/>
            </a:endParaRPr>
          </a:p>
        </p:txBody>
      </p:sp>
      <p:sp>
        <p:nvSpPr>
          <p:cNvPr id="29" name="Text 7"/>
          <p:cNvSpPr/>
          <p:nvPr/>
        </p:nvSpPr>
        <p:spPr>
          <a:xfrm>
            <a:off x="1371600" y="3794760"/>
            <a:ext cx="438876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rgbClr val="435466"/>
                </a:solidFill>
                <a:effectLst/>
                <a:uFillTx/>
                <a:latin typeface="Inter"/>
                <a:ea typeface="Inter"/>
              </a:rPr>
              <a:t>Each token gets an ID.</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66768A"/>
                </a:solidFill>
                <a:effectLst/>
                <a:uFillTx/>
                <a:latin typeface="Inter"/>
                <a:ea typeface="Inter"/>
              </a:rPr>
              <a:t>An ID is a number, like a name tag.</a:t>
            </a:r>
            <a:endParaRPr lang="en-US" sz="1800" b="0" u="none" strike="noStrike">
              <a:solidFill>
                <a:srgbClr val="000000"/>
              </a:solidFill>
              <a:effectLst/>
              <a:uFillTx/>
              <a:latin typeface="Arial"/>
            </a:endParaRPr>
          </a:p>
        </p:txBody>
      </p:sp>
      <p:sp>
        <p:nvSpPr>
          <p:cNvPr id="30" name="Shape 8"/>
          <p:cNvSpPr/>
          <p:nvPr/>
        </p:nvSpPr>
        <p:spPr>
          <a:xfrm>
            <a:off x="640080" y="5074920"/>
            <a:ext cx="5120280" cy="1051200"/>
          </a:xfrm>
          <a:prstGeom prst="roundRect">
            <a:avLst>
              <a:gd name="adj" fmla="val 13043"/>
            </a:avLst>
          </a:prstGeom>
          <a:solidFill>
            <a:srgbClr val="E4ECE7"/>
          </a:solidFill>
          <a:ln w="15875">
            <a:solidFill>
              <a:srgbClr val="8FA99B"/>
            </a:solidFill>
            <a:round/>
          </a:ln>
          <a:effectLst>
            <a:outerShdw algn="bl" blurRad="101520" dir="5400000" dist="25560" kx="0" ky="0" rotWithShape="0" sx="100000" sy="100000">
              <a:srgbClr val="435466">
                <a:alpha val="8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1" name="Shape 9"/>
          <p:cNvSpPr/>
          <p:nvPr/>
        </p:nvSpPr>
        <p:spPr>
          <a:xfrm>
            <a:off x="914400" y="5326560"/>
            <a:ext cx="548280" cy="548280"/>
          </a:xfrm>
          <a:prstGeom prst="ellipse">
            <a:avLst/>
          </a:prstGeom>
          <a:solidFill>
            <a:srgbClr val="FFFFFF"/>
          </a:solidFill>
          <a:ln w="15875">
            <a:solidFill>
              <a:srgbClr val="8FA99B"/>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32" name="Image 0" descr="preencoded.png"/>
          <p:cNvPicPr/>
          <p:nvPr/>
        </p:nvPicPr>
        <p:blipFill>
          <a:blip r:embed="rId1"/>
          <a:stretch/>
        </p:blipFill>
        <p:spPr>
          <a:xfrm>
            <a:off x="1042560" y="5454360"/>
            <a:ext cx="292320" cy="292320"/>
          </a:xfrm>
          <a:prstGeom prst="rect">
            <a:avLst/>
          </a:prstGeom>
          <a:noFill/>
          <a:ln w="0">
            <a:noFill/>
          </a:ln>
        </p:spPr>
      </p:pic>
      <p:sp>
        <p:nvSpPr>
          <p:cNvPr id="33" name="Text 10"/>
          <p:cNvSpPr/>
          <p:nvPr/>
        </p:nvSpPr>
        <p:spPr>
          <a:xfrm>
            <a:off x="1691640" y="5184720"/>
            <a:ext cx="3840120" cy="831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201" strike="noStrike">
                <a:solidFill>
                  <a:srgbClr val="435466"/>
                </a:solidFill>
                <a:effectLst/>
                <a:uFillTx/>
                <a:latin typeface="Inter"/>
                <a:ea typeface="Inter"/>
              </a:rPr>
              <a:t>KEY IDEA</a:t>
            </a:r>
            <a:endParaRPr lang="en-US" sz="1200" b="0" u="none" strike="noStrike">
              <a:solidFill>
                <a:srgbClr val="000000"/>
              </a:solidFill>
              <a:effectLst/>
              <a:uFillTx/>
              <a:latin typeface="Arial"/>
            </a:endParaRPr>
          </a:p>
          <a:p>
            <a:pPr defTabSz="914400">
              <a:lnSpc>
                <a:spcPct val="100000"/>
              </a:lnSpc>
              <a:tabLst>
                <a:tab pos="0" algn="l"/>
              </a:tabLst>
            </a:pPr>
            <a:r>
              <a:rPr lang="en-US" sz="2000" b="0" u="none" strike="noStrike">
                <a:solidFill>
                  <a:srgbClr val="435466"/>
                </a:solidFill>
                <a:effectLst/>
                <a:uFillTx/>
                <a:latin typeface="Inter"/>
                <a:ea typeface="Inter"/>
              </a:rPr>
              <a:t>A tokenizer translates text into numbers.</a:t>
            </a:r>
            <a:endParaRPr lang="en-US" sz="2000" b="0" u="none" strike="noStrike">
              <a:solidFill>
                <a:srgbClr val="000000"/>
              </a:solidFill>
              <a:effectLst/>
              <a:uFillTx/>
              <a:latin typeface="Arial"/>
            </a:endParaRPr>
          </a:p>
        </p:txBody>
      </p:sp>
      <p:sp>
        <p:nvSpPr>
          <p:cNvPr id="34" name="Shape 11"/>
          <p:cNvSpPr/>
          <p:nvPr/>
        </p:nvSpPr>
        <p:spPr>
          <a:xfrm>
            <a:off x="6309360" y="1417320"/>
            <a:ext cx="5257440" cy="4754520"/>
          </a:xfrm>
          <a:prstGeom prst="roundRect">
            <a:avLst>
              <a:gd name="adj" fmla="val 2885"/>
            </a:avLst>
          </a:prstGeom>
          <a:solidFill>
            <a:srgbClr val="FFFFFF"/>
          </a:solidFill>
          <a:ln w="15875">
            <a:solidFill>
              <a:srgbClr val="D9E1E8"/>
            </a:solidFill>
            <a:round/>
          </a:ln>
          <a:effectLst>
            <a:outerShdw algn="bl" blurRad="101520" dir="5400000" dist="25560" kx="0" ky="0" rotWithShape="0" sx="100000" sy="100000">
              <a:srgbClr val="435466">
                <a:alpha val="8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5" name="Text 12"/>
          <p:cNvSpPr/>
          <p:nvPr/>
        </p:nvSpPr>
        <p:spPr>
          <a:xfrm>
            <a:off x="6309360" y="1600200"/>
            <a:ext cx="525744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66768A"/>
                </a:solidFill>
                <a:effectLst/>
                <a:uFillTx/>
                <a:latin typeface="Inter"/>
                <a:ea typeface="Inter"/>
              </a:rPr>
              <a:t>Text</a:t>
            </a:r>
            <a:endParaRPr lang="en-US" sz="1300" b="0" u="none" strike="noStrike">
              <a:solidFill>
                <a:srgbClr val="000000"/>
              </a:solidFill>
              <a:effectLst/>
              <a:uFillTx/>
              <a:latin typeface="Arial"/>
            </a:endParaRPr>
          </a:p>
        </p:txBody>
      </p:sp>
      <p:sp>
        <p:nvSpPr>
          <p:cNvPr id="36" name="Text 13"/>
          <p:cNvSpPr/>
          <p:nvPr/>
        </p:nvSpPr>
        <p:spPr>
          <a:xfrm>
            <a:off x="7292520" y="1901880"/>
            <a:ext cx="3291480" cy="594000"/>
          </a:xfrm>
          <a:prstGeom prst="roundRect">
            <a:avLst>
              <a:gd name="adj" fmla="val 15385"/>
            </a:avLst>
          </a:prstGeom>
          <a:solidFill>
            <a:srgbClr val="E4ECE7"/>
          </a:solidFill>
          <a:ln w="15875">
            <a:solidFill>
              <a:srgbClr val="8FA99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2000" b="0" u="none" strike="noStrike">
                <a:solidFill>
                  <a:srgbClr val="435466"/>
                </a:solidFill>
                <a:effectLst/>
                <a:uFillTx/>
                <a:latin typeface="Inter"/>
                <a:ea typeface="Inter"/>
              </a:rPr>
              <a:t>"Rain falls softly"</a:t>
            </a:r>
            <a:endParaRPr lang="en-US" sz="2000" b="0" u="none" strike="noStrike">
              <a:solidFill>
                <a:srgbClr val="000000"/>
              </a:solidFill>
              <a:effectLst/>
              <a:uFillTx/>
              <a:latin typeface="Arial"/>
            </a:endParaRPr>
          </a:p>
        </p:txBody>
      </p:sp>
      <p:sp>
        <p:nvSpPr>
          <p:cNvPr id="37" name="Shape 14"/>
          <p:cNvSpPr/>
          <p:nvPr/>
        </p:nvSpPr>
        <p:spPr>
          <a:xfrm>
            <a:off x="8938080" y="2587680"/>
            <a:ext cx="360" cy="457200"/>
          </a:xfrm>
          <a:prstGeom prst="line">
            <a:avLst/>
          </a:prstGeom>
          <a:ln w="31750">
            <a:solidFill>
              <a:srgbClr val="A9C0D8"/>
            </a:solidFill>
            <a:round/>
            <a:tailEnd len="med" type="triangle" w="me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38" name="Text 15"/>
          <p:cNvSpPr/>
          <p:nvPr/>
        </p:nvSpPr>
        <p:spPr>
          <a:xfrm>
            <a:off x="7841160" y="3108960"/>
            <a:ext cx="2194200" cy="548280"/>
          </a:xfrm>
          <a:prstGeom prst="roundRect">
            <a:avLst>
              <a:gd name="adj" fmla="val 16667"/>
            </a:avLst>
          </a:prstGeom>
          <a:solidFill>
            <a:srgbClr val="A9C0D8"/>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435466"/>
                </a:solidFill>
                <a:effectLst/>
                <a:uFillTx/>
                <a:latin typeface="Inter"/>
                <a:ea typeface="Inter"/>
              </a:rPr>
              <a:t>Tokenizer</a:t>
            </a:r>
            <a:endParaRPr lang="en-US" sz="1800" b="0" u="none" strike="noStrike">
              <a:solidFill>
                <a:srgbClr val="000000"/>
              </a:solidFill>
              <a:effectLst/>
              <a:uFillTx/>
              <a:latin typeface="Arial"/>
            </a:endParaRPr>
          </a:p>
        </p:txBody>
      </p:sp>
      <p:sp>
        <p:nvSpPr>
          <p:cNvPr id="39" name="Shape 16"/>
          <p:cNvSpPr/>
          <p:nvPr/>
        </p:nvSpPr>
        <p:spPr>
          <a:xfrm>
            <a:off x="8938080" y="3749040"/>
            <a:ext cx="360" cy="411480"/>
          </a:xfrm>
          <a:prstGeom prst="line">
            <a:avLst/>
          </a:prstGeom>
          <a:ln w="31750">
            <a:solidFill>
              <a:srgbClr val="A9C0D8"/>
            </a:solidFill>
            <a:round/>
            <a:tailEnd len="med" type="triangle" w="me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0" name="Text 17"/>
          <p:cNvSpPr/>
          <p:nvPr/>
        </p:nvSpPr>
        <p:spPr>
          <a:xfrm>
            <a:off x="6309360" y="4160520"/>
            <a:ext cx="525744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66768A"/>
                </a:solidFill>
                <a:effectLst/>
                <a:uFillTx/>
                <a:latin typeface="Inter"/>
                <a:ea typeface="Inter"/>
              </a:rPr>
              <a:t>Tokens + IDs</a:t>
            </a:r>
            <a:endParaRPr lang="en-US" sz="1300" b="0" u="none" strike="noStrike">
              <a:solidFill>
                <a:srgbClr val="000000"/>
              </a:solidFill>
              <a:effectLst/>
              <a:uFillTx/>
              <a:latin typeface="Arial"/>
            </a:endParaRPr>
          </a:p>
        </p:txBody>
      </p:sp>
      <p:sp>
        <p:nvSpPr>
          <p:cNvPr id="41" name="Text 18"/>
          <p:cNvSpPr/>
          <p:nvPr/>
        </p:nvSpPr>
        <p:spPr>
          <a:xfrm>
            <a:off x="6743880" y="4480560"/>
            <a:ext cx="1188360" cy="502560"/>
          </a:xfrm>
          <a:prstGeom prst="roundRect">
            <a:avLst>
              <a:gd name="adj" fmla="val 18182"/>
            </a:avLst>
          </a:prstGeom>
          <a:solidFill>
            <a:srgbClr val="E4ECE7"/>
          </a:solidFill>
          <a:ln w="15875">
            <a:solidFill>
              <a:srgbClr val="8FA99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700" b="0" u="none" strike="noStrike">
                <a:solidFill>
                  <a:srgbClr val="435466"/>
                </a:solidFill>
                <a:effectLst/>
                <a:uFillTx/>
                <a:latin typeface="Inter"/>
                <a:ea typeface="Inter"/>
              </a:rPr>
              <a:t>"Rain"</a:t>
            </a:r>
            <a:endParaRPr lang="en-US" sz="1700" b="0" u="none" strike="noStrike">
              <a:solidFill>
                <a:srgbClr val="000000"/>
              </a:solidFill>
              <a:effectLst/>
              <a:uFillTx/>
              <a:latin typeface="Arial"/>
            </a:endParaRPr>
          </a:p>
        </p:txBody>
      </p:sp>
      <p:sp>
        <p:nvSpPr>
          <p:cNvPr id="42" name="Text 19"/>
          <p:cNvSpPr/>
          <p:nvPr/>
        </p:nvSpPr>
        <p:spPr>
          <a:xfrm>
            <a:off x="6743880" y="5074920"/>
            <a:ext cx="1188360" cy="502560"/>
          </a:xfrm>
          <a:prstGeom prst="roundRect">
            <a:avLst>
              <a:gd name="adj" fmla="val 18182"/>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700" b="0" u="none" strike="noStrike">
                <a:solidFill>
                  <a:srgbClr val="435466"/>
                </a:solidFill>
                <a:effectLst/>
                <a:uFillTx/>
                <a:latin typeface="Inter"/>
                <a:ea typeface="Inter"/>
              </a:rPr>
              <a:t>18810</a:t>
            </a:r>
            <a:endParaRPr lang="en-US" sz="1700" b="0" u="none" strike="noStrike">
              <a:solidFill>
                <a:srgbClr val="000000"/>
              </a:solidFill>
              <a:effectLst/>
              <a:uFillTx/>
              <a:latin typeface="Arial"/>
            </a:endParaRPr>
          </a:p>
        </p:txBody>
      </p:sp>
      <p:sp>
        <p:nvSpPr>
          <p:cNvPr id="43" name="Text 20"/>
          <p:cNvSpPr/>
          <p:nvPr/>
        </p:nvSpPr>
        <p:spPr>
          <a:xfrm>
            <a:off x="8069760" y="4480560"/>
            <a:ext cx="1371240" cy="502560"/>
          </a:xfrm>
          <a:prstGeom prst="roundRect">
            <a:avLst>
              <a:gd name="adj" fmla="val 18182"/>
            </a:avLst>
          </a:prstGeom>
          <a:solidFill>
            <a:srgbClr val="E4ECE7"/>
          </a:solidFill>
          <a:ln w="15875">
            <a:solidFill>
              <a:srgbClr val="8FA99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700" b="0" u="none" strike="noStrike">
                <a:solidFill>
                  <a:srgbClr val="435466"/>
                </a:solidFill>
                <a:effectLst/>
                <a:uFillTx/>
                <a:latin typeface="Inter"/>
                <a:ea typeface="Inter"/>
              </a:rPr>
              <a:t>" falls"</a:t>
            </a:r>
            <a:endParaRPr lang="en-US" sz="1700" b="0" u="none" strike="noStrike">
              <a:solidFill>
                <a:srgbClr val="000000"/>
              </a:solidFill>
              <a:effectLst/>
              <a:uFillTx/>
              <a:latin typeface="Arial"/>
            </a:endParaRPr>
          </a:p>
        </p:txBody>
      </p:sp>
      <p:sp>
        <p:nvSpPr>
          <p:cNvPr id="44" name="Text 21"/>
          <p:cNvSpPr/>
          <p:nvPr/>
        </p:nvSpPr>
        <p:spPr>
          <a:xfrm>
            <a:off x="8069760" y="5074920"/>
            <a:ext cx="1371240" cy="502560"/>
          </a:xfrm>
          <a:prstGeom prst="roundRect">
            <a:avLst>
              <a:gd name="adj" fmla="val 18182"/>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700" b="0" u="none" strike="noStrike">
                <a:solidFill>
                  <a:srgbClr val="435466"/>
                </a:solidFill>
                <a:effectLst/>
                <a:uFillTx/>
                <a:latin typeface="Inter"/>
                <a:ea typeface="Inter"/>
              </a:rPr>
              <a:t>17118</a:t>
            </a:r>
            <a:endParaRPr lang="en-US" sz="1700" b="0" u="none" strike="noStrike">
              <a:solidFill>
                <a:srgbClr val="000000"/>
              </a:solidFill>
              <a:effectLst/>
              <a:uFillTx/>
              <a:latin typeface="Arial"/>
            </a:endParaRPr>
          </a:p>
        </p:txBody>
      </p:sp>
      <p:sp>
        <p:nvSpPr>
          <p:cNvPr id="45" name="Text 22"/>
          <p:cNvSpPr/>
          <p:nvPr/>
        </p:nvSpPr>
        <p:spPr>
          <a:xfrm>
            <a:off x="9578520" y="4480560"/>
            <a:ext cx="1554120" cy="502560"/>
          </a:xfrm>
          <a:prstGeom prst="roundRect">
            <a:avLst>
              <a:gd name="adj" fmla="val 18182"/>
            </a:avLst>
          </a:prstGeom>
          <a:solidFill>
            <a:srgbClr val="E4ECE7"/>
          </a:solidFill>
          <a:ln w="15875">
            <a:solidFill>
              <a:srgbClr val="8FA99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700" b="0" u="none" strike="noStrike">
                <a:solidFill>
                  <a:srgbClr val="435466"/>
                </a:solidFill>
                <a:effectLst/>
                <a:uFillTx/>
                <a:latin typeface="Inter"/>
                <a:ea typeface="Inter"/>
              </a:rPr>
              <a:t>" softly"</a:t>
            </a:r>
            <a:endParaRPr lang="en-US" sz="1700" b="0" u="none" strike="noStrike">
              <a:solidFill>
                <a:srgbClr val="000000"/>
              </a:solidFill>
              <a:effectLst/>
              <a:uFillTx/>
              <a:latin typeface="Arial"/>
            </a:endParaRPr>
          </a:p>
        </p:txBody>
      </p:sp>
      <p:sp>
        <p:nvSpPr>
          <p:cNvPr id="46" name="Text 23"/>
          <p:cNvSpPr/>
          <p:nvPr/>
        </p:nvSpPr>
        <p:spPr>
          <a:xfrm>
            <a:off x="9578520" y="5074920"/>
            <a:ext cx="1554120" cy="502560"/>
          </a:xfrm>
          <a:prstGeom prst="roundRect">
            <a:avLst>
              <a:gd name="adj" fmla="val 18182"/>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700" b="0" u="none" strike="noStrike">
                <a:solidFill>
                  <a:srgbClr val="435466"/>
                </a:solidFill>
                <a:effectLst/>
                <a:uFillTx/>
                <a:latin typeface="Inter"/>
                <a:ea typeface="Inter"/>
              </a:rPr>
              <a:t>23270</a:t>
            </a:r>
            <a:endParaRPr lang="en-US" sz="1700" b="0" u="none" strike="noStrike">
              <a:solidFill>
                <a:srgbClr val="000000"/>
              </a:solidFill>
              <a:effectLst/>
              <a:uFillTx/>
              <a:latin typeface="Arial"/>
            </a:endParaRPr>
          </a:p>
        </p:txBody>
      </p:sp>
      <p:sp>
        <p:nvSpPr>
          <p:cNvPr id="47" name="Text 24"/>
          <p:cNvSpPr/>
          <p:nvPr/>
        </p:nvSpPr>
        <p:spPr>
          <a:xfrm>
            <a:off x="6583680" y="5641920"/>
            <a:ext cx="4708800" cy="4568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rgbClr val="66768A"/>
                </a:solidFill>
                <a:effectLst/>
                <a:uFillTx/>
                <a:latin typeface="Inter"/>
                <a:ea typeface="Inter"/>
              </a:rPr>
              <a:t>Example IDs. Real numbers depend on the tokenizer.</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rgbClr val="66768A"/>
                </a:solidFill>
                <a:effectLst/>
                <a:uFillTx/>
                <a:latin typeface="Inter"/>
                <a:ea typeface="Inter"/>
              </a:rPr>
              <a:t>Tokens can include the space before a word.</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7F2"/>
        </a:solidFill>
      </p:bgPr>
    </p:bg>
    <p:spTree>
      <p:nvGrpSpPr>
        <p:cNvPr id="1" name=""/>
        <p:cNvGrpSpPr/>
        <p:nvPr/>
      </p:nvGrpSpPr>
      <p:grpSpPr>
        <a:xfrm>
          <a:off x="0" y="0"/>
          <a:ext cx="0" cy="0"/>
          <a:chOff x="0" y="0"/>
          <a:chExt cx="0" cy="0"/>
        </a:xfrm>
      </p:grpSpPr>
      <p:sp>
        <p:nvSpPr>
          <p:cNvPr id="48" name="Text 0"/>
          <p:cNvSpPr/>
          <p:nvPr/>
        </p:nvSpPr>
        <p:spPr>
          <a:xfrm>
            <a:off x="11155680" y="6446520"/>
            <a:ext cx="54828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6768A"/>
                </a:solidFill>
                <a:effectLst/>
                <a:uFillTx/>
                <a:latin typeface="Inter"/>
                <a:ea typeface="Inter"/>
              </a:rPr>
              <a:t>3</a:t>
            </a:r>
            <a:endParaRPr lang="en-US" sz="1100" b="0" u="none" strike="noStrike">
              <a:solidFill>
                <a:srgbClr val="000000"/>
              </a:solidFill>
              <a:effectLst/>
              <a:uFillTx/>
              <a:latin typeface="Arial"/>
            </a:endParaRPr>
          </a:p>
        </p:txBody>
      </p:sp>
      <p:sp>
        <p:nvSpPr>
          <p:cNvPr id="49" name="Text 1"/>
          <p:cNvSpPr/>
          <p:nvPr/>
        </p:nvSpPr>
        <p:spPr>
          <a:xfrm>
            <a:off x="640080" y="411480"/>
            <a:ext cx="108810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rgbClr val="435466"/>
                </a:solidFill>
                <a:effectLst/>
                <a:uFillTx/>
                <a:latin typeface="Inter"/>
                <a:ea typeface="Inter"/>
              </a:rPr>
              <a:t>Encoding and decoding</a:t>
            </a:r>
            <a:endParaRPr lang="en-US" sz="3600" b="0" u="none" strike="noStrike">
              <a:solidFill>
                <a:srgbClr val="000000"/>
              </a:solidFill>
              <a:effectLst/>
              <a:uFillTx/>
              <a:latin typeface="Arial"/>
            </a:endParaRPr>
          </a:p>
        </p:txBody>
      </p:sp>
      <p:sp>
        <p:nvSpPr>
          <p:cNvPr id="50" name="Text 2"/>
          <p:cNvSpPr/>
          <p:nvPr/>
        </p:nvSpPr>
        <p:spPr>
          <a:xfrm>
            <a:off x="682560" y="2743200"/>
            <a:ext cx="2697120" cy="639720"/>
          </a:xfrm>
          <a:prstGeom prst="roundRect">
            <a:avLst>
              <a:gd name="adj" fmla="val 14286"/>
            </a:avLst>
          </a:prstGeom>
          <a:solidFill>
            <a:srgbClr val="E4ECE7"/>
          </a:solidFill>
          <a:ln w="15875">
            <a:solidFill>
              <a:srgbClr val="8FA99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435466"/>
                </a:solidFill>
                <a:effectLst/>
                <a:uFillTx/>
                <a:latin typeface="Inter"/>
                <a:ea typeface="Inter"/>
              </a:rPr>
              <a:t>"Clouds drift slowly"</a:t>
            </a:r>
            <a:endParaRPr lang="en-US" sz="1800" b="0" u="none" strike="noStrike">
              <a:solidFill>
                <a:srgbClr val="000000"/>
              </a:solidFill>
              <a:effectLst/>
              <a:uFillTx/>
              <a:latin typeface="Arial"/>
            </a:endParaRPr>
          </a:p>
        </p:txBody>
      </p:sp>
      <p:sp>
        <p:nvSpPr>
          <p:cNvPr id="51" name="Text 3"/>
          <p:cNvSpPr/>
          <p:nvPr/>
        </p:nvSpPr>
        <p:spPr>
          <a:xfrm>
            <a:off x="4477320" y="2743200"/>
            <a:ext cx="1005480" cy="639720"/>
          </a:xfrm>
          <a:prstGeom prst="roundRect">
            <a:avLst>
              <a:gd name="adj" fmla="val 14286"/>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435466"/>
                </a:solidFill>
                <a:effectLst/>
                <a:uFillTx/>
                <a:latin typeface="Inter"/>
                <a:ea typeface="Inter"/>
              </a:rPr>
              <a:t>20164</a:t>
            </a:r>
            <a:endParaRPr lang="en-US" sz="1800" b="0" u="none" strike="noStrike">
              <a:solidFill>
                <a:srgbClr val="000000"/>
              </a:solidFill>
              <a:effectLst/>
              <a:uFillTx/>
              <a:latin typeface="Arial"/>
            </a:endParaRPr>
          </a:p>
        </p:txBody>
      </p:sp>
      <p:sp>
        <p:nvSpPr>
          <p:cNvPr id="52" name="Text 4"/>
          <p:cNvSpPr/>
          <p:nvPr/>
        </p:nvSpPr>
        <p:spPr>
          <a:xfrm>
            <a:off x="5592960" y="2743200"/>
            <a:ext cx="1005480" cy="639720"/>
          </a:xfrm>
          <a:prstGeom prst="roundRect">
            <a:avLst>
              <a:gd name="adj" fmla="val 14286"/>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435466"/>
                </a:solidFill>
                <a:effectLst/>
                <a:uFillTx/>
                <a:latin typeface="Inter"/>
                <a:ea typeface="Inter"/>
              </a:rPr>
              <a:t>24357</a:t>
            </a:r>
            <a:endParaRPr lang="en-US" sz="1800" b="0" u="none" strike="noStrike">
              <a:solidFill>
                <a:srgbClr val="000000"/>
              </a:solidFill>
              <a:effectLst/>
              <a:uFillTx/>
              <a:latin typeface="Arial"/>
            </a:endParaRPr>
          </a:p>
        </p:txBody>
      </p:sp>
      <p:sp>
        <p:nvSpPr>
          <p:cNvPr id="53" name="Text 5"/>
          <p:cNvSpPr/>
          <p:nvPr/>
        </p:nvSpPr>
        <p:spPr>
          <a:xfrm>
            <a:off x="6708600" y="2743200"/>
            <a:ext cx="1005480" cy="639720"/>
          </a:xfrm>
          <a:prstGeom prst="roundRect">
            <a:avLst>
              <a:gd name="adj" fmla="val 14286"/>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435466"/>
                </a:solidFill>
                <a:effectLst/>
                <a:uFillTx/>
                <a:latin typeface="Inter"/>
                <a:ea typeface="Inter"/>
              </a:rPr>
              <a:t>6364</a:t>
            </a:r>
            <a:endParaRPr lang="en-US" sz="1800" b="0" u="none" strike="noStrike">
              <a:solidFill>
                <a:srgbClr val="000000"/>
              </a:solidFill>
              <a:effectLst/>
              <a:uFillTx/>
              <a:latin typeface="Arial"/>
            </a:endParaRPr>
          </a:p>
        </p:txBody>
      </p:sp>
      <p:sp>
        <p:nvSpPr>
          <p:cNvPr id="54" name="Text 6"/>
          <p:cNvSpPr/>
          <p:nvPr/>
        </p:nvSpPr>
        <p:spPr>
          <a:xfrm>
            <a:off x="8811720" y="2743200"/>
            <a:ext cx="2697120" cy="639720"/>
          </a:xfrm>
          <a:prstGeom prst="roundRect">
            <a:avLst>
              <a:gd name="adj" fmla="val 14286"/>
            </a:avLst>
          </a:prstGeom>
          <a:solidFill>
            <a:srgbClr val="E4ECE7"/>
          </a:solidFill>
          <a:ln w="15875">
            <a:solidFill>
              <a:srgbClr val="8FA99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435466"/>
                </a:solidFill>
                <a:effectLst/>
                <a:uFillTx/>
                <a:latin typeface="Inter"/>
                <a:ea typeface="Inter"/>
              </a:rPr>
              <a:t>"Clouds drift slowly"</a:t>
            </a:r>
            <a:endParaRPr lang="en-US" sz="1800" b="0" u="none" strike="noStrike">
              <a:solidFill>
                <a:srgbClr val="000000"/>
              </a:solidFill>
              <a:effectLst/>
              <a:uFillTx/>
              <a:latin typeface="Arial"/>
            </a:endParaRPr>
          </a:p>
        </p:txBody>
      </p:sp>
      <p:sp>
        <p:nvSpPr>
          <p:cNvPr id="55" name="Shape 7"/>
          <p:cNvSpPr/>
          <p:nvPr/>
        </p:nvSpPr>
        <p:spPr>
          <a:xfrm>
            <a:off x="3517200" y="3063240"/>
            <a:ext cx="822960" cy="360"/>
          </a:xfrm>
          <a:prstGeom prst="line">
            <a:avLst/>
          </a:prstGeom>
          <a:ln w="31750">
            <a:solidFill>
              <a:srgbClr val="A9C0D8"/>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56" name="Shape 8"/>
          <p:cNvSpPr/>
          <p:nvPr/>
        </p:nvSpPr>
        <p:spPr>
          <a:xfrm>
            <a:off x="7851240" y="3063240"/>
            <a:ext cx="822960" cy="360"/>
          </a:xfrm>
          <a:prstGeom prst="line">
            <a:avLst/>
          </a:prstGeom>
          <a:ln w="31750">
            <a:solidFill>
              <a:srgbClr val="A9C0D8"/>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57" name="Text 9"/>
          <p:cNvSpPr/>
          <p:nvPr/>
        </p:nvSpPr>
        <p:spPr>
          <a:xfrm>
            <a:off x="2557080" y="2057400"/>
            <a:ext cx="2742840" cy="411120"/>
          </a:xfrm>
          <a:prstGeom prst="rect">
            <a:avLst/>
          </a:prstGeom>
          <a:noFill/>
          <a:ln w="0">
            <a:noFill/>
          </a:ln>
        </p:spPr>
        <p:style>
          <a:lnRef idx="0"/>
          <a:fillRef idx="0"/>
          <a:effectRef idx="0"/>
          <a:fontRef idx="minor"/>
        </p:style>
        <p:txBody>
          <a:bodyPr lIns="0" tIns="0" rIns="0" bIns="0" anchor="b">
            <a:noAutofit/>
          </a:bodyPr>
          <a:p>
            <a:pPr algn="ctr" defTabSz="914400">
              <a:lnSpc>
                <a:spcPct val="100000"/>
              </a:lnSpc>
              <a:tabLst>
                <a:tab pos="0" algn="l"/>
              </a:tabLst>
            </a:pPr>
            <a:r>
              <a:rPr lang="en-US" sz="2000" b="1" u="none" strike="noStrike">
                <a:solidFill>
                  <a:srgbClr val="435466"/>
                </a:solidFill>
                <a:effectLst/>
                <a:uFillTx/>
                <a:latin typeface="Inter"/>
                <a:ea typeface="Inter"/>
              </a:rPr>
              <a:t>Encode</a:t>
            </a:r>
            <a:endParaRPr lang="en-US" sz="2000" b="0" u="none" strike="noStrike">
              <a:solidFill>
                <a:srgbClr val="000000"/>
              </a:solidFill>
              <a:effectLst/>
              <a:uFillTx/>
              <a:latin typeface="Arial"/>
            </a:endParaRPr>
          </a:p>
        </p:txBody>
      </p:sp>
      <p:sp>
        <p:nvSpPr>
          <p:cNvPr id="58" name="Text 10"/>
          <p:cNvSpPr/>
          <p:nvPr/>
        </p:nvSpPr>
        <p:spPr>
          <a:xfrm>
            <a:off x="2557080" y="3657600"/>
            <a:ext cx="2742840" cy="3196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500" b="0" u="none" strike="noStrike">
                <a:solidFill>
                  <a:srgbClr val="66768A"/>
                </a:solidFill>
                <a:effectLst/>
                <a:uFillTx/>
                <a:latin typeface="Inter"/>
                <a:ea typeface="Inter"/>
              </a:rPr>
              <a:t>text → numbers</a:t>
            </a:r>
            <a:endParaRPr lang="en-US" sz="1500" b="0" u="none" strike="noStrike">
              <a:solidFill>
                <a:srgbClr val="000000"/>
              </a:solidFill>
              <a:effectLst/>
              <a:uFillTx/>
              <a:latin typeface="Arial"/>
            </a:endParaRPr>
          </a:p>
        </p:txBody>
      </p:sp>
      <p:sp>
        <p:nvSpPr>
          <p:cNvPr id="59" name="Text 11"/>
          <p:cNvSpPr/>
          <p:nvPr/>
        </p:nvSpPr>
        <p:spPr>
          <a:xfrm>
            <a:off x="6891480" y="2057400"/>
            <a:ext cx="2742840" cy="411120"/>
          </a:xfrm>
          <a:prstGeom prst="rect">
            <a:avLst/>
          </a:prstGeom>
          <a:noFill/>
          <a:ln w="0">
            <a:noFill/>
          </a:ln>
        </p:spPr>
        <p:style>
          <a:lnRef idx="0"/>
          <a:fillRef idx="0"/>
          <a:effectRef idx="0"/>
          <a:fontRef idx="minor"/>
        </p:style>
        <p:txBody>
          <a:bodyPr lIns="0" tIns="0" rIns="0" bIns="0" anchor="b">
            <a:noAutofit/>
          </a:bodyPr>
          <a:p>
            <a:pPr algn="ctr" defTabSz="914400">
              <a:lnSpc>
                <a:spcPct val="100000"/>
              </a:lnSpc>
              <a:tabLst>
                <a:tab pos="0" algn="l"/>
              </a:tabLst>
            </a:pPr>
            <a:r>
              <a:rPr lang="en-US" sz="2000" b="1" u="none" strike="noStrike">
                <a:solidFill>
                  <a:srgbClr val="435466"/>
                </a:solidFill>
                <a:effectLst/>
                <a:uFillTx/>
                <a:latin typeface="Inter"/>
                <a:ea typeface="Inter"/>
              </a:rPr>
              <a:t>Decode</a:t>
            </a:r>
            <a:endParaRPr lang="en-US" sz="2000" b="0" u="none" strike="noStrike">
              <a:solidFill>
                <a:srgbClr val="000000"/>
              </a:solidFill>
              <a:effectLst/>
              <a:uFillTx/>
              <a:latin typeface="Arial"/>
            </a:endParaRPr>
          </a:p>
        </p:txBody>
      </p:sp>
      <p:sp>
        <p:nvSpPr>
          <p:cNvPr id="60" name="Text 12"/>
          <p:cNvSpPr/>
          <p:nvPr/>
        </p:nvSpPr>
        <p:spPr>
          <a:xfrm>
            <a:off x="6891480" y="3657600"/>
            <a:ext cx="2742840" cy="3196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500" b="0" u="none" strike="noStrike">
                <a:solidFill>
                  <a:srgbClr val="66768A"/>
                </a:solidFill>
                <a:effectLst/>
                <a:uFillTx/>
                <a:latin typeface="Inter"/>
                <a:ea typeface="Inter"/>
              </a:rPr>
              <a:t>numbers → text</a:t>
            </a:r>
            <a:endParaRPr lang="en-US" sz="1500" b="0" u="none" strike="noStrike">
              <a:solidFill>
                <a:srgbClr val="000000"/>
              </a:solidFill>
              <a:effectLst/>
              <a:uFillTx/>
              <a:latin typeface="Arial"/>
            </a:endParaRPr>
          </a:p>
        </p:txBody>
      </p:sp>
      <p:sp>
        <p:nvSpPr>
          <p:cNvPr id="61" name="Shape 13"/>
          <p:cNvSpPr/>
          <p:nvPr/>
        </p:nvSpPr>
        <p:spPr>
          <a:xfrm>
            <a:off x="2651760" y="4800600"/>
            <a:ext cx="6885000" cy="914040"/>
          </a:xfrm>
          <a:prstGeom prst="roundRect">
            <a:avLst>
              <a:gd name="adj" fmla="val 15000"/>
            </a:avLst>
          </a:prstGeom>
          <a:solidFill>
            <a:srgbClr val="E4ECE7"/>
          </a:solidFill>
          <a:ln w="15875">
            <a:solidFill>
              <a:srgbClr val="8FA99B"/>
            </a:solidFill>
            <a:round/>
          </a:ln>
          <a:effectLst>
            <a:outerShdw algn="bl" blurRad="101520" dir="5400000" dist="25560" kx="0" ky="0" rotWithShape="0" sx="100000" sy="100000">
              <a:srgbClr val="435466">
                <a:alpha val="8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2" name="Shape 14"/>
          <p:cNvSpPr/>
          <p:nvPr/>
        </p:nvSpPr>
        <p:spPr>
          <a:xfrm>
            <a:off x="2926080" y="4983480"/>
            <a:ext cx="548280" cy="548280"/>
          </a:xfrm>
          <a:prstGeom prst="ellipse">
            <a:avLst/>
          </a:prstGeom>
          <a:solidFill>
            <a:srgbClr val="FFFFFF"/>
          </a:solidFill>
          <a:ln w="15875">
            <a:solidFill>
              <a:srgbClr val="8FA99B"/>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63" name="Image 0" descr="preencoded.png"/>
          <p:cNvPicPr/>
          <p:nvPr/>
        </p:nvPicPr>
        <p:blipFill>
          <a:blip r:embed="rId1"/>
          <a:stretch/>
        </p:blipFill>
        <p:spPr>
          <a:xfrm>
            <a:off x="3054240" y="5111640"/>
            <a:ext cx="292320" cy="292320"/>
          </a:xfrm>
          <a:prstGeom prst="rect">
            <a:avLst/>
          </a:prstGeom>
          <a:noFill/>
          <a:ln w="0">
            <a:noFill/>
          </a:ln>
        </p:spPr>
      </p:pic>
      <p:sp>
        <p:nvSpPr>
          <p:cNvPr id="64" name="Text 15"/>
          <p:cNvSpPr/>
          <p:nvPr/>
        </p:nvSpPr>
        <p:spPr>
          <a:xfrm>
            <a:off x="3703320" y="4910400"/>
            <a:ext cx="5604840" cy="694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201" strike="noStrike">
                <a:solidFill>
                  <a:srgbClr val="435466"/>
                </a:solidFill>
                <a:effectLst/>
                <a:uFillTx/>
                <a:latin typeface="Inter"/>
                <a:ea typeface="Inter"/>
              </a:rPr>
              <a:t>KEY IDEA</a:t>
            </a:r>
            <a:endParaRPr lang="en-US" sz="1200" b="0" u="none" strike="noStrike">
              <a:solidFill>
                <a:srgbClr val="000000"/>
              </a:solidFill>
              <a:effectLst/>
              <a:uFillTx/>
              <a:latin typeface="Arial"/>
            </a:endParaRPr>
          </a:p>
          <a:p>
            <a:pPr defTabSz="914400">
              <a:lnSpc>
                <a:spcPct val="100000"/>
              </a:lnSpc>
              <a:tabLst>
                <a:tab pos="0" algn="l"/>
              </a:tabLst>
            </a:pPr>
            <a:r>
              <a:rPr lang="en-US" sz="2000" b="0" u="none" strike="noStrike">
                <a:solidFill>
                  <a:srgbClr val="435466"/>
                </a:solidFill>
                <a:effectLst/>
                <a:uFillTx/>
                <a:latin typeface="Inter"/>
                <a:ea typeface="Inter"/>
              </a:rPr>
              <a:t>The model works with numbers, not words.</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7F2"/>
        </a:solidFill>
      </p:bgPr>
    </p:bg>
    <p:spTree>
      <p:nvGrpSpPr>
        <p:cNvPr id="1" name=""/>
        <p:cNvGrpSpPr/>
        <p:nvPr/>
      </p:nvGrpSpPr>
      <p:grpSpPr>
        <a:xfrm>
          <a:off x="0" y="0"/>
          <a:ext cx="0" cy="0"/>
          <a:chOff x="0" y="0"/>
          <a:chExt cx="0" cy="0"/>
        </a:xfrm>
      </p:grpSpPr>
      <p:sp>
        <p:nvSpPr>
          <p:cNvPr id="65" name="Text 0"/>
          <p:cNvSpPr/>
          <p:nvPr/>
        </p:nvSpPr>
        <p:spPr>
          <a:xfrm>
            <a:off x="11155680" y="6446520"/>
            <a:ext cx="54828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6768A"/>
                </a:solidFill>
                <a:effectLst/>
                <a:uFillTx/>
                <a:latin typeface="Inter"/>
                <a:ea typeface="Inter"/>
              </a:rPr>
              <a:t>4</a:t>
            </a:r>
            <a:endParaRPr lang="en-US" sz="1100" b="0" u="none" strike="noStrike">
              <a:solidFill>
                <a:srgbClr val="000000"/>
              </a:solidFill>
              <a:effectLst/>
              <a:uFillTx/>
              <a:latin typeface="Arial"/>
            </a:endParaRPr>
          </a:p>
        </p:txBody>
      </p:sp>
      <p:sp>
        <p:nvSpPr>
          <p:cNvPr id="66" name="Text 1"/>
          <p:cNvSpPr/>
          <p:nvPr/>
        </p:nvSpPr>
        <p:spPr>
          <a:xfrm>
            <a:off x="640080" y="411480"/>
            <a:ext cx="108810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rgbClr val="435466"/>
                </a:solidFill>
                <a:effectLst/>
                <a:uFillTx/>
                <a:latin typeface="Inter"/>
                <a:ea typeface="Inter"/>
              </a:rPr>
              <a:t>Different kinds of tokenizers</a:t>
            </a:r>
            <a:endParaRPr lang="en-US" sz="3600" b="0" u="none" strike="noStrike">
              <a:solidFill>
                <a:srgbClr val="000000"/>
              </a:solidFill>
              <a:effectLst/>
              <a:uFillTx/>
              <a:latin typeface="Arial"/>
            </a:endParaRPr>
          </a:p>
        </p:txBody>
      </p:sp>
      <p:sp>
        <p:nvSpPr>
          <p:cNvPr id="67" name="Text 2"/>
          <p:cNvSpPr/>
          <p:nvPr/>
        </p:nvSpPr>
        <p:spPr>
          <a:xfrm>
            <a:off x="640080" y="1234440"/>
            <a:ext cx="57603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66768A"/>
                </a:solidFill>
                <a:effectLst/>
                <a:uFillTx/>
                <a:latin typeface="Inter"/>
                <a:ea typeface="Inter"/>
              </a:rPr>
              <a:t>Each kind splits the same word differently:</a:t>
            </a:r>
            <a:endParaRPr lang="en-US" sz="1800" b="0" u="none" strike="noStrike">
              <a:solidFill>
                <a:srgbClr val="000000"/>
              </a:solidFill>
              <a:effectLst/>
              <a:uFillTx/>
              <a:latin typeface="Arial"/>
            </a:endParaRPr>
          </a:p>
        </p:txBody>
      </p:sp>
      <p:sp>
        <p:nvSpPr>
          <p:cNvPr id="68" name="Shape 4"/>
          <p:cNvSpPr/>
          <p:nvPr/>
        </p:nvSpPr>
        <p:spPr>
          <a:xfrm>
            <a:off x="640080" y="1920240"/>
            <a:ext cx="3428640" cy="3885840"/>
          </a:xfrm>
          <a:prstGeom prst="roundRect">
            <a:avLst>
              <a:gd name="adj" fmla="val 4000"/>
            </a:avLst>
          </a:prstGeom>
          <a:solidFill>
            <a:srgbClr val="FFFFFF"/>
          </a:solidFill>
          <a:ln w="15875">
            <a:solidFill>
              <a:srgbClr val="D9E1E8"/>
            </a:solidFill>
            <a:round/>
          </a:ln>
          <a:effectLst>
            <a:outerShdw algn="bl" blurRad="101520" dir="5400000" dist="25560" kx="0" ky="0" rotWithShape="0" sx="100000" sy="100000">
              <a:srgbClr val="435466">
                <a:alpha val="8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9" name="Text 5"/>
          <p:cNvSpPr/>
          <p:nvPr/>
        </p:nvSpPr>
        <p:spPr>
          <a:xfrm>
            <a:off x="868680" y="2148840"/>
            <a:ext cx="297144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rgbClr val="435466"/>
                </a:solidFill>
                <a:effectLst/>
                <a:uFillTx/>
                <a:latin typeface="Inter"/>
                <a:ea typeface="Inter"/>
              </a:rPr>
              <a:t>Character tokenizer</a:t>
            </a:r>
            <a:endParaRPr lang="en-US" sz="2000" b="0" u="none" strike="noStrike">
              <a:solidFill>
                <a:srgbClr val="000000"/>
              </a:solidFill>
              <a:effectLst/>
              <a:uFillTx/>
              <a:latin typeface="Arial"/>
            </a:endParaRPr>
          </a:p>
        </p:txBody>
      </p:sp>
      <p:sp>
        <p:nvSpPr>
          <p:cNvPr id="70" name="Text 6"/>
          <p:cNvSpPr/>
          <p:nvPr/>
        </p:nvSpPr>
        <p:spPr>
          <a:xfrm>
            <a:off x="868680" y="2834640"/>
            <a:ext cx="297144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rgbClr val="66768A"/>
                </a:solidFill>
                <a:effectLst/>
                <a:uFillTx/>
                <a:latin typeface="Inter"/>
                <a:ea typeface="Inter"/>
              </a:rPr>
              <a:t>Every letter is its own token.</a:t>
            </a:r>
            <a:endParaRPr lang="en-US" sz="1500" b="0" u="none" strike="noStrike">
              <a:solidFill>
                <a:srgbClr val="000000"/>
              </a:solidFill>
              <a:effectLst/>
              <a:uFillTx/>
              <a:latin typeface="Arial"/>
            </a:endParaRPr>
          </a:p>
        </p:txBody>
      </p:sp>
      <p:sp>
        <p:nvSpPr>
          <p:cNvPr id="71" name="Text 7"/>
          <p:cNvSpPr/>
          <p:nvPr/>
        </p:nvSpPr>
        <p:spPr>
          <a:xfrm>
            <a:off x="868680" y="3749040"/>
            <a:ext cx="328680" cy="502560"/>
          </a:xfrm>
          <a:prstGeom prst="roundRect">
            <a:avLst>
              <a:gd name="adj" fmla="val 27778"/>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500" b="0" u="none" strike="noStrike">
                <a:solidFill>
                  <a:srgbClr val="435466"/>
                </a:solidFill>
                <a:effectLst/>
                <a:uFillTx/>
                <a:latin typeface="Inter"/>
                <a:ea typeface="Inter"/>
              </a:rPr>
              <a:t>s</a:t>
            </a:r>
            <a:endParaRPr lang="en-US" sz="1500" b="0" u="none" strike="noStrike">
              <a:solidFill>
                <a:srgbClr val="000000"/>
              </a:solidFill>
              <a:effectLst/>
              <a:uFillTx/>
              <a:latin typeface="Arial"/>
            </a:endParaRPr>
          </a:p>
        </p:txBody>
      </p:sp>
      <p:sp>
        <p:nvSpPr>
          <p:cNvPr id="72" name="Text 8"/>
          <p:cNvSpPr/>
          <p:nvPr/>
        </p:nvSpPr>
        <p:spPr>
          <a:xfrm>
            <a:off x="1246320" y="3749040"/>
            <a:ext cx="328680" cy="502560"/>
          </a:xfrm>
          <a:prstGeom prst="roundRect">
            <a:avLst>
              <a:gd name="adj" fmla="val 27778"/>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500" b="0" u="none" strike="noStrike">
                <a:solidFill>
                  <a:srgbClr val="435466"/>
                </a:solidFill>
                <a:effectLst/>
                <a:uFillTx/>
                <a:latin typeface="Inter"/>
                <a:ea typeface="Inter"/>
              </a:rPr>
              <a:t>u</a:t>
            </a:r>
            <a:endParaRPr lang="en-US" sz="1500" b="0" u="none" strike="noStrike">
              <a:solidFill>
                <a:srgbClr val="000000"/>
              </a:solidFill>
              <a:effectLst/>
              <a:uFillTx/>
              <a:latin typeface="Arial"/>
            </a:endParaRPr>
          </a:p>
        </p:txBody>
      </p:sp>
      <p:sp>
        <p:nvSpPr>
          <p:cNvPr id="73" name="Text 9"/>
          <p:cNvSpPr/>
          <p:nvPr/>
        </p:nvSpPr>
        <p:spPr>
          <a:xfrm>
            <a:off x="1623600" y="3749040"/>
            <a:ext cx="328680" cy="502560"/>
          </a:xfrm>
          <a:prstGeom prst="roundRect">
            <a:avLst>
              <a:gd name="adj" fmla="val 27778"/>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500" b="0" u="none" strike="noStrike">
                <a:solidFill>
                  <a:srgbClr val="435466"/>
                </a:solidFill>
                <a:effectLst/>
                <a:uFillTx/>
                <a:latin typeface="Inter"/>
                <a:ea typeface="Inter"/>
              </a:rPr>
              <a:t>n</a:t>
            </a:r>
            <a:endParaRPr lang="en-US" sz="1500" b="0" u="none" strike="noStrike">
              <a:solidFill>
                <a:srgbClr val="000000"/>
              </a:solidFill>
              <a:effectLst/>
              <a:uFillTx/>
              <a:latin typeface="Arial"/>
            </a:endParaRPr>
          </a:p>
        </p:txBody>
      </p:sp>
      <p:sp>
        <p:nvSpPr>
          <p:cNvPr id="74" name="Text 10"/>
          <p:cNvSpPr/>
          <p:nvPr/>
        </p:nvSpPr>
        <p:spPr>
          <a:xfrm>
            <a:off x="2001240" y="3749040"/>
            <a:ext cx="328680" cy="502560"/>
          </a:xfrm>
          <a:prstGeom prst="roundRect">
            <a:avLst>
              <a:gd name="adj" fmla="val 27778"/>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500" b="0" u="none" strike="noStrike">
                <a:solidFill>
                  <a:srgbClr val="435466"/>
                </a:solidFill>
                <a:effectLst/>
                <a:uFillTx/>
                <a:latin typeface="Inter"/>
                <a:ea typeface="Inter"/>
              </a:rPr>
              <a:t>l</a:t>
            </a:r>
            <a:endParaRPr lang="en-US" sz="1500" b="0" u="none" strike="noStrike">
              <a:solidFill>
                <a:srgbClr val="000000"/>
              </a:solidFill>
              <a:effectLst/>
              <a:uFillTx/>
              <a:latin typeface="Arial"/>
            </a:endParaRPr>
          </a:p>
        </p:txBody>
      </p:sp>
      <p:sp>
        <p:nvSpPr>
          <p:cNvPr id="75" name="Text 11"/>
          <p:cNvSpPr/>
          <p:nvPr/>
        </p:nvSpPr>
        <p:spPr>
          <a:xfrm>
            <a:off x="2378880" y="3749040"/>
            <a:ext cx="328680" cy="502560"/>
          </a:xfrm>
          <a:prstGeom prst="roundRect">
            <a:avLst>
              <a:gd name="adj" fmla="val 27778"/>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500" b="0" u="none" strike="noStrike">
                <a:solidFill>
                  <a:srgbClr val="435466"/>
                </a:solidFill>
                <a:effectLst/>
                <a:uFillTx/>
                <a:latin typeface="Inter"/>
                <a:ea typeface="Inter"/>
              </a:rPr>
              <a:t>i</a:t>
            </a:r>
            <a:endParaRPr lang="en-US" sz="1500" b="0" u="none" strike="noStrike">
              <a:solidFill>
                <a:srgbClr val="000000"/>
              </a:solidFill>
              <a:effectLst/>
              <a:uFillTx/>
              <a:latin typeface="Arial"/>
            </a:endParaRPr>
          </a:p>
        </p:txBody>
      </p:sp>
      <p:sp>
        <p:nvSpPr>
          <p:cNvPr id="76" name="Text 12"/>
          <p:cNvSpPr/>
          <p:nvPr/>
        </p:nvSpPr>
        <p:spPr>
          <a:xfrm>
            <a:off x="2756160" y="3749040"/>
            <a:ext cx="328680" cy="502560"/>
          </a:xfrm>
          <a:prstGeom prst="roundRect">
            <a:avLst>
              <a:gd name="adj" fmla="val 27778"/>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500" b="0" u="none" strike="noStrike">
                <a:solidFill>
                  <a:srgbClr val="435466"/>
                </a:solidFill>
                <a:effectLst/>
                <a:uFillTx/>
                <a:latin typeface="Inter"/>
                <a:ea typeface="Inter"/>
              </a:rPr>
              <a:t>g</a:t>
            </a:r>
            <a:endParaRPr lang="en-US" sz="1500" b="0" u="none" strike="noStrike">
              <a:solidFill>
                <a:srgbClr val="000000"/>
              </a:solidFill>
              <a:effectLst/>
              <a:uFillTx/>
              <a:latin typeface="Arial"/>
            </a:endParaRPr>
          </a:p>
        </p:txBody>
      </p:sp>
      <p:sp>
        <p:nvSpPr>
          <p:cNvPr id="77" name="Text 13"/>
          <p:cNvSpPr/>
          <p:nvPr/>
        </p:nvSpPr>
        <p:spPr>
          <a:xfrm>
            <a:off x="3133800" y="3749040"/>
            <a:ext cx="328680" cy="502560"/>
          </a:xfrm>
          <a:prstGeom prst="roundRect">
            <a:avLst>
              <a:gd name="adj" fmla="val 27778"/>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500" b="0" u="none" strike="noStrike">
                <a:solidFill>
                  <a:srgbClr val="435466"/>
                </a:solidFill>
                <a:effectLst/>
                <a:uFillTx/>
                <a:latin typeface="Inter"/>
                <a:ea typeface="Inter"/>
              </a:rPr>
              <a:t>h</a:t>
            </a:r>
            <a:endParaRPr lang="en-US" sz="1500" b="0" u="none" strike="noStrike">
              <a:solidFill>
                <a:srgbClr val="000000"/>
              </a:solidFill>
              <a:effectLst/>
              <a:uFillTx/>
              <a:latin typeface="Arial"/>
            </a:endParaRPr>
          </a:p>
        </p:txBody>
      </p:sp>
      <p:sp>
        <p:nvSpPr>
          <p:cNvPr id="78" name="Text 14"/>
          <p:cNvSpPr/>
          <p:nvPr/>
        </p:nvSpPr>
        <p:spPr>
          <a:xfrm>
            <a:off x="3511440" y="3749040"/>
            <a:ext cx="328680" cy="502560"/>
          </a:xfrm>
          <a:prstGeom prst="roundRect">
            <a:avLst>
              <a:gd name="adj" fmla="val 27778"/>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500" b="0" u="none" strike="noStrike">
                <a:solidFill>
                  <a:srgbClr val="435466"/>
                </a:solidFill>
                <a:effectLst/>
                <a:uFillTx/>
                <a:latin typeface="Inter"/>
                <a:ea typeface="Inter"/>
              </a:rPr>
              <a:t>t</a:t>
            </a:r>
            <a:endParaRPr lang="en-US" sz="1500" b="0" u="none" strike="noStrike">
              <a:solidFill>
                <a:srgbClr val="000000"/>
              </a:solidFill>
              <a:effectLst/>
              <a:uFillTx/>
              <a:latin typeface="Arial"/>
            </a:endParaRPr>
          </a:p>
        </p:txBody>
      </p:sp>
      <p:sp>
        <p:nvSpPr>
          <p:cNvPr id="79" name="Text 15"/>
          <p:cNvSpPr/>
          <p:nvPr/>
        </p:nvSpPr>
        <p:spPr>
          <a:xfrm>
            <a:off x="868680" y="4343400"/>
            <a:ext cx="297144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66768A"/>
                </a:solidFill>
                <a:effectLst/>
                <a:uFillTx/>
                <a:latin typeface="Inter"/>
                <a:ea typeface="Inter"/>
              </a:rPr>
              <a:t>8 tokens</a:t>
            </a:r>
            <a:endParaRPr lang="en-US" sz="1300" b="0" u="none" strike="noStrike">
              <a:solidFill>
                <a:srgbClr val="000000"/>
              </a:solidFill>
              <a:effectLst/>
              <a:uFillTx/>
              <a:latin typeface="Arial"/>
            </a:endParaRPr>
          </a:p>
        </p:txBody>
      </p:sp>
      <p:sp>
        <p:nvSpPr>
          <p:cNvPr id="80" name="Text 16"/>
          <p:cNvSpPr/>
          <p:nvPr/>
        </p:nvSpPr>
        <p:spPr>
          <a:xfrm>
            <a:off x="868680" y="4846320"/>
            <a:ext cx="328680" cy="328680"/>
          </a:xfrm>
          <a:prstGeom prst="roundRect">
            <a:avLst>
              <a:gd name="adj" fmla="val 50000"/>
            </a:avLst>
          </a:prstGeom>
          <a:solidFill>
            <a:srgbClr val="E4ECE7"/>
          </a:solidFill>
          <a:ln w="15875">
            <a:solidFill>
              <a:srgbClr val="8FA99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435466"/>
                </a:solidFill>
                <a:effectLst/>
                <a:uFillTx/>
                <a:latin typeface="Inter"/>
                <a:ea typeface="Inter"/>
              </a:rPr>
              <a:t>+</a:t>
            </a:r>
            <a:endParaRPr lang="en-US" sz="1600" b="0" u="none" strike="noStrike">
              <a:solidFill>
                <a:srgbClr val="000000"/>
              </a:solidFill>
              <a:effectLst/>
              <a:uFillTx/>
              <a:latin typeface="Arial"/>
            </a:endParaRPr>
          </a:p>
        </p:txBody>
      </p:sp>
      <p:sp>
        <p:nvSpPr>
          <p:cNvPr id="81" name="Text 17"/>
          <p:cNvSpPr/>
          <p:nvPr/>
        </p:nvSpPr>
        <p:spPr>
          <a:xfrm>
            <a:off x="1325880" y="4827960"/>
            <a:ext cx="25142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435466"/>
                </a:solidFill>
                <a:effectLst/>
                <a:uFillTx/>
                <a:latin typeface="Inter"/>
                <a:ea typeface="Inter"/>
              </a:rPr>
              <a:t>Simple</a:t>
            </a:r>
            <a:endParaRPr lang="en-US" sz="1600" b="0" u="none" strike="noStrike">
              <a:solidFill>
                <a:srgbClr val="000000"/>
              </a:solidFill>
              <a:effectLst/>
              <a:uFillTx/>
              <a:latin typeface="Arial"/>
            </a:endParaRPr>
          </a:p>
        </p:txBody>
      </p:sp>
      <p:sp>
        <p:nvSpPr>
          <p:cNvPr id="82" name="Text 18"/>
          <p:cNvSpPr/>
          <p:nvPr/>
        </p:nvSpPr>
        <p:spPr>
          <a:xfrm>
            <a:off x="868680" y="5303520"/>
            <a:ext cx="328680" cy="328680"/>
          </a:xfrm>
          <a:prstGeom prst="roundRect">
            <a:avLst>
              <a:gd name="adj" fmla="val 50000"/>
            </a:avLst>
          </a:prstGeom>
          <a:solidFill>
            <a:srgbClr val="F4E4DE"/>
          </a:solidFill>
          <a:ln w="15875">
            <a:solidFill>
              <a:srgbClr val="C98F7D"/>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435466"/>
                </a:solidFill>
                <a:effectLst/>
                <a:uFillTx/>
                <a:latin typeface="Inter"/>
                <a:ea typeface="Inter"/>
              </a:rPr>
              <a:t>–</a:t>
            </a:r>
            <a:endParaRPr lang="en-US" sz="1600" b="0" u="none" strike="noStrike">
              <a:solidFill>
                <a:srgbClr val="000000"/>
              </a:solidFill>
              <a:effectLst/>
              <a:uFillTx/>
              <a:latin typeface="Arial"/>
            </a:endParaRPr>
          </a:p>
        </p:txBody>
      </p:sp>
      <p:sp>
        <p:nvSpPr>
          <p:cNvPr id="83" name="Text 19"/>
          <p:cNvSpPr/>
          <p:nvPr/>
        </p:nvSpPr>
        <p:spPr>
          <a:xfrm>
            <a:off x="1325880" y="5285160"/>
            <a:ext cx="25142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435466"/>
                </a:solidFill>
                <a:effectLst/>
                <a:uFillTx/>
                <a:latin typeface="Inter"/>
                <a:ea typeface="Inter"/>
              </a:rPr>
              <a:t>Makes many tokens</a:t>
            </a:r>
            <a:endParaRPr lang="en-US" sz="1600" b="0" u="none" strike="noStrike">
              <a:solidFill>
                <a:srgbClr val="000000"/>
              </a:solidFill>
              <a:effectLst/>
              <a:uFillTx/>
              <a:latin typeface="Arial"/>
            </a:endParaRPr>
          </a:p>
        </p:txBody>
      </p:sp>
      <p:sp>
        <p:nvSpPr>
          <p:cNvPr id="84" name="Shape 20"/>
          <p:cNvSpPr/>
          <p:nvPr/>
        </p:nvSpPr>
        <p:spPr>
          <a:xfrm>
            <a:off x="4449960" y="1920240"/>
            <a:ext cx="3428640" cy="3885840"/>
          </a:xfrm>
          <a:prstGeom prst="roundRect">
            <a:avLst>
              <a:gd name="adj" fmla="val 4000"/>
            </a:avLst>
          </a:prstGeom>
          <a:solidFill>
            <a:srgbClr val="FFFFFF"/>
          </a:solidFill>
          <a:ln w="15875">
            <a:solidFill>
              <a:srgbClr val="D9E1E8"/>
            </a:solidFill>
            <a:round/>
          </a:ln>
          <a:effectLst>
            <a:outerShdw algn="bl" blurRad="101520" dir="5400000" dist="25560" kx="0" ky="0" rotWithShape="0" sx="100000" sy="100000">
              <a:srgbClr val="435466">
                <a:alpha val="8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85" name="Text 21"/>
          <p:cNvSpPr/>
          <p:nvPr/>
        </p:nvSpPr>
        <p:spPr>
          <a:xfrm>
            <a:off x="4678560" y="2148840"/>
            <a:ext cx="297144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rgbClr val="435466"/>
                </a:solidFill>
                <a:effectLst/>
                <a:uFillTx/>
                <a:latin typeface="Inter"/>
                <a:ea typeface="Inter"/>
              </a:rPr>
              <a:t>Word tokenizer</a:t>
            </a:r>
            <a:endParaRPr lang="en-US" sz="2000" b="0" u="none" strike="noStrike">
              <a:solidFill>
                <a:srgbClr val="000000"/>
              </a:solidFill>
              <a:effectLst/>
              <a:uFillTx/>
              <a:latin typeface="Arial"/>
            </a:endParaRPr>
          </a:p>
        </p:txBody>
      </p:sp>
      <p:sp>
        <p:nvSpPr>
          <p:cNvPr id="86" name="Text 22"/>
          <p:cNvSpPr/>
          <p:nvPr/>
        </p:nvSpPr>
        <p:spPr>
          <a:xfrm>
            <a:off x="4678560" y="2834640"/>
            <a:ext cx="297144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rgbClr val="66768A"/>
                </a:solidFill>
                <a:effectLst/>
                <a:uFillTx/>
                <a:latin typeface="Inter"/>
                <a:ea typeface="Inter"/>
              </a:rPr>
              <a:t>Every whole word is one token.</a:t>
            </a:r>
            <a:endParaRPr lang="en-US" sz="1500" b="0" u="none" strike="noStrike">
              <a:solidFill>
                <a:srgbClr val="000000"/>
              </a:solidFill>
              <a:effectLst/>
              <a:uFillTx/>
              <a:latin typeface="Arial"/>
            </a:endParaRPr>
          </a:p>
        </p:txBody>
      </p:sp>
      <p:sp>
        <p:nvSpPr>
          <p:cNvPr id="87" name="Text 23"/>
          <p:cNvSpPr/>
          <p:nvPr/>
        </p:nvSpPr>
        <p:spPr>
          <a:xfrm>
            <a:off x="4678560" y="3749040"/>
            <a:ext cx="2971440" cy="502560"/>
          </a:xfrm>
          <a:prstGeom prst="roundRect">
            <a:avLst>
              <a:gd name="adj" fmla="val 18182"/>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700" b="0" u="none" strike="noStrike">
                <a:solidFill>
                  <a:srgbClr val="435466"/>
                </a:solidFill>
                <a:effectLst/>
                <a:uFillTx/>
                <a:latin typeface="Inter"/>
                <a:ea typeface="Inter"/>
              </a:rPr>
              <a:t>sunlight</a:t>
            </a:r>
            <a:endParaRPr lang="en-US" sz="1700" b="0" u="none" strike="noStrike">
              <a:solidFill>
                <a:srgbClr val="000000"/>
              </a:solidFill>
              <a:effectLst/>
              <a:uFillTx/>
              <a:latin typeface="Arial"/>
            </a:endParaRPr>
          </a:p>
        </p:txBody>
      </p:sp>
      <p:sp>
        <p:nvSpPr>
          <p:cNvPr id="88" name="Text 24"/>
          <p:cNvSpPr/>
          <p:nvPr/>
        </p:nvSpPr>
        <p:spPr>
          <a:xfrm>
            <a:off x="4678560" y="4343400"/>
            <a:ext cx="297144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66768A"/>
                </a:solidFill>
                <a:effectLst/>
                <a:uFillTx/>
                <a:latin typeface="Inter"/>
                <a:ea typeface="Inter"/>
              </a:rPr>
              <a:t>1 token</a:t>
            </a:r>
            <a:endParaRPr lang="en-US" sz="1300" b="0" u="none" strike="noStrike">
              <a:solidFill>
                <a:srgbClr val="000000"/>
              </a:solidFill>
              <a:effectLst/>
              <a:uFillTx/>
              <a:latin typeface="Arial"/>
            </a:endParaRPr>
          </a:p>
        </p:txBody>
      </p:sp>
      <p:sp>
        <p:nvSpPr>
          <p:cNvPr id="89" name="Text 25"/>
          <p:cNvSpPr/>
          <p:nvPr/>
        </p:nvSpPr>
        <p:spPr>
          <a:xfrm>
            <a:off x="4678560" y="4846320"/>
            <a:ext cx="328680" cy="328680"/>
          </a:xfrm>
          <a:prstGeom prst="roundRect">
            <a:avLst>
              <a:gd name="adj" fmla="val 50000"/>
            </a:avLst>
          </a:prstGeom>
          <a:solidFill>
            <a:srgbClr val="E4ECE7"/>
          </a:solidFill>
          <a:ln w="15875">
            <a:solidFill>
              <a:srgbClr val="8FA99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435466"/>
                </a:solidFill>
                <a:effectLst/>
                <a:uFillTx/>
                <a:latin typeface="Inter"/>
                <a:ea typeface="Inter"/>
              </a:rPr>
              <a:t>+</a:t>
            </a:r>
            <a:endParaRPr lang="en-US" sz="1600" b="0" u="none" strike="noStrike">
              <a:solidFill>
                <a:srgbClr val="000000"/>
              </a:solidFill>
              <a:effectLst/>
              <a:uFillTx/>
              <a:latin typeface="Arial"/>
            </a:endParaRPr>
          </a:p>
        </p:txBody>
      </p:sp>
      <p:sp>
        <p:nvSpPr>
          <p:cNvPr id="90" name="Text 26"/>
          <p:cNvSpPr/>
          <p:nvPr/>
        </p:nvSpPr>
        <p:spPr>
          <a:xfrm>
            <a:off x="5135760" y="4827960"/>
            <a:ext cx="25142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435466"/>
                </a:solidFill>
                <a:effectLst/>
                <a:uFillTx/>
                <a:latin typeface="Inter"/>
                <a:ea typeface="Inter"/>
              </a:rPr>
              <a:t>Easy to understand</a:t>
            </a:r>
            <a:endParaRPr lang="en-US" sz="1600" b="0" u="none" strike="noStrike">
              <a:solidFill>
                <a:srgbClr val="000000"/>
              </a:solidFill>
              <a:effectLst/>
              <a:uFillTx/>
              <a:latin typeface="Arial"/>
            </a:endParaRPr>
          </a:p>
        </p:txBody>
      </p:sp>
      <p:sp>
        <p:nvSpPr>
          <p:cNvPr id="91" name="Text 27"/>
          <p:cNvSpPr/>
          <p:nvPr/>
        </p:nvSpPr>
        <p:spPr>
          <a:xfrm>
            <a:off x="4678560" y="5303520"/>
            <a:ext cx="328680" cy="328680"/>
          </a:xfrm>
          <a:prstGeom prst="roundRect">
            <a:avLst>
              <a:gd name="adj" fmla="val 50000"/>
            </a:avLst>
          </a:prstGeom>
          <a:solidFill>
            <a:srgbClr val="F4E4DE"/>
          </a:solidFill>
          <a:ln w="15875">
            <a:solidFill>
              <a:srgbClr val="C98F7D"/>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435466"/>
                </a:solidFill>
                <a:effectLst/>
                <a:uFillTx/>
                <a:latin typeface="Inter"/>
                <a:ea typeface="Inter"/>
              </a:rPr>
              <a:t>–</a:t>
            </a:r>
            <a:endParaRPr lang="en-US" sz="1600" b="0" u="none" strike="noStrike">
              <a:solidFill>
                <a:srgbClr val="000000"/>
              </a:solidFill>
              <a:effectLst/>
              <a:uFillTx/>
              <a:latin typeface="Arial"/>
            </a:endParaRPr>
          </a:p>
        </p:txBody>
      </p:sp>
      <p:sp>
        <p:nvSpPr>
          <p:cNvPr id="92" name="Text 28"/>
          <p:cNvSpPr/>
          <p:nvPr/>
        </p:nvSpPr>
        <p:spPr>
          <a:xfrm>
            <a:off x="5135760" y="5285160"/>
            <a:ext cx="25142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435466"/>
                </a:solidFill>
                <a:effectLst/>
                <a:uFillTx/>
                <a:latin typeface="Inter"/>
                <a:ea typeface="Inter"/>
              </a:rPr>
              <a:t>Stuck on new words</a:t>
            </a:r>
            <a:endParaRPr lang="en-US" sz="1600" b="0" u="none" strike="noStrike">
              <a:solidFill>
                <a:srgbClr val="000000"/>
              </a:solidFill>
              <a:effectLst/>
              <a:uFillTx/>
              <a:latin typeface="Arial"/>
            </a:endParaRPr>
          </a:p>
        </p:txBody>
      </p:sp>
      <p:sp>
        <p:nvSpPr>
          <p:cNvPr id="93" name="Shape 29"/>
          <p:cNvSpPr/>
          <p:nvPr/>
        </p:nvSpPr>
        <p:spPr>
          <a:xfrm>
            <a:off x="8260200" y="1920240"/>
            <a:ext cx="3428640" cy="3885840"/>
          </a:xfrm>
          <a:prstGeom prst="roundRect">
            <a:avLst>
              <a:gd name="adj" fmla="val 4000"/>
            </a:avLst>
          </a:prstGeom>
          <a:solidFill>
            <a:srgbClr val="FFFFFF"/>
          </a:solidFill>
          <a:ln w="15875">
            <a:solidFill>
              <a:srgbClr val="D9E1E8"/>
            </a:solidFill>
            <a:round/>
          </a:ln>
          <a:effectLst>
            <a:outerShdw algn="bl" blurRad="101520" dir="5400000" dist="25560" kx="0" ky="0" rotWithShape="0" sx="100000" sy="100000">
              <a:srgbClr val="435466">
                <a:alpha val="8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94" name="Text 30"/>
          <p:cNvSpPr/>
          <p:nvPr/>
        </p:nvSpPr>
        <p:spPr>
          <a:xfrm>
            <a:off x="8488800" y="2148840"/>
            <a:ext cx="297144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rgbClr val="435466"/>
                </a:solidFill>
                <a:effectLst/>
                <a:uFillTx/>
                <a:latin typeface="Inter"/>
                <a:ea typeface="Inter"/>
              </a:rPr>
              <a:t>Byte Pair Encoding (BPE) tokenizer</a:t>
            </a:r>
            <a:endParaRPr lang="en-US" sz="2000" b="0" u="none" strike="noStrike">
              <a:solidFill>
                <a:srgbClr val="000000"/>
              </a:solidFill>
              <a:effectLst/>
              <a:uFillTx/>
              <a:latin typeface="Arial"/>
            </a:endParaRPr>
          </a:p>
        </p:txBody>
      </p:sp>
      <p:sp>
        <p:nvSpPr>
          <p:cNvPr id="95" name="Text 31"/>
          <p:cNvSpPr/>
          <p:nvPr/>
        </p:nvSpPr>
        <p:spPr>
          <a:xfrm>
            <a:off x="8488800" y="2834640"/>
            <a:ext cx="297144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rgbClr val="66768A"/>
                </a:solidFill>
                <a:effectLst/>
                <a:uFillTx/>
                <a:latin typeface="Inter"/>
                <a:ea typeface="Inter"/>
              </a:rPr>
              <a:t>Common word pieces are tokens. It learns them from lots of text.</a:t>
            </a:r>
            <a:endParaRPr lang="en-US" sz="1500" b="0" u="none" strike="noStrike">
              <a:solidFill>
                <a:srgbClr val="000000"/>
              </a:solidFill>
              <a:effectLst/>
              <a:uFillTx/>
              <a:latin typeface="Arial"/>
            </a:endParaRPr>
          </a:p>
        </p:txBody>
      </p:sp>
      <p:sp>
        <p:nvSpPr>
          <p:cNvPr id="96" name="Text 32"/>
          <p:cNvSpPr/>
          <p:nvPr/>
        </p:nvSpPr>
        <p:spPr>
          <a:xfrm>
            <a:off x="8488800" y="3749040"/>
            <a:ext cx="1416960" cy="502560"/>
          </a:xfrm>
          <a:prstGeom prst="roundRect">
            <a:avLst>
              <a:gd name="adj" fmla="val 18182"/>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700" b="0" u="none" strike="noStrike">
                <a:solidFill>
                  <a:srgbClr val="435466"/>
                </a:solidFill>
                <a:effectLst/>
                <a:uFillTx/>
                <a:latin typeface="Inter"/>
                <a:ea typeface="Inter"/>
              </a:rPr>
              <a:t>sun</a:t>
            </a:r>
            <a:endParaRPr lang="en-US" sz="1700" b="0" u="none" strike="noStrike">
              <a:solidFill>
                <a:srgbClr val="000000"/>
              </a:solidFill>
              <a:effectLst/>
              <a:uFillTx/>
              <a:latin typeface="Arial"/>
            </a:endParaRPr>
          </a:p>
        </p:txBody>
      </p:sp>
      <p:sp>
        <p:nvSpPr>
          <p:cNvPr id="97" name="Text 33"/>
          <p:cNvSpPr/>
          <p:nvPr/>
        </p:nvSpPr>
        <p:spPr>
          <a:xfrm>
            <a:off x="10043280" y="3749040"/>
            <a:ext cx="1416960" cy="502560"/>
          </a:xfrm>
          <a:prstGeom prst="roundRect">
            <a:avLst>
              <a:gd name="adj" fmla="val 18182"/>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700" b="0" u="none" strike="noStrike">
                <a:solidFill>
                  <a:srgbClr val="435466"/>
                </a:solidFill>
                <a:effectLst/>
                <a:uFillTx/>
                <a:latin typeface="Inter"/>
                <a:ea typeface="Inter"/>
              </a:rPr>
              <a:t>light</a:t>
            </a:r>
            <a:endParaRPr lang="en-US" sz="1700" b="0" u="none" strike="noStrike">
              <a:solidFill>
                <a:srgbClr val="000000"/>
              </a:solidFill>
              <a:effectLst/>
              <a:uFillTx/>
              <a:latin typeface="Arial"/>
            </a:endParaRPr>
          </a:p>
        </p:txBody>
      </p:sp>
      <p:sp>
        <p:nvSpPr>
          <p:cNvPr id="98" name="Text 34"/>
          <p:cNvSpPr/>
          <p:nvPr/>
        </p:nvSpPr>
        <p:spPr>
          <a:xfrm>
            <a:off x="8488800" y="4343400"/>
            <a:ext cx="297144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66768A"/>
                </a:solidFill>
                <a:effectLst/>
                <a:uFillTx/>
                <a:latin typeface="Inter"/>
                <a:ea typeface="Inter"/>
              </a:rPr>
              <a:t>2 tokens</a:t>
            </a:r>
            <a:endParaRPr lang="en-US" sz="1300" b="0" u="none" strike="noStrike">
              <a:solidFill>
                <a:srgbClr val="000000"/>
              </a:solidFill>
              <a:effectLst/>
              <a:uFillTx/>
              <a:latin typeface="Arial"/>
            </a:endParaRPr>
          </a:p>
        </p:txBody>
      </p:sp>
      <p:sp>
        <p:nvSpPr>
          <p:cNvPr id="99" name="Text 35"/>
          <p:cNvSpPr/>
          <p:nvPr/>
        </p:nvSpPr>
        <p:spPr>
          <a:xfrm>
            <a:off x="8488800" y="4846320"/>
            <a:ext cx="328680" cy="328680"/>
          </a:xfrm>
          <a:prstGeom prst="roundRect">
            <a:avLst>
              <a:gd name="adj" fmla="val 50000"/>
            </a:avLst>
          </a:prstGeom>
          <a:solidFill>
            <a:srgbClr val="E4ECE7"/>
          </a:solidFill>
          <a:ln w="15875">
            <a:solidFill>
              <a:srgbClr val="8FA99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435466"/>
                </a:solidFill>
                <a:effectLst/>
                <a:uFillTx/>
                <a:latin typeface="Inter"/>
                <a:ea typeface="Inter"/>
              </a:rPr>
              <a:t>+</a:t>
            </a:r>
            <a:endParaRPr lang="en-US" sz="1600" b="0" u="none" strike="noStrike">
              <a:solidFill>
                <a:srgbClr val="000000"/>
              </a:solidFill>
              <a:effectLst/>
              <a:uFillTx/>
              <a:latin typeface="Arial"/>
            </a:endParaRPr>
          </a:p>
        </p:txBody>
      </p:sp>
      <p:sp>
        <p:nvSpPr>
          <p:cNvPr id="100" name="Text 36"/>
          <p:cNvSpPr/>
          <p:nvPr/>
        </p:nvSpPr>
        <p:spPr>
          <a:xfrm>
            <a:off x="8946000" y="4827960"/>
            <a:ext cx="25142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435466"/>
                </a:solidFill>
                <a:effectLst/>
                <a:uFillTx/>
                <a:latin typeface="Inter"/>
                <a:ea typeface="Inter"/>
              </a:rPr>
              <a:t>Handles new words</a:t>
            </a:r>
            <a:endParaRPr lang="en-US" sz="1600" b="0" u="none" strike="noStrike">
              <a:solidFill>
                <a:srgbClr val="000000"/>
              </a:solidFill>
              <a:effectLst/>
              <a:uFillTx/>
              <a:latin typeface="Arial"/>
            </a:endParaRPr>
          </a:p>
        </p:txBody>
      </p:sp>
      <p:sp>
        <p:nvSpPr>
          <p:cNvPr id="101" name="Text 37"/>
          <p:cNvSpPr/>
          <p:nvPr/>
        </p:nvSpPr>
        <p:spPr>
          <a:xfrm>
            <a:off x="8488800" y="5303520"/>
            <a:ext cx="328680" cy="328680"/>
          </a:xfrm>
          <a:prstGeom prst="roundRect">
            <a:avLst>
              <a:gd name="adj" fmla="val 50000"/>
            </a:avLst>
          </a:prstGeom>
          <a:solidFill>
            <a:srgbClr val="E4ECE7"/>
          </a:solidFill>
          <a:ln w="15875">
            <a:solidFill>
              <a:srgbClr val="8FA99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435466"/>
                </a:solidFill>
                <a:effectLst/>
                <a:uFillTx/>
                <a:latin typeface="Inter"/>
                <a:ea typeface="Inter"/>
              </a:rPr>
              <a:t>+</a:t>
            </a:r>
            <a:endParaRPr lang="en-US" sz="1600" b="0" u="none" strike="noStrike">
              <a:solidFill>
                <a:srgbClr val="000000"/>
              </a:solidFill>
              <a:effectLst/>
              <a:uFillTx/>
              <a:latin typeface="Arial"/>
            </a:endParaRPr>
          </a:p>
        </p:txBody>
      </p:sp>
      <p:sp>
        <p:nvSpPr>
          <p:cNvPr id="102" name="Text 38"/>
          <p:cNvSpPr/>
          <p:nvPr/>
        </p:nvSpPr>
        <p:spPr>
          <a:xfrm>
            <a:off x="8946000" y="5285160"/>
            <a:ext cx="25142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435466"/>
                </a:solidFill>
                <a:effectLst/>
                <a:uFillTx/>
                <a:latin typeface="Inter"/>
                <a:ea typeface="Inter"/>
              </a:rPr>
              <a:t>Keeps token count low</a:t>
            </a:r>
            <a:endParaRPr lang="en-US" sz="1600" b="0" u="none" strike="noStrike">
              <a:solidFill>
                <a:srgbClr val="000000"/>
              </a:solidFill>
              <a:effectLst/>
              <a:uFillTx/>
              <a:latin typeface="Arial"/>
            </a:endParaRPr>
          </a:p>
        </p:txBody>
      </p:sp>
      <p:sp>
        <p:nvSpPr>
          <p:cNvPr id="103" name="Text 39"/>
          <p:cNvSpPr/>
          <p:nvPr/>
        </p:nvSpPr>
        <p:spPr>
          <a:xfrm>
            <a:off x="640080" y="5943600"/>
            <a:ext cx="1088100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66768A"/>
                </a:solidFill>
                <a:effectLst/>
                <a:uFillTx/>
                <a:latin typeface="Inter"/>
                <a:ea typeface="Inter"/>
              </a:rPr>
              <a:t>Note: exact BPE pieces depend on the tokenizer. GPT models use BPE.</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66768A"/>
                </a:solidFill>
                <a:effectLst/>
                <a:uFillTx/>
                <a:latin typeface="Inter"/>
                <a:ea typeface="Inter"/>
              </a:rPr>
              <a:t>Other subword tokenizers work in a similar way, such as WordPiece (used by BERT) and Unigram (used by T5).</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7F2"/>
        </a:solidFill>
      </p:bgPr>
    </p:bg>
    <p:spTree>
      <p:nvGrpSpPr>
        <p:cNvPr id="1" name=""/>
        <p:cNvGrpSpPr/>
        <p:nvPr/>
      </p:nvGrpSpPr>
      <p:grpSpPr>
        <a:xfrm>
          <a:off x="0" y="0"/>
          <a:ext cx="0" cy="0"/>
          <a:chOff x="0" y="0"/>
          <a:chExt cx="0" cy="0"/>
        </a:xfrm>
      </p:grpSpPr>
      <p:sp>
        <p:nvSpPr>
          <p:cNvPr id="104" name="Text 0"/>
          <p:cNvSpPr/>
          <p:nvPr/>
        </p:nvSpPr>
        <p:spPr>
          <a:xfrm>
            <a:off x="11155680" y="6446520"/>
            <a:ext cx="54828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6768A"/>
                </a:solidFill>
                <a:effectLst/>
                <a:uFillTx/>
                <a:latin typeface="Inter"/>
                <a:ea typeface="Inter"/>
              </a:rPr>
              <a:t>5</a:t>
            </a:r>
            <a:endParaRPr lang="en-US" sz="1100" b="0" u="none" strike="noStrike">
              <a:solidFill>
                <a:srgbClr val="000000"/>
              </a:solidFill>
              <a:effectLst/>
              <a:uFillTx/>
              <a:latin typeface="Arial"/>
            </a:endParaRPr>
          </a:p>
        </p:txBody>
      </p:sp>
      <p:sp>
        <p:nvSpPr>
          <p:cNvPr id="105" name="Text 1"/>
          <p:cNvSpPr/>
          <p:nvPr/>
        </p:nvSpPr>
        <p:spPr>
          <a:xfrm>
            <a:off x="640080" y="411480"/>
            <a:ext cx="108810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rgbClr val="435466"/>
                </a:solidFill>
                <a:effectLst/>
                <a:uFillTx/>
                <a:latin typeface="Inter"/>
                <a:ea typeface="Inter"/>
              </a:rPr>
              <a:t>Vocabulary and unknown tokens</a:t>
            </a:r>
            <a:endParaRPr lang="en-US" sz="3600" b="0" u="none" strike="noStrike">
              <a:solidFill>
                <a:srgbClr val="000000"/>
              </a:solidFill>
              <a:effectLst/>
              <a:uFillTx/>
              <a:latin typeface="Arial"/>
            </a:endParaRPr>
          </a:p>
        </p:txBody>
      </p:sp>
      <p:sp>
        <p:nvSpPr>
          <p:cNvPr id="106" name="Text 2"/>
          <p:cNvSpPr/>
          <p:nvPr/>
        </p:nvSpPr>
        <p:spPr>
          <a:xfrm>
            <a:off x="640080" y="1097280"/>
            <a:ext cx="1088100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rgbClr val="66768A"/>
                </a:solidFill>
                <a:effectLst/>
                <a:uFillTx/>
                <a:latin typeface="Inter"/>
                <a:ea typeface="Inter"/>
              </a:rPr>
              <a:t>A vocabulary is a lookup list. Each text piece has its own ID.</a:t>
            </a:r>
            <a:endParaRPr lang="en-US" sz="1600" b="0" u="none" strike="noStrike">
              <a:solidFill>
                <a:srgbClr val="000000"/>
              </a:solidFill>
              <a:effectLst/>
              <a:uFillTx/>
              <a:latin typeface="Arial"/>
            </a:endParaRPr>
          </a:p>
        </p:txBody>
      </p:sp>
      <p:sp>
        <p:nvSpPr>
          <p:cNvPr id="107" name="Shape 3"/>
          <p:cNvSpPr/>
          <p:nvPr/>
        </p:nvSpPr>
        <p:spPr>
          <a:xfrm>
            <a:off x="640080" y="1783080"/>
            <a:ext cx="5303160" cy="3977280"/>
          </a:xfrm>
          <a:prstGeom prst="roundRect">
            <a:avLst>
              <a:gd name="adj" fmla="val 3448"/>
            </a:avLst>
          </a:prstGeom>
          <a:solidFill>
            <a:srgbClr val="FFFFFF"/>
          </a:solidFill>
          <a:ln w="15875">
            <a:solidFill>
              <a:srgbClr val="D9E1E8"/>
            </a:solidFill>
            <a:round/>
          </a:ln>
          <a:effectLst>
            <a:outerShdw algn="bl" blurRad="101520" dir="5400000" dist="25560" kx="0" ky="0" rotWithShape="0" sx="100000" sy="100000">
              <a:srgbClr val="435466">
                <a:alpha val="8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08" name="Text 4"/>
          <p:cNvSpPr/>
          <p:nvPr/>
        </p:nvSpPr>
        <p:spPr>
          <a:xfrm>
            <a:off x="1005840" y="2057400"/>
            <a:ext cx="45716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435466"/>
                </a:solidFill>
                <a:effectLst/>
                <a:uFillTx/>
                <a:latin typeface="Inter"/>
                <a:ea typeface="Inter"/>
              </a:rPr>
              <a:t>Vocabulary</a:t>
            </a:r>
            <a:endParaRPr lang="en-US" sz="2200" b="0" u="none" strike="noStrike">
              <a:solidFill>
                <a:srgbClr val="000000"/>
              </a:solidFill>
              <a:effectLst/>
              <a:uFillTx/>
              <a:latin typeface="Arial"/>
            </a:endParaRPr>
          </a:p>
        </p:txBody>
      </p:sp>
      <p:sp>
        <p:nvSpPr>
          <p:cNvPr id="109" name="Text 5"/>
          <p:cNvSpPr/>
          <p:nvPr/>
        </p:nvSpPr>
        <p:spPr>
          <a:xfrm>
            <a:off x="1097280" y="2788920"/>
            <a:ext cx="2194200" cy="566640"/>
          </a:xfrm>
          <a:prstGeom prst="roundRect">
            <a:avLst>
              <a:gd name="adj" fmla="val 16129"/>
            </a:avLst>
          </a:prstGeom>
          <a:solidFill>
            <a:srgbClr val="E4ECE7"/>
          </a:solidFill>
          <a:ln w="15875">
            <a:solidFill>
              <a:srgbClr val="8FA99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2000" b="0" u="none" strike="noStrike">
                <a:solidFill>
                  <a:srgbClr val="435466"/>
                </a:solidFill>
                <a:effectLst/>
                <a:uFillTx/>
                <a:latin typeface="Inter"/>
                <a:ea typeface="Inter"/>
              </a:rPr>
              <a:t>"rain"</a:t>
            </a:r>
            <a:endParaRPr lang="en-US" sz="2000" b="0" u="none" strike="noStrike">
              <a:solidFill>
                <a:srgbClr val="000000"/>
              </a:solidFill>
              <a:effectLst/>
              <a:uFillTx/>
              <a:latin typeface="Arial"/>
            </a:endParaRPr>
          </a:p>
        </p:txBody>
      </p:sp>
      <p:sp>
        <p:nvSpPr>
          <p:cNvPr id="110" name="Shape 6"/>
          <p:cNvSpPr/>
          <p:nvPr/>
        </p:nvSpPr>
        <p:spPr>
          <a:xfrm>
            <a:off x="3429000" y="3072240"/>
            <a:ext cx="640080" cy="360"/>
          </a:xfrm>
          <a:prstGeom prst="line">
            <a:avLst/>
          </a:prstGeom>
          <a:ln w="31750">
            <a:solidFill>
              <a:srgbClr val="A9C0D8"/>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11" name="Text 7"/>
          <p:cNvSpPr/>
          <p:nvPr/>
        </p:nvSpPr>
        <p:spPr>
          <a:xfrm>
            <a:off x="4206240" y="2788920"/>
            <a:ext cx="1096920" cy="566640"/>
          </a:xfrm>
          <a:prstGeom prst="roundRect">
            <a:avLst>
              <a:gd name="adj" fmla="val 16129"/>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435466"/>
                </a:solidFill>
                <a:effectLst/>
                <a:uFillTx/>
                <a:latin typeface="Inter"/>
                <a:ea typeface="Inter"/>
              </a:rPr>
              <a:t>1</a:t>
            </a:r>
            <a:endParaRPr lang="en-US" sz="2000" b="0" u="none" strike="noStrike">
              <a:solidFill>
                <a:srgbClr val="000000"/>
              </a:solidFill>
              <a:effectLst/>
              <a:uFillTx/>
              <a:latin typeface="Arial"/>
            </a:endParaRPr>
          </a:p>
        </p:txBody>
      </p:sp>
      <p:sp>
        <p:nvSpPr>
          <p:cNvPr id="112" name="Text 8"/>
          <p:cNvSpPr/>
          <p:nvPr/>
        </p:nvSpPr>
        <p:spPr>
          <a:xfrm>
            <a:off x="1097280" y="3566160"/>
            <a:ext cx="2194200" cy="566640"/>
          </a:xfrm>
          <a:prstGeom prst="roundRect">
            <a:avLst>
              <a:gd name="adj" fmla="val 16129"/>
            </a:avLst>
          </a:prstGeom>
          <a:solidFill>
            <a:srgbClr val="E4ECE7"/>
          </a:solidFill>
          <a:ln w="15875">
            <a:solidFill>
              <a:srgbClr val="8FA99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2000" b="0" u="none" strike="noStrike">
                <a:solidFill>
                  <a:srgbClr val="435466"/>
                </a:solidFill>
                <a:effectLst/>
                <a:uFillTx/>
                <a:latin typeface="Inter"/>
                <a:ea typeface="Inter"/>
              </a:rPr>
              <a:t>"falls"</a:t>
            </a:r>
            <a:endParaRPr lang="en-US" sz="2000" b="0" u="none" strike="noStrike">
              <a:solidFill>
                <a:srgbClr val="000000"/>
              </a:solidFill>
              <a:effectLst/>
              <a:uFillTx/>
              <a:latin typeface="Arial"/>
            </a:endParaRPr>
          </a:p>
        </p:txBody>
      </p:sp>
      <p:sp>
        <p:nvSpPr>
          <p:cNvPr id="113" name="Shape 9"/>
          <p:cNvSpPr/>
          <p:nvPr/>
        </p:nvSpPr>
        <p:spPr>
          <a:xfrm>
            <a:off x="3429000" y="3849480"/>
            <a:ext cx="640080" cy="360"/>
          </a:xfrm>
          <a:prstGeom prst="line">
            <a:avLst/>
          </a:prstGeom>
          <a:ln w="31750">
            <a:solidFill>
              <a:srgbClr val="A9C0D8"/>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14" name="Text 10"/>
          <p:cNvSpPr/>
          <p:nvPr/>
        </p:nvSpPr>
        <p:spPr>
          <a:xfrm>
            <a:off x="4206240" y="3566160"/>
            <a:ext cx="1096920" cy="566640"/>
          </a:xfrm>
          <a:prstGeom prst="roundRect">
            <a:avLst>
              <a:gd name="adj" fmla="val 16129"/>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435466"/>
                </a:solidFill>
                <a:effectLst/>
                <a:uFillTx/>
                <a:latin typeface="Inter"/>
                <a:ea typeface="Inter"/>
              </a:rPr>
              <a:t>2</a:t>
            </a:r>
            <a:endParaRPr lang="en-US" sz="2000" b="0" u="none" strike="noStrike">
              <a:solidFill>
                <a:srgbClr val="000000"/>
              </a:solidFill>
              <a:effectLst/>
              <a:uFillTx/>
              <a:latin typeface="Arial"/>
            </a:endParaRPr>
          </a:p>
        </p:txBody>
      </p:sp>
      <p:sp>
        <p:nvSpPr>
          <p:cNvPr id="115" name="Text 11"/>
          <p:cNvSpPr/>
          <p:nvPr/>
        </p:nvSpPr>
        <p:spPr>
          <a:xfrm>
            <a:off x="1097280" y="4343400"/>
            <a:ext cx="2194200" cy="566640"/>
          </a:xfrm>
          <a:prstGeom prst="roundRect">
            <a:avLst>
              <a:gd name="adj" fmla="val 16129"/>
            </a:avLst>
          </a:prstGeom>
          <a:solidFill>
            <a:srgbClr val="F4E4DE"/>
          </a:solidFill>
          <a:ln w="15875">
            <a:solidFill>
              <a:srgbClr val="C98F7D"/>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2000" b="0" u="none" strike="noStrike">
                <a:solidFill>
                  <a:srgbClr val="435466"/>
                </a:solidFill>
                <a:effectLst/>
                <a:uFillTx/>
                <a:latin typeface="Inter"/>
                <a:ea typeface="Inter"/>
              </a:rPr>
              <a:t>&lt;|unk|&gt;</a:t>
            </a:r>
            <a:endParaRPr lang="en-US" sz="2000" b="0" u="none" strike="noStrike">
              <a:solidFill>
                <a:srgbClr val="000000"/>
              </a:solidFill>
              <a:effectLst/>
              <a:uFillTx/>
              <a:latin typeface="Arial"/>
            </a:endParaRPr>
          </a:p>
        </p:txBody>
      </p:sp>
      <p:sp>
        <p:nvSpPr>
          <p:cNvPr id="116" name="Shape 12"/>
          <p:cNvSpPr/>
          <p:nvPr/>
        </p:nvSpPr>
        <p:spPr>
          <a:xfrm>
            <a:off x="3429000" y="4626720"/>
            <a:ext cx="640080" cy="360"/>
          </a:xfrm>
          <a:prstGeom prst="line">
            <a:avLst/>
          </a:prstGeom>
          <a:ln w="31750">
            <a:solidFill>
              <a:srgbClr val="A9C0D8"/>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17" name="Text 13"/>
          <p:cNvSpPr/>
          <p:nvPr/>
        </p:nvSpPr>
        <p:spPr>
          <a:xfrm>
            <a:off x="4206240" y="4343400"/>
            <a:ext cx="1096920" cy="566640"/>
          </a:xfrm>
          <a:prstGeom prst="roundRect">
            <a:avLst>
              <a:gd name="adj" fmla="val 16129"/>
            </a:avLst>
          </a:prstGeom>
          <a:solidFill>
            <a:srgbClr val="F4E4DE"/>
          </a:solidFill>
          <a:ln w="15875">
            <a:solidFill>
              <a:srgbClr val="C98F7D"/>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435466"/>
                </a:solidFill>
                <a:effectLst/>
                <a:uFillTx/>
                <a:latin typeface="Inter"/>
                <a:ea typeface="Inter"/>
              </a:rPr>
              <a:t>3</a:t>
            </a:r>
            <a:endParaRPr lang="en-US" sz="2000" b="0" u="none" strike="noStrike">
              <a:solidFill>
                <a:srgbClr val="000000"/>
              </a:solidFill>
              <a:effectLst/>
              <a:uFillTx/>
              <a:latin typeface="Arial"/>
            </a:endParaRPr>
          </a:p>
        </p:txBody>
      </p:sp>
      <p:sp>
        <p:nvSpPr>
          <p:cNvPr id="118" name="Text 14"/>
          <p:cNvSpPr/>
          <p:nvPr/>
        </p:nvSpPr>
        <p:spPr>
          <a:xfrm>
            <a:off x="1005840" y="5212080"/>
            <a:ext cx="457164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66768A"/>
                </a:solidFill>
                <a:effectLst/>
                <a:uFillTx/>
                <a:latin typeface="Inter"/>
                <a:ea typeface="Inter"/>
              </a:rPr>
              <a:t>&lt;|unk|&gt; is a special token for unknown words.</a:t>
            </a:r>
            <a:endParaRPr lang="en-US" sz="1400" b="0" u="none" strike="noStrike">
              <a:solidFill>
                <a:srgbClr val="000000"/>
              </a:solidFill>
              <a:effectLst/>
              <a:uFillTx/>
              <a:latin typeface="Arial"/>
            </a:endParaRPr>
          </a:p>
        </p:txBody>
      </p:sp>
      <p:sp>
        <p:nvSpPr>
          <p:cNvPr id="119" name="Text 15"/>
          <p:cNvSpPr/>
          <p:nvPr/>
        </p:nvSpPr>
        <p:spPr>
          <a:xfrm>
            <a:off x="7178040" y="2103120"/>
            <a:ext cx="365724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66768A"/>
                </a:solidFill>
                <a:effectLst/>
                <a:uFillTx/>
                <a:latin typeface="Inter"/>
                <a:ea typeface="Inter"/>
              </a:rPr>
              <a:t>Input</a:t>
            </a:r>
            <a:endParaRPr lang="en-US" sz="1300" b="0" u="none" strike="noStrike">
              <a:solidFill>
                <a:srgbClr val="000000"/>
              </a:solidFill>
              <a:effectLst/>
              <a:uFillTx/>
              <a:latin typeface="Arial"/>
            </a:endParaRPr>
          </a:p>
        </p:txBody>
      </p:sp>
      <p:sp>
        <p:nvSpPr>
          <p:cNvPr id="120" name="Text 16"/>
          <p:cNvSpPr/>
          <p:nvPr/>
        </p:nvSpPr>
        <p:spPr>
          <a:xfrm>
            <a:off x="7635240" y="2423160"/>
            <a:ext cx="2742840" cy="594000"/>
          </a:xfrm>
          <a:prstGeom prst="roundRect">
            <a:avLst>
              <a:gd name="adj" fmla="val 15385"/>
            </a:avLst>
          </a:prstGeom>
          <a:solidFill>
            <a:srgbClr val="E4ECE7"/>
          </a:solidFill>
          <a:ln w="15875">
            <a:solidFill>
              <a:srgbClr val="8FA99B"/>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2000" b="0" u="none" strike="noStrike">
                <a:solidFill>
                  <a:srgbClr val="435466"/>
                </a:solidFill>
                <a:effectLst/>
                <a:uFillTx/>
                <a:latin typeface="Inter"/>
                <a:ea typeface="Inter"/>
              </a:rPr>
              <a:t>"rain shimmers"</a:t>
            </a:r>
            <a:endParaRPr lang="en-US" sz="2000" b="0" u="none" strike="noStrike">
              <a:solidFill>
                <a:srgbClr val="000000"/>
              </a:solidFill>
              <a:effectLst/>
              <a:uFillTx/>
              <a:latin typeface="Arial"/>
            </a:endParaRPr>
          </a:p>
        </p:txBody>
      </p:sp>
      <p:sp>
        <p:nvSpPr>
          <p:cNvPr id="121" name="Shape 17"/>
          <p:cNvSpPr/>
          <p:nvPr/>
        </p:nvSpPr>
        <p:spPr>
          <a:xfrm>
            <a:off x="9006840" y="3126960"/>
            <a:ext cx="360" cy="457200"/>
          </a:xfrm>
          <a:prstGeom prst="line">
            <a:avLst/>
          </a:prstGeom>
          <a:ln w="31750">
            <a:solidFill>
              <a:srgbClr val="A9C0D8"/>
            </a:solidFill>
            <a:round/>
            <a:tailEnd len="med" type="triangle" w="me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22" name="Text 18"/>
          <p:cNvSpPr/>
          <p:nvPr/>
        </p:nvSpPr>
        <p:spPr>
          <a:xfrm>
            <a:off x="7178040" y="3639240"/>
            <a:ext cx="365724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66768A"/>
                </a:solidFill>
                <a:effectLst/>
                <a:uFillTx/>
                <a:latin typeface="Inter"/>
                <a:ea typeface="Inter"/>
              </a:rPr>
              <a:t>IDs</a:t>
            </a:r>
            <a:endParaRPr lang="en-US" sz="1300" b="0" u="none" strike="noStrike">
              <a:solidFill>
                <a:srgbClr val="000000"/>
              </a:solidFill>
              <a:effectLst/>
              <a:uFillTx/>
              <a:latin typeface="Arial"/>
            </a:endParaRPr>
          </a:p>
        </p:txBody>
      </p:sp>
      <p:sp>
        <p:nvSpPr>
          <p:cNvPr id="123" name="Text 19"/>
          <p:cNvSpPr/>
          <p:nvPr/>
        </p:nvSpPr>
        <p:spPr>
          <a:xfrm>
            <a:off x="7818120" y="3959280"/>
            <a:ext cx="1096920" cy="594000"/>
          </a:xfrm>
          <a:prstGeom prst="roundRect">
            <a:avLst>
              <a:gd name="adj" fmla="val 15385"/>
            </a:avLst>
          </a:prstGeom>
          <a:solidFill>
            <a:srgbClr val="E8EFF7"/>
          </a:solidFill>
          <a:ln w="15875">
            <a:solidFill>
              <a:srgbClr val="A9C0D8"/>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435466"/>
                </a:solidFill>
                <a:effectLst/>
                <a:uFillTx/>
                <a:latin typeface="Inter"/>
                <a:ea typeface="Inter"/>
              </a:rPr>
              <a:t>1</a:t>
            </a:r>
            <a:endParaRPr lang="en-US" sz="2000" b="0" u="none" strike="noStrike">
              <a:solidFill>
                <a:srgbClr val="000000"/>
              </a:solidFill>
              <a:effectLst/>
              <a:uFillTx/>
              <a:latin typeface="Arial"/>
            </a:endParaRPr>
          </a:p>
        </p:txBody>
      </p:sp>
      <p:sp>
        <p:nvSpPr>
          <p:cNvPr id="124" name="Text 20"/>
          <p:cNvSpPr/>
          <p:nvPr/>
        </p:nvSpPr>
        <p:spPr>
          <a:xfrm>
            <a:off x="9098280" y="3959280"/>
            <a:ext cx="1096920" cy="594000"/>
          </a:xfrm>
          <a:prstGeom prst="roundRect">
            <a:avLst>
              <a:gd name="adj" fmla="val 15385"/>
            </a:avLst>
          </a:prstGeom>
          <a:solidFill>
            <a:srgbClr val="F4E4DE"/>
          </a:solidFill>
          <a:ln w="15875">
            <a:solidFill>
              <a:srgbClr val="C98F7D"/>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435466"/>
                </a:solidFill>
                <a:effectLst/>
                <a:uFillTx/>
                <a:latin typeface="Inter"/>
                <a:ea typeface="Inter"/>
              </a:rPr>
              <a:t>3</a:t>
            </a:r>
            <a:endParaRPr lang="en-US" sz="2000" b="0" u="none" strike="noStrike">
              <a:solidFill>
                <a:srgbClr val="000000"/>
              </a:solidFill>
              <a:effectLst/>
              <a:uFillTx/>
              <a:latin typeface="Arial"/>
            </a:endParaRPr>
          </a:p>
        </p:txBody>
      </p:sp>
      <p:sp>
        <p:nvSpPr>
          <p:cNvPr id="125" name="Text 21"/>
          <p:cNvSpPr/>
          <p:nvPr/>
        </p:nvSpPr>
        <p:spPr>
          <a:xfrm>
            <a:off x="6629400" y="4800600"/>
            <a:ext cx="4754520" cy="6397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0" u="none" strike="noStrike">
                <a:solidFill>
                  <a:srgbClr val="66768A"/>
                </a:solidFill>
                <a:effectLst/>
                <a:uFillTx/>
                <a:latin typeface="Inter"/>
                <a:ea typeface="Inter"/>
              </a:rPr>
              <a:t>"shimmers" is not in the vocabulary, so it becomes &lt;|unk|&gt;.</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7F2"/>
        </a:solidFill>
      </p:bgPr>
    </p:bg>
    <p:spTree>
      <p:nvGrpSpPr>
        <p:cNvPr id="1" name=""/>
        <p:cNvGrpSpPr/>
        <p:nvPr/>
      </p:nvGrpSpPr>
      <p:grpSpPr>
        <a:xfrm>
          <a:off x="0" y="0"/>
          <a:ext cx="0" cy="0"/>
          <a:chOff x="0" y="0"/>
          <a:chExt cx="0" cy="0"/>
        </a:xfrm>
      </p:grpSpPr>
      <p:sp>
        <p:nvSpPr>
          <p:cNvPr id="126" name="Text 0"/>
          <p:cNvSpPr/>
          <p:nvPr/>
        </p:nvSpPr>
        <p:spPr>
          <a:xfrm>
            <a:off x="11155680" y="6446520"/>
            <a:ext cx="54828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6768A"/>
                </a:solidFill>
                <a:effectLst/>
                <a:uFillTx/>
                <a:latin typeface="Inter"/>
                <a:ea typeface="Inter"/>
              </a:rPr>
              <a:t>6</a:t>
            </a:r>
            <a:endParaRPr lang="en-US" sz="1100" b="0" u="none" strike="noStrike">
              <a:solidFill>
                <a:srgbClr val="000000"/>
              </a:solidFill>
              <a:effectLst/>
              <a:uFillTx/>
              <a:latin typeface="Arial"/>
            </a:endParaRPr>
          </a:p>
        </p:txBody>
      </p:sp>
      <p:sp>
        <p:nvSpPr>
          <p:cNvPr id="127" name="Text 1"/>
          <p:cNvSpPr/>
          <p:nvPr/>
        </p:nvSpPr>
        <p:spPr>
          <a:xfrm>
            <a:off x="640080" y="411480"/>
            <a:ext cx="108810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rgbClr val="435466"/>
                </a:solidFill>
                <a:effectLst/>
                <a:uFillTx/>
                <a:latin typeface="Inter"/>
                <a:ea typeface="Inter"/>
              </a:rPr>
              <a:t>Why tokenizers matter for LLMs</a:t>
            </a:r>
            <a:endParaRPr lang="en-US" sz="3600" b="0" u="none" strike="noStrike">
              <a:solidFill>
                <a:srgbClr val="000000"/>
              </a:solidFill>
              <a:effectLst/>
              <a:uFillTx/>
              <a:latin typeface="Arial"/>
            </a:endParaRPr>
          </a:p>
        </p:txBody>
      </p:sp>
      <p:sp>
        <p:nvSpPr>
          <p:cNvPr id="128" name="Text 2"/>
          <p:cNvSpPr/>
          <p:nvPr/>
        </p:nvSpPr>
        <p:spPr>
          <a:xfrm>
            <a:off x="640080" y="1097280"/>
            <a:ext cx="1088100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rgbClr val="66768A"/>
                </a:solidFill>
                <a:effectLst/>
                <a:uFillTx/>
                <a:latin typeface="Inter"/>
                <a:ea typeface="Inter"/>
              </a:rPr>
              <a:t>LLM = large language model. The tokenizer is one part: it works at the start and the end.</a:t>
            </a:r>
            <a:endParaRPr lang="en-US" sz="1600" b="0" u="none" strike="noStrike">
              <a:solidFill>
                <a:srgbClr val="000000"/>
              </a:solidFill>
              <a:effectLst/>
              <a:uFillTx/>
              <a:latin typeface="Arial"/>
            </a:endParaRPr>
          </a:p>
        </p:txBody>
      </p:sp>
      <p:sp>
        <p:nvSpPr>
          <p:cNvPr id="129" name="Text 3"/>
          <p:cNvSpPr/>
          <p:nvPr/>
        </p:nvSpPr>
        <p:spPr>
          <a:xfrm>
            <a:off x="609480" y="2834640"/>
            <a:ext cx="1188360" cy="959760"/>
          </a:xfrm>
          <a:prstGeom prst="roundRect">
            <a:avLst>
              <a:gd name="adj" fmla="val 14286"/>
            </a:avLst>
          </a:prstGeom>
          <a:solidFill>
            <a:srgbClr val="E4ECE7"/>
          </a:solidFill>
          <a:ln w="15875">
            <a:solidFill>
              <a:srgbClr val="8FA99B"/>
            </a:solidFill>
            <a:round/>
          </a:ln>
        </p:spPr>
        <p:style>
          <a:lnRef idx="0"/>
          <a:fillRef idx="0"/>
          <a:effectRef idx="0"/>
          <a:fontRef idx="minor"/>
        </p:style>
        <p:txBody>
          <a:bodyPr lIns="1080" tIns="1080" rIns="1080" bIns="1080" anchor="ctr">
            <a:noAutofit/>
          </a:bodyPr>
          <a:p>
            <a:pPr algn="ctr" defTabSz="914400">
              <a:lnSpc>
                <a:spcPct val="100000"/>
              </a:lnSpc>
              <a:tabLst>
                <a:tab pos="0" algn="l"/>
              </a:tabLst>
            </a:pPr>
            <a:r>
              <a:rPr lang="en-US" sz="1600" b="1" u="none" strike="noStrike">
                <a:solidFill>
                  <a:srgbClr val="435466"/>
                </a:solidFill>
                <a:effectLst/>
                <a:uFillTx/>
                <a:latin typeface="Inter"/>
                <a:ea typeface="Inter"/>
              </a:rPr>
              <a:t>Text</a:t>
            </a:r>
            <a:endParaRPr lang="en-US" sz="1600" b="0" u="none" strike="noStrike">
              <a:solidFill>
                <a:srgbClr val="000000"/>
              </a:solidFill>
              <a:effectLst/>
              <a:uFillTx/>
              <a:latin typeface="Arial"/>
            </a:endParaRPr>
          </a:p>
        </p:txBody>
      </p:sp>
      <p:sp>
        <p:nvSpPr>
          <p:cNvPr id="130" name="Shape 4"/>
          <p:cNvSpPr/>
          <p:nvPr/>
        </p:nvSpPr>
        <p:spPr>
          <a:xfrm>
            <a:off x="1852920" y="3314520"/>
            <a:ext cx="301680" cy="360"/>
          </a:xfrm>
          <a:prstGeom prst="line">
            <a:avLst/>
          </a:prstGeom>
          <a:ln w="31750">
            <a:solidFill>
              <a:srgbClr val="A9C0D8"/>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31" name="Text 5"/>
          <p:cNvSpPr/>
          <p:nvPr/>
        </p:nvSpPr>
        <p:spPr>
          <a:xfrm>
            <a:off x="2209680" y="2834640"/>
            <a:ext cx="1462680" cy="959760"/>
          </a:xfrm>
          <a:prstGeom prst="roundRect">
            <a:avLst>
              <a:gd name="adj" fmla="val 14286"/>
            </a:avLst>
          </a:prstGeom>
          <a:solidFill>
            <a:srgbClr val="A9C0D8"/>
          </a:solidFill>
          <a:ln w="15875">
            <a:solidFill>
              <a:srgbClr val="A9C0D8"/>
            </a:solidFill>
            <a:round/>
          </a:ln>
        </p:spPr>
        <p:style>
          <a:lnRef idx="0"/>
          <a:fillRef idx="0"/>
          <a:effectRef idx="0"/>
          <a:fontRef idx="minor"/>
        </p:style>
        <p:txBody>
          <a:bodyPr lIns="1080" tIns="1080" rIns="1080" bIns="1080" anchor="ctr">
            <a:noAutofit/>
          </a:bodyPr>
          <a:p>
            <a:pPr algn="ctr" defTabSz="914400">
              <a:lnSpc>
                <a:spcPct val="100000"/>
              </a:lnSpc>
              <a:tabLst>
                <a:tab pos="0" algn="l"/>
              </a:tabLst>
            </a:pPr>
            <a:r>
              <a:rPr lang="en-US" sz="1600" b="1" u="none" strike="noStrike">
                <a:solidFill>
                  <a:srgbClr val="435466"/>
                </a:solidFill>
                <a:effectLst/>
                <a:uFillTx/>
                <a:latin typeface="Inter"/>
                <a:ea typeface="Inter"/>
              </a:rPr>
              <a:t>Tokenizer</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435466"/>
                </a:solidFill>
                <a:effectLst/>
                <a:uFillTx/>
                <a:latin typeface="Inter"/>
                <a:ea typeface="Inter"/>
              </a:rPr>
              <a:t>encode</a:t>
            </a:r>
            <a:endParaRPr lang="en-US" sz="1600" b="0" u="none" strike="noStrike">
              <a:solidFill>
                <a:srgbClr val="000000"/>
              </a:solidFill>
              <a:effectLst/>
              <a:uFillTx/>
              <a:latin typeface="Arial"/>
            </a:endParaRPr>
          </a:p>
        </p:txBody>
      </p:sp>
      <p:sp>
        <p:nvSpPr>
          <p:cNvPr id="132" name="Shape 6"/>
          <p:cNvSpPr/>
          <p:nvPr/>
        </p:nvSpPr>
        <p:spPr>
          <a:xfrm>
            <a:off x="3727440" y="3314520"/>
            <a:ext cx="804600" cy="360"/>
          </a:xfrm>
          <a:prstGeom prst="line">
            <a:avLst/>
          </a:prstGeom>
          <a:ln w="31750">
            <a:solidFill>
              <a:srgbClr val="A9C0D8"/>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33" name="Text 7"/>
          <p:cNvSpPr/>
          <p:nvPr/>
        </p:nvSpPr>
        <p:spPr>
          <a:xfrm>
            <a:off x="3672720" y="2747880"/>
            <a:ext cx="914040" cy="475200"/>
          </a:xfrm>
          <a:prstGeom prst="rect">
            <a:avLst/>
          </a:prstGeom>
          <a:noFill/>
          <a:ln w="0">
            <a:noFill/>
          </a:ln>
        </p:spPr>
        <p:style>
          <a:lnRef idx="0"/>
          <a:fillRef idx="0"/>
          <a:effectRef idx="0"/>
          <a:fontRef idx="minor"/>
        </p:style>
        <p:txBody>
          <a:bodyPr lIns="0" tIns="0" rIns="0" bIns="0" anchor="b">
            <a:noAutofit/>
          </a:bodyPr>
          <a:p>
            <a:pPr algn="ctr" defTabSz="914400">
              <a:lnSpc>
                <a:spcPct val="100000"/>
              </a:lnSpc>
              <a:tabLst>
                <a:tab pos="0" algn="l"/>
              </a:tabLst>
            </a:pPr>
            <a:r>
              <a:rPr lang="en-US" sz="1200" b="0" u="none" strike="noStrike">
                <a:solidFill>
                  <a:srgbClr val="66768A"/>
                </a:solidFill>
                <a:effectLst/>
                <a:uFillTx/>
                <a:latin typeface="Inter"/>
                <a:ea typeface="Inter"/>
              </a:rPr>
              <a:t>token IDs</a:t>
            </a:r>
            <a:endParaRPr lang="en-US" sz="1200" b="0" u="none" strike="noStrike">
              <a:solidFill>
                <a:srgbClr val="000000"/>
              </a:solidFill>
              <a:effectLst/>
              <a:uFillTx/>
              <a:latin typeface="Arial"/>
            </a:endParaRPr>
          </a:p>
        </p:txBody>
      </p:sp>
      <p:sp>
        <p:nvSpPr>
          <p:cNvPr id="134" name="Shape 8"/>
          <p:cNvSpPr/>
          <p:nvPr/>
        </p:nvSpPr>
        <p:spPr>
          <a:xfrm>
            <a:off x="4587120" y="1600200"/>
            <a:ext cx="3017160" cy="3428640"/>
          </a:xfrm>
          <a:prstGeom prst="roundRect">
            <a:avLst>
              <a:gd name="adj" fmla="val 4545"/>
            </a:avLst>
          </a:prstGeom>
          <a:solidFill>
            <a:srgbClr val="FFFFFF"/>
          </a:solidFill>
          <a:ln w="15875">
            <a:solidFill>
              <a:srgbClr val="435466"/>
            </a:solidFill>
            <a:round/>
          </a:ln>
          <a:effectLst>
            <a:outerShdw algn="bl" blurRad="101520" dir="5400000" dist="25560" kx="0" ky="0" rotWithShape="0" sx="100000" sy="100000">
              <a:srgbClr val="435466">
                <a:alpha val="8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35" name="Text 9"/>
          <p:cNvSpPr/>
          <p:nvPr/>
        </p:nvSpPr>
        <p:spPr>
          <a:xfrm>
            <a:off x="4770000" y="1737360"/>
            <a:ext cx="26514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435466"/>
                </a:solidFill>
                <a:effectLst/>
                <a:uFillTx/>
                <a:latin typeface="Inter"/>
                <a:ea typeface="Inter"/>
              </a:rPr>
              <a:t>Language model </a:t>
            </a:r>
            <a:r>
              <a:rPr lang="en-US" sz="1200" b="0" u="none" strike="noStrike">
                <a:solidFill>
                  <a:srgbClr val="66768A"/>
                </a:solidFill>
                <a:effectLst/>
                <a:uFillTx/>
                <a:latin typeface="Inter"/>
                <a:ea typeface="Inter"/>
              </a:rPr>
              <a:t>e.g. GPT</a:t>
            </a:r>
            <a:endParaRPr lang="en-US" sz="1200" b="0" u="none" strike="noStrike">
              <a:solidFill>
                <a:srgbClr val="000000"/>
              </a:solidFill>
              <a:effectLst/>
              <a:uFillTx/>
              <a:latin typeface="Arial"/>
            </a:endParaRPr>
          </a:p>
        </p:txBody>
      </p:sp>
      <p:sp>
        <p:nvSpPr>
          <p:cNvPr id="136" name="Text 10"/>
          <p:cNvSpPr/>
          <p:nvPr/>
        </p:nvSpPr>
        <p:spPr>
          <a:xfrm>
            <a:off x="4815720" y="2240280"/>
            <a:ext cx="2559960" cy="548280"/>
          </a:xfrm>
          <a:prstGeom prst="roundRect">
            <a:avLst>
              <a:gd name="adj" fmla="val 16667"/>
            </a:avLst>
          </a:prstGeom>
          <a:solidFill>
            <a:srgbClr val="FAF7F2"/>
          </a:solidFill>
          <a:ln w="12700">
            <a:solidFill>
              <a:srgbClr val="D9E1E8"/>
            </a:solidFill>
            <a:round/>
          </a:ln>
        </p:spPr>
        <p:style>
          <a:lnRef idx="0"/>
          <a:fillRef idx="0"/>
          <a:effectRef idx="0"/>
          <a:fontRef idx="minor"/>
        </p:style>
        <p:txBody>
          <a:bodyPr lIns="360" tIns="360" rIns="360" bIns="360" anchor="ctr">
            <a:noAutofit/>
          </a:bodyPr>
          <a:p>
            <a:pPr algn="ctr" defTabSz="914400">
              <a:lnSpc>
                <a:spcPct val="100000"/>
              </a:lnSpc>
              <a:tabLst>
                <a:tab pos="0" algn="l"/>
              </a:tabLst>
            </a:pPr>
            <a:r>
              <a:rPr lang="en-US" sz="1400" b="1" u="none" strike="noStrike">
                <a:solidFill>
                  <a:srgbClr val="435466"/>
                </a:solidFill>
                <a:effectLst/>
                <a:uFillTx/>
                <a:latin typeface="Inter"/>
                <a:ea typeface="Inter"/>
              </a:rPr>
              <a:t>Embeddings</a:t>
            </a:r>
            <a:endParaRPr lang="en-US" sz="14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rgbClr val="66768A"/>
                </a:solidFill>
                <a:effectLst/>
                <a:uFillTx/>
                <a:latin typeface="Inter"/>
                <a:ea typeface="Inter"/>
              </a:rPr>
              <a:t>give each ID meaning</a:t>
            </a:r>
            <a:endParaRPr lang="en-US" sz="1200" b="0" u="none" strike="noStrike">
              <a:solidFill>
                <a:srgbClr val="000000"/>
              </a:solidFill>
              <a:effectLst/>
              <a:uFillTx/>
              <a:latin typeface="Arial"/>
            </a:endParaRPr>
          </a:p>
        </p:txBody>
      </p:sp>
      <p:sp>
        <p:nvSpPr>
          <p:cNvPr id="137" name="Shape 11"/>
          <p:cNvSpPr/>
          <p:nvPr/>
        </p:nvSpPr>
        <p:spPr>
          <a:xfrm>
            <a:off x="6095520" y="2788920"/>
            <a:ext cx="360" cy="137160"/>
          </a:xfrm>
          <a:prstGeom prst="line">
            <a:avLst/>
          </a:prstGeom>
          <a:ln w="31750">
            <a:solidFill>
              <a:srgbClr val="A9C0D8"/>
            </a:solidFill>
            <a:round/>
            <a:tailEnd len="med" type="triangle" w="me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38" name="Text 12"/>
          <p:cNvSpPr/>
          <p:nvPr/>
        </p:nvSpPr>
        <p:spPr>
          <a:xfrm>
            <a:off x="4815720" y="2926080"/>
            <a:ext cx="2559960" cy="548280"/>
          </a:xfrm>
          <a:prstGeom prst="roundRect">
            <a:avLst>
              <a:gd name="adj" fmla="val 16667"/>
            </a:avLst>
          </a:prstGeom>
          <a:solidFill>
            <a:srgbClr val="FAF7F2"/>
          </a:solidFill>
          <a:ln w="12700">
            <a:solidFill>
              <a:srgbClr val="D9E1E8"/>
            </a:solidFill>
            <a:round/>
          </a:ln>
        </p:spPr>
        <p:style>
          <a:lnRef idx="0"/>
          <a:fillRef idx="0"/>
          <a:effectRef idx="0"/>
          <a:fontRef idx="minor"/>
        </p:style>
        <p:txBody>
          <a:bodyPr lIns="360" tIns="360" rIns="360" bIns="360" anchor="ctr">
            <a:noAutofit/>
          </a:bodyPr>
          <a:p>
            <a:pPr algn="ctr" defTabSz="914400">
              <a:lnSpc>
                <a:spcPct val="100000"/>
              </a:lnSpc>
              <a:tabLst>
                <a:tab pos="0" algn="l"/>
              </a:tabLst>
            </a:pPr>
            <a:r>
              <a:rPr lang="en-US" sz="1400" b="1" u="none" strike="noStrike">
                <a:solidFill>
                  <a:srgbClr val="435466"/>
                </a:solidFill>
                <a:effectLst/>
                <a:uFillTx/>
                <a:latin typeface="Inter"/>
                <a:ea typeface="Inter"/>
              </a:rPr>
              <a:t>Transformer blocks</a:t>
            </a:r>
            <a:endParaRPr lang="en-US" sz="14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rgbClr val="66768A"/>
                </a:solidFill>
                <a:effectLst/>
                <a:uFillTx/>
                <a:latin typeface="Inter"/>
                <a:ea typeface="Inter"/>
              </a:rPr>
              <a:t>read the context</a:t>
            </a:r>
            <a:endParaRPr lang="en-US" sz="1200" b="0" u="none" strike="noStrike">
              <a:solidFill>
                <a:srgbClr val="000000"/>
              </a:solidFill>
              <a:effectLst/>
              <a:uFillTx/>
              <a:latin typeface="Arial"/>
            </a:endParaRPr>
          </a:p>
        </p:txBody>
      </p:sp>
      <p:sp>
        <p:nvSpPr>
          <p:cNvPr id="139" name="Shape 13"/>
          <p:cNvSpPr/>
          <p:nvPr/>
        </p:nvSpPr>
        <p:spPr>
          <a:xfrm>
            <a:off x="6095520" y="3474720"/>
            <a:ext cx="360" cy="137160"/>
          </a:xfrm>
          <a:prstGeom prst="line">
            <a:avLst/>
          </a:prstGeom>
          <a:ln w="31750">
            <a:solidFill>
              <a:srgbClr val="A9C0D8"/>
            </a:solidFill>
            <a:round/>
            <a:tailEnd len="med" type="triangle" w="me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40" name="Text 14"/>
          <p:cNvSpPr/>
          <p:nvPr/>
        </p:nvSpPr>
        <p:spPr>
          <a:xfrm>
            <a:off x="4815720" y="3611880"/>
            <a:ext cx="2559960" cy="548280"/>
          </a:xfrm>
          <a:prstGeom prst="roundRect">
            <a:avLst>
              <a:gd name="adj" fmla="val 16667"/>
            </a:avLst>
          </a:prstGeom>
          <a:solidFill>
            <a:srgbClr val="FAF7F2"/>
          </a:solidFill>
          <a:ln w="12700">
            <a:solidFill>
              <a:srgbClr val="D9E1E8"/>
            </a:solidFill>
            <a:round/>
          </a:ln>
        </p:spPr>
        <p:style>
          <a:lnRef idx="0"/>
          <a:fillRef idx="0"/>
          <a:effectRef idx="0"/>
          <a:fontRef idx="minor"/>
        </p:style>
        <p:txBody>
          <a:bodyPr lIns="360" tIns="360" rIns="360" bIns="360" anchor="ctr">
            <a:noAutofit/>
          </a:bodyPr>
          <a:p>
            <a:pPr algn="ctr" defTabSz="914400">
              <a:lnSpc>
                <a:spcPct val="100000"/>
              </a:lnSpc>
              <a:tabLst>
                <a:tab pos="0" algn="l"/>
              </a:tabLst>
            </a:pPr>
            <a:r>
              <a:rPr lang="en-US" sz="1400" b="1" u="none" strike="noStrike">
                <a:solidFill>
                  <a:srgbClr val="435466"/>
                </a:solidFill>
                <a:effectLst/>
                <a:uFillTx/>
                <a:latin typeface="Inter"/>
                <a:ea typeface="Inter"/>
              </a:rPr>
              <a:t>Output layer</a:t>
            </a:r>
            <a:endParaRPr lang="en-US" sz="14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rgbClr val="66768A"/>
                </a:solidFill>
                <a:effectLst/>
                <a:uFillTx/>
                <a:latin typeface="Inter"/>
                <a:ea typeface="Inter"/>
              </a:rPr>
              <a:t>score every possible token</a:t>
            </a:r>
            <a:endParaRPr lang="en-US" sz="1200" b="0" u="none" strike="noStrike">
              <a:solidFill>
                <a:srgbClr val="000000"/>
              </a:solidFill>
              <a:effectLst/>
              <a:uFillTx/>
              <a:latin typeface="Arial"/>
            </a:endParaRPr>
          </a:p>
        </p:txBody>
      </p:sp>
      <p:sp>
        <p:nvSpPr>
          <p:cNvPr id="141" name="Shape 15"/>
          <p:cNvSpPr/>
          <p:nvPr/>
        </p:nvSpPr>
        <p:spPr>
          <a:xfrm>
            <a:off x="6095520" y="4160520"/>
            <a:ext cx="360" cy="137160"/>
          </a:xfrm>
          <a:prstGeom prst="line">
            <a:avLst/>
          </a:prstGeom>
          <a:ln w="31750">
            <a:solidFill>
              <a:srgbClr val="A9C0D8"/>
            </a:solidFill>
            <a:round/>
            <a:tailEnd len="med" type="triangle" w="me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42" name="Text 16"/>
          <p:cNvSpPr/>
          <p:nvPr/>
        </p:nvSpPr>
        <p:spPr>
          <a:xfrm>
            <a:off x="4815720" y="4297680"/>
            <a:ext cx="2559960" cy="548280"/>
          </a:xfrm>
          <a:prstGeom prst="roundRect">
            <a:avLst>
              <a:gd name="adj" fmla="val 16667"/>
            </a:avLst>
          </a:prstGeom>
          <a:solidFill>
            <a:srgbClr val="FAF7F2"/>
          </a:solidFill>
          <a:ln w="12700">
            <a:solidFill>
              <a:srgbClr val="D9E1E8"/>
            </a:solidFill>
            <a:round/>
          </a:ln>
        </p:spPr>
        <p:style>
          <a:lnRef idx="0"/>
          <a:fillRef idx="0"/>
          <a:effectRef idx="0"/>
          <a:fontRef idx="minor"/>
        </p:style>
        <p:txBody>
          <a:bodyPr lIns="360" tIns="360" rIns="360" bIns="360" anchor="ctr">
            <a:noAutofit/>
          </a:bodyPr>
          <a:p>
            <a:pPr algn="ctr" defTabSz="914400">
              <a:lnSpc>
                <a:spcPct val="100000"/>
              </a:lnSpc>
              <a:tabLst>
                <a:tab pos="0" algn="l"/>
              </a:tabLst>
            </a:pPr>
            <a:r>
              <a:rPr lang="en-US" sz="1400" b="1" u="none" strike="noStrike">
                <a:solidFill>
                  <a:srgbClr val="435466"/>
                </a:solidFill>
                <a:effectLst/>
                <a:uFillTx/>
                <a:latin typeface="Inter"/>
                <a:ea typeface="Inter"/>
              </a:rPr>
              <a:t>Sampling</a:t>
            </a:r>
            <a:endParaRPr lang="en-US" sz="14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rgbClr val="66768A"/>
                </a:solidFill>
                <a:effectLst/>
                <a:uFillTx/>
                <a:latin typeface="Inter"/>
                <a:ea typeface="Inter"/>
              </a:rPr>
              <a:t>pick the next token</a:t>
            </a:r>
            <a:endParaRPr lang="en-US" sz="1200" b="0" u="none" strike="noStrike">
              <a:solidFill>
                <a:srgbClr val="000000"/>
              </a:solidFill>
              <a:effectLst/>
              <a:uFillTx/>
              <a:latin typeface="Arial"/>
            </a:endParaRPr>
          </a:p>
        </p:txBody>
      </p:sp>
      <p:sp>
        <p:nvSpPr>
          <p:cNvPr id="143" name="Shape 17"/>
          <p:cNvSpPr/>
          <p:nvPr/>
        </p:nvSpPr>
        <p:spPr>
          <a:xfrm>
            <a:off x="7659360" y="3314520"/>
            <a:ext cx="804600" cy="360"/>
          </a:xfrm>
          <a:prstGeom prst="line">
            <a:avLst/>
          </a:prstGeom>
          <a:ln w="31750">
            <a:solidFill>
              <a:srgbClr val="A9C0D8"/>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44" name="Text 18"/>
          <p:cNvSpPr/>
          <p:nvPr/>
        </p:nvSpPr>
        <p:spPr>
          <a:xfrm>
            <a:off x="7604640" y="2747880"/>
            <a:ext cx="914040" cy="475200"/>
          </a:xfrm>
          <a:prstGeom prst="rect">
            <a:avLst/>
          </a:prstGeom>
          <a:noFill/>
          <a:ln w="0">
            <a:noFill/>
          </a:ln>
        </p:spPr>
        <p:style>
          <a:lnRef idx="0"/>
          <a:fillRef idx="0"/>
          <a:effectRef idx="0"/>
          <a:fontRef idx="minor"/>
        </p:style>
        <p:txBody>
          <a:bodyPr lIns="0" tIns="0" rIns="0" bIns="0" anchor="b">
            <a:noAutofit/>
          </a:bodyPr>
          <a:p>
            <a:pPr algn="ctr" defTabSz="914400">
              <a:lnSpc>
                <a:spcPct val="100000"/>
              </a:lnSpc>
              <a:tabLst>
                <a:tab pos="0" algn="l"/>
              </a:tabLst>
            </a:pPr>
            <a:r>
              <a:rPr lang="en-US" sz="1200" b="0" u="none" strike="noStrike">
                <a:solidFill>
                  <a:srgbClr val="66768A"/>
                </a:solidFill>
                <a:effectLst/>
                <a:uFillTx/>
                <a:latin typeface="Inter"/>
                <a:ea typeface="Inter"/>
              </a:rPr>
              <a:t>next-token ID</a:t>
            </a:r>
            <a:endParaRPr lang="en-US" sz="1200" b="0" u="none" strike="noStrike">
              <a:solidFill>
                <a:srgbClr val="000000"/>
              </a:solidFill>
              <a:effectLst/>
              <a:uFillTx/>
              <a:latin typeface="Arial"/>
            </a:endParaRPr>
          </a:p>
        </p:txBody>
      </p:sp>
      <p:sp>
        <p:nvSpPr>
          <p:cNvPr id="145" name="Text 19"/>
          <p:cNvSpPr/>
          <p:nvPr/>
        </p:nvSpPr>
        <p:spPr>
          <a:xfrm>
            <a:off x="8519040" y="2834640"/>
            <a:ext cx="1462680" cy="959760"/>
          </a:xfrm>
          <a:prstGeom prst="roundRect">
            <a:avLst>
              <a:gd name="adj" fmla="val 14286"/>
            </a:avLst>
          </a:prstGeom>
          <a:solidFill>
            <a:srgbClr val="A9C0D8"/>
          </a:solidFill>
          <a:ln w="15875">
            <a:solidFill>
              <a:srgbClr val="A9C0D8"/>
            </a:solidFill>
            <a:round/>
          </a:ln>
        </p:spPr>
        <p:style>
          <a:lnRef idx="0"/>
          <a:fillRef idx="0"/>
          <a:effectRef idx="0"/>
          <a:fontRef idx="minor"/>
        </p:style>
        <p:txBody>
          <a:bodyPr lIns="1080" tIns="1080" rIns="1080" bIns="1080" anchor="ctr">
            <a:noAutofit/>
          </a:bodyPr>
          <a:p>
            <a:pPr algn="ctr" defTabSz="914400">
              <a:lnSpc>
                <a:spcPct val="100000"/>
              </a:lnSpc>
              <a:tabLst>
                <a:tab pos="0" algn="l"/>
              </a:tabLst>
            </a:pPr>
            <a:r>
              <a:rPr lang="en-US" sz="1600" b="1" u="none" strike="noStrike">
                <a:solidFill>
                  <a:srgbClr val="435466"/>
                </a:solidFill>
                <a:effectLst/>
                <a:uFillTx/>
                <a:latin typeface="Inter"/>
                <a:ea typeface="Inter"/>
              </a:rPr>
              <a:t>Tokenizer</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435466"/>
                </a:solidFill>
                <a:effectLst/>
                <a:uFillTx/>
                <a:latin typeface="Inter"/>
                <a:ea typeface="Inter"/>
              </a:rPr>
              <a:t>decode</a:t>
            </a:r>
            <a:endParaRPr lang="en-US" sz="1600" b="0" u="none" strike="noStrike">
              <a:solidFill>
                <a:srgbClr val="000000"/>
              </a:solidFill>
              <a:effectLst/>
              <a:uFillTx/>
              <a:latin typeface="Arial"/>
            </a:endParaRPr>
          </a:p>
        </p:txBody>
      </p:sp>
      <p:sp>
        <p:nvSpPr>
          <p:cNvPr id="146" name="Shape 20"/>
          <p:cNvSpPr/>
          <p:nvPr/>
        </p:nvSpPr>
        <p:spPr>
          <a:xfrm>
            <a:off x="10036800" y="3314520"/>
            <a:ext cx="301680" cy="360"/>
          </a:xfrm>
          <a:prstGeom prst="line">
            <a:avLst/>
          </a:prstGeom>
          <a:ln w="31750">
            <a:solidFill>
              <a:srgbClr val="A9C0D8"/>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47" name="Text 21"/>
          <p:cNvSpPr/>
          <p:nvPr/>
        </p:nvSpPr>
        <p:spPr>
          <a:xfrm>
            <a:off x="10393560" y="2834640"/>
            <a:ext cx="1188360" cy="959760"/>
          </a:xfrm>
          <a:prstGeom prst="roundRect">
            <a:avLst>
              <a:gd name="adj" fmla="val 14286"/>
            </a:avLst>
          </a:prstGeom>
          <a:solidFill>
            <a:srgbClr val="E4ECE7"/>
          </a:solidFill>
          <a:ln w="15875">
            <a:solidFill>
              <a:srgbClr val="8FA99B"/>
            </a:solidFill>
            <a:round/>
          </a:ln>
        </p:spPr>
        <p:style>
          <a:lnRef idx="0"/>
          <a:fillRef idx="0"/>
          <a:effectRef idx="0"/>
          <a:fontRef idx="minor"/>
        </p:style>
        <p:txBody>
          <a:bodyPr lIns="1080" tIns="1080" rIns="1080" bIns="1080" anchor="ctr">
            <a:noAutofit/>
          </a:bodyPr>
          <a:p>
            <a:pPr algn="ctr" defTabSz="914400">
              <a:lnSpc>
                <a:spcPct val="100000"/>
              </a:lnSpc>
              <a:tabLst>
                <a:tab pos="0" algn="l"/>
              </a:tabLst>
            </a:pPr>
            <a:r>
              <a:rPr lang="en-US" sz="1600" b="1" u="none" strike="noStrike">
                <a:solidFill>
                  <a:srgbClr val="435466"/>
                </a:solidFill>
                <a:effectLst/>
                <a:uFillTx/>
                <a:latin typeface="Inter"/>
                <a:ea typeface="Inter"/>
              </a:rPr>
              <a:t>Text</a:t>
            </a:r>
            <a:endParaRPr lang="en-US" sz="1600" b="0" u="none" strike="noStrike">
              <a:solidFill>
                <a:srgbClr val="000000"/>
              </a:solidFill>
              <a:effectLst/>
              <a:uFillTx/>
              <a:latin typeface="Arial"/>
            </a:endParaRPr>
          </a:p>
        </p:txBody>
      </p:sp>
      <p:sp>
        <p:nvSpPr>
          <p:cNvPr id="148" name="Text 22"/>
          <p:cNvSpPr/>
          <p:nvPr/>
        </p:nvSpPr>
        <p:spPr>
          <a:xfrm>
            <a:off x="9936360" y="3931920"/>
            <a:ext cx="1645560" cy="31968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en-US" sz="1300" b="0" i="1" u="none" strike="noStrike">
                <a:solidFill>
                  <a:srgbClr val="66768A"/>
                </a:solidFill>
                <a:effectLst/>
                <a:uFillTx/>
                <a:latin typeface="Inter"/>
                <a:ea typeface="Inter"/>
              </a:rPr>
              <a:t>Repeats for each new token.</a:t>
            </a:r>
            <a:endParaRPr lang="en-US" sz="1300" b="0" u="none" strike="noStrike">
              <a:solidFill>
                <a:srgbClr val="000000"/>
              </a:solidFill>
              <a:effectLst/>
              <a:uFillTx/>
              <a:latin typeface="Arial"/>
            </a:endParaRPr>
          </a:p>
        </p:txBody>
      </p:sp>
      <p:sp>
        <p:nvSpPr>
          <p:cNvPr id="149" name="Shape 23"/>
          <p:cNvSpPr/>
          <p:nvPr/>
        </p:nvSpPr>
        <p:spPr>
          <a:xfrm>
            <a:off x="640080" y="5303520"/>
            <a:ext cx="10908360" cy="868320"/>
          </a:xfrm>
          <a:prstGeom prst="roundRect">
            <a:avLst>
              <a:gd name="adj" fmla="val 15789"/>
            </a:avLst>
          </a:prstGeom>
          <a:solidFill>
            <a:srgbClr val="E4ECE7"/>
          </a:solidFill>
          <a:ln w="15875">
            <a:solidFill>
              <a:srgbClr val="8FA99B"/>
            </a:solidFill>
            <a:round/>
          </a:ln>
          <a:effectLst>
            <a:outerShdw algn="bl" blurRad="101520" dir="5400000" dist="25560" kx="0" ky="0" rotWithShape="0" sx="100000" sy="100000">
              <a:srgbClr val="435466">
                <a:alpha val="8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50" name="Shape 24"/>
          <p:cNvSpPr/>
          <p:nvPr/>
        </p:nvSpPr>
        <p:spPr>
          <a:xfrm>
            <a:off x="914400" y="5463720"/>
            <a:ext cx="548280" cy="548280"/>
          </a:xfrm>
          <a:prstGeom prst="ellipse">
            <a:avLst/>
          </a:prstGeom>
          <a:solidFill>
            <a:srgbClr val="FFFFFF"/>
          </a:solidFill>
          <a:ln w="15875">
            <a:solidFill>
              <a:srgbClr val="8FA99B"/>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51" name="Image 0" descr="preencoded.png"/>
          <p:cNvPicPr/>
          <p:nvPr/>
        </p:nvPicPr>
        <p:blipFill>
          <a:blip r:embed="rId1"/>
          <a:stretch/>
        </p:blipFill>
        <p:spPr>
          <a:xfrm>
            <a:off x="1042560" y="5591520"/>
            <a:ext cx="292320" cy="292320"/>
          </a:xfrm>
          <a:prstGeom prst="rect">
            <a:avLst/>
          </a:prstGeom>
          <a:noFill/>
          <a:ln w="0">
            <a:noFill/>
          </a:ln>
        </p:spPr>
      </p:pic>
      <p:sp>
        <p:nvSpPr>
          <p:cNvPr id="152" name="Text 25"/>
          <p:cNvSpPr/>
          <p:nvPr/>
        </p:nvSpPr>
        <p:spPr>
          <a:xfrm>
            <a:off x="1691640" y="5413320"/>
            <a:ext cx="9628200" cy="648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201" strike="noStrike">
                <a:solidFill>
                  <a:srgbClr val="435466"/>
                </a:solidFill>
                <a:effectLst/>
                <a:uFillTx/>
                <a:latin typeface="Inter"/>
                <a:ea typeface="Inter"/>
              </a:rPr>
              <a:t>TAKEAWAY</a:t>
            </a:r>
            <a:endParaRPr lang="en-US" sz="1200" b="0" u="none" strike="noStrike">
              <a:solidFill>
                <a:srgbClr val="000000"/>
              </a:solidFill>
              <a:effectLst/>
              <a:uFillTx/>
              <a:latin typeface="Arial"/>
            </a:endParaRPr>
          </a:p>
          <a:p>
            <a:pPr defTabSz="914400">
              <a:lnSpc>
                <a:spcPct val="100000"/>
              </a:lnSpc>
              <a:tabLst>
                <a:tab pos="0" algn="l"/>
              </a:tabLst>
            </a:pPr>
            <a:r>
              <a:rPr lang="en-US" sz="1900" b="0" u="none" strike="noStrike">
                <a:solidFill>
                  <a:srgbClr val="435466"/>
                </a:solidFill>
                <a:effectLst/>
                <a:uFillTx/>
                <a:latin typeface="Inter"/>
                <a:ea typeface="Inter"/>
              </a:rPr>
              <a:t>Before an LLM can generate language, it must first turn language into tokens.</a:t>
            </a:r>
            <a:endParaRPr lang="en-US"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pitchFamily="0" charset="1"/>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pitchFamily="0" charset="1"/>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LibreOffice/26.8.0.3$Windows_X86_64 LibreOffice_project/bce0998afefdbc355585ca324285661a2170ba77</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2026-09-24T09:04:28Z</dcterms:created>
  <dc:creator>PptxGenJS</dc:creator>
  <dc:description/>
  <dc:language>en-US</dc:language>
  <cp:lastModifiedBy/>
  <dcterms:modified xsi:type="dcterms:W3CDTF">2026-09-24T21:30:44Z</dcterms:modified>
  <cp:revision>2</cp:revision>
  <dc:subject>PptxGenJS Presentation</dc:subject>
  <dc:title>Tokenizers: How Language Becomes Numbers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vt:i4>
  </property>
  <property fmtid="{D5CDD505-2E9C-101B-9397-08002B2CF9AE}" pid="3" name="PresentationFormat">
    <vt:lpwstr>On-screen Show (16:9)</vt:lpwstr>
  </property>
  <property fmtid="{D5CDD505-2E9C-101B-9397-08002B2CF9AE}" pid="4" name="Slides">
    <vt:i4>6</vt:i4>
  </property>
</Properties>
</file>
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how an AI language model turns sentences into numbers it can work with. That translation step is called tokenization.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Computers only understand numbers. A tokenizer cuts a sentence into small pieces called tokens, then gives each token an ID number. Notice the space often travels with the word, so " falls" includes its leading space. The ID numbers here are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Encoding turns text into token IDs. Decoding turns token IDs back into readable text. A good tokenizer gives back exactly the sentence you started with. The IDs shown are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different kinds of tokenizers, and each cuts text differently. Character tokenizers: tiny pieces, simple but you get lots of them. Word tokenizers: natural, but any word the tokenizer never saw is a problem. BPE, byte pair encoding, reads lots of text and keeps a list of the word pieces that show up most often, like "sun" and "light". Common words can stay whole, and rare words get built from familiar pieces. The exact split depends on the tokenizer. BPE is a subword tokenizer; WordPiece and Unigram are other subword kinds you may hear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vocabulary is a lookup list from text pieces to ID numbers. A simple word tokenizer looks up each word. "rain" is in the list, so it gets ID 1. "shimmers" is not, so it becomes the special unknown token, ID 3. Every unfamiliar word ends up looking the same 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tokenizer is only one part of an LLM system. It turns text into token IDs at the start, and turns the predicted ID back into text at the end. In between, the language model does its own work: embeddings turn each ID into a list of numbers that carries meaning, transformer blocks look at how the tokens relate to each other, the output layer scores every token in the vocabulary, and sampling picks the next one. The loop repeats once for every new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Text 0"/>
          <p:cNvSpPr txBox="1"/>
          <p:nvPr/>
        </p:nvSpPr>
        <p:spPr>
          <a:xfrm>
            <a:off x="731520" y="1005840"/>
            <a:ext cx="10698480" cy="1554480"/>
          </a:xfrm>
          <a:prstGeom prst="rect">
            <a:avLst/>
          </a:prstGeom>
          <a:noFill/>
          <a:ln/>
        </p:spPr>
        <p:txBody>
          <a:bodyPr wrap="square" lIns="0" tIns="0" rIns="0" bIns="0" rtlCol="0" anchor="b"/>
          <a:lstStyle/>
          <a:p>
            <a:pPr indent="0" marL="0">
              <a:buNone/>
            </a:pPr>
            <a:r>
              <a:rPr lang="en-US" sz="4400" b="1" dirty="0">
                <a:solidFill>
                  <a:srgbClr val="435466"/>
                </a:solidFill>
                <a:latin typeface="Inter" pitchFamily="34" charset="0"/>
                <a:ea typeface="Inter" pitchFamily="34" charset="-122"/>
                <a:cs typeface="Inter" pitchFamily="34" charset="-120"/>
              </a:rPr>
              <a:t>Tokenizers: How Language Becomes Numbers</a:t>
            </a:r>
            <a:endParaRPr lang="en-US" sz="4400" dirty="0"/>
          </a:p>
        </p:txBody>
      </p:sp>
      <p:sp>
        <p:nvSpPr>
          <p:cNvPr id="3" name="Text 1"/>
          <p:cNvSpPr txBox="1"/>
          <p:nvPr/>
        </p:nvSpPr>
        <p:spPr>
          <a:xfrm>
            <a:off x="731520" y="2743200"/>
            <a:ext cx="10698480" cy="548640"/>
          </a:xfrm>
          <a:prstGeom prst="rect">
            <a:avLst/>
          </a:prstGeom>
          <a:noFill/>
          <a:ln/>
        </p:spPr>
        <p:txBody>
          <a:bodyPr wrap="square" lIns="0" tIns="0" rIns="0" bIns="0" rtlCol="0" anchor="t"/>
          <a:lstStyle/>
          <a:p>
            <a:pPr indent="0" marL="0">
              <a:buNone/>
            </a:pPr>
            <a:r>
              <a:rPr lang="en-US" sz="2200" dirty="0">
                <a:solidFill>
                  <a:srgbClr val="66768A"/>
                </a:solidFill>
                <a:latin typeface="Inter" pitchFamily="34" charset="0"/>
                <a:ea typeface="Inter" pitchFamily="34" charset="-122"/>
                <a:cs typeface="Inter" pitchFamily="34" charset="-120"/>
              </a:rPr>
              <a:t>The first step in teaching a computer to read</a:t>
            </a:r>
            <a:endParaRPr lang="en-US" sz="2200" dirty="0"/>
          </a:p>
        </p:txBody>
      </p:sp>
      <p:sp>
        <p:nvSpPr>
          <p:cNvPr id="4" name="Text 2"/>
          <p:cNvSpPr txBox="1"/>
          <p:nvPr/>
        </p:nvSpPr>
        <p:spPr>
          <a:xfrm>
            <a:off x="731520" y="4160520"/>
            <a:ext cx="3291840" cy="822960"/>
          </a:xfrm>
          <a:prstGeom prst="roundRect">
            <a:avLst>
              <a:gd name="adj" fmla="val 11111"/>
            </a:avLst>
          </a:prstGeom>
          <a:solidFill>
            <a:srgbClr val="E4ECE7"/>
          </a:solidFill>
          <a:ln w="15875">
            <a:solidFill>
              <a:srgbClr val="8FA99B"/>
            </a:solidFill>
          </a:ln>
        </p:spPr>
        <p:txBody>
          <a:bodyPr wrap="square" lIns="0" tIns="0" rIns="0" bIns="0" rtlCol="0" anchor="ctr"/>
          <a:lstStyle/>
          <a:p>
            <a:pPr algn="ctr" indent="0" marL="0">
              <a:buNone/>
            </a:pPr>
            <a:r>
              <a:rPr lang="en-US" sz="2000" dirty="0">
                <a:solidFill>
                  <a:srgbClr val="435466"/>
                </a:solidFill>
                <a:latin typeface="Inter" pitchFamily="34" charset="0"/>
                <a:ea typeface="Inter" pitchFamily="34" charset="-122"/>
                <a:cs typeface="Inter" pitchFamily="34" charset="-120"/>
              </a:rPr>
              <a:t>"Rain falls softly"</a:t>
            </a:r>
            <a:endParaRPr lang="en-US" sz="2000" dirty="0"/>
          </a:p>
        </p:txBody>
      </p:sp>
      <p:sp>
        <p:nvSpPr>
          <p:cNvPr id="5" name="Shape 3"/>
          <p:cNvSpPr/>
          <p:nvPr/>
        </p:nvSpPr>
        <p:spPr>
          <a:xfrm>
            <a:off x="4160520" y="4572000"/>
            <a:ext cx="640080" cy="0"/>
          </a:xfrm>
          <a:prstGeom prst="line">
            <a:avLst/>
          </a:prstGeom>
          <a:noFill/>
          <a:ln w="31750">
            <a:solidFill>
              <a:srgbClr val="A9C0D8"/>
            </a:solidFill>
            <a:prstDash val="solid"/>
            <a:tailEnd type="triangle"/>
          </a:ln>
        </p:spPr>
      </p:sp>
      <p:sp>
        <p:nvSpPr>
          <p:cNvPr id="6" name="Text 4"/>
          <p:cNvSpPr txBox="1"/>
          <p:nvPr/>
        </p:nvSpPr>
        <p:spPr>
          <a:xfrm>
            <a:off x="4937760" y="4160520"/>
            <a:ext cx="2194560" cy="822960"/>
          </a:xfrm>
          <a:prstGeom prst="roundRect">
            <a:avLst>
              <a:gd name="adj" fmla="val 11111"/>
            </a:avLst>
          </a:prstGeom>
          <a:solidFill>
            <a:srgbClr val="A9C0D8"/>
          </a:solidFill>
          <a:ln w="15875">
            <a:solidFill>
              <a:srgbClr val="A9C0D8"/>
            </a:solidFill>
          </a:ln>
        </p:spPr>
        <p:txBody>
          <a:bodyPr wrap="square" lIns="0" tIns="0" rIns="0" bIns="0" rtlCol="0" anchor="ctr"/>
          <a:lstStyle/>
          <a:p>
            <a:pPr algn="ctr" indent="0" marL="0">
              <a:buNone/>
            </a:pPr>
            <a:r>
              <a:rPr lang="en-US" sz="2000" b="1" dirty="0">
                <a:solidFill>
                  <a:srgbClr val="435466"/>
                </a:solidFill>
                <a:latin typeface="Inter" pitchFamily="34" charset="0"/>
                <a:ea typeface="Inter" pitchFamily="34" charset="-122"/>
                <a:cs typeface="Inter" pitchFamily="34" charset="-120"/>
              </a:rPr>
              <a:t>Tokenizer</a:t>
            </a:r>
            <a:endParaRPr lang="en-US" sz="2000" dirty="0"/>
          </a:p>
        </p:txBody>
      </p:sp>
      <p:sp>
        <p:nvSpPr>
          <p:cNvPr id="7" name="Shape 5"/>
          <p:cNvSpPr/>
          <p:nvPr/>
        </p:nvSpPr>
        <p:spPr>
          <a:xfrm>
            <a:off x="7269480" y="4572000"/>
            <a:ext cx="640080" cy="0"/>
          </a:xfrm>
          <a:prstGeom prst="line">
            <a:avLst/>
          </a:prstGeom>
          <a:noFill/>
          <a:ln w="31750">
            <a:solidFill>
              <a:srgbClr val="A9C0D8"/>
            </a:solidFill>
            <a:prstDash val="solid"/>
            <a:tailEnd type="triangle"/>
          </a:ln>
        </p:spPr>
      </p:sp>
      <p:sp>
        <p:nvSpPr>
          <p:cNvPr id="8" name="Text 6"/>
          <p:cNvSpPr txBox="1"/>
          <p:nvPr/>
        </p:nvSpPr>
        <p:spPr>
          <a:xfrm>
            <a:off x="8046720" y="4160520"/>
            <a:ext cx="1051560" cy="822960"/>
          </a:xfrm>
          <a:prstGeom prst="roundRect">
            <a:avLst>
              <a:gd name="adj" fmla="val 11111"/>
            </a:avLst>
          </a:prstGeom>
          <a:solidFill>
            <a:srgbClr val="E8EFF7"/>
          </a:solidFill>
          <a:ln w="15875">
            <a:solidFill>
              <a:srgbClr val="A9C0D8"/>
            </a:solidFill>
          </a:ln>
        </p:spPr>
        <p:txBody>
          <a:bodyPr wrap="square" lIns="0" tIns="0" rIns="0" bIns="0" rtlCol="0" anchor="ctr"/>
          <a:lstStyle/>
          <a:p>
            <a:pPr algn="ctr" indent="0" marL="0">
              <a:buNone/>
            </a:pPr>
            <a:r>
              <a:rPr lang="en-US" sz="2000" dirty="0">
                <a:solidFill>
                  <a:srgbClr val="435466"/>
                </a:solidFill>
                <a:latin typeface="Inter" pitchFamily="34" charset="0"/>
                <a:ea typeface="Inter" pitchFamily="34" charset="-122"/>
                <a:cs typeface="Inter" pitchFamily="34" charset="-120"/>
              </a:rPr>
              <a:t>18810</a:t>
            </a:r>
            <a:endParaRPr lang="en-US" sz="2000" dirty="0"/>
          </a:p>
        </p:txBody>
      </p:sp>
      <p:sp>
        <p:nvSpPr>
          <p:cNvPr id="9" name="Text 7"/>
          <p:cNvSpPr txBox="1"/>
          <p:nvPr/>
        </p:nvSpPr>
        <p:spPr>
          <a:xfrm>
            <a:off x="9235440" y="4160520"/>
            <a:ext cx="1051560" cy="822960"/>
          </a:xfrm>
          <a:prstGeom prst="roundRect">
            <a:avLst>
              <a:gd name="adj" fmla="val 11111"/>
            </a:avLst>
          </a:prstGeom>
          <a:solidFill>
            <a:srgbClr val="E8EFF7"/>
          </a:solidFill>
          <a:ln w="15875">
            <a:solidFill>
              <a:srgbClr val="A9C0D8"/>
            </a:solidFill>
          </a:ln>
        </p:spPr>
        <p:txBody>
          <a:bodyPr wrap="square" lIns="0" tIns="0" rIns="0" bIns="0" rtlCol="0" anchor="ctr"/>
          <a:lstStyle/>
          <a:p>
            <a:pPr algn="ctr" indent="0" marL="0">
              <a:buNone/>
            </a:pPr>
            <a:r>
              <a:rPr lang="en-US" sz="2000" dirty="0">
                <a:solidFill>
                  <a:srgbClr val="435466"/>
                </a:solidFill>
                <a:latin typeface="Inter" pitchFamily="34" charset="0"/>
                <a:ea typeface="Inter" pitchFamily="34" charset="-122"/>
                <a:cs typeface="Inter" pitchFamily="34" charset="-120"/>
              </a:rPr>
              <a:t>17118</a:t>
            </a:r>
            <a:endParaRPr lang="en-US" sz="2000" dirty="0"/>
          </a:p>
        </p:txBody>
      </p:sp>
      <p:sp>
        <p:nvSpPr>
          <p:cNvPr id="10" name="Text 8"/>
          <p:cNvSpPr txBox="1"/>
          <p:nvPr/>
        </p:nvSpPr>
        <p:spPr>
          <a:xfrm>
            <a:off x="10424160" y="4160520"/>
            <a:ext cx="1051560" cy="822960"/>
          </a:xfrm>
          <a:prstGeom prst="roundRect">
            <a:avLst>
              <a:gd name="adj" fmla="val 11111"/>
            </a:avLst>
          </a:prstGeom>
          <a:solidFill>
            <a:srgbClr val="E8EFF7"/>
          </a:solidFill>
          <a:ln w="15875">
            <a:solidFill>
              <a:srgbClr val="A9C0D8"/>
            </a:solidFill>
          </a:ln>
        </p:spPr>
        <p:txBody>
          <a:bodyPr wrap="square" lIns="0" tIns="0" rIns="0" bIns="0" rtlCol="0" anchor="ctr"/>
          <a:lstStyle/>
          <a:p>
            <a:pPr algn="ctr" indent="0" marL="0">
              <a:buNone/>
            </a:pPr>
            <a:r>
              <a:rPr lang="en-US" sz="2000" dirty="0">
                <a:solidFill>
                  <a:srgbClr val="435466"/>
                </a:solidFill>
                <a:latin typeface="Inter" pitchFamily="34" charset="0"/>
                <a:ea typeface="Inter" pitchFamily="34" charset="-122"/>
                <a:cs typeface="Inter" pitchFamily="34" charset="-120"/>
              </a:rPr>
              <a:t>23270</a:t>
            </a:r>
            <a:endParaRPr lang="en-US" sz="2000" dirty="0"/>
          </a:p>
        </p:txBody>
      </p:sp>
      <p:sp>
        <p:nvSpPr>
          <p:cNvPr id="11" name="Text 9"/>
          <p:cNvSpPr txBox="1"/>
          <p:nvPr/>
        </p:nvSpPr>
        <p:spPr>
          <a:xfrm>
            <a:off x="731520" y="5120640"/>
            <a:ext cx="3291840" cy="274320"/>
          </a:xfrm>
          <a:prstGeom prst="rect">
            <a:avLst/>
          </a:prstGeom>
          <a:noFill/>
          <a:ln/>
        </p:spPr>
        <p:txBody>
          <a:bodyPr wrap="square" lIns="0" tIns="0" rIns="0" bIns="0" rtlCol="0" anchor="t"/>
          <a:lstStyle/>
          <a:p>
            <a:pPr algn="ctr" indent="0" marL="0">
              <a:buNone/>
            </a:pPr>
            <a:r>
              <a:rPr lang="en-US" sz="1300" dirty="0">
                <a:solidFill>
                  <a:srgbClr val="66768A"/>
                </a:solidFill>
                <a:latin typeface="Inter" pitchFamily="34" charset="0"/>
                <a:ea typeface="Inter" pitchFamily="34" charset="-122"/>
                <a:cs typeface="Inter" pitchFamily="34" charset="-120"/>
              </a:rPr>
              <a:t>text</a:t>
            </a:r>
            <a:endParaRPr lang="en-US" sz="1300" dirty="0"/>
          </a:p>
        </p:txBody>
      </p:sp>
      <p:sp>
        <p:nvSpPr>
          <p:cNvPr id="12" name="Text 10"/>
          <p:cNvSpPr txBox="1"/>
          <p:nvPr/>
        </p:nvSpPr>
        <p:spPr>
          <a:xfrm>
            <a:off x="4937760" y="5120640"/>
            <a:ext cx="2194560" cy="274320"/>
          </a:xfrm>
          <a:prstGeom prst="rect">
            <a:avLst/>
          </a:prstGeom>
          <a:noFill/>
          <a:ln/>
        </p:spPr>
        <p:txBody>
          <a:bodyPr wrap="square" lIns="0" tIns="0" rIns="0" bIns="0" rtlCol="0" anchor="t"/>
          <a:lstStyle/>
          <a:p>
            <a:pPr algn="ctr" indent="0" marL="0">
              <a:buNone/>
            </a:pPr>
            <a:r>
              <a:rPr lang="en-US" sz="1300" dirty="0">
                <a:solidFill>
                  <a:srgbClr val="66768A"/>
                </a:solidFill>
                <a:latin typeface="Inter" pitchFamily="34" charset="0"/>
                <a:ea typeface="Inter" pitchFamily="34" charset="-122"/>
                <a:cs typeface="Inter" pitchFamily="34" charset="-120"/>
              </a:rPr>
              <a:t>splits and labels</a:t>
            </a:r>
            <a:endParaRPr lang="en-US" sz="1300" dirty="0"/>
          </a:p>
        </p:txBody>
      </p:sp>
      <p:sp>
        <p:nvSpPr>
          <p:cNvPr id="13" name="Text 11"/>
          <p:cNvSpPr txBox="1"/>
          <p:nvPr/>
        </p:nvSpPr>
        <p:spPr>
          <a:xfrm>
            <a:off x="8046720" y="5120640"/>
            <a:ext cx="3429000" cy="274320"/>
          </a:xfrm>
          <a:prstGeom prst="rect">
            <a:avLst/>
          </a:prstGeom>
          <a:noFill/>
          <a:ln/>
        </p:spPr>
        <p:txBody>
          <a:bodyPr wrap="square" lIns="0" tIns="0" rIns="0" bIns="0" rtlCol="0" anchor="t"/>
          <a:lstStyle/>
          <a:p>
            <a:pPr algn="ctr" indent="0" marL="0">
              <a:buNone/>
            </a:pPr>
            <a:r>
              <a:rPr lang="en-US" sz="1300" dirty="0">
                <a:solidFill>
                  <a:srgbClr val="66768A"/>
                </a:solidFill>
                <a:latin typeface="Inter" pitchFamily="34" charset="0"/>
                <a:ea typeface="Inter" pitchFamily="34" charset="-122"/>
                <a:cs typeface="Inter" pitchFamily="34" charset="-120"/>
              </a:rPr>
              <a:t>numbers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txBox="1"/>
          <p:nvPr/>
        </p:nvSpPr>
        <p:spPr>
          <a:xfrm>
            <a:off x="11155680" y="6446520"/>
            <a:ext cx="548640" cy="228600"/>
          </a:xfrm>
          <a:prstGeom prst="rect">
            <a:avLst/>
          </a:prstGeom>
          <a:noFill/>
          <a:ln/>
        </p:spPr>
        <p:txBody>
          <a:bodyPr wrap="square" lIns="0" tIns="0" rIns="0" bIns="0" rtlCol="0" anchor="ctr"/>
          <a:lstStyle/>
          <a:p>
            <a:pPr algn="r" indent="0" marL="0">
              <a:buNone/>
            </a:pPr>
            <a:r>
              <a:rPr lang="en-US" sz="1100" dirty="0">
                <a:solidFill>
                  <a:srgbClr val="66768A"/>
                </a:solidFill>
                <a:latin typeface="Inter" pitchFamily="34" charset="0"/>
                <a:ea typeface="Inter" pitchFamily="34" charset="-122"/>
                <a:cs typeface="Inter" pitchFamily="34" charset="-120"/>
              </a:rPr>
              <a:t>2</a:t>
            </a:r>
            <a:endParaRPr lang="en-US" sz="1100" dirty="0"/>
          </a:p>
        </p:txBody>
      </p:sp>
      <p:sp>
        <p:nvSpPr>
          <p:cNvPr id="3" name="Text 1"/>
          <p:cNvSpPr txBox="1"/>
          <p:nvPr/>
        </p:nvSpPr>
        <p:spPr>
          <a:xfrm>
            <a:off x="640080" y="411480"/>
            <a:ext cx="10881360" cy="731520"/>
          </a:xfrm>
          <a:prstGeom prst="rect">
            <a:avLst/>
          </a:prstGeom>
          <a:noFill/>
          <a:ln/>
        </p:spPr>
        <p:txBody>
          <a:bodyPr wrap="square" lIns="0" tIns="0" rIns="0" bIns="0" rtlCol="0" anchor="ctr"/>
          <a:lstStyle/>
          <a:p>
            <a:pPr indent="0" marL="0">
              <a:buNone/>
            </a:pPr>
            <a:r>
              <a:rPr lang="en-US" sz="3600" b="1" dirty="0">
                <a:solidFill>
                  <a:srgbClr val="435466"/>
                </a:solidFill>
                <a:latin typeface="Inter" pitchFamily="34" charset="0"/>
                <a:ea typeface="Inter" pitchFamily="34" charset="-122"/>
                <a:cs typeface="Inter" pitchFamily="34" charset="-120"/>
              </a:rPr>
              <a:t>What is a tokenizer?</a:t>
            </a:r>
            <a:endParaRPr lang="en-US" sz="3600" dirty="0"/>
          </a:p>
        </p:txBody>
      </p:sp>
      <p:sp>
        <p:nvSpPr>
          <p:cNvPr id="4" name="Text 2"/>
          <p:cNvSpPr txBox="1"/>
          <p:nvPr/>
        </p:nvSpPr>
        <p:spPr>
          <a:xfrm>
            <a:off x="640080" y="1645920"/>
            <a:ext cx="502920" cy="502920"/>
          </a:xfrm>
          <a:prstGeom prst="ellipse">
            <a:avLst/>
          </a:prstGeom>
          <a:solidFill>
            <a:srgbClr val="E8EFF7"/>
          </a:solidFill>
          <a:ln w="15875">
            <a:solidFill>
              <a:srgbClr val="A9C0D8"/>
            </a:solidFill>
          </a:ln>
        </p:spPr>
        <p:txBody>
          <a:bodyPr wrap="square" lIns="0" tIns="0" rIns="0" bIns="0" rtlCol="0" anchor="ctr"/>
          <a:lstStyle/>
          <a:p>
            <a:pPr algn="ctr" indent="0" marL="0">
              <a:buNone/>
            </a:pPr>
            <a:r>
              <a:rPr lang="en-US" sz="1600" b="1" dirty="0">
                <a:solidFill>
                  <a:srgbClr val="435466"/>
                </a:solidFill>
                <a:latin typeface="Inter" pitchFamily="34" charset="0"/>
                <a:ea typeface="Inter" pitchFamily="34" charset="-122"/>
                <a:cs typeface="Inter" pitchFamily="34" charset="-120"/>
              </a:rPr>
              <a:t>1</a:t>
            </a:r>
            <a:endParaRPr lang="en-US" sz="1600" dirty="0"/>
          </a:p>
        </p:txBody>
      </p:sp>
      <p:sp>
        <p:nvSpPr>
          <p:cNvPr id="5" name="Text 3"/>
          <p:cNvSpPr txBox="1"/>
          <p:nvPr/>
        </p:nvSpPr>
        <p:spPr>
          <a:xfrm>
            <a:off x="1371600" y="1600200"/>
            <a:ext cx="4389120" cy="822960"/>
          </a:xfrm>
          <a:prstGeom prst="rect">
            <a:avLst/>
          </a:prstGeom>
          <a:noFill/>
          <a:ln/>
        </p:spPr>
        <p:txBody>
          <a:bodyPr wrap="square" lIns="0" tIns="0" rIns="0" bIns="0" rtlCol="0" anchor="t"/>
          <a:lstStyle/>
          <a:p>
            <a:pPr indent="0" marL="0">
              <a:buNone/>
            </a:pPr>
            <a:r>
              <a:rPr lang="en-US" sz="1800" b="1" dirty="0">
                <a:solidFill>
                  <a:srgbClr val="435466"/>
                </a:solidFill>
                <a:latin typeface="Inter" pitchFamily="34" charset="0"/>
                <a:ea typeface="Inter" pitchFamily="34" charset="-122"/>
                <a:cs typeface="Inter" pitchFamily="34" charset="-120"/>
              </a:rPr>
              <a:t>Computers can't read words.</a:t>
            </a:r>
            <a:endParaRPr lang="en-US" sz="1800" dirty="0"/>
          </a:p>
          <a:p>
            <a:pPr indent="0" marL="0">
              <a:buNone/>
            </a:pPr>
            <a:r>
              <a:rPr lang="en-US" sz="1800" dirty="0">
                <a:solidFill>
                  <a:srgbClr val="66768A"/>
                </a:solidFill>
                <a:latin typeface="Inter" pitchFamily="34" charset="0"/>
                <a:ea typeface="Inter" pitchFamily="34" charset="-122"/>
                <a:cs typeface="Inter" pitchFamily="34" charset="-120"/>
              </a:rPr>
              <a:t>They only work with numbers.</a:t>
            </a:r>
            <a:endParaRPr lang="en-US" sz="1800" dirty="0"/>
          </a:p>
        </p:txBody>
      </p:sp>
      <p:sp>
        <p:nvSpPr>
          <p:cNvPr id="6" name="Text 4"/>
          <p:cNvSpPr txBox="1"/>
          <p:nvPr/>
        </p:nvSpPr>
        <p:spPr>
          <a:xfrm>
            <a:off x="640080" y="2743200"/>
            <a:ext cx="502920" cy="502920"/>
          </a:xfrm>
          <a:prstGeom prst="ellipse">
            <a:avLst/>
          </a:prstGeom>
          <a:solidFill>
            <a:srgbClr val="E8EFF7"/>
          </a:solidFill>
          <a:ln w="15875">
            <a:solidFill>
              <a:srgbClr val="A9C0D8"/>
            </a:solidFill>
          </a:ln>
        </p:spPr>
        <p:txBody>
          <a:bodyPr wrap="square" lIns="0" tIns="0" rIns="0" bIns="0" rtlCol="0" anchor="ctr"/>
          <a:lstStyle/>
          <a:p>
            <a:pPr algn="ctr" indent="0" marL="0">
              <a:buNone/>
            </a:pPr>
            <a:r>
              <a:rPr lang="en-US" sz="1600" b="1" dirty="0">
                <a:solidFill>
                  <a:srgbClr val="435466"/>
                </a:solidFill>
                <a:latin typeface="Inter" pitchFamily="34" charset="0"/>
                <a:ea typeface="Inter" pitchFamily="34" charset="-122"/>
                <a:cs typeface="Inter" pitchFamily="34" charset="-120"/>
              </a:rPr>
              <a:t>2</a:t>
            </a:r>
            <a:endParaRPr lang="en-US" sz="1600" dirty="0"/>
          </a:p>
        </p:txBody>
      </p:sp>
      <p:sp>
        <p:nvSpPr>
          <p:cNvPr id="7" name="Text 5"/>
          <p:cNvSpPr txBox="1"/>
          <p:nvPr/>
        </p:nvSpPr>
        <p:spPr>
          <a:xfrm>
            <a:off x="1371600" y="2697480"/>
            <a:ext cx="4389120" cy="822960"/>
          </a:xfrm>
          <a:prstGeom prst="rect">
            <a:avLst/>
          </a:prstGeom>
          <a:noFill/>
          <a:ln/>
        </p:spPr>
        <p:txBody>
          <a:bodyPr wrap="square" lIns="0" tIns="0" rIns="0" bIns="0" rtlCol="0" anchor="t"/>
          <a:lstStyle/>
          <a:p>
            <a:pPr indent="0" marL="0">
              <a:buNone/>
            </a:pPr>
            <a:r>
              <a:rPr lang="en-US" sz="1800" b="1" dirty="0">
                <a:solidFill>
                  <a:srgbClr val="435466"/>
                </a:solidFill>
                <a:latin typeface="Inter" pitchFamily="34" charset="0"/>
                <a:ea typeface="Inter" pitchFamily="34" charset="-122"/>
                <a:cs typeface="Inter" pitchFamily="34" charset="-120"/>
              </a:rPr>
              <a:t>A tokenizer cuts text into tokens.</a:t>
            </a:r>
            <a:endParaRPr lang="en-US" sz="1800" dirty="0"/>
          </a:p>
          <a:p>
            <a:pPr indent="0" marL="0">
              <a:buNone/>
            </a:pPr>
            <a:r>
              <a:rPr lang="en-US" sz="1800" dirty="0">
                <a:solidFill>
                  <a:srgbClr val="66768A"/>
                </a:solidFill>
                <a:latin typeface="Inter" pitchFamily="34" charset="0"/>
                <a:ea typeface="Inter" pitchFamily="34" charset="-122"/>
                <a:cs typeface="Inter" pitchFamily="34" charset="-120"/>
              </a:rPr>
              <a:t>A token is a small piece of text.</a:t>
            </a:r>
            <a:endParaRPr lang="en-US" sz="1800" dirty="0"/>
          </a:p>
        </p:txBody>
      </p:sp>
      <p:sp>
        <p:nvSpPr>
          <p:cNvPr id="8" name="Text 6"/>
          <p:cNvSpPr txBox="1"/>
          <p:nvPr/>
        </p:nvSpPr>
        <p:spPr>
          <a:xfrm>
            <a:off x="640080" y="3840480"/>
            <a:ext cx="502920" cy="502920"/>
          </a:xfrm>
          <a:prstGeom prst="ellipse">
            <a:avLst/>
          </a:prstGeom>
          <a:solidFill>
            <a:srgbClr val="E8EFF7"/>
          </a:solidFill>
          <a:ln w="15875">
            <a:solidFill>
              <a:srgbClr val="A9C0D8"/>
            </a:solidFill>
          </a:ln>
        </p:spPr>
        <p:txBody>
          <a:bodyPr wrap="square" lIns="0" tIns="0" rIns="0" bIns="0" rtlCol="0" anchor="ctr"/>
          <a:lstStyle/>
          <a:p>
            <a:pPr algn="ctr" indent="0" marL="0">
              <a:buNone/>
            </a:pPr>
            <a:r>
              <a:rPr lang="en-US" sz="1600" b="1" dirty="0">
                <a:solidFill>
                  <a:srgbClr val="435466"/>
                </a:solidFill>
                <a:latin typeface="Inter" pitchFamily="34" charset="0"/>
                <a:ea typeface="Inter" pitchFamily="34" charset="-122"/>
                <a:cs typeface="Inter" pitchFamily="34" charset="-120"/>
              </a:rPr>
              <a:t>3</a:t>
            </a:r>
            <a:endParaRPr lang="en-US" sz="1600" dirty="0"/>
          </a:p>
        </p:txBody>
      </p:sp>
      <p:sp>
        <p:nvSpPr>
          <p:cNvPr id="9" name="Text 7"/>
          <p:cNvSpPr txBox="1"/>
          <p:nvPr/>
        </p:nvSpPr>
        <p:spPr>
          <a:xfrm>
            <a:off x="1371600" y="3794760"/>
            <a:ext cx="4389120" cy="822960"/>
          </a:xfrm>
          <a:prstGeom prst="rect">
            <a:avLst/>
          </a:prstGeom>
          <a:noFill/>
          <a:ln/>
        </p:spPr>
        <p:txBody>
          <a:bodyPr wrap="square" lIns="0" tIns="0" rIns="0" bIns="0" rtlCol="0" anchor="t"/>
          <a:lstStyle/>
          <a:p>
            <a:pPr indent="0" marL="0">
              <a:buNone/>
            </a:pPr>
            <a:r>
              <a:rPr lang="en-US" sz="1800" b="1" dirty="0">
                <a:solidFill>
                  <a:srgbClr val="435466"/>
                </a:solidFill>
                <a:latin typeface="Inter" pitchFamily="34" charset="0"/>
                <a:ea typeface="Inter" pitchFamily="34" charset="-122"/>
                <a:cs typeface="Inter" pitchFamily="34" charset="-120"/>
              </a:rPr>
              <a:t>Each token gets an ID.</a:t>
            </a:r>
            <a:endParaRPr lang="en-US" sz="1800" dirty="0"/>
          </a:p>
          <a:p>
            <a:pPr indent="0" marL="0">
              <a:buNone/>
            </a:pPr>
            <a:r>
              <a:rPr lang="en-US" sz="1800" dirty="0">
                <a:solidFill>
                  <a:srgbClr val="66768A"/>
                </a:solidFill>
                <a:latin typeface="Inter" pitchFamily="34" charset="0"/>
                <a:ea typeface="Inter" pitchFamily="34" charset="-122"/>
                <a:cs typeface="Inter" pitchFamily="34" charset="-120"/>
              </a:rPr>
              <a:t>An ID is a number, like a name tag.</a:t>
            </a:r>
            <a:endParaRPr lang="en-US" sz="1800" dirty="0"/>
          </a:p>
        </p:txBody>
      </p:sp>
      <p:sp>
        <p:nvSpPr>
          <p:cNvPr id="10" name="Shape 8"/>
          <p:cNvSpPr/>
          <p:nvPr/>
        </p:nvSpPr>
        <p:spPr>
          <a:xfrm>
            <a:off x="640080" y="5074920"/>
            <a:ext cx="5120640" cy="1051560"/>
          </a:xfrm>
          <a:prstGeom prst="roundRect">
            <a:avLst>
              <a:gd name="adj" fmla="val 13043"/>
            </a:avLst>
          </a:prstGeom>
          <a:solidFill>
            <a:srgbClr val="E4ECE7"/>
          </a:solidFill>
          <a:ln w="15875">
            <a:solidFill>
              <a:srgbClr val="8FA99B"/>
            </a:solidFill>
            <a:prstDash val="solid"/>
          </a:ln>
          <a:effectLst>
            <a:outerShdw sx="100000" sy="100000" kx="0" ky="0" algn="bl" rotWithShape="0" blurRad="101600" dist="25400" dir="5400000">
              <a:srgbClr val="435466">
                <a:alpha val="8000"/>
              </a:srgbClr>
            </a:outerShdw>
          </a:effectLst>
        </p:spPr>
      </p:sp>
      <p:sp>
        <p:nvSpPr>
          <p:cNvPr id="11" name="Shape 9"/>
          <p:cNvSpPr/>
          <p:nvPr/>
        </p:nvSpPr>
        <p:spPr>
          <a:xfrm>
            <a:off x="914400" y="5326380"/>
            <a:ext cx="548640" cy="548640"/>
          </a:xfrm>
          <a:prstGeom prst="ellipse">
            <a:avLst/>
          </a:prstGeom>
          <a:solidFill>
            <a:srgbClr val="FFFFFF"/>
          </a:solidFill>
          <a:ln w="15875">
            <a:solidFill>
              <a:srgbClr val="8FA99B"/>
            </a:solidFill>
            <a:prstDash val="solid"/>
          </a:ln>
        </p:spPr>
      </p:sp>
      <p:pic>
        <p:nvPicPr>
          <p:cNvPr id="12" name="Image 0" descr="preencoded.png">    </p:cNvPr>
          <p:cNvPicPr>
            <a:picLocks noChangeAspect="1"/>
          </p:cNvPicPr>
          <p:nvPr/>
        </p:nvPicPr>
        <p:blipFill>
          <a:blip r:embed="rId1"/>
          <a:stretch>
            <a:fillRect/>
          </a:stretch>
        </p:blipFill>
        <p:spPr>
          <a:xfrm>
            <a:off x="1042416" y="5454396"/>
            <a:ext cx="292608" cy="292608"/>
          </a:xfrm>
          <a:prstGeom prst="rect">
            <a:avLst/>
          </a:prstGeom>
        </p:spPr>
      </p:pic>
      <p:sp>
        <p:nvSpPr>
          <p:cNvPr id="13" name="Text 10"/>
          <p:cNvSpPr txBox="1"/>
          <p:nvPr/>
        </p:nvSpPr>
        <p:spPr>
          <a:xfrm>
            <a:off x="1691640" y="5184648"/>
            <a:ext cx="3840480" cy="832104"/>
          </a:xfrm>
          <a:prstGeom prst="rect">
            <a:avLst/>
          </a:prstGeom>
          <a:noFill/>
          <a:ln/>
        </p:spPr>
        <p:txBody>
          <a:bodyPr wrap="square" lIns="0" tIns="0" rIns="0" bIns="0" rtlCol="0" anchor="ctr"/>
          <a:lstStyle/>
          <a:p>
            <a:pPr indent="0" marL="0">
              <a:buNone/>
            </a:pPr>
            <a:r>
              <a:rPr lang="en-US" sz="1200" b="1" spc="200" kern="0" dirty="0">
                <a:solidFill>
                  <a:srgbClr val="435466"/>
                </a:solidFill>
                <a:latin typeface="Inter" pitchFamily="34" charset="0"/>
                <a:ea typeface="Inter" pitchFamily="34" charset="-122"/>
                <a:cs typeface="Inter" pitchFamily="34" charset="-120"/>
              </a:rPr>
              <a:t>KEY IDEA</a:t>
            </a:r>
            <a:endParaRPr lang="en-US" sz="1800" dirty="0"/>
          </a:p>
          <a:p>
            <a:pPr indent="0" marL="0">
              <a:buNone/>
            </a:pPr>
            <a:r>
              <a:rPr lang="en-US" sz="2000" dirty="0">
                <a:solidFill>
                  <a:srgbClr val="435466"/>
                </a:solidFill>
                <a:latin typeface="Inter" pitchFamily="34" charset="0"/>
                <a:ea typeface="Inter" pitchFamily="34" charset="-122"/>
                <a:cs typeface="Inter" pitchFamily="34" charset="-120"/>
              </a:rPr>
              <a:t>A tokenizer translates text into numbers.</a:t>
            </a:r>
            <a:endParaRPr lang="en-US" sz="1800" dirty="0"/>
          </a:p>
        </p:txBody>
      </p:sp>
      <p:sp>
        <p:nvSpPr>
          <p:cNvPr id="14" name="Shape 11"/>
          <p:cNvSpPr/>
          <p:nvPr/>
        </p:nvSpPr>
        <p:spPr>
          <a:xfrm>
            <a:off x="6309360" y="1417320"/>
            <a:ext cx="5257800" cy="4754880"/>
          </a:xfrm>
          <a:prstGeom prst="roundRect">
            <a:avLst>
              <a:gd name="adj" fmla="val 2885"/>
            </a:avLst>
          </a:prstGeom>
          <a:solidFill>
            <a:srgbClr val="FFFFFF"/>
          </a:solidFill>
          <a:ln w="15875">
            <a:solidFill>
              <a:srgbClr val="D9E1E8"/>
            </a:solidFill>
            <a:prstDash val="solid"/>
          </a:ln>
          <a:effectLst>
            <a:outerShdw sx="100000" sy="100000" kx="0" ky="0" algn="bl" rotWithShape="0" blurRad="101600" dist="25400" dir="5400000">
              <a:srgbClr val="435466">
                <a:alpha val="8000"/>
              </a:srgbClr>
            </a:outerShdw>
          </a:effectLst>
        </p:spPr>
      </p:sp>
      <p:sp>
        <p:nvSpPr>
          <p:cNvPr id="15" name="Text 12"/>
          <p:cNvSpPr txBox="1"/>
          <p:nvPr/>
        </p:nvSpPr>
        <p:spPr>
          <a:xfrm>
            <a:off x="6309360" y="1600200"/>
            <a:ext cx="5257800" cy="274320"/>
          </a:xfrm>
          <a:prstGeom prst="rect">
            <a:avLst/>
          </a:prstGeom>
          <a:noFill/>
          <a:ln/>
        </p:spPr>
        <p:txBody>
          <a:bodyPr wrap="square" lIns="0" tIns="0" rIns="0" bIns="0" rtlCol="0" anchor="t"/>
          <a:lstStyle/>
          <a:p>
            <a:pPr algn="ctr" indent="0" marL="0">
              <a:buNone/>
            </a:pPr>
            <a:r>
              <a:rPr lang="en-US" sz="1300" b="1" dirty="0">
                <a:solidFill>
                  <a:srgbClr val="66768A"/>
                </a:solidFill>
                <a:latin typeface="Inter" pitchFamily="34" charset="0"/>
                <a:ea typeface="Inter" pitchFamily="34" charset="-122"/>
                <a:cs typeface="Inter" pitchFamily="34" charset="-120"/>
              </a:rPr>
              <a:t>Text</a:t>
            </a:r>
            <a:endParaRPr lang="en-US" sz="1300" dirty="0"/>
          </a:p>
        </p:txBody>
      </p:sp>
      <p:sp>
        <p:nvSpPr>
          <p:cNvPr id="16" name="Text 13"/>
          <p:cNvSpPr txBox="1"/>
          <p:nvPr/>
        </p:nvSpPr>
        <p:spPr>
          <a:xfrm>
            <a:off x="7292340" y="1901952"/>
            <a:ext cx="3291840" cy="594360"/>
          </a:xfrm>
          <a:prstGeom prst="roundRect">
            <a:avLst>
              <a:gd name="adj" fmla="val 15385"/>
            </a:avLst>
          </a:prstGeom>
          <a:solidFill>
            <a:srgbClr val="E4ECE7"/>
          </a:solidFill>
          <a:ln w="15875">
            <a:solidFill>
              <a:srgbClr val="8FA99B"/>
            </a:solidFill>
          </a:ln>
        </p:spPr>
        <p:txBody>
          <a:bodyPr wrap="square" lIns="0" tIns="0" rIns="0" bIns="0" rtlCol="0" anchor="ctr"/>
          <a:lstStyle/>
          <a:p>
            <a:pPr algn="ctr" indent="0" marL="0">
              <a:buNone/>
            </a:pPr>
            <a:r>
              <a:rPr lang="en-US" sz="2000" dirty="0">
                <a:solidFill>
                  <a:srgbClr val="435466"/>
                </a:solidFill>
                <a:latin typeface="Inter" pitchFamily="34" charset="0"/>
                <a:ea typeface="Inter" pitchFamily="34" charset="-122"/>
                <a:cs typeface="Inter" pitchFamily="34" charset="-120"/>
              </a:rPr>
              <a:t>"Rain falls softly"</a:t>
            </a:r>
            <a:endParaRPr lang="en-US" sz="2000" dirty="0"/>
          </a:p>
        </p:txBody>
      </p:sp>
      <p:sp>
        <p:nvSpPr>
          <p:cNvPr id="17" name="Shape 14"/>
          <p:cNvSpPr/>
          <p:nvPr/>
        </p:nvSpPr>
        <p:spPr>
          <a:xfrm>
            <a:off x="8938260" y="2587752"/>
            <a:ext cx="0" cy="457200"/>
          </a:xfrm>
          <a:prstGeom prst="line">
            <a:avLst/>
          </a:prstGeom>
          <a:noFill/>
          <a:ln w="31750">
            <a:solidFill>
              <a:srgbClr val="A9C0D8"/>
            </a:solidFill>
            <a:prstDash val="solid"/>
            <a:tailEnd type="triangle"/>
          </a:ln>
        </p:spPr>
      </p:sp>
      <p:sp>
        <p:nvSpPr>
          <p:cNvPr id="18" name="Text 15"/>
          <p:cNvSpPr txBox="1"/>
          <p:nvPr/>
        </p:nvSpPr>
        <p:spPr>
          <a:xfrm>
            <a:off x="7840980" y="3108960"/>
            <a:ext cx="2194560" cy="548640"/>
          </a:xfrm>
          <a:prstGeom prst="roundRect">
            <a:avLst>
              <a:gd name="adj" fmla="val 16667"/>
            </a:avLst>
          </a:prstGeom>
          <a:solidFill>
            <a:srgbClr val="A9C0D8"/>
          </a:solidFill>
          <a:ln w="15875">
            <a:solidFill>
              <a:srgbClr val="A9C0D8"/>
            </a:solidFill>
          </a:ln>
        </p:spPr>
        <p:txBody>
          <a:bodyPr wrap="square" lIns="0" tIns="0" rIns="0" bIns="0" rtlCol="0" anchor="ctr"/>
          <a:lstStyle/>
          <a:p>
            <a:pPr algn="ctr" indent="0" marL="0">
              <a:buNone/>
            </a:pPr>
            <a:r>
              <a:rPr lang="en-US" sz="1800" b="1" dirty="0">
                <a:solidFill>
                  <a:srgbClr val="435466"/>
                </a:solidFill>
                <a:latin typeface="Inter" pitchFamily="34" charset="0"/>
                <a:ea typeface="Inter" pitchFamily="34" charset="-122"/>
                <a:cs typeface="Inter" pitchFamily="34" charset="-120"/>
              </a:rPr>
              <a:t>Tokenizer</a:t>
            </a:r>
            <a:endParaRPr lang="en-US" sz="1800" dirty="0"/>
          </a:p>
        </p:txBody>
      </p:sp>
      <p:sp>
        <p:nvSpPr>
          <p:cNvPr id="19" name="Shape 16"/>
          <p:cNvSpPr/>
          <p:nvPr/>
        </p:nvSpPr>
        <p:spPr>
          <a:xfrm>
            <a:off x="8938260" y="3749040"/>
            <a:ext cx="0" cy="411480"/>
          </a:xfrm>
          <a:prstGeom prst="line">
            <a:avLst/>
          </a:prstGeom>
          <a:noFill/>
          <a:ln w="31750">
            <a:solidFill>
              <a:srgbClr val="A9C0D8"/>
            </a:solidFill>
            <a:prstDash val="solid"/>
            <a:tailEnd type="triangle"/>
          </a:ln>
        </p:spPr>
      </p:sp>
      <p:sp>
        <p:nvSpPr>
          <p:cNvPr id="20" name="Text 17"/>
          <p:cNvSpPr txBox="1"/>
          <p:nvPr/>
        </p:nvSpPr>
        <p:spPr>
          <a:xfrm>
            <a:off x="6309360" y="4160520"/>
            <a:ext cx="5257800" cy="274320"/>
          </a:xfrm>
          <a:prstGeom prst="rect">
            <a:avLst/>
          </a:prstGeom>
          <a:noFill/>
          <a:ln/>
        </p:spPr>
        <p:txBody>
          <a:bodyPr wrap="square" lIns="0" tIns="0" rIns="0" bIns="0" rtlCol="0" anchor="t"/>
          <a:lstStyle/>
          <a:p>
            <a:pPr algn="ctr" indent="0" marL="0">
              <a:buNone/>
            </a:pPr>
            <a:r>
              <a:rPr lang="en-US" sz="1300" b="1" dirty="0">
                <a:solidFill>
                  <a:srgbClr val="66768A"/>
                </a:solidFill>
                <a:latin typeface="Inter" pitchFamily="34" charset="0"/>
                <a:ea typeface="Inter" pitchFamily="34" charset="-122"/>
                <a:cs typeface="Inter" pitchFamily="34" charset="-120"/>
              </a:rPr>
              <a:t>Tokens + IDs</a:t>
            </a:r>
            <a:endParaRPr lang="en-US" sz="1300" dirty="0"/>
          </a:p>
        </p:txBody>
      </p:sp>
      <p:sp>
        <p:nvSpPr>
          <p:cNvPr id="21" name="Text 18"/>
          <p:cNvSpPr txBox="1"/>
          <p:nvPr/>
        </p:nvSpPr>
        <p:spPr>
          <a:xfrm>
            <a:off x="6743700" y="4480560"/>
            <a:ext cx="1188720" cy="502920"/>
          </a:xfrm>
          <a:prstGeom prst="roundRect">
            <a:avLst>
              <a:gd name="adj" fmla="val 18182"/>
            </a:avLst>
          </a:prstGeom>
          <a:solidFill>
            <a:srgbClr val="E4ECE7"/>
          </a:solidFill>
          <a:ln w="15875">
            <a:solidFill>
              <a:srgbClr val="8FA99B"/>
            </a:solidFill>
          </a:ln>
        </p:spPr>
        <p:txBody>
          <a:bodyPr wrap="square" lIns="0" tIns="0" rIns="0" bIns="0" rtlCol="0" anchor="ctr"/>
          <a:lstStyle/>
          <a:p>
            <a:pPr algn="ctr" indent="0" marL="0">
              <a:buNone/>
            </a:pPr>
            <a:r>
              <a:rPr lang="en-US" sz="1700" dirty="0">
                <a:solidFill>
                  <a:srgbClr val="435466"/>
                </a:solidFill>
                <a:latin typeface="Inter" pitchFamily="34" charset="0"/>
                <a:ea typeface="Inter" pitchFamily="34" charset="-122"/>
                <a:cs typeface="Inter" pitchFamily="34" charset="-120"/>
              </a:rPr>
              <a:t>"Rain"</a:t>
            </a:r>
            <a:endParaRPr lang="en-US" sz="1700" dirty="0"/>
          </a:p>
        </p:txBody>
      </p:sp>
      <p:sp>
        <p:nvSpPr>
          <p:cNvPr id="22" name="Text 19"/>
          <p:cNvSpPr txBox="1"/>
          <p:nvPr/>
        </p:nvSpPr>
        <p:spPr>
          <a:xfrm>
            <a:off x="6743700" y="5074920"/>
            <a:ext cx="1188720" cy="502920"/>
          </a:xfrm>
          <a:prstGeom prst="roundRect">
            <a:avLst>
              <a:gd name="adj" fmla="val 18182"/>
            </a:avLst>
          </a:prstGeom>
          <a:solidFill>
            <a:srgbClr val="E8EFF7"/>
          </a:solidFill>
          <a:ln w="15875">
            <a:solidFill>
              <a:srgbClr val="A9C0D8"/>
            </a:solidFill>
          </a:ln>
        </p:spPr>
        <p:txBody>
          <a:bodyPr wrap="square" lIns="0" tIns="0" rIns="0" bIns="0" rtlCol="0" anchor="ctr"/>
          <a:lstStyle/>
          <a:p>
            <a:pPr algn="ctr" indent="0" marL="0">
              <a:buNone/>
            </a:pPr>
            <a:r>
              <a:rPr lang="en-US" sz="1700" dirty="0">
                <a:solidFill>
                  <a:srgbClr val="435466"/>
                </a:solidFill>
                <a:latin typeface="Inter" pitchFamily="34" charset="0"/>
                <a:ea typeface="Inter" pitchFamily="34" charset="-122"/>
                <a:cs typeface="Inter" pitchFamily="34" charset="-120"/>
              </a:rPr>
              <a:t>18810</a:t>
            </a:r>
            <a:endParaRPr lang="en-US" sz="1700" dirty="0"/>
          </a:p>
        </p:txBody>
      </p:sp>
      <p:sp>
        <p:nvSpPr>
          <p:cNvPr id="23" name="Text 20"/>
          <p:cNvSpPr txBox="1"/>
          <p:nvPr/>
        </p:nvSpPr>
        <p:spPr>
          <a:xfrm>
            <a:off x="8069580" y="4480560"/>
            <a:ext cx="1371600" cy="502920"/>
          </a:xfrm>
          <a:prstGeom prst="roundRect">
            <a:avLst>
              <a:gd name="adj" fmla="val 18182"/>
            </a:avLst>
          </a:prstGeom>
          <a:solidFill>
            <a:srgbClr val="E4ECE7"/>
          </a:solidFill>
          <a:ln w="15875">
            <a:solidFill>
              <a:srgbClr val="8FA99B"/>
            </a:solidFill>
          </a:ln>
        </p:spPr>
        <p:txBody>
          <a:bodyPr wrap="square" lIns="0" tIns="0" rIns="0" bIns="0" rtlCol="0" anchor="ctr"/>
          <a:lstStyle/>
          <a:p>
            <a:pPr algn="ctr" indent="0" marL="0">
              <a:buNone/>
            </a:pPr>
            <a:r>
              <a:rPr lang="en-US" sz="1700" dirty="0">
                <a:solidFill>
                  <a:srgbClr val="435466"/>
                </a:solidFill>
                <a:latin typeface="Inter" pitchFamily="34" charset="0"/>
                <a:ea typeface="Inter" pitchFamily="34" charset="-122"/>
                <a:cs typeface="Inter" pitchFamily="34" charset="-120"/>
              </a:rPr>
              <a:t>" falls"</a:t>
            </a:r>
            <a:endParaRPr lang="en-US" sz="1700" dirty="0"/>
          </a:p>
        </p:txBody>
      </p:sp>
      <p:sp>
        <p:nvSpPr>
          <p:cNvPr id="24" name="Text 21"/>
          <p:cNvSpPr txBox="1"/>
          <p:nvPr/>
        </p:nvSpPr>
        <p:spPr>
          <a:xfrm>
            <a:off x="8069580" y="5074920"/>
            <a:ext cx="1371600" cy="502920"/>
          </a:xfrm>
          <a:prstGeom prst="roundRect">
            <a:avLst>
              <a:gd name="adj" fmla="val 18182"/>
            </a:avLst>
          </a:prstGeom>
          <a:solidFill>
            <a:srgbClr val="E8EFF7"/>
          </a:solidFill>
          <a:ln w="15875">
            <a:solidFill>
              <a:srgbClr val="A9C0D8"/>
            </a:solidFill>
          </a:ln>
        </p:spPr>
        <p:txBody>
          <a:bodyPr wrap="square" lIns="0" tIns="0" rIns="0" bIns="0" rtlCol="0" anchor="ctr"/>
          <a:lstStyle/>
          <a:p>
            <a:pPr algn="ctr" indent="0" marL="0">
              <a:buNone/>
            </a:pPr>
            <a:r>
              <a:rPr lang="en-US" sz="1700" dirty="0">
                <a:solidFill>
                  <a:srgbClr val="435466"/>
                </a:solidFill>
                <a:latin typeface="Inter" pitchFamily="34" charset="0"/>
                <a:ea typeface="Inter" pitchFamily="34" charset="-122"/>
                <a:cs typeface="Inter" pitchFamily="34" charset="-120"/>
              </a:rPr>
              <a:t>17118</a:t>
            </a:r>
            <a:endParaRPr lang="en-US" sz="1700" dirty="0"/>
          </a:p>
        </p:txBody>
      </p:sp>
      <p:sp>
        <p:nvSpPr>
          <p:cNvPr id="25" name="Text 22"/>
          <p:cNvSpPr txBox="1"/>
          <p:nvPr/>
        </p:nvSpPr>
        <p:spPr>
          <a:xfrm>
            <a:off x="9578340" y="4480560"/>
            <a:ext cx="1554480" cy="502920"/>
          </a:xfrm>
          <a:prstGeom prst="roundRect">
            <a:avLst>
              <a:gd name="adj" fmla="val 18182"/>
            </a:avLst>
          </a:prstGeom>
          <a:solidFill>
            <a:srgbClr val="E4ECE7"/>
          </a:solidFill>
          <a:ln w="15875">
            <a:solidFill>
              <a:srgbClr val="8FA99B"/>
            </a:solidFill>
          </a:ln>
        </p:spPr>
        <p:txBody>
          <a:bodyPr wrap="square" lIns="0" tIns="0" rIns="0" bIns="0" rtlCol="0" anchor="ctr"/>
          <a:lstStyle/>
          <a:p>
            <a:pPr algn="ctr" indent="0" marL="0">
              <a:buNone/>
            </a:pPr>
            <a:r>
              <a:rPr lang="en-US" sz="1700" dirty="0">
                <a:solidFill>
                  <a:srgbClr val="435466"/>
                </a:solidFill>
                <a:latin typeface="Inter" pitchFamily="34" charset="0"/>
                <a:ea typeface="Inter" pitchFamily="34" charset="-122"/>
                <a:cs typeface="Inter" pitchFamily="34" charset="-120"/>
              </a:rPr>
              <a:t>" softly"</a:t>
            </a:r>
            <a:endParaRPr lang="en-US" sz="1700" dirty="0"/>
          </a:p>
        </p:txBody>
      </p:sp>
      <p:sp>
        <p:nvSpPr>
          <p:cNvPr id="26" name="Text 23"/>
          <p:cNvSpPr txBox="1"/>
          <p:nvPr/>
        </p:nvSpPr>
        <p:spPr>
          <a:xfrm>
            <a:off x="9578340" y="5074920"/>
            <a:ext cx="1554480" cy="502920"/>
          </a:xfrm>
          <a:prstGeom prst="roundRect">
            <a:avLst>
              <a:gd name="adj" fmla="val 18182"/>
            </a:avLst>
          </a:prstGeom>
          <a:solidFill>
            <a:srgbClr val="E8EFF7"/>
          </a:solidFill>
          <a:ln w="15875">
            <a:solidFill>
              <a:srgbClr val="A9C0D8"/>
            </a:solidFill>
          </a:ln>
        </p:spPr>
        <p:txBody>
          <a:bodyPr wrap="square" lIns="0" tIns="0" rIns="0" bIns="0" rtlCol="0" anchor="ctr"/>
          <a:lstStyle/>
          <a:p>
            <a:pPr algn="ctr" indent="0" marL="0">
              <a:buNone/>
            </a:pPr>
            <a:r>
              <a:rPr lang="en-US" sz="1700" dirty="0">
                <a:solidFill>
                  <a:srgbClr val="435466"/>
                </a:solidFill>
                <a:latin typeface="Inter" pitchFamily="34" charset="0"/>
                <a:ea typeface="Inter" pitchFamily="34" charset="-122"/>
                <a:cs typeface="Inter" pitchFamily="34" charset="-120"/>
              </a:rPr>
              <a:t>23270</a:t>
            </a:r>
            <a:endParaRPr lang="en-US" sz="1700" dirty="0"/>
          </a:p>
        </p:txBody>
      </p:sp>
      <p:sp>
        <p:nvSpPr>
          <p:cNvPr id="27" name="Text 24"/>
          <p:cNvSpPr txBox="1"/>
          <p:nvPr/>
        </p:nvSpPr>
        <p:spPr>
          <a:xfrm>
            <a:off x="6583680" y="5641848"/>
            <a:ext cx="4709160" cy="457200"/>
          </a:xfrm>
          <a:prstGeom prst="rect">
            <a:avLst/>
          </a:prstGeom>
          <a:noFill/>
          <a:ln/>
        </p:spPr>
        <p:txBody>
          <a:bodyPr wrap="square" lIns="0" tIns="0" rIns="0" bIns="0" rtlCol="0" anchor="t"/>
          <a:lstStyle/>
          <a:p>
            <a:pPr algn="ctr" indent="0" marL="0">
              <a:buNone/>
            </a:pPr>
            <a:r>
              <a:rPr lang="en-US" sz="1200" dirty="0">
                <a:solidFill>
                  <a:srgbClr val="66768A"/>
                </a:solidFill>
                <a:latin typeface="Inter" pitchFamily="34" charset="0"/>
                <a:ea typeface="Inter" pitchFamily="34" charset="-122"/>
                <a:cs typeface="Inter" pitchFamily="34" charset="-120"/>
              </a:rPr>
              <a:t>Example IDs. Real numbers depend on the tokenizer.</a:t>
            </a:r>
            <a:endParaRPr lang="en-US" sz="1200" dirty="0"/>
          </a:p>
          <a:p>
            <a:pPr algn="ctr" indent="0" marL="0">
              <a:buNone/>
            </a:pPr>
            <a:r>
              <a:rPr lang="en-US" sz="1200" dirty="0">
                <a:solidFill>
                  <a:srgbClr val="66768A"/>
                </a:solidFill>
                <a:latin typeface="Inter" pitchFamily="34" charset="0"/>
                <a:ea typeface="Inter" pitchFamily="34" charset="-122"/>
                <a:cs typeface="Inter" pitchFamily="34" charset="-120"/>
              </a:rPr>
              <a:t>Tokens can include the space before a word.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txBox="1"/>
          <p:nvPr/>
        </p:nvSpPr>
        <p:spPr>
          <a:xfrm>
            <a:off x="11155680" y="6446520"/>
            <a:ext cx="548640" cy="228600"/>
          </a:xfrm>
          <a:prstGeom prst="rect">
            <a:avLst/>
          </a:prstGeom>
          <a:noFill/>
          <a:ln/>
        </p:spPr>
        <p:txBody>
          <a:bodyPr wrap="square" lIns="0" tIns="0" rIns="0" bIns="0" rtlCol="0" anchor="ctr"/>
          <a:lstStyle/>
          <a:p>
            <a:pPr algn="r" indent="0" marL="0">
              <a:buNone/>
            </a:pPr>
            <a:r>
              <a:rPr lang="en-US" sz="1100" dirty="0">
                <a:solidFill>
                  <a:srgbClr val="66768A"/>
                </a:solidFill>
                <a:latin typeface="Inter" pitchFamily="34" charset="0"/>
                <a:ea typeface="Inter" pitchFamily="34" charset="-122"/>
                <a:cs typeface="Inter" pitchFamily="34" charset="-120"/>
              </a:rPr>
              <a:t>3</a:t>
            </a:r>
            <a:endParaRPr lang="en-US" sz="1100" dirty="0"/>
          </a:p>
        </p:txBody>
      </p:sp>
      <p:sp>
        <p:nvSpPr>
          <p:cNvPr id="3" name="Text 1"/>
          <p:cNvSpPr txBox="1"/>
          <p:nvPr/>
        </p:nvSpPr>
        <p:spPr>
          <a:xfrm>
            <a:off x="640080" y="411480"/>
            <a:ext cx="10881360" cy="731520"/>
          </a:xfrm>
          <a:prstGeom prst="rect">
            <a:avLst/>
          </a:prstGeom>
          <a:noFill/>
          <a:ln/>
        </p:spPr>
        <p:txBody>
          <a:bodyPr wrap="square" lIns="0" tIns="0" rIns="0" bIns="0" rtlCol="0" anchor="ctr"/>
          <a:lstStyle/>
          <a:p>
            <a:pPr indent="0" marL="0">
              <a:buNone/>
            </a:pPr>
            <a:r>
              <a:rPr lang="en-US" sz="3600" b="1" dirty="0">
                <a:solidFill>
                  <a:srgbClr val="435466"/>
                </a:solidFill>
                <a:latin typeface="Inter" pitchFamily="34" charset="0"/>
                <a:ea typeface="Inter" pitchFamily="34" charset="-122"/>
                <a:cs typeface="Inter" pitchFamily="34" charset="-120"/>
              </a:rPr>
              <a:t>Encoding and decoding</a:t>
            </a:r>
            <a:endParaRPr lang="en-US" sz="3600" dirty="0"/>
          </a:p>
        </p:txBody>
      </p:sp>
      <p:sp>
        <p:nvSpPr>
          <p:cNvPr id="4" name="Text 2"/>
          <p:cNvSpPr txBox="1"/>
          <p:nvPr/>
        </p:nvSpPr>
        <p:spPr>
          <a:xfrm>
            <a:off x="682600" y="2743200"/>
            <a:ext cx="2697480" cy="640080"/>
          </a:xfrm>
          <a:prstGeom prst="roundRect">
            <a:avLst>
              <a:gd name="adj" fmla="val 14286"/>
            </a:avLst>
          </a:prstGeom>
          <a:solidFill>
            <a:srgbClr val="E4ECE7"/>
          </a:solidFill>
          <a:ln w="15875">
            <a:solidFill>
              <a:srgbClr val="8FA99B"/>
            </a:solidFill>
          </a:ln>
        </p:spPr>
        <p:txBody>
          <a:bodyPr wrap="square" lIns="0" tIns="0" rIns="0" bIns="0" rtlCol="0" anchor="ctr"/>
          <a:lstStyle/>
          <a:p>
            <a:pPr algn="ctr" indent="0" marL="0">
              <a:buNone/>
            </a:pPr>
            <a:r>
              <a:rPr lang="en-US" sz="1800" dirty="0">
                <a:solidFill>
                  <a:srgbClr val="435466"/>
                </a:solidFill>
                <a:latin typeface="Inter" pitchFamily="34" charset="0"/>
                <a:ea typeface="Inter" pitchFamily="34" charset="-122"/>
                <a:cs typeface="Inter" pitchFamily="34" charset="-120"/>
              </a:rPr>
              <a:t>"Clouds drift slowly"</a:t>
            </a:r>
            <a:endParaRPr lang="en-US" sz="1800" dirty="0"/>
          </a:p>
        </p:txBody>
      </p:sp>
      <p:sp>
        <p:nvSpPr>
          <p:cNvPr id="5" name="Text 3"/>
          <p:cNvSpPr txBox="1"/>
          <p:nvPr/>
        </p:nvSpPr>
        <p:spPr>
          <a:xfrm>
            <a:off x="4477360" y="2743200"/>
            <a:ext cx="1005840" cy="640080"/>
          </a:xfrm>
          <a:prstGeom prst="roundRect">
            <a:avLst>
              <a:gd name="adj" fmla="val 14286"/>
            </a:avLst>
          </a:prstGeom>
          <a:solidFill>
            <a:srgbClr val="E8EFF7"/>
          </a:solidFill>
          <a:ln w="15875">
            <a:solidFill>
              <a:srgbClr val="A9C0D8"/>
            </a:solidFill>
          </a:ln>
        </p:spPr>
        <p:txBody>
          <a:bodyPr wrap="square" lIns="0" tIns="0" rIns="0" bIns="0" rtlCol="0" anchor="ctr"/>
          <a:lstStyle/>
          <a:p>
            <a:pPr algn="ctr" indent="0" marL="0">
              <a:buNone/>
            </a:pPr>
            <a:r>
              <a:rPr lang="en-US" sz="1800" dirty="0">
                <a:solidFill>
                  <a:srgbClr val="435466"/>
                </a:solidFill>
                <a:latin typeface="Inter" pitchFamily="34" charset="0"/>
                <a:ea typeface="Inter" pitchFamily="34" charset="-122"/>
                <a:cs typeface="Inter" pitchFamily="34" charset="-120"/>
              </a:rPr>
              <a:t>20164</a:t>
            </a:r>
            <a:endParaRPr lang="en-US" sz="1800" dirty="0"/>
          </a:p>
        </p:txBody>
      </p:sp>
      <p:sp>
        <p:nvSpPr>
          <p:cNvPr id="6" name="Text 4"/>
          <p:cNvSpPr txBox="1"/>
          <p:nvPr/>
        </p:nvSpPr>
        <p:spPr>
          <a:xfrm>
            <a:off x="5592928" y="2743200"/>
            <a:ext cx="1005840" cy="640080"/>
          </a:xfrm>
          <a:prstGeom prst="roundRect">
            <a:avLst>
              <a:gd name="adj" fmla="val 14286"/>
            </a:avLst>
          </a:prstGeom>
          <a:solidFill>
            <a:srgbClr val="E8EFF7"/>
          </a:solidFill>
          <a:ln w="15875">
            <a:solidFill>
              <a:srgbClr val="A9C0D8"/>
            </a:solidFill>
          </a:ln>
        </p:spPr>
        <p:txBody>
          <a:bodyPr wrap="square" lIns="0" tIns="0" rIns="0" bIns="0" rtlCol="0" anchor="ctr"/>
          <a:lstStyle/>
          <a:p>
            <a:pPr algn="ctr" indent="0" marL="0">
              <a:buNone/>
            </a:pPr>
            <a:r>
              <a:rPr lang="en-US" sz="1800" dirty="0">
                <a:solidFill>
                  <a:srgbClr val="435466"/>
                </a:solidFill>
                <a:latin typeface="Inter" pitchFamily="34" charset="0"/>
                <a:ea typeface="Inter" pitchFamily="34" charset="-122"/>
                <a:cs typeface="Inter" pitchFamily="34" charset="-120"/>
              </a:rPr>
              <a:t>24357</a:t>
            </a:r>
            <a:endParaRPr lang="en-US" sz="1800" dirty="0"/>
          </a:p>
        </p:txBody>
      </p:sp>
      <p:sp>
        <p:nvSpPr>
          <p:cNvPr id="7" name="Text 5"/>
          <p:cNvSpPr txBox="1"/>
          <p:nvPr/>
        </p:nvSpPr>
        <p:spPr>
          <a:xfrm>
            <a:off x="6708496" y="2743200"/>
            <a:ext cx="1005840" cy="640080"/>
          </a:xfrm>
          <a:prstGeom prst="roundRect">
            <a:avLst>
              <a:gd name="adj" fmla="val 14286"/>
            </a:avLst>
          </a:prstGeom>
          <a:solidFill>
            <a:srgbClr val="E8EFF7"/>
          </a:solidFill>
          <a:ln w="15875">
            <a:solidFill>
              <a:srgbClr val="A9C0D8"/>
            </a:solidFill>
          </a:ln>
        </p:spPr>
        <p:txBody>
          <a:bodyPr wrap="square" lIns="0" tIns="0" rIns="0" bIns="0" rtlCol="0" anchor="ctr"/>
          <a:lstStyle/>
          <a:p>
            <a:pPr algn="ctr" indent="0" marL="0">
              <a:buNone/>
            </a:pPr>
            <a:r>
              <a:rPr lang="en-US" sz="1800" dirty="0">
                <a:solidFill>
                  <a:srgbClr val="435466"/>
                </a:solidFill>
                <a:latin typeface="Inter" pitchFamily="34" charset="0"/>
                <a:ea typeface="Inter" pitchFamily="34" charset="-122"/>
                <a:cs typeface="Inter" pitchFamily="34" charset="-120"/>
              </a:rPr>
              <a:t>6364</a:t>
            </a:r>
            <a:endParaRPr lang="en-US" sz="1800" dirty="0"/>
          </a:p>
        </p:txBody>
      </p:sp>
      <p:sp>
        <p:nvSpPr>
          <p:cNvPr id="8" name="Text 6"/>
          <p:cNvSpPr txBox="1"/>
          <p:nvPr/>
        </p:nvSpPr>
        <p:spPr>
          <a:xfrm>
            <a:off x="8811616" y="2743200"/>
            <a:ext cx="2697480" cy="640080"/>
          </a:xfrm>
          <a:prstGeom prst="roundRect">
            <a:avLst>
              <a:gd name="adj" fmla="val 14286"/>
            </a:avLst>
          </a:prstGeom>
          <a:solidFill>
            <a:srgbClr val="E4ECE7"/>
          </a:solidFill>
          <a:ln w="15875">
            <a:solidFill>
              <a:srgbClr val="8FA99B"/>
            </a:solidFill>
          </a:ln>
        </p:spPr>
        <p:txBody>
          <a:bodyPr wrap="square" lIns="0" tIns="0" rIns="0" bIns="0" rtlCol="0" anchor="ctr"/>
          <a:lstStyle/>
          <a:p>
            <a:pPr algn="ctr" indent="0" marL="0">
              <a:buNone/>
            </a:pPr>
            <a:r>
              <a:rPr lang="en-US" sz="1800" dirty="0">
                <a:solidFill>
                  <a:srgbClr val="435466"/>
                </a:solidFill>
                <a:latin typeface="Inter" pitchFamily="34" charset="0"/>
                <a:ea typeface="Inter" pitchFamily="34" charset="-122"/>
                <a:cs typeface="Inter" pitchFamily="34" charset="-120"/>
              </a:rPr>
              <a:t>"Clouds drift slowly"</a:t>
            </a:r>
            <a:endParaRPr lang="en-US" sz="1800" dirty="0"/>
          </a:p>
        </p:txBody>
      </p:sp>
      <p:sp>
        <p:nvSpPr>
          <p:cNvPr id="9" name="Shape 7"/>
          <p:cNvSpPr/>
          <p:nvPr/>
        </p:nvSpPr>
        <p:spPr>
          <a:xfrm>
            <a:off x="3517240" y="3063240"/>
            <a:ext cx="822960" cy="0"/>
          </a:xfrm>
          <a:prstGeom prst="line">
            <a:avLst/>
          </a:prstGeom>
          <a:noFill/>
          <a:ln w="31750">
            <a:solidFill>
              <a:srgbClr val="A9C0D8"/>
            </a:solidFill>
            <a:prstDash val="solid"/>
            <a:tailEnd type="triangle"/>
          </a:ln>
        </p:spPr>
      </p:sp>
      <p:sp>
        <p:nvSpPr>
          <p:cNvPr id="10" name="Shape 8"/>
          <p:cNvSpPr/>
          <p:nvPr/>
        </p:nvSpPr>
        <p:spPr>
          <a:xfrm>
            <a:off x="7851496" y="3063240"/>
            <a:ext cx="822960" cy="0"/>
          </a:xfrm>
          <a:prstGeom prst="line">
            <a:avLst/>
          </a:prstGeom>
          <a:noFill/>
          <a:ln w="31750">
            <a:solidFill>
              <a:srgbClr val="A9C0D8"/>
            </a:solidFill>
            <a:prstDash val="solid"/>
            <a:tailEnd type="triangle"/>
          </a:ln>
        </p:spPr>
      </p:sp>
      <p:sp>
        <p:nvSpPr>
          <p:cNvPr id="11" name="Text 9"/>
          <p:cNvSpPr txBox="1"/>
          <p:nvPr/>
        </p:nvSpPr>
        <p:spPr>
          <a:xfrm>
            <a:off x="2557120" y="2057400"/>
            <a:ext cx="2743200" cy="411480"/>
          </a:xfrm>
          <a:prstGeom prst="rect">
            <a:avLst/>
          </a:prstGeom>
          <a:noFill/>
          <a:ln/>
        </p:spPr>
        <p:txBody>
          <a:bodyPr wrap="square" lIns="0" tIns="0" rIns="0" bIns="0" rtlCol="0" anchor="b"/>
          <a:lstStyle/>
          <a:p>
            <a:pPr algn="ctr" indent="0" marL="0">
              <a:buNone/>
            </a:pPr>
            <a:r>
              <a:rPr lang="en-US" sz="2000" b="1" dirty="0">
                <a:solidFill>
                  <a:srgbClr val="435466"/>
                </a:solidFill>
                <a:latin typeface="Inter" pitchFamily="34" charset="0"/>
                <a:ea typeface="Inter" pitchFamily="34" charset="-122"/>
                <a:cs typeface="Inter" pitchFamily="34" charset="-120"/>
              </a:rPr>
              <a:t>Encode</a:t>
            </a:r>
            <a:endParaRPr lang="en-US" sz="2000" dirty="0"/>
          </a:p>
        </p:txBody>
      </p:sp>
      <p:sp>
        <p:nvSpPr>
          <p:cNvPr id="12" name="Text 10"/>
          <p:cNvSpPr txBox="1"/>
          <p:nvPr/>
        </p:nvSpPr>
        <p:spPr>
          <a:xfrm>
            <a:off x="2557120" y="3657600"/>
            <a:ext cx="2743200" cy="320040"/>
          </a:xfrm>
          <a:prstGeom prst="rect">
            <a:avLst/>
          </a:prstGeom>
          <a:noFill/>
          <a:ln/>
        </p:spPr>
        <p:txBody>
          <a:bodyPr wrap="square" lIns="0" tIns="0" rIns="0" bIns="0" rtlCol="0" anchor="t"/>
          <a:lstStyle/>
          <a:p>
            <a:pPr algn="ctr" indent="0" marL="0">
              <a:buNone/>
            </a:pPr>
            <a:r>
              <a:rPr lang="en-US" sz="1500" dirty="0">
                <a:solidFill>
                  <a:srgbClr val="66768A"/>
                </a:solidFill>
                <a:latin typeface="Inter" pitchFamily="34" charset="0"/>
                <a:ea typeface="Inter" pitchFamily="34" charset="-122"/>
                <a:cs typeface="Inter" pitchFamily="34" charset="-120"/>
              </a:rPr>
              <a:t>text → numbers</a:t>
            </a:r>
            <a:endParaRPr lang="en-US" sz="1500" dirty="0"/>
          </a:p>
        </p:txBody>
      </p:sp>
      <p:sp>
        <p:nvSpPr>
          <p:cNvPr id="13" name="Text 11"/>
          <p:cNvSpPr txBox="1"/>
          <p:nvPr/>
        </p:nvSpPr>
        <p:spPr>
          <a:xfrm>
            <a:off x="6891376" y="2057400"/>
            <a:ext cx="2743200" cy="411480"/>
          </a:xfrm>
          <a:prstGeom prst="rect">
            <a:avLst/>
          </a:prstGeom>
          <a:noFill/>
          <a:ln/>
        </p:spPr>
        <p:txBody>
          <a:bodyPr wrap="square" lIns="0" tIns="0" rIns="0" bIns="0" rtlCol="0" anchor="b"/>
          <a:lstStyle/>
          <a:p>
            <a:pPr algn="ctr" indent="0" marL="0">
              <a:buNone/>
            </a:pPr>
            <a:r>
              <a:rPr lang="en-US" sz="2000" b="1" dirty="0">
                <a:solidFill>
                  <a:srgbClr val="435466"/>
                </a:solidFill>
                <a:latin typeface="Inter" pitchFamily="34" charset="0"/>
                <a:ea typeface="Inter" pitchFamily="34" charset="-122"/>
                <a:cs typeface="Inter" pitchFamily="34" charset="-120"/>
              </a:rPr>
              <a:t>Decode</a:t>
            </a:r>
            <a:endParaRPr lang="en-US" sz="2000" dirty="0"/>
          </a:p>
        </p:txBody>
      </p:sp>
      <p:sp>
        <p:nvSpPr>
          <p:cNvPr id="14" name="Text 12"/>
          <p:cNvSpPr txBox="1"/>
          <p:nvPr/>
        </p:nvSpPr>
        <p:spPr>
          <a:xfrm>
            <a:off x="6891376" y="3657600"/>
            <a:ext cx="2743200" cy="320040"/>
          </a:xfrm>
          <a:prstGeom prst="rect">
            <a:avLst/>
          </a:prstGeom>
          <a:noFill/>
          <a:ln/>
        </p:spPr>
        <p:txBody>
          <a:bodyPr wrap="square" lIns="0" tIns="0" rIns="0" bIns="0" rtlCol="0" anchor="t"/>
          <a:lstStyle/>
          <a:p>
            <a:pPr algn="ctr" indent="0" marL="0">
              <a:buNone/>
            </a:pPr>
            <a:r>
              <a:rPr lang="en-US" sz="1500" dirty="0">
                <a:solidFill>
                  <a:srgbClr val="66768A"/>
                </a:solidFill>
                <a:latin typeface="Inter" pitchFamily="34" charset="0"/>
                <a:ea typeface="Inter" pitchFamily="34" charset="-122"/>
                <a:cs typeface="Inter" pitchFamily="34" charset="-120"/>
              </a:rPr>
              <a:t>numbers → text</a:t>
            </a:r>
            <a:endParaRPr lang="en-US" sz="1500" dirty="0"/>
          </a:p>
        </p:txBody>
      </p:sp>
      <p:sp>
        <p:nvSpPr>
          <p:cNvPr id="15" name="Shape 13"/>
          <p:cNvSpPr/>
          <p:nvPr/>
        </p:nvSpPr>
        <p:spPr>
          <a:xfrm>
            <a:off x="2651760" y="4800600"/>
            <a:ext cx="6885432" cy="914400"/>
          </a:xfrm>
          <a:prstGeom prst="roundRect">
            <a:avLst>
              <a:gd name="adj" fmla="val 15000"/>
            </a:avLst>
          </a:prstGeom>
          <a:solidFill>
            <a:srgbClr val="E4ECE7"/>
          </a:solidFill>
          <a:ln w="15875">
            <a:solidFill>
              <a:srgbClr val="8FA99B"/>
            </a:solidFill>
            <a:prstDash val="solid"/>
          </a:ln>
          <a:effectLst>
            <a:outerShdw sx="100000" sy="100000" kx="0" ky="0" algn="bl" rotWithShape="0" blurRad="101600" dist="25400" dir="5400000">
              <a:srgbClr val="435466">
                <a:alpha val="8000"/>
              </a:srgbClr>
            </a:outerShdw>
          </a:effectLst>
        </p:spPr>
      </p:sp>
      <p:sp>
        <p:nvSpPr>
          <p:cNvPr id="16" name="Shape 14"/>
          <p:cNvSpPr/>
          <p:nvPr/>
        </p:nvSpPr>
        <p:spPr>
          <a:xfrm>
            <a:off x="2926080" y="4983480"/>
            <a:ext cx="548640" cy="548640"/>
          </a:xfrm>
          <a:prstGeom prst="ellipse">
            <a:avLst/>
          </a:prstGeom>
          <a:solidFill>
            <a:srgbClr val="FFFFFF"/>
          </a:solidFill>
          <a:ln w="15875">
            <a:solidFill>
              <a:srgbClr val="8FA99B"/>
            </a:solidFill>
            <a:prstDash val="solid"/>
          </a:ln>
        </p:spPr>
      </p:sp>
      <p:pic>
        <p:nvPicPr>
          <p:cNvPr id="17" name="Image 0" descr="preencoded.png">    </p:cNvPr>
          <p:cNvPicPr>
            <a:picLocks noChangeAspect="1"/>
          </p:cNvPicPr>
          <p:nvPr/>
        </p:nvPicPr>
        <p:blipFill>
          <a:blip r:embed="rId1"/>
          <a:stretch>
            <a:fillRect/>
          </a:stretch>
        </p:blipFill>
        <p:spPr>
          <a:xfrm>
            <a:off x="3054096" y="5111496"/>
            <a:ext cx="292608" cy="292608"/>
          </a:xfrm>
          <a:prstGeom prst="rect">
            <a:avLst/>
          </a:prstGeom>
        </p:spPr>
      </p:pic>
      <p:sp>
        <p:nvSpPr>
          <p:cNvPr id="18" name="Text 15"/>
          <p:cNvSpPr txBox="1"/>
          <p:nvPr/>
        </p:nvSpPr>
        <p:spPr>
          <a:xfrm>
            <a:off x="3703320" y="4910328"/>
            <a:ext cx="5605272" cy="694944"/>
          </a:xfrm>
          <a:prstGeom prst="rect">
            <a:avLst/>
          </a:prstGeom>
          <a:noFill/>
          <a:ln/>
        </p:spPr>
        <p:txBody>
          <a:bodyPr wrap="square" lIns="0" tIns="0" rIns="0" bIns="0" rtlCol="0" anchor="ctr"/>
          <a:lstStyle/>
          <a:p>
            <a:pPr indent="0" marL="0">
              <a:buNone/>
            </a:pPr>
            <a:r>
              <a:rPr lang="en-US" sz="1200" b="1" spc="200" kern="0" dirty="0">
                <a:solidFill>
                  <a:srgbClr val="435466"/>
                </a:solidFill>
                <a:latin typeface="Inter" pitchFamily="34" charset="0"/>
                <a:ea typeface="Inter" pitchFamily="34" charset="-122"/>
                <a:cs typeface="Inter" pitchFamily="34" charset="-120"/>
              </a:rPr>
              <a:t>KEY IDEA</a:t>
            </a:r>
            <a:endParaRPr lang="en-US" sz="1800" dirty="0"/>
          </a:p>
          <a:p>
            <a:pPr indent="0" marL="0">
              <a:buNone/>
            </a:pPr>
            <a:r>
              <a:rPr lang="en-US" sz="2000" dirty="0">
                <a:solidFill>
                  <a:srgbClr val="435466"/>
                </a:solidFill>
                <a:latin typeface="Inter" pitchFamily="34" charset="0"/>
                <a:ea typeface="Inter" pitchFamily="34" charset="-122"/>
                <a:cs typeface="Inter" pitchFamily="34" charset="-120"/>
              </a:rPr>
              <a:t>The model works with numbers, not words.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txBox="1"/>
          <p:nvPr/>
        </p:nvSpPr>
        <p:spPr>
          <a:xfrm>
            <a:off x="11155680" y="6446520"/>
            <a:ext cx="548640" cy="228600"/>
          </a:xfrm>
          <a:prstGeom prst="rect">
            <a:avLst/>
          </a:prstGeom>
          <a:noFill/>
          <a:ln/>
        </p:spPr>
        <p:txBody>
          <a:bodyPr wrap="square" lIns="0" tIns="0" rIns="0" bIns="0" rtlCol="0" anchor="ctr"/>
          <a:lstStyle/>
          <a:p>
            <a:pPr algn="r" indent="0" marL="0">
              <a:buNone/>
            </a:pPr>
            <a:r>
              <a:rPr lang="en-US" sz="1100" dirty="0">
                <a:solidFill>
                  <a:srgbClr val="66768A"/>
                </a:solidFill>
                <a:latin typeface="Inter" pitchFamily="34" charset="0"/>
                <a:ea typeface="Inter" pitchFamily="34" charset="-122"/>
                <a:cs typeface="Inter" pitchFamily="34" charset="-120"/>
              </a:rPr>
              <a:t>4</a:t>
            </a:r>
            <a:endParaRPr lang="en-US" sz="1100" dirty="0"/>
          </a:p>
        </p:txBody>
      </p:sp>
      <p:sp>
        <p:nvSpPr>
          <p:cNvPr id="3" name="Text 1"/>
          <p:cNvSpPr txBox="1"/>
          <p:nvPr/>
        </p:nvSpPr>
        <p:spPr>
          <a:xfrm>
            <a:off x="640080" y="411480"/>
            <a:ext cx="10881360" cy="731520"/>
          </a:xfrm>
          <a:prstGeom prst="rect">
            <a:avLst/>
          </a:prstGeom>
          <a:noFill/>
          <a:ln/>
        </p:spPr>
        <p:txBody>
          <a:bodyPr wrap="square" lIns="0" tIns="0" rIns="0" bIns="0" rtlCol="0" anchor="ctr"/>
          <a:lstStyle/>
          <a:p>
            <a:pPr indent="0" marL="0">
              <a:buNone/>
            </a:pPr>
            <a:r>
              <a:rPr lang="en-US" sz="3600" b="1" dirty="0">
                <a:solidFill>
                  <a:srgbClr val="435466"/>
                </a:solidFill>
                <a:latin typeface="Inter" pitchFamily="34" charset="0"/>
                <a:ea typeface="Inter" pitchFamily="34" charset="-122"/>
                <a:cs typeface="Inter" pitchFamily="34" charset="-120"/>
              </a:rPr>
              <a:t>Different kinds of tokenizers</a:t>
            </a:r>
            <a:endParaRPr lang="en-US" sz="3600" dirty="0"/>
          </a:p>
        </p:txBody>
      </p:sp>
      <p:sp>
        <p:nvSpPr>
          <p:cNvPr id="4" name="Text 2"/>
          <p:cNvSpPr txBox="1"/>
          <p:nvPr/>
        </p:nvSpPr>
        <p:spPr>
          <a:xfrm>
            <a:off x="640080" y="1234440"/>
            <a:ext cx="5760720" cy="457200"/>
          </a:xfrm>
          <a:prstGeom prst="rect">
            <a:avLst/>
          </a:prstGeom>
          <a:noFill/>
          <a:ln/>
        </p:spPr>
        <p:txBody>
          <a:bodyPr wrap="square" lIns="0" tIns="0" rIns="0" bIns="0" rtlCol="0" anchor="ctr"/>
          <a:lstStyle/>
          <a:p>
            <a:pPr indent="0" marL="0">
              <a:buNone/>
            </a:pPr>
            <a:r>
              <a:rPr lang="en-US" sz="1800" dirty="0">
                <a:solidFill>
                  <a:srgbClr val="66768A"/>
                </a:solidFill>
                <a:latin typeface="Inter" pitchFamily="34" charset="0"/>
                <a:ea typeface="Inter" pitchFamily="34" charset="-122"/>
                <a:cs typeface="Inter" pitchFamily="34" charset="-120"/>
              </a:rPr>
              <a:t>Each kind splits the same word differently:</a:t>
            </a:r>
            <a:endParaRPr lang="en-US" sz="1800" dirty="0"/>
          </a:p>
        </p:txBody>
      </p:sp>
      <p:sp>
        <p:nvSpPr>
          <p:cNvPr id="5" name="Text 3"/>
          <p:cNvSpPr txBox="1"/>
          <p:nvPr/>
        </p:nvSpPr>
        <p:spPr>
          <a:xfrm>
            <a:off x="6400800" y="1234440"/>
            <a:ext cx="1645920" cy="457200"/>
          </a:xfrm>
          <a:prstGeom prst="roundRect">
            <a:avLst>
              <a:gd name="adj" fmla="val 20000"/>
            </a:avLst>
          </a:prstGeom>
          <a:solidFill>
            <a:srgbClr val="E4ECE7"/>
          </a:solidFill>
          <a:ln w="15875">
            <a:solidFill>
              <a:srgbClr val="8FA99B"/>
            </a:solidFill>
          </a:ln>
        </p:spPr>
        <p:txBody>
          <a:bodyPr wrap="square" lIns="0" tIns="0" rIns="0" bIns="0" rtlCol="0" anchor="ctr"/>
          <a:lstStyle/>
          <a:p>
            <a:pPr algn="ctr" indent="0" marL="0">
              <a:buNone/>
            </a:pPr>
            <a:r>
              <a:rPr lang="en-US" sz="1800" dirty="0">
                <a:solidFill>
                  <a:srgbClr val="435466"/>
                </a:solidFill>
                <a:latin typeface="Inter" pitchFamily="34" charset="0"/>
                <a:ea typeface="Inter" pitchFamily="34" charset="-122"/>
                <a:cs typeface="Inter" pitchFamily="34" charset="-120"/>
              </a:rPr>
              <a:t>"sunlight"</a:t>
            </a:r>
            <a:endParaRPr lang="en-US" sz="1800" dirty="0"/>
          </a:p>
        </p:txBody>
      </p:sp>
      <p:sp>
        <p:nvSpPr>
          <p:cNvPr id="6" name="Shape 4"/>
          <p:cNvSpPr/>
          <p:nvPr/>
        </p:nvSpPr>
        <p:spPr>
          <a:xfrm>
            <a:off x="640080" y="1920240"/>
            <a:ext cx="3429000" cy="3886200"/>
          </a:xfrm>
          <a:prstGeom prst="roundRect">
            <a:avLst>
              <a:gd name="adj" fmla="val 4000"/>
            </a:avLst>
          </a:prstGeom>
          <a:solidFill>
            <a:srgbClr val="FFFFFF"/>
          </a:solidFill>
          <a:ln w="15875">
            <a:solidFill>
              <a:srgbClr val="D9E1E8"/>
            </a:solidFill>
            <a:prstDash val="solid"/>
          </a:ln>
          <a:effectLst>
            <a:outerShdw sx="100000" sy="100000" kx="0" ky="0" algn="bl" rotWithShape="0" blurRad="101600" dist="25400" dir="5400000">
              <a:srgbClr val="435466">
                <a:alpha val="8000"/>
              </a:srgbClr>
            </a:outerShdw>
          </a:effectLst>
        </p:spPr>
      </p:sp>
      <p:sp>
        <p:nvSpPr>
          <p:cNvPr id="7" name="Text 5"/>
          <p:cNvSpPr txBox="1"/>
          <p:nvPr/>
        </p:nvSpPr>
        <p:spPr>
          <a:xfrm>
            <a:off x="868680" y="2148840"/>
            <a:ext cx="2971800" cy="685800"/>
          </a:xfrm>
          <a:prstGeom prst="rect">
            <a:avLst/>
          </a:prstGeom>
          <a:noFill/>
          <a:ln/>
        </p:spPr>
        <p:txBody>
          <a:bodyPr wrap="square" lIns="0" tIns="0" rIns="0" bIns="0" rtlCol="0" anchor="t"/>
          <a:lstStyle/>
          <a:p>
            <a:pPr indent="0" marL="0">
              <a:buNone/>
            </a:pPr>
            <a:r>
              <a:rPr lang="en-US" sz="2000" b="1" dirty="0">
                <a:solidFill>
                  <a:srgbClr val="435466"/>
                </a:solidFill>
                <a:latin typeface="Inter" pitchFamily="34" charset="0"/>
                <a:ea typeface="Inter" pitchFamily="34" charset="-122"/>
                <a:cs typeface="Inter" pitchFamily="34" charset="-120"/>
              </a:rPr>
              <a:t>Character tokenizer</a:t>
            </a:r>
            <a:endParaRPr lang="en-US" sz="2000" dirty="0"/>
          </a:p>
        </p:txBody>
      </p:sp>
      <p:sp>
        <p:nvSpPr>
          <p:cNvPr id="8" name="Text 6"/>
          <p:cNvSpPr txBox="1"/>
          <p:nvPr/>
        </p:nvSpPr>
        <p:spPr>
          <a:xfrm>
            <a:off x="868680" y="2834640"/>
            <a:ext cx="2971800" cy="777240"/>
          </a:xfrm>
          <a:prstGeom prst="rect">
            <a:avLst/>
          </a:prstGeom>
          <a:noFill/>
          <a:ln/>
        </p:spPr>
        <p:txBody>
          <a:bodyPr wrap="square" lIns="0" tIns="0" rIns="0" bIns="0" rtlCol="0" anchor="t"/>
          <a:lstStyle/>
          <a:p>
            <a:pPr indent="0" marL="0">
              <a:buNone/>
            </a:pPr>
            <a:r>
              <a:rPr lang="en-US" sz="1500" dirty="0">
                <a:solidFill>
                  <a:srgbClr val="66768A"/>
                </a:solidFill>
                <a:latin typeface="Inter" pitchFamily="34" charset="0"/>
                <a:ea typeface="Inter" pitchFamily="34" charset="-122"/>
                <a:cs typeface="Inter" pitchFamily="34" charset="-120"/>
              </a:rPr>
              <a:t>Every letter is its own token.</a:t>
            </a:r>
            <a:endParaRPr lang="en-US" sz="1500" dirty="0"/>
          </a:p>
        </p:txBody>
      </p:sp>
      <p:sp>
        <p:nvSpPr>
          <p:cNvPr id="9" name="Text 7"/>
          <p:cNvSpPr txBox="1"/>
          <p:nvPr/>
        </p:nvSpPr>
        <p:spPr>
          <a:xfrm>
            <a:off x="868680" y="3749040"/>
            <a:ext cx="329184" cy="502920"/>
          </a:xfrm>
          <a:prstGeom prst="roundRect">
            <a:avLst>
              <a:gd name="adj" fmla="val 27778"/>
            </a:avLst>
          </a:prstGeom>
          <a:solidFill>
            <a:srgbClr val="E8EFF7"/>
          </a:solidFill>
          <a:ln w="15875">
            <a:solidFill>
              <a:srgbClr val="A9C0D8"/>
            </a:solidFill>
          </a:ln>
        </p:spPr>
        <p:txBody>
          <a:bodyPr wrap="square" lIns="0" tIns="0" rIns="0" bIns="0" rtlCol="0" anchor="ctr"/>
          <a:lstStyle/>
          <a:p>
            <a:pPr algn="ctr" indent="0" marL="0">
              <a:buNone/>
            </a:pPr>
            <a:r>
              <a:rPr lang="en-US" sz="1500" dirty="0">
                <a:solidFill>
                  <a:srgbClr val="435466"/>
                </a:solidFill>
                <a:latin typeface="Inter" pitchFamily="34" charset="0"/>
                <a:ea typeface="Inter" pitchFamily="34" charset="-122"/>
                <a:cs typeface="Inter" pitchFamily="34" charset="-120"/>
              </a:rPr>
              <a:t>s</a:t>
            </a:r>
            <a:endParaRPr lang="en-US" sz="1500" dirty="0"/>
          </a:p>
        </p:txBody>
      </p:sp>
      <p:sp>
        <p:nvSpPr>
          <p:cNvPr id="10" name="Text 8"/>
          <p:cNvSpPr txBox="1"/>
          <p:nvPr/>
        </p:nvSpPr>
        <p:spPr>
          <a:xfrm>
            <a:off x="1246197" y="3749040"/>
            <a:ext cx="329184" cy="502920"/>
          </a:xfrm>
          <a:prstGeom prst="roundRect">
            <a:avLst>
              <a:gd name="adj" fmla="val 27778"/>
            </a:avLst>
          </a:prstGeom>
          <a:solidFill>
            <a:srgbClr val="E8EFF7"/>
          </a:solidFill>
          <a:ln w="15875">
            <a:solidFill>
              <a:srgbClr val="A9C0D8"/>
            </a:solidFill>
          </a:ln>
        </p:spPr>
        <p:txBody>
          <a:bodyPr wrap="square" lIns="0" tIns="0" rIns="0" bIns="0" rtlCol="0" anchor="ctr"/>
          <a:lstStyle/>
          <a:p>
            <a:pPr algn="ctr" indent="0" marL="0">
              <a:buNone/>
            </a:pPr>
            <a:r>
              <a:rPr lang="en-US" sz="1500" dirty="0">
                <a:solidFill>
                  <a:srgbClr val="435466"/>
                </a:solidFill>
                <a:latin typeface="Inter" pitchFamily="34" charset="0"/>
                <a:ea typeface="Inter" pitchFamily="34" charset="-122"/>
                <a:cs typeface="Inter" pitchFamily="34" charset="-120"/>
              </a:rPr>
              <a:t>u</a:t>
            </a:r>
            <a:endParaRPr lang="en-US" sz="1500" dirty="0"/>
          </a:p>
        </p:txBody>
      </p:sp>
      <p:sp>
        <p:nvSpPr>
          <p:cNvPr id="11" name="Text 9"/>
          <p:cNvSpPr txBox="1"/>
          <p:nvPr/>
        </p:nvSpPr>
        <p:spPr>
          <a:xfrm>
            <a:off x="1623713" y="3749040"/>
            <a:ext cx="329184" cy="502920"/>
          </a:xfrm>
          <a:prstGeom prst="roundRect">
            <a:avLst>
              <a:gd name="adj" fmla="val 27778"/>
            </a:avLst>
          </a:prstGeom>
          <a:solidFill>
            <a:srgbClr val="E8EFF7"/>
          </a:solidFill>
          <a:ln w="15875">
            <a:solidFill>
              <a:srgbClr val="A9C0D8"/>
            </a:solidFill>
          </a:ln>
        </p:spPr>
        <p:txBody>
          <a:bodyPr wrap="square" lIns="0" tIns="0" rIns="0" bIns="0" rtlCol="0" anchor="ctr"/>
          <a:lstStyle/>
          <a:p>
            <a:pPr algn="ctr" indent="0" marL="0">
              <a:buNone/>
            </a:pPr>
            <a:r>
              <a:rPr lang="en-US" sz="1500" dirty="0">
                <a:solidFill>
                  <a:srgbClr val="435466"/>
                </a:solidFill>
                <a:latin typeface="Inter" pitchFamily="34" charset="0"/>
                <a:ea typeface="Inter" pitchFamily="34" charset="-122"/>
                <a:cs typeface="Inter" pitchFamily="34" charset="-120"/>
              </a:rPr>
              <a:t>n</a:t>
            </a:r>
            <a:endParaRPr lang="en-US" sz="1500" dirty="0"/>
          </a:p>
        </p:txBody>
      </p:sp>
      <p:sp>
        <p:nvSpPr>
          <p:cNvPr id="12" name="Text 10"/>
          <p:cNvSpPr txBox="1"/>
          <p:nvPr/>
        </p:nvSpPr>
        <p:spPr>
          <a:xfrm>
            <a:off x="2001230" y="3749040"/>
            <a:ext cx="329184" cy="502920"/>
          </a:xfrm>
          <a:prstGeom prst="roundRect">
            <a:avLst>
              <a:gd name="adj" fmla="val 27778"/>
            </a:avLst>
          </a:prstGeom>
          <a:solidFill>
            <a:srgbClr val="E8EFF7"/>
          </a:solidFill>
          <a:ln w="15875">
            <a:solidFill>
              <a:srgbClr val="A9C0D8"/>
            </a:solidFill>
          </a:ln>
        </p:spPr>
        <p:txBody>
          <a:bodyPr wrap="square" lIns="0" tIns="0" rIns="0" bIns="0" rtlCol="0" anchor="ctr"/>
          <a:lstStyle/>
          <a:p>
            <a:pPr algn="ctr" indent="0" marL="0">
              <a:buNone/>
            </a:pPr>
            <a:r>
              <a:rPr lang="en-US" sz="1500" dirty="0">
                <a:solidFill>
                  <a:srgbClr val="435466"/>
                </a:solidFill>
                <a:latin typeface="Inter" pitchFamily="34" charset="0"/>
                <a:ea typeface="Inter" pitchFamily="34" charset="-122"/>
                <a:cs typeface="Inter" pitchFamily="34" charset="-120"/>
              </a:rPr>
              <a:t>l</a:t>
            </a:r>
            <a:endParaRPr lang="en-US" sz="1500" dirty="0"/>
          </a:p>
        </p:txBody>
      </p:sp>
      <p:sp>
        <p:nvSpPr>
          <p:cNvPr id="13" name="Text 11"/>
          <p:cNvSpPr txBox="1"/>
          <p:nvPr/>
        </p:nvSpPr>
        <p:spPr>
          <a:xfrm>
            <a:off x="2378746" y="3749040"/>
            <a:ext cx="329184" cy="502920"/>
          </a:xfrm>
          <a:prstGeom prst="roundRect">
            <a:avLst>
              <a:gd name="adj" fmla="val 27778"/>
            </a:avLst>
          </a:prstGeom>
          <a:solidFill>
            <a:srgbClr val="E8EFF7"/>
          </a:solidFill>
          <a:ln w="15875">
            <a:solidFill>
              <a:srgbClr val="A9C0D8"/>
            </a:solidFill>
          </a:ln>
        </p:spPr>
        <p:txBody>
          <a:bodyPr wrap="square" lIns="0" tIns="0" rIns="0" bIns="0" rtlCol="0" anchor="ctr"/>
          <a:lstStyle/>
          <a:p>
            <a:pPr algn="ctr" indent="0" marL="0">
              <a:buNone/>
            </a:pPr>
            <a:r>
              <a:rPr lang="en-US" sz="1500" dirty="0">
                <a:solidFill>
                  <a:srgbClr val="435466"/>
                </a:solidFill>
                <a:latin typeface="Inter" pitchFamily="34" charset="0"/>
                <a:ea typeface="Inter" pitchFamily="34" charset="-122"/>
                <a:cs typeface="Inter" pitchFamily="34" charset="-120"/>
              </a:rPr>
              <a:t>i</a:t>
            </a:r>
            <a:endParaRPr lang="en-US" sz="1500" dirty="0"/>
          </a:p>
        </p:txBody>
      </p:sp>
      <p:sp>
        <p:nvSpPr>
          <p:cNvPr id="14" name="Text 12"/>
          <p:cNvSpPr txBox="1"/>
          <p:nvPr/>
        </p:nvSpPr>
        <p:spPr>
          <a:xfrm>
            <a:off x="2756263" y="3749040"/>
            <a:ext cx="329184" cy="502920"/>
          </a:xfrm>
          <a:prstGeom prst="roundRect">
            <a:avLst>
              <a:gd name="adj" fmla="val 27778"/>
            </a:avLst>
          </a:prstGeom>
          <a:solidFill>
            <a:srgbClr val="E8EFF7"/>
          </a:solidFill>
          <a:ln w="15875">
            <a:solidFill>
              <a:srgbClr val="A9C0D8"/>
            </a:solidFill>
          </a:ln>
        </p:spPr>
        <p:txBody>
          <a:bodyPr wrap="square" lIns="0" tIns="0" rIns="0" bIns="0" rtlCol="0" anchor="ctr"/>
          <a:lstStyle/>
          <a:p>
            <a:pPr algn="ctr" indent="0" marL="0">
              <a:buNone/>
            </a:pPr>
            <a:r>
              <a:rPr lang="en-US" sz="1500" dirty="0">
                <a:solidFill>
                  <a:srgbClr val="435466"/>
                </a:solidFill>
                <a:latin typeface="Inter" pitchFamily="34" charset="0"/>
                <a:ea typeface="Inter" pitchFamily="34" charset="-122"/>
                <a:cs typeface="Inter" pitchFamily="34" charset="-120"/>
              </a:rPr>
              <a:t>g</a:t>
            </a:r>
            <a:endParaRPr lang="en-US" sz="1500" dirty="0"/>
          </a:p>
        </p:txBody>
      </p:sp>
      <p:sp>
        <p:nvSpPr>
          <p:cNvPr id="15" name="Text 13"/>
          <p:cNvSpPr txBox="1"/>
          <p:nvPr/>
        </p:nvSpPr>
        <p:spPr>
          <a:xfrm>
            <a:off x="3133779" y="3749040"/>
            <a:ext cx="329184" cy="502920"/>
          </a:xfrm>
          <a:prstGeom prst="roundRect">
            <a:avLst>
              <a:gd name="adj" fmla="val 27778"/>
            </a:avLst>
          </a:prstGeom>
          <a:solidFill>
            <a:srgbClr val="E8EFF7"/>
          </a:solidFill>
          <a:ln w="15875">
            <a:solidFill>
              <a:srgbClr val="A9C0D8"/>
            </a:solidFill>
          </a:ln>
        </p:spPr>
        <p:txBody>
          <a:bodyPr wrap="square" lIns="0" tIns="0" rIns="0" bIns="0" rtlCol="0" anchor="ctr"/>
          <a:lstStyle/>
          <a:p>
            <a:pPr algn="ctr" indent="0" marL="0">
              <a:buNone/>
            </a:pPr>
            <a:r>
              <a:rPr lang="en-US" sz="1500" dirty="0">
                <a:solidFill>
                  <a:srgbClr val="435466"/>
                </a:solidFill>
                <a:latin typeface="Inter" pitchFamily="34" charset="0"/>
                <a:ea typeface="Inter" pitchFamily="34" charset="-122"/>
                <a:cs typeface="Inter" pitchFamily="34" charset="-120"/>
              </a:rPr>
              <a:t>h</a:t>
            </a:r>
            <a:endParaRPr lang="en-US" sz="1500" dirty="0"/>
          </a:p>
        </p:txBody>
      </p:sp>
      <p:sp>
        <p:nvSpPr>
          <p:cNvPr id="16" name="Text 14"/>
          <p:cNvSpPr txBox="1"/>
          <p:nvPr/>
        </p:nvSpPr>
        <p:spPr>
          <a:xfrm>
            <a:off x="3511296" y="3749040"/>
            <a:ext cx="329184" cy="502920"/>
          </a:xfrm>
          <a:prstGeom prst="roundRect">
            <a:avLst>
              <a:gd name="adj" fmla="val 27778"/>
            </a:avLst>
          </a:prstGeom>
          <a:solidFill>
            <a:srgbClr val="E8EFF7"/>
          </a:solidFill>
          <a:ln w="15875">
            <a:solidFill>
              <a:srgbClr val="A9C0D8"/>
            </a:solidFill>
          </a:ln>
        </p:spPr>
        <p:txBody>
          <a:bodyPr wrap="square" lIns="0" tIns="0" rIns="0" bIns="0" rtlCol="0" anchor="ctr"/>
          <a:lstStyle/>
          <a:p>
            <a:pPr algn="ctr" indent="0" marL="0">
              <a:buNone/>
            </a:pPr>
            <a:r>
              <a:rPr lang="en-US" sz="1500" dirty="0">
                <a:solidFill>
                  <a:srgbClr val="435466"/>
                </a:solidFill>
                <a:latin typeface="Inter" pitchFamily="34" charset="0"/>
                <a:ea typeface="Inter" pitchFamily="34" charset="-122"/>
                <a:cs typeface="Inter" pitchFamily="34" charset="-120"/>
              </a:rPr>
              <a:t>t</a:t>
            </a:r>
            <a:endParaRPr lang="en-US" sz="1500" dirty="0"/>
          </a:p>
        </p:txBody>
      </p:sp>
      <p:sp>
        <p:nvSpPr>
          <p:cNvPr id="17" name="Text 15"/>
          <p:cNvSpPr txBox="1"/>
          <p:nvPr/>
        </p:nvSpPr>
        <p:spPr>
          <a:xfrm>
            <a:off x="868680" y="4343400"/>
            <a:ext cx="2971800" cy="274320"/>
          </a:xfrm>
          <a:prstGeom prst="rect">
            <a:avLst/>
          </a:prstGeom>
          <a:noFill/>
          <a:ln/>
        </p:spPr>
        <p:txBody>
          <a:bodyPr wrap="square" lIns="0" tIns="0" rIns="0" bIns="0" rtlCol="0" anchor="t"/>
          <a:lstStyle/>
          <a:p>
            <a:pPr algn="ctr" indent="0" marL="0">
              <a:buNone/>
            </a:pPr>
            <a:r>
              <a:rPr lang="en-US" sz="1300" b="1" dirty="0">
                <a:solidFill>
                  <a:srgbClr val="66768A"/>
                </a:solidFill>
                <a:latin typeface="Inter" pitchFamily="34" charset="0"/>
                <a:ea typeface="Inter" pitchFamily="34" charset="-122"/>
                <a:cs typeface="Inter" pitchFamily="34" charset="-120"/>
              </a:rPr>
              <a:t>8 tokens</a:t>
            </a:r>
            <a:endParaRPr lang="en-US" sz="1300" dirty="0"/>
          </a:p>
        </p:txBody>
      </p:sp>
      <p:sp>
        <p:nvSpPr>
          <p:cNvPr id="18" name="Text 16"/>
          <p:cNvSpPr txBox="1"/>
          <p:nvPr/>
        </p:nvSpPr>
        <p:spPr>
          <a:xfrm>
            <a:off x="868680" y="4846320"/>
            <a:ext cx="329184" cy="329184"/>
          </a:xfrm>
          <a:prstGeom prst="roundRect">
            <a:avLst>
              <a:gd name="adj" fmla="val 50000"/>
            </a:avLst>
          </a:prstGeom>
          <a:solidFill>
            <a:srgbClr val="E4ECE7"/>
          </a:solidFill>
          <a:ln w="15875">
            <a:solidFill>
              <a:srgbClr val="8FA99B"/>
            </a:solidFill>
          </a:ln>
        </p:spPr>
        <p:txBody>
          <a:bodyPr wrap="square" lIns="0" tIns="0" rIns="0" bIns="0" rtlCol="0" anchor="ctr"/>
          <a:lstStyle/>
          <a:p>
            <a:pPr algn="ctr" indent="0" marL="0">
              <a:buNone/>
            </a:pPr>
            <a:r>
              <a:rPr lang="en-US" sz="1600" b="1" dirty="0">
                <a:solidFill>
                  <a:srgbClr val="435466"/>
                </a:solidFill>
                <a:latin typeface="Inter" pitchFamily="34" charset="0"/>
                <a:ea typeface="Inter" pitchFamily="34" charset="-122"/>
                <a:cs typeface="Inter" pitchFamily="34" charset="-120"/>
              </a:rPr>
              <a:t>+</a:t>
            </a:r>
            <a:endParaRPr lang="en-US" sz="1600" dirty="0"/>
          </a:p>
        </p:txBody>
      </p:sp>
      <p:sp>
        <p:nvSpPr>
          <p:cNvPr id="19" name="Text 17"/>
          <p:cNvSpPr txBox="1"/>
          <p:nvPr/>
        </p:nvSpPr>
        <p:spPr>
          <a:xfrm>
            <a:off x="1325880" y="4828032"/>
            <a:ext cx="2514600" cy="365760"/>
          </a:xfrm>
          <a:prstGeom prst="rect">
            <a:avLst/>
          </a:prstGeom>
          <a:noFill/>
          <a:ln/>
        </p:spPr>
        <p:txBody>
          <a:bodyPr wrap="square" lIns="0" tIns="0" rIns="0" bIns="0" rtlCol="0" anchor="ctr"/>
          <a:lstStyle/>
          <a:p>
            <a:pPr indent="0" marL="0">
              <a:buNone/>
            </a:pPr>
            <a:r>
              <a:rPr lang="en-US" sz="1600" dirty="0">
                <a:solidFill>
                  <a:srgbClr val="435466"/>
                </a:solidFill>
                <a:latin typeface="Inter" pitchFamily="34" charset="0"/>
                <a:ea typeface="Inter" pitchFamily="34" charset="-122"/>
                <a:cs typeface="Inter" pitchFamily="34" charset="-120"/>
              </a:rPr>
              <a:t>Simple</a:t>
            </a:r>
            <a:endParaRPr lang="en-US" sz="1600" dirty="0"/>
          </a:p>
        </p:txBody>
      </p:sp>
      <p:sp>
        <p:nvSpPr>
          <p:cNvPr id="20" name="Text 18"/>
          <p:cNvSpPr txBox="1"/>
          <p:nvPr/>
        </p:nvSpPr>
        <p:spPr>
          <a:xfrm>
            <a:off x="868680" y="5303520"/>
            <a:ext cx="329184" cy="329184"/>
          </a:xfrm>
          <a:prstGeom prst="roundRect">
            <a:avLst>
              <a:gd name="adj" fmla="val 50000"/>
            </a:avLst>
          </a:prstGeom>
          <a:solidFill>
            <a:srgbClr val="F4E4DE"/>
          </a:solidFill>
          <a:ln w="15875">
            <a:solidFill>
              <a:srgbClr val="C98F7D"/>
            </a:solidFill>
          </a:ln>
        </p:spPr>
        <p:txBody>
          <a:bodyPr wrap="square" lIns="0" tIns="0" rIns="0" bIns="0" rtlCol="0" anchor="ctr"/>
          <a:lstStyle/>
          <a:p>
            <a:pPr algn="ctr" indent="0" marL="0">
              <a:buNone/>
            </a:pPr>
            <a:r>
              <a:rPr lang="en-US" sz="1600" b="1" dirty="0">
                <a:solidFill>
                  <a:srgbClr val="435466"/>
                </a:solidFill>
                <a:latin typeface="Inter" pitchFamily="34" charset="0"/>
                <a:ea typeface="Inter" pitchFamily="34" charset="-122"/>
                <a:cs typeface="Inter" pitchFamily="34" charset="-120"/>
              </a:rPr>
              <a:t>–</a:t>
            </a:r>
            <a:endParaRPr lang="en-US" sz="1600" dirty="0"/>
          </a:p>
        </p:txBody>
      </p:sp>
      <p:sp>
        <p:nvSpPr>
          <p:cNvPr id="21" name="Text 19"/>
          <p:cNvSpPr txBox="1"/>
          <p:nvPr/>
        </p:nvSpPr>
        <p:spPr>
          <a:xfrm>
            <a:off x="1325880" y="5285232"/>
            <a:ext cx="2514600" cy="365760"/>
          </a:xfrm>
          <a:prstGeom prst="rect">
            <a:avLst/>
          </a:prstGeom>
          <a:noFill/>
          <a:ln/>
        </p:spPr>
        <p:txBody>
          <a:bodyPr wrap="square" lIns="0" tIns="0" rIns="0" bIns="0" rtlCol="0" anchor="ctr"/>
          <a:lstStyle/>
          <a:p>
            <a:pPr indent="0" marL="0">
              <a:buNone/>
            </a:pPr>
            <a:r>
              <a:rPr lang="en-US" sz="1600" dirty="0">
                <a:solidFill>
                  <a:srgbClr val="435466"/>
                </a:solidFill>
                <a:latin typeface="Inter" pitchFamily="34" charset="0"/>
                <a:ea typeface="Inter" pitchFamily="34" charset="-122"/>
                <a:cs typeface="Inter" pitchFamily="34" charset="-120"/>
              </a:rPr>
              <a:t>Makes many tokens</a:t>
            </a:r>
            <a:endParaRPr lang="en-US" sz="1600" dirty="0"/>
          </a:p>
        </p:txBody>
      </p:sp>
      <p:sp>
        <p:nvSpPr>
          <p:cNvPr id="22" name="Shape 20"/>
          <p:cNvSpPr/>
          <p:nvPr/>
        </p:nvSpPr>
        <p:spPr>
          <a:xfrm>
            <a:off x="4450110" y="1920240"/>
            <a:ext cx="3429000" cy="3886200"/>
          </a:xfrm>
          <a:prstGeom prst="roundRect">
            <a:avLst>
              <a:gd name="adj" fmla="val 4000"/>
            </a:avLst>
          </a:prstGeom>
          <a:solidFill>
            <a:srgbClr val="FFFFFF"/>
          </a:solidFill>
          <a:ln w="15875">
            <a:solidFill>
              <a:srgbClr val="D9E1E8"/>
            </a:solidFill>
            <a:prstDash val="solid"/>
          </a:ln>
          <a:effectLst>
            <a:outerShdw sx="100000" sy="100000" kx="0" ky="0" algn="bl" rotWithShape="0" blurRad="101600" dist="25400" dir="5400000">
              <a:srgbClr val="435466">
                <a:alpha val="8000"/>
              </a:srgbClr>
            </a:outerShdw>
          </a:effectLst>
        </p:spPr>
      </p:sp>
      <p:sp>
        <p:nvSpPr>
          <p:cNvPr id="23" name="Text 21"/>
          <p:cNvSpPr txBox="1"/>
          <p:nvPr/>
        </p:nvSpPr>
        <p:spPr>
          <a:xfrm>
            <a:off x="4678710" y="2148840"/>
            <a:ext cx="2971800" cy="685800"/>
          </a:xfrm>
          <a:prstGeom prst="rect">
            <a:avLst/>
          </a:prstGeom>
          <a:noFill/>
          <a:ln/>
        </p:spPr>
        <p:txBody>
          <a:bodyPr wrap="square" lIns="0" tIns="0" rIns="0" bIns="0" rtlCol="0" anchor="t"/>
          <a:lstStyle/>
          <a:p>
            <a:pPr indent="0" marL="0">
              <a:buNone/>
            </a:pPr>
            <a:r>
              <a:rPr lang="en-US" sz="2000" b="1" dirty="0">
                <a:solidFill>
                  <a:srgbClr val="435466"/>
                </a:solidFill>
                <a:latin typeface="Inter" pitchFamily="34" charset="0"/>
                <a:ea typeface="Inter" pitchFamily="34" charset="-122"/>
                <a:cs typeface="Inter" pitchFamily="34" charset="-120"/>
              </a:rPr>
              <a:t>Word tokenizer</a:t>
            </a:r>
            <a:endParaRPr lang="en-US" sz="2000" dirty="0"/>
          </a:p>
        </p:txBody>
      </p:sp>
      <p:sp>
        <p:nvSpPr>
          <p:cNvPr id="24" name="Text 22"/>
          <p:cNvSpPr txBox="1"/>
          <p:nvPr/>
        </p:nvSpPr>
        <p:spPr>
          <a:xfrm>
            <a:off x="4678710" y="2834640"/>
            <a:ext cx="2971800" cy="777240"/>
          </a:xfrm>
          <a:prstGeom prst="rect">
            <a:avLst/>
          </a:prstGeom>
          <a:noFill/>
          <a:ln/>
        </p:spPr>
        <p:txBody>
          <a:bodyPr wrap="square" lIns="0" tIns="0" rIns="0" bIns="0" rtlCol="0" anchor="t"/>
          <a:lstStyle/>
          <a:p>
            <a:pPr indent="0" marL="0">
              <a:buNone/>
            </a:pPr>
            <a:r>
              <a:rPr lang="en-US" sz="1500" dirty="0">
                <a:solidFill>
                  <a:srgbClr val="66768A"/>
                </a:solidFill>
                <a:latin typeface="Inter" pitchFamily="34" charset="0"/>
                <a:ea typeface="Inter" pitchFamily="34" charset="-122"/>
                <a:cs typeface="Inter" pitchFamily="34" charset="-120"/>
              </a:rPr>
              <a:t>Every whole word is one token.</a:t>
            </a:r>
            <a:endParaRPr lang="en-US" sz="1500" dirty="0"/>
          </a:p>
        </p:txBody>
      </p:sp>
      <p:sp>
        <p:nvSpPr>
          <p:cNvPr id="25" name="Text 23"/>
          <p:cNvSpPr txBox="1"/>
          <p:nvPr/>
        </p:nvSpPr>
        <p:spPr>
          <a:xfrm>
            <a:off x="4678710" y="3749040"/>
            <a:ext cx="2971800" cy="502920"/>
          </a:xfrm>
          <a:prstGeom prst="roundRect">
            <a:avLst>
              <a:gd name="adj" fmla="val 18182"/>
            </a:avLst>
          </a:prstGeom>
          <a:solidFill>
            <a:srgbClr val="E8EFF7"/>
          </a:solidFill>
          <a:ln w="15875">
            <a:solidFill>
              <a:srgbClr val="A9C0D8"/>
            </a:solidFill>
          </a:ln>
        </p:spPr>
        <p:txBody>
          <a:bodyPr wrap="square" lIns="0" tIns="0" rIns="0" bIns="0" rtlCol="0" anchor="ctr"/>
          <a:lstStyle/>
          <a:p>
            <a:pPr algn="ctr" indent="0" marL="0">
              <a:buNone/>
            </a:pPr>
            <a:r>
              <a:rPr lang="en-US" sz="1700" dirty="0">
                <a:solidFill>
                  <a:srgbClr val="435466"/>
                </a:solidFill>
                <a:latin typeface="Inter" pitchFamily="34" charset="0"/>
                <a:ea typeface="Inter" pitchFamily="34" charset="-122"/>
                <a:cs typeface="Inter" pitchFamily="34" charset="-120"/>
              </a:rPr>
              <a:t>sunlight</a:t>
            </a:r>
            <a:endParaRPr lang="en-US" sz="1700" dirty="0"/>
          </a:p>
        </p:txBody>
      </p:sp>
      <p:sp>
        <p:nvSpPr>
          <p:cNvPr id="26" name="Text 24"/>
          <p:cNvSpPr txBox="1"/>
          <p:nvPr/>
        </p:nvSpPr>
        <p:spPr>
          <a:xfrm>
            <a:off x="4678710" y="4343400"/>
            <a:ext cx="2971800" cy="274320"/>
          </a:xfrm>
          <a:prstGeom prst="rect">
            <a:avLst/>
          </a:prstGeom>
          <a:noFill/>
          <a:ln/>
        </p:spPr>
        <p:txBody>
          <a:bodyPr wrap="square" lIns="0" tIns="0" rIns="0" bIns="0" rtlCol="0" anchor="t"/>
          <a:lstStyle/>
          <a:p>
            <a:pPr algn="ctr" indent="0" marL="0">
              <a:buNone/>
            </a:pPr>
            <a:r>
              <a:rPr lang="en-US" sz="1300" b="1" dirty="0">
                <a:solidFill>
                  <a:srgbClr val="66768A"/>
                </a:solidFill>
                <a:latin typeface="Inter" pitchFamily="34" charset="0"/>
                <a:ea typeface="Inter" pitchFamily="34" charset="-122"/>
                <a:cs typeface="Inter" pitchFamily="34" charset="-120"/>
              </a:rPr>
              <a:t>1 token</a:t>
            </a:r>
            <a:endParaRPr lang="en-US" sz="1300" dirty="0"/>
          </a:p>
        </p:txBody>
      </p:sp>
      <p:sp>
        <p:nvSpPr>
          <p:cNvPr id="27" name="Text 25"/>
          <p:cNvSpPr txBox="1"/>
          <p:nvPr/>
        </p:nvSpPr>
        <p:spPr>
          <a:xfrm>
            <a:off x="4678710" y="4846320"/>
            <a:ext cx="329184" cy="329184"/>
          </a:xfrm>
          <a:prstGeom prst="roundRect">
            <a:avLst>
              <a:gd name="adj" fmla="val 50000"/>
            </a:avLst>
          </a:prstGeom>
          <a:solidFill>
            <a:srgbClr val="E4ECE7"/>
          </a:solidFill>
          <a:ln w="15875">
            <a:solidFill>
              <a:srgbClr val="8FA99B"/>
            </a:solidFill>
          </a:ln>
        </p:spPr>
        <p:txBody>
          <a:bodyPr wrap="square" lIns="0" tIns="0" rIns="0" bIns="0" rtlCol="0" anchor="ctr"/>
          <a:lstStyle/>
          <a:p>
            <a:pPr algn="ctr" indent="0" marL="0">
              <a:buNone/>
            </a:pPr>
            <a:r>
              <a:rPr lang="en-US" sz="1600" b="1" dirty="0">
                <a:solidFill>
                  <a:srgbClr val="435466"/>
                </a:solidFill>
                <a:latin typeface="Inter" pitchFamily="34" charset="0"/>
                <a:ea typeface="Inter" pitchFamily="34" charset="-122"/>
                <a:cs typeface="Inter" pitchFamily="34" charset="-120"/>
              </a:rPr>
              <a:t>+</a:t>
            </a:r>
            <a:endParaRPr lang="en-US" sz="1600" dirty="0"/>
          </a:p>
        </p:txBody>
      </p:sp>
      <p:sp>
        <p:nvSpPr>
          <p:cNvPr id="28" name="Text 26"/>
          <p:cNvSpPr txBox="1"/>
          <p:nvPr/>
        </p:nvSpPr>
        <p:spPr>
          <a:xfrm>
            <a:off x="5135910" y="4828032"/>
            <a:ext cx="2514600" cy="365760"/>
          </a:xfrm>
          <a:prstGeom prst="rect">
            <a:avLst/>
          </a:prstGeom>
          <a:noFill/>
          <a:ln/>
        </p:spPr>
        <p:txBody>
          <a:bodyPr wrap="square" lIns="0" tIns="0" rIns="0" bIns="0" rtlCol="0" anchor="ctr"/>
          <a:lstStyle/>
          <a:p>
            <a:pPr indent="0" marL="0">
              <a:buNone/>
            </a:pPr>
            <a:r>
              <a:rPr lang="en-US" sz="1600" dirty="0">
                <a:solidFill>
                  <a:srgbClr val="435466"/>
                </a:solidFill>
                <a:latin typeface="Inter" pitchFamily="34" charset="0"/>
                <a:ea typeface="Inter" pitchFamily="34" charset="-122"/>
                <a:cs typeface="Inter" pitchFamily="34" charset="-120"/>
              </a:rPr>
              <a:t>Easy to understand</a:t>
            </a:r>
            <a:endParaRPr lang="en-US" sz="1600" dirty="0"/>
          </a:p>
        </p:txBody>
      </p:sp>
      <p:sp>
        <p:nvSpPr>
          <p:cNvPr id="29" name="Text 27"/>
          <p:cNvSpPr txBox="1"/>
          <p:nvPr/>
        </p:nvSpPr>
        <p:spPr>
          <a:xfrm>
            <a:off x="4678710" y="5303520"/>
            <a:ext cx="329184" cy="329184"/>
          </a:xfrm>
          <a:prstGeom prst="roundRect">
            <a:avLst>
              <a:gd name="adj" fmla="val 50000"/>
            </a:avLst>
          </a:prstGeom>
          <a:solidFill>
            <a:srgbClr val="F4E4DE"/>
          </a:solidFill>
          <a:ln w="15875">
            <a:solidFill>
              <a:srgbClr val="C98F7D"/>
            </a:solidFill>
          </a:ln>
        </p:spPr>
        <p:txBody>
          <a:bodyPr wrap="square" lIns="0" tIns="0" rIns="0" bIns="0" rtlCol="0" anchor="ctr"/>
          <a:lstStyle/>
          <a:p>
            <a:pPr algn="ctr" indent="0" marL="0">
              <a:buNone/>
            </a:pPr>
            <a:r>
              <a:rPr lang="en-US" sz="1600" b="1" dirty="0">
                <a:solidFill>
                  <a:srgbClr val="435466"/>
                </a:solidFill>
                <a:latin typeface="Inter" pitchFamily="34" charset="0"/>
                <a:ea typeface="Inter" pitchFamily="34" charset="-122"/>
                <a:cs typeface="Inter" pitchFamily="34" charset="-120"/>
              </a:rPr>
              <a:t>–</a:t>
            </a:r>
            <a:endParaRPr lang="en-US" sz="1600" dirty="0"/>
          </a:p>
        </p:txBody>
      </p:sp>
      <p:sp>
        <p:nvSpPr>
          <p:cNvPr id="30" name="Text 28"/>
          <p:cNvSpPr txBox="1"/>
          <p:nvPr/>
        </p:nvSpPr>
        <p:spPr>
          <a:xfrm>
            <a:off x="5135910" y="5285232"/>
            <a:ext cx="2514600" cy="365760"/>
          </a:xfrm>
          <a:prstGeom prst="rect">
            <a:avLst/>
          </a:prstGeom>
          <a:noFill/>
          <a:ln/>
        </p:spPr>
        <p:txBody>
          <a:bodyPr wrap="square" lIns="0" tIns="0" rIns="0" bIns="0" rtlCol="0" anchor="ctr"/>
          <a:lstStyle/>
          <a:p>
            <a:pPr indent="0" marL="0">
              <a:buNone/>
            </a:pPr>
            <a:r>
              <a:rPr lang="en-US" sz="1600" dirty="0">
                <a:solidFill>
                  <a:srgbClr val="435466"/>
                </a:solidFill>
                <a:latin typeface="Inter" pitchFamily="34" charset="0"/>
                <a:ea typeface="Inter" pitchFamily="34" charset="-122"/>
                <a:cs typeface="Inter" pitchFamily="34" charset="-120"/>
              </a:rPr>
              <a:t>Stuck on new words</a:t>
            </a:r>
            <a:endParaRPr lang="en-US" sz="1600" dirty="0"/>
          </a:p>
        </p:txBody>
      </p:sp>
      <p:sp>
        <p:nvSpPr>
          <p:cNvPr id="31" name="Shape 29"/>
          <p:cNvSpPr/>
          <p:nvPr/>
        </p:nvSpPr>
        <p:spPr>
          <a:xfrm>
            <a:off x="8260141" y="1920240"/>
            <a:ext cx="3429000" cy="3886200"/>
          </a:xfrm>
          <a:prstGeom prst="roundRect">
            <a:avLst>
              <a:gd name="adj" fmla="val 4000"/>
            </a:avLst>
          </a:prstGeom>
          <a:solidFill>
            <a:srgbClr val="FFFFFF"/>
          </a:solidFill>
          <a:ln w="15875">
            <a:solidFill>
              <a:srgbClr val="D9E1E8"/>
            </a:solidFill>
            <a:prstDash val="solid"/>
          </a:ln>
          <a:effectLst>
            <a:outerShdw sx="100000" sy="100000" kx="0" ky="0" algn="bl" rotWithShape="0" blurRad="101600" dist="25400" dir="5400000">
              <a:srgbClr val="435466">
                <a:alpha val="8000"/>
              </a:srgbClr>
            </a:outerShdw>
          </a:effectLst>
        </p:spPr>
      </p:sp>
      <p:sp>
        <p:nvSpPr>
          <p:cNvPr id="32" name="Text 30"/>
          <p:cNvSpPr txBox="1"/>
          <p:nvPr/>
        </p:nvSpPr>
        <p:spPr>
          <a:xfrm>
            <a:off x="8488741" y="2148840"/>
            <a:ext cx="2971800" cy="685800"/>
          </a:xfrm>
          <a:prstGeom prst="rect">
            <a:avLst/>
          </a:prstGeom>
          <a:noFill/>
          <a:ln/>
        </p:spPr>
        <p:txBody>
          <a:bodyPr wrap="square" lIns="0" tIns="0" rIns="0" bIns="0" rtlCol="0" anchor="t"/>
          <a:lstStyle/>
          <a:p>
            <a:pPr indent="0" marL="0">
              <a:buNone/>
            </a:pPr>
            <a:r>
              <a:rPr lang="en-US" sz="2000" b="1" dirty="0">
                <a:solidFill>
                  <a:srgbClr val="435466"/>
                </a:solidFill>
                <a:latin typeface="Inter" pitchFamily="34" charset="0"/>
                <a:ea typeface="Inter" pitchFamily="34" charset="-122"/>
                <a:cs typeface="Inter" pitchFamily="34" charset="-120"/>
              </a:rPr>
              <a:t>Byte Pair Encoding (BPE) tokenizer</a:t>
            </a:r>
            <a:endParaRPr lang="en-US" sz="2000" dirty="0"/>
          </a:p>
        </p:txBody>
      </p:sp>
      <p:sp>
        <p:nvSpPr>
          <p:cNvPr id="33" name="Text 31"/>
          <p:cNvSpPr txBox="1"/>
          <p:nvPr/>
        </p:nvSpPr>
        <p:spPr>
          <a:xfrm>
            <a:off x="8488741" y="2834640"/>
            <a:ext cx="2971800" cy="777240"/>
          </a:xfrm>
          <a:prstGeom prst="rect">
            <a:avLst/>
          </a:prstGeom>
          <a:noFill/>
          <a:ln/>
        </p:spPr>
        <p:txBody>
          <a:bodyPr wrap="square" lIns="0" tIns="0" rIns="0" bIns="0" rtlCol="0" anchor="t"/>
          <a:lstStyle/>
          <a:p>
            <a:pPr indent="0" marL="0">
              <a:buNone/>
            </a:pPr>
            <a:r>
              <a:rPr lang="en-US" sz="1500" dirty="0">
                <a:solidFill>
                  <a:srgbClr val="66768A"/>
                </a:solidFill>
                <a:latin typeface="Inter" pitchFamily="34" charset="0"/>
                <a:ea typeface="Inter" pitchFamily="34" charset="-122"/>
                <a:cs typeface="Inter" pitchFamily="34" charset="-120"/>
              </a:rPr>
              <a:t>Common word pieces are tokens. It learns them from lots of text.</a:t>
            </a:r>
            <a:endParaRPr lang="en-US" sz="1500" dirty="0"/>
          </a:p>
        </p:txBody>
      </p:sp>
      <p:sp>
        <p:nvSpPr>
          <p:cNvPr id="34" name="Text 32"/>
          <p:cNvSpPr txBox="1"/>
          <p:nvPr/>
        </p:nvSpPr>
        <p:spPr>
          <a:xfrm>
            <a:off x="8488741" y="3749040"/>
            <a:ext cx="1417320" cy="502920"/>
          </a:xfrm>
          <a:prstGeom prst="roundRect">
            <a:avLst>
              <a:gd name="adj" fmla="val 18182"/>
            </a:avLst>
          </a:prstGeom>
          <a:solidFill>
            <a:srgbClr val="E8EFF7"/>
          </a:solidFill>
          <a:ln w="15875">
            <a:solidFill>
              <a:srgbClr val="A9C0D8"/>
            </a:solidFill>
          </a:ln>
        </p:spPr>
        <p:txBody>
          <a:bodyPr wrap="square" lIns="0" tIns="0" rIns="0" bIns="0" rtlCol="0" anchor="ctr"/>
          <a:lstStyle/>
          <a:p>
            <a:pPr algn="ctr" indent="0" marL="0">
              <a:buNone/>
            </a:pPr>
            <a:r>
              <a:rPr lang="en-US" sz="1700" dirty="0">
                <a:solidFill>
                  <a:srgbClr val="435466"/>
                </a:solidFill>
                <a:latin typeface="Inter" pitchFamily="34" charset="0"/>
                <a:ea typeface="Inter" pitchFamily="34" charset="-122"/>
                <a:cs typeface="Inter" pitchFamily="34" charset="-120"/>
              </a:rPr>
              <a:t>sun</a:t>
            </a:r>
            <a:endParaRPr lang="en-US" sz="1700" dirty="0"/>
          </a:p>
        </p:txBody>
      </p:sp>
      <p:sp>
        <p:nvSpPr>
          <p:cNvPr id="35" name="Text 33"/>
          <p:cNvSpPr txBox="1"/>
          <p:nvPr/>
        </p:nvSpPr>
        <p:spPr>
          <a:xfrm>
            <a:off x="10043221" y="3749040"/>
            <a:ext cx="1417320" cy="502920"/>
          </a:xfrm>
          <a:prstGeom prst="roundRect">
            <a:avLst>
              <a:gd name="adj" fmla="val 18182"/>
            </a:avLst>
          </a:prstGeom>
          <a:solidFill>
            <a:srgbClr val="E8EFF7"/>
          </a:solidFill>
          <a:ln w="15875">
            <a:solidFill>
              <a:srgbClr val="A9C0D8"/>
            </a:solidFill>
          </a:ln>
        </p:spPr>
        <p:txBody>
          <a:bodyPr wrap="square" lIns="0" tIns="0" rIns="0" bIns="0" rtlCol="0" anchor="ctr"/>
          <a:lstStyle/>
          <a:p>
            <a:pPr algn="ctr" indent="0" marL="0">
              <a:buNone/>
            </a:pPr>
            <a:r>
              <a:rPr lang="en-US" sz="1700" dirty="0">
                <a:solidFill>
                  <a:srgbClr val="435466"/>
                </a:solidFill>
                <a:latin typeface="Inter" pitchFamily="34" charset="0"/>
                <a:ea typeface="Inter" pitchFamily="34" charset="-122"/>
                <a:cs typeface="Inter" pitchFamily="34" charset="-120"/>
              </a:rPr>
              <a:t>light</a:t>
            </a:r>
            <a:endParaRPr lang="en-US" sz="1700" dirty="0"/>
          </a:p>
        </p:txBody>
      </p:sp>
      <p:sp>
        <p:nvSpPr>
          <p:cNvPr id="36" name="Text 34"/>
          <p:cNvSpPr txBox="1"/>
          <p:nvPr/>
        </p:nvSpPr>
        <p:spPr>
          <a:xfrm>
            <a:off x="8488741" y="4343400"/>
            <a:ext cx="2971800" cy="274320"/>
          </a:xfrm>
          <a:prstGeom prst="rect">
            <a:avLst/>
          </a:prstGeom>
          <a:noFill/>
          <a:ln/>
        </p:spPr>
        <p:txBody>
          <a:bodyPr wrap="square" lIns="0" tIns="0" rIns="0" bIns="0" rtlCol="0" anchor="t"/>
          <a:lstStyle/>
          <a:p>
            <a:pPr algn="ctr" indent="0" marL="0">
              <a:buNone/>
            </a:pPr>
            <a:r>
              <a:rPr lang="en-US" sz="1300" b="1" dirty="0">
                <a:solidFill>
                  <a:srgbClr val="66768A"/>
                </a:solidFill>
                <a:latin typeface="Inter" pitchFamily="34" charset="0"/>
                <a:ea typeface="Inter" pitchFamily="34" charset="-122"/>
                <a:cs typeface="Inter" pitchFamily="34" charset="-120"/>
              </a:rPr>
              <a:t>2 tokens</a:t>
            </a:r>
            <a:endParaRPr lang="en-US" sz="1300" dirty="0"/>
          </a:p>
        </p:txBody>
      </p:sp>
      <p:sp>
        <p:nvSpPr>
          <p:cNvPr id="37" name="Text 35"/>
          <p:cNvSpPr txBox="1"/>
          <p:nvPr/>
        </p:nvSpPr>
        <p:spPr>
          <a:xfrm>
            <a:off x="8488741" y="4846320"/>
            <a:ext cx="329184" cy="329184"/>
          </a:xfrm>
          <a:prstGeom prst="roundRect">
            <a:avLst>
              <a:gd name="adj" fmla="val 50000"/>
            </a:avLst>
          </a:prstGeom>
          <a:solidFill>
            <a:srgbClr val="E4ECE7"/>
          </a:solidFill>
          <a:ln w="15875">
            <a:solidFill>
              <a:srgbClr val="8FA99B"/>
            </a:solidFill>
          </a:ln>
        </p:spPr>
        <p:txBody>
          <a:bodyPr wrap="square" lIns="0" tIns="0" rIns="0" bIns="0" rtlCol="0" anchor="ctr"/>
          <a:lstStyle/>
          <a:p>
            <a:pPr algn="ctr" indent="0" marL="0">
              <a:buNone/>
            </a:pPr>
            <a:r>
              <a:rPr lang="en-US" sz="1600" b="1" dirty="0">
                <a:solidFill>
                  <a:srgbClr val="435466"/>
                </a:solidFill>
                <a:latin typeface="Inter" pitchFamily="34" charset="0"/>
                <a:ea typeface="Inter" pitchFamily="34" charset="-122"/>
                <a:cs typeface="Inter" pitchFamily="34" charset="-120"/>
              </a:rPr>
              <a:t>+</a:t>
            </a:r>
            <a:endParaRPr lang="en-US" sz="1600" dirty="0"/>
          </a:p>
        </p:txBody>
      </p:sp>
      <p:sp>
        <p:nvSpPr>
          <p:cNvPr id="38" name="Text 36"/>
          <p:cNvSpPr txBox="1"/>
          <p:nvPr/>
        </p:nvSpPr>
        <p:spPr>
          <a:xfrm>
            <a:off x="8945941" y="4828032"/>
            <a:ext cx="2514600" cy="365760"/>
          </a:xfrm>
          <a:prstGeom prst="rect">
            <a:avLst/>
          </a:prstGeom>
          <a:noFill/>
          <a:ln/>
        </p:spPr>
        <p:txBody>
          <a:bodyPr wrap="square" lIns="0" tIns="0" rIns="0" bIns="0" rtlCol="0" anchor="ctr"/>
          <a:lstStyle/>
          <a:p>
            <a:pPr indent="0" marL="0">
              <a:buNone/>
            </a:pPr>
            <a:r>
              <a:rPr lang="en-US" sz="1600" dirty="0">
                <a:solidFill>
                  <a:srgbClr val="435466"/>
                </a:solidFill>
                <a:latin typeface="Inter" pitchFamily="34" charset="0"/>
                <a:ea typeface="Inter" pitchFamily="34" charset="-122"/>
                <a:cs typeface="Inter" pitchFamily="34" charset="-120"/>
              </a:rPr>
              <a:t>Handles new words</a:t>
            </a:r>
            <a:endParaRPr lang="en-US" sz="1600" dirty="0"/>
          </a:p>
        </p:txBody>
      </p:sp>
      <p:sp>
        <p:nvSpPr>
          <p:cNvPr id="39" name="Text 37"/>
          <p:cNvSpPr txBox="1"/>
          <p:nvPr/>
        </p:nvSpPr>
        <p:spPr>
          <a:xfrm>
            <a:off x="8488741" y="5303520"/>
            <a:ext cx="329184" cy="329184"/>
          </a:xfrm>
          <a:prstGeom prst="roundRect">
            <a:avLst>
              <a:gd name="adj" fmla="val 50000"/>
            </a:avLst>
          </a:prstGeom>
          <a:solidFill>
            <a:srgbClr val="E4ECE7"/>
          </a:solidFill>
          <a:ln w="15875">
            <a:solidFill>
              <a:srgbClr val="8FA99B"/>
            </a:solidFill>
          </a:ln>
        </p:spPr>
        <p:txBody>
          <a:bodyPr wrap="square" lIns="0" tIns="0" rIns="0" bIns="0" rtlCol="0" anchor="ctr"/>
          <a:lstStyle/>
          <a:p>
            <a:pPr algn="ctr" indent="0" marL="0">
              <a:buNone/>
            </a:pPr>
            <a:r>
              <a:rPr lang="en-US" sz="1600" b="1" dirty="0">
                <a:solidFill>
                  <a:srgbClr val="435466"/>
                </a:solidFill>
                <a:latin typeface="Inter" pitchFamily="34" charset="0"/>
                <a:ea typeface="Inter" pitchFamily="34" charset="-122"/>
                <a:cs typeface="Inter" pitchFamily="34" charset="-120"/>
              </a:rPr>
              <a:t>+</a:t>
            </a:r>
            <a:endParaRPr lang="en-US" sz="1600" dirty="0"/>
          </a:p>
        </p:txBody>
      </p:sp>
      <p:sp>
        <p:nvSpPr>
          <p:cNvPr id="40" name="Text 38"/>
          <p:cNvSpPr txBox="1"/>
          <p:nvPr/>
        </p:nvSpPr>
        <p:spPr>
          <a:xfrm>
            <a:off x="8945941" y="5285232"/>
            <a:ext cx="2514600" cy="365760"/>
          </a:xfrm>
          <a:prstGeom prst="rect">
            <a:avLst/>
          </a:prstGeom>
          <a:noFill/>
          <a:ln/>
        </p:spPr>
        <p:txBody>
          <a:bodyPr wrap="square" lIns="0" tIns="0" rIns="0" bIns="0" rtlCol="0" anchor="ctr"/>
          <a:lstStyle/>
          <a:p>
            <a:pPr indent="0" marL="0">
              <a:buNone/>
            </a:pPr>
            <a:r>
              <a:rPr lang="en-US" sz="1600" dirty="0">
                <a:solidFill>
                  <a:srgbClr val="435466"/>
                </a:solidFill>
                <a:latin typeface="Inter" pitchFamily="34" charset="0"/>
                <a:ea typeface="Inter" pitchFamily="34" charset="-122"/>
                <a:cs typeface="Inter" pitchFamily="34" charset="-120"/>
              </a:rPr>
              <a:t>Keeps token count low</a:t>
            </a:r>
            <a:endParaRPr lang="en-US" sz="1600" dirty="0"/>
          </a:p>
        </p:txBody>
      </p:sp>
      <p:sp>
        <p:nvSpPr>
          <p:cNvPr id="41" name="Text 39"/>
          <p:cNvSpPr txBox="1"/>
          <p:nvPr/>
        </p:nvSpPr>
        <p:spPr>
          <a:xfrm>
            <a:off x="640080" y="5943600"/>
            <a:ext cx="10881360" cy="502920"/>
          </a:xfrm>
          <a:prstGeom prst="rect">
            <a:avLst/>
          </a:prstGeom>
          <a:noFill/>
          <a:ln/>
        </p:spPr>
        <p:txBody>
          <a:bodyPr wrap="square" lIns="0" tIns="0" rIns="0" bIns="0" rtlCol="0" anchor="t"/>
          <a:lstStyle/>
          <a:p>
            <a:pPr indent="0" marL="0">
              <a:buNone/>
            </a:pPr>
            <a:r>
              <a:rPr lang="en-US" sz="1300" dirty="0">
                <a:solidFill>
                  <a:srgbClr val="66768A"/>
                </a:solidFill>
                <a:latin typeface="Inter" pitchFamily="34" charset="0"/>
                <a:ea typeface="Inter" pitchFamily="34" charset="-122"/>
                <a:cs typeface="Inter" pitchFamily="34" charset="-120"/>
              </a:rPr>
              <a:t>Note: exact BPE pieces depend on the tokenizer. GPT models use BPE.</a:t>
            </a:r>
            <a:endParaRPr lang="en-US" sz="1300" dirty="0"/>
          </a:p>
          <a:p>
            <a:pPr indent="0" marL="0">
              <a:buNone/>
            </a:pPr>
            <a:r>
              <a:rPr lang="en-US" sz="1300" dirty="0">
                <a:solidFill>
                  <a:srgbClr val="66768A"/>
                </a:solidFill>
                <a:latin typeface="Inter" pitchFamily="34" charset="0"/>
                <a:ea typeface="Inter" pitchFamily="34" charset="-122"/>
                <a:cs typeface="Inter" pitchFamily="34" charset="-120"/>
              </a:rPr>
              <a:t>Other subword tokenizers work in a similar way, such as WordPiece (used by BERT) and Unigram (used by T5).</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txBox="1"/>
          <p:nvPr/>
        </p:nvSpPr>
        <p:spPr>
          <a:xfrm>
            <a:off x="11155680" y="6446520"/>
            <a:ext cx="548640" cy="228600"/>
          </a:xfrm>
          <a:prstGeom prst="rect">
            <a:avLst/>
          </a:prstGeom>
          <a:noFill/>
          <a:ln/>
        </p:spPr>
        <p:txBody>
          <a:bodyPr wrap="square" lIns="0" tIns="0" rIns="0" bIns="0" rtlCol="0" anchor="ctr"/>
          <a:lstStyle/>
          <a:p>
            <a:pPr algn="r" indent="0" marL="0">
              <a:buNone/>
            </a:pPr>
            <a:r>
              <a:rPr lang="en-US" sz="1100" dirty="0">
                <a:solidFill>
                  <a:srgbClr val="66768A"/>
                </a:solidFill>
                <a:latin typeface="Inter" pitchFamily="34" charset="0"/>
                <a:ea typeface="Inter" pitchFamily="34" charset="-122"/>
                <a:cs typeface="Inter" pitchFamily="34" charset="-120"/>
              </a:rPr>
              <a:t>5</a:t>
            </a:r>
            <a:endParaRPr lang="en-US" sz="1100" dirty="0"/>
          </a:p>
        </p:txBody>
      </p:sp>
      <p:sp>
        <p:nvSpPr>
          <p:cNvPr id="3" name="Text 1"/>
          <p:cNvSpPr txBox="1"/>
          <p:nvPr/>
        </p:nvSpPr>
        <p:spPr>
          <a:xfrm>
            <a:off x="640080" y="411480"/>
            <a:ext cx="10881360" cy="731520"/>
          </a:xfrm>
          <a:prstGeom prst="rect">
            <a:avLst/>
          </a:prstGeom>
          <a:noFill/>
          <a:ln/>
        </p:spPr>
        <p:txBody>
          <a:bodyPr wrap="square" lIns="0" tIns="0" rIns="0" bIns="0" rtlCol="0" anchor="ctr"/>
          <a:lstStyle/>
          <a:p>
            <a:pPr indent="0" marL="0">
              <a:buNone/>
            </a:pPr>
            <a:r>
              <a:rPr lang="en-US" sz="3600" b="1" dirty="0">
                <a:solidFill>
                  <a:srgbClr val="435466"/>
                </a:solidFill>
                <a:latin typeface="Inter" pitchFamily="34" charset="0"/>
                <a:ea typeface="Inter" pitchFamily="34" charset="-122"/>
                <a:cs typeface="Inter" pitchFamily="34" charset="-120"/>
              </a:rPr>
              <a:t>Vocabulary and unknown tokens</a:t>
            </a:r>
            <a:endParaRPr lang="en-US" sz="3600" dirty="0"/>
          </a:p>
        </p:txBody>
      </p:sp>
      <p:sp>
        <p:nvSpPr>
          <p:cNvPr id="4" name="Text 2"/>
          <p:cNvSpPr txBox="1"/>
          <p:nvPr/>
        </p:nvSpPr>
        <p:spPr>
          <a:xfrm>
            <a:off x="640080" y="1097280"/>
            <a:ext cx="10881360" cy="320040"/>
          </a:xfrm>
          <a:prstGeom prst="rect">
            <a:avLst/>
          </a:prstGeom>
          <a:noFill/>
          <a:ln/>
        </p:spPr>
        <p:txBody>
          <a:bodyPr wrap="square" lIns="0" tIns="0" rIns="0" bIns="0" rtlCol="0" anchor="t"/>
          <a:lstStyle/>
          <a:p>
            <a:pPr indent="0" marL="0">
              <a:buNone/>
            </a:pPr>
            <a:r>
              <a:rPr lang="en-US" sz="1600" dirty="0">
                <a:solidFill>
                  <a:srgbClr val="66768A"/>
                </a:solidFill>
                <a:latin typeface="Inter" pitchFamily="34" charset="0"/>
                <a:ea typeface="Inter" pitchFamily="34" charset="-122"/>
                <a:cs typeface="Inter" pitchFamily="34" charset="-120"/>
              </a:rPr>
              <a:t>A vocabulary is a lookup list. Each text piece has its own ID.</a:t>
            </a:r>
            <a:endParaRPr lang="en-US" sz="1600" dirty="0"/>
          </a:p>
        </p:txBody>
      </p:sp>
      <p:sp>
        <p:nvSpPr>
          <p:cNvPr id="5" name="Shape 3"/>
          <p:cNvSpPr/>
          <p:nvPr/>
        </p:nvSpPr>
        <p:spPr>
          <a:xfrm>
            <a:off x="640080" y="1783080"/>
            <a:ext cx="5303520" cy="3977640"/>
          </a:xfrm>
          <a:prstGeom prst="roundRect">
            <a:avLst>
              <a:gd name="adj" fmla="val 3448"/>
            </a:avLst>
          </a:prstGeom>
          <a:solidFill>
            <a:srgbClr val="FFFFFF"/>
          </a:solidFill>
          <a:ln w="15875">
            <a:solidFill>
              <a:srgbClr val="D9E1E8"/>
            </a:solidFill>
            <a:prstDash val="solid"/>
          </a:ln>
          <a:effectLst>
            <a:outerShdw sx="100000" sy="100000" kx="0" ky="0" algn="bl" rotWithShape="0" blurRad="101600" dist="25400" dir="5400000">
              <a:srgbClr val="435466">
                <a:alpha val="8000"/>
              </a:srgbClr>
            </a:outerShdw>
          </a:effectLst>
        </p:spPr>
      </p:sp>
      <p:sp>
        <p:nvSpPr>
          <p:cNvPr id="6" name="Text 4"/>
          <p:cNvSpPr txBox="1"/>
          <p:nvPr/>
        </p:nvSpPr>
        <p:spPr>
          <a:xfrm>
            <a:off x="1005840" y="2057400"/>
            <a:ext cx="4572000" cy="457200"/>
          </a:xfrm>
          <a:prstGeom prst="rect">
            <a:avLst/>
          </a:prstGeom>
          <a:noFill/>
          <a:ln/>
        </p:spPr>
        <p:txBody>
          <a:bodyPr wrap="square" lIns="0" tIns="0" rIns="0" bIns="0" rtlCol="0" anchor="ctr"/>
          <a:lstStyle/>
          <a:p>
            <a:pPr indent="0" marL="0">
              <a:buNone/>
            </a:pPr>
            <a:r>
              <a:rPr lang="en-US" sz="2200" b="1" dirty="0">
                <a:solidFill>
                  <a:srgbClr val="435466"/>
                </a:solidFill>
                <a:latin typeface="Inter" pitchFamily="34" charset="0"/>
                <a:ea typeface="Inter" pitchFamily="34" charset="-122"/>
                <a:cs typeface="Inter" pitchFamily="34" charset="-120"/>
              </a:rPr>
              <a:t>Vocabulary</a:t>
            </a:r>
            <a:endParaRPr lang="en-US" sz="2200" dirty="0"/>
          </a:p>
        </p:txBody>
      </p:sp>
      <p:sp>
        <p:nvSpPr>
          <p:cNvPr id="7" name="Text 5"/>
          <p:cNvSpPr txBox="1"/>
          <p:nvPr/>
        </p:nvSpPr>
        <p:spPr>
          <a:xfrm>
            <a:off x="1097280" y="2788920"/>
            <a:ext cx="2194560" cy="566928"/>
          </a:xfrm>
          <a:prstGeom prst="roundRect">
            <a:avLst>
              <a:gd name="adj" fmla="val 16129"/>
            </a:avLst>
          </a:prstGeom>
          <a:solidFill>
            <a:srgbClr val="E4ECE7"/>
          </a:solidFill>
          <a:ln w="15875">
            <a:solidFill>
              <a:srgbClr val="8FA99B"/>
            </a:solidFill>
          </a:ln>
        </p:spPr>
        <p:txBody>
          <a:bodyPr wrap="square" lIns="0" tIns="0" rIns="0" bIns="0" rtlCol="0" anchor="ctr"/>
          <a:lstStyle/>
          <a:p>
            <a:pPr algn="ctr" indent="0" marL="0">
              <a:buNone/>
            </a:pPr>
            <a:r>
              <a:rPr lang="en-US" sz="2000" dirty="0">
                <a:solidFill>
                  <a:srgbClr val="435466"/>
                </a:solidFill>
                <a:latin typeface="Inter" pitchFamily="34" charset="0"/>
                <a:ea typeface="Inter" pitchFamily="34" charset="-122"/>
                <a:cs typeface="Inter" pitchFamily="34" charset="-120"/>
              </a:rPr>
              <a:t>"rain"</a:t>
            </a:r>
            <a:endParaRPr lang="en-US" sz="2000" dirty="0"/>
          </a:p>
        </p:txBody>
      </p:sp>
      <p:sp>
        <p:nvSpPr>
          <p:cNvPr id="8" name="Shape 6"/>
          <p:cNvSpPr/>
          <p:nvPr/>
        </p:nvSpPr>
        <p:spPr>
          <a:xfrm>
            <a:off x="3429000" y="3072384"/>
            <a:ext cx="640080" cy="0"/>
          </a:xfrm>
          <a:prstGeom prst="line">
            <a:avLst/>
          </a:prstGeom>
          <a:noFill/>
          <a:ln w="31750">
            <a:solidFill>
              <a:srgbClr val="A9C0D8"/>
            </a:solidFill>
            <a:prstDash val="solid"/>
            <a:tailEnd type="triangle"/>
          </a:ln>
        </p:spPr>
      </p:sp>
      <p:sp>
        <p:nvSpPr>
          <p:cNvPr id="9" name="Text 7"/>
          <p:cNvSpPr txBox="1"/>
          <p:nvPr/>
        </p:nvSpPr>
        <p:spPr>
          <a:xfrm>
            <a:off x="4206240" y="2788920"/>
            <a:ext cx="1097280" cy="566928"/>
          </a:xfrm>
          <a:prstGeom prst="roundRect">
            <a:avLst>
              <a:gd name="adj" fmla="val 16129"/>
            </a:avLst>
          </a:prstGeom>
          <a:solidFill>
            <a:srgbClr val="E8EFF7"/>
          </a:solidFill>
          <a:ln w="15875">
            <a:solidFill>
              <a:srgbClr val="A9C0D8"/>
            </a:solidFill>
          </a:ln>
        </p:spPr>
        <p:txBody>
          <a:bodyPr wrap="square" lIns="0" tIns="0" rIns="0" bIns="0" rtlCol="0" anchor="ctr"/>
          <a:lstStyle/>
          <a:p>
            <a:pPr algn="ctr" indent="0" marL="0">
              <a:buNone/>
            </a:pPr>
            <a:r>
              <a:rPr lang="en-US" sz="2000" b="1" dirty="0">
                <a:solidFill>
                  <a:srgbClr val="435466"/>
                </a:solidFill>
                <a:latin typeface="Inter" pitchFamily="34" charset="0"/>
                <a:ea typeface="Inter" pitchFamily="34" charset="-122"/>
                <a:cs typeface="Inter" pitchFamily="34" charset="-120"/>
              </a:rPr>
              <a:t>1</a:t>
            </a:r>
            <a:endParaRPr lang="en-US" sz="2000" dirty="0"/>
          </a:p>
        </p:txBody>
      </p:sp>
      <p:sp>
        <p:nvSpPr>
          <p:cNvPr id="10" name="Text 8"/>
          <p:cNvSpPr txBox="1"/>
          <p:nvPr/>
        </p:nvSpPr>
        <p:spPr>
          <a:xfrm>
            <a:off x="1097280" y="3566160"/>
            <a:ext cx="2194560" cy="566928"/>
          </a:xfrm>
          <a:prstGeom prst="roundRect">
            <a:avLst>
              <a:gd name="adj" fmla="val 16129"/>
            </a:avLst>
          </a:prstGeom>
          <a:solidFill>
            <a:srgbClr val="E4ECE7"/>
          </a:solidFill>
          <a:ln w="15875">
            <a:solidFill>
              <a:srgbClr val="8FA99B"/>
            </a:solidFill>
          </a:ln>
        </p:spPr>
        <p:txBody>
          <a:bodyPr wrap="square" lIns="0" tIns="0" rIns="0" bIns="0" rtlCol="0" anchor="ctr"/>
          <a:lstStyle/>
          <a:p>
            <a:pPr algn="ctr" indent="0" marL="0">
              <a:buNone/>
            </a:pPr>
            <a:r>
              <a:rPr lang="en-US" sz="2000" dirty="0">
                <a:solidFill>
                  <a:srgbClr val="435466"/>
                </a:solidFill>
                <a:latin typeface="Inter" pitchFamily="34" charset="0"/>
                <a:ea typeface="Inter" pitchFamily="34" charset="-122"/>
                <a:cs typeface="Inter" pitchFamily="34" charset="-120"/>
              </a:rPr>
              <a:t>"falls"</a:t>
            </a:r>
            <a:endParaRPr lang="en-US" sz="2000" dirty="0"/>
          </a:p>
        </p:txBody>
      </p:sp>
      <p:sp>
        <p:nvSpPr>
          <p:cNvPr id="11" name="Shape 9"/>
          <p:cNvSpPr/>
          <p:nvPr/>
        </p:nvSpPr>
        <p:spPr>
          <a:xfrm>
            <a:off x="3429000" y="3849624"/>
            <a:ext cx="640080" cy="0"/>
          </a:xfrm>
          <a:prstGeom prst="line">
            <a:avLst/>
          </a:prstGeom>
          <a:noFill/>
          <a:ln w="31750">
            <a:solidFill>
              <a:srgbClr val="A9C0D8"/>
            </a:solidFill>
            <a:prstDash val="solid"/>
            <a:tailEnd type="triangle"/>
          </a:ln>
        </p:spPr>
      </p:sp>
      <p:sp>
        <p:nvSpPr>
          <p:cNvPr id="12" name="Text 10"/>
          <p:cNvSpPr txBox="1"/>
          <p:nvPr/>
        </p:nvSpPr>
        <p:spPr>
          <a:xfrm>
            <a:off x="4206240" y="3566160"/>
            <a:ext cx="1097280" cy="566928"/>
          </a:xfrm>
          <a:prstGeom prst="roundRect">
            <a:avLst>
              <a:gd name="adj" fmla="val 16129"/>
            </a:avLst>
          </a:prstGeom>
          <a:solidFill>
            <a:srgbClr val="E8EFF7"/>
          </a:solidFill>
          <a:ln w="15875">
            <a:solidFill>
              <a:srgbClr val="A9C0D8"/>
            </a:solidFill>
          </a:ln>
        </p:spPr>
        <p:txBody>
          <a:bodyPr wrap="square" lIns="0" tIns="0" rIns="0" bIns="0" rtlCol="0" anchor="ctr"/>
          <a:lstStyle/>
          <a:p>
            <a:pPr algn="ctr" indent="0" marL="0">
              <a:buNone/>
            </a:pPr>
            <a:r>
              <a:rPr lang="en-US" sz="2000" b="1" dirty="0">
                <a:solidFill>
                  <a:srgbClr val="435466"/>
                </a:solidFill>
                <a:latin typeface="Inter" pitchFamily="34" charset="0"/>
                <a:ea typeface="Inter" pitchFamily="34" charset="-122"/>
                <a:cs typeface="Inter" pitchFamily="34" charset="-120"/>
              </a:rPr>
              <a:t>2</a:t>
            </a:r>
            <a:endParaRPr lang="en-US" sz="2000" dirty="0"/>
          </a:p>
        </p:txBody>
      </p:sp>
      <p:sp>
        <p:nvSpPr>
          <p:cNvPr id="13" name="Text 11"/>
          <p:cNvSpPr txBox="1"/>
          <p:nvPr/>
        </p:nvSpPr>
        <p:spPr>
          <a:xfrm>
            <a:off x="1097280" y="4343400"/>
            <a:ext cx="2194560" cy="566928"/>
          </a:xfrm>
          <a:prstGeom prst="roundRect">
            <a:avLst>
              <a:gd name="adj" fmla="val 16129"/>
            </a:avLst>
          </a:prstGeom>
          <a:solidFill>
            <a:srgbClr val="F4E4DE"/>
          </a:solidFill>
          <a:ln w="15875">
            <a:solidFill>
              <a:srgbClr val="C98F7D"/>
            </a:solidFill>
          </a:ln>
        </p:spPr>
        <p:txBody>
          <a:bodyPr wrap="square" lIns="0" tIns="0" rIns="0" bIns="0" rtlCol="0" anchor="ctr"/>
          <a:lstStyle/>
          <a:p>
            <a:pPr algn="ctr" indent="0" marL="0">
              <a:buNone/>
            </a:pPr>
            <a:r>
              <a:rPr lang="en-US" sz="2000" dirty="0">
                <a:solidFill>
                  <a:srgbClr val="435466"/>
                </a:solidFill>
                <a:latin typeface="Inter" pitchFamily="34" charset="0"/>
                <a:ea typeface="Inter" pitchFamily="34" charset="-122"/>
                <a:cs typeface="Inter" pitchFamily="34" charset="-120"/>
              </a:rPr>
              <a:t>&lt;|unk|&gt;</a:t>
            </a:r>
            <a:endParaRPr lang="en-US" sz="2000" dirty="0"/>
          </a:p>
        </p:txBody>
      </p:sp>
      <p:sp>
        <p:nvSpPr>
          <p:cNvPr id="14" name="Shape 12"/>
          <p:cNvSpPr/>
          <p:nvPr/>
        </p:nvSpPr>
        <p:spPr>
          <a:xfrm>
            <a:off x="3429000" y="4626864"/>
            <a:ext cx="640080" cy="0"/>
          </a:xfrm>
          <a:prstGeom prst="line">
            <a:avLst/>
          </a:prstGeom>
          <a:noFill/>
          <a:ln w="31750">
            <a:solidFill>
              <a:srgbClr val="A9C0D8"/>
            </a:solidFill>
            <a:prstDash val="solid"/>
            <a:tailEnd type="triangle"/>
          </a:ln>
        </p:spPr>
      </p:sp>
      <p:sp>
        <p:nvSpPr>
          <p:cNvPr id="15" name="Text 13"/>
          <p:cNvSpPr txBox="1"/>
          <p:nvPr/>
        </p:nvSpPr>
        <p:spPr>
          <a:xfrm>
            <a:off x="4206240" y="4343400"/>
            <a:ext cx="1097280" cy="566928"/>
          </a:xfrm>
          <a:prstGeom prst="roundRect">
            <a:avLst>
              <a:gd name="adj" fmla="val 16129"/>
            </a:avLst>
          </a:prstGeom>
          <a:solidFill>
            <a:srgbClr val="F4E4DE"/>
          </a:solidFill>
          <a:ln w="15875">
            <a:solidFill>
              <a:srgbClr val="C98F7D"/>
            </a:solidFill>
          </a:ln>
        </p:spPr>
        <p:txBody>
          <a:bodyPr wrap="square" lIns="0" tIns="0" rIns="0" bIns="0" rtlCol="0" anchor="ctr"/>
          <a:lstStyle/>
          <a:p>
            <a:pPr algn="ctr" indent="0" marL="0">
              <a:buNone/>
            </a:pPr>
            <a:r>
              <a:rPr lang="en-US" sz="2000" b="1" dirty="0">
                <a:solidFill>
                  <a:srgbClr val="435466"/>
                </a:solidFill>
                <a:latin typeface="Inter" pitchFamily="34" charset="0"/>
                <a:ea typeface="Inter" pitchFamily="34" charset="-122"/>
                <a:cs typeface="Inter" pitchFamily="34" charset="-120"/>
              </a:rPr>
              <a:t>3</a:t>
            </a:r>
            <a:endParaRPr lang="en-US" sz="2000" dirty="0"/>
          </a:p>
        </p:txBody>
      </p:sp>
      <p:sp>
        <p:nvSpPr>
          <p:cNvPr id="16" name="Text 14"/>
          <p:cNvSpPr txBox="1"/>
          <p:nvPr/>
        </p:nvSpPr>
        <p:spPr>
          <a:xfrm>
            <a:off x="1005840" y="5212080"/>
            <a:ext cx="4572000" cy="365760"/>
          </a:xfrm>
          <a:prstGeom prst="rect">
            <a:avLst/>
          </a:prstGeom>
          <a:noFill/>
          <a:ln/>
        </p:spPr>
        <p:txBody>
          <a:bodyPr wrap="square" lIns="0" tIns="0" rIns="0" bIns="0" rtlCol="0" anchor="t"/>
          <a:lstStyle/>
          <a:p>
            <a:pPr indent="0" marL="0">
              <a:buNone/>
            </a:pPr>
            <a:r>
              <a:rPr lang="en-US" sz="1400" dirty="0">
                <a:solidFill>
                  <a:srgbClr val="66768A"/>
                </a:solidFill>
                <a:latin typeface="Inter" pitchFamily="34" charset="0"/>
                <a:ea typeface="Inter" pitchFamily="34" charset="-122"/>
                <a:cs typeface="Inter" pitchFamily="34" charset="-120"/>
              </a:rPr>
              <a:t>&lt;|unk|&gt; is a special token for unknown words.</a:t>
            </a:r>
            <a:endParaRPr lang="en-US" sz="1400" dirty="0"/>
          </a:p>
        </p:txBody>
      </p:sp>
      <p:sp>
        <p:nvSpPr>
          <p:cNvPr id="17" name="Text 15"/>
          <p:cNvSpPr txBox="1"/>
          <p:nvPr/>
        </p:nvSpPr>
        <p:spPr>
          <a:xfrm>
            <a:off x="7178040" y="2103120"/>
            <a:ext cx="3657600" cy="274320"/>
          </a:xfrm>
          <a:prstGeom prst="rect">
            <a:avLst/>
          </a:prstGeom>
          <a:noFill/>
          <a:ln/>
        </p:spPr>
        <p:txBody>
          <a:bodyPr wrap="square" lIns="0" tIns="0" rIns="0" bIns="0" rtlCol="0" anchor="t"/>
          <a:lstStyle/>
          <a:p>
            <a:pPr algn="ctr" indent="0" marL="0">
              <a:buNone/>
            </a:pPr>
            <a:r>
              <a:rPr lang="en-US" sz="1300" b="1" dirty="0">
                <a:solidFill>
                  <a:srgbClr val="66768A"/>
                </a:solidFill>
                <a:latin typeface="Inter" pitchFamily="34" charset="0"/>
                <a:ea typeface="Inter" pitchFamily="34" charset="-122"/>
                <a:cs typeface="Inter" pitchFamily="34" charset="-120"/>
              </a:rPr>
              <a:t>Input</a:t>
            </a:r>
            <a:endParaRPr lang="en-US" sz="1300" dirty="0"/>
          </a:p>
        </p:txBody>
      </p:sp>
      <p:sp>
        <p:nvSpPr>
          <p:cNvPr id="18" name="Text 16"/>
          <p:cNvSpPr txBox="1"/>
          <p:nvPr/>
        </p:nvSpPr>
        <p:spPr>
          <a:xfrm>
            <a:off x="7635240" y="2423160"/>
            <a:ext cx="2743200" cy="594360"/>
          </a:xfrm>
          <a:prstGeom prst="roundRect">
            <a:avLst>
              <a:gd name="adj" fmla="val 15385"/>
            </a:avLst>
          </a:prstGeom>
          <a:solidFill>
            <a:srgbClr val="E4ECE7"/>
          </a:solidFill>
          <a:ln w="15875">
            <a:solidFill>
              <a:srgbClr val="8FA99B"/>
            </a:solidFill>
          </a:ln>
        </p:spPr>
        <p:txBody>
          <a:bodyPr wrap="square" lIns="0" tIns="0" rIns="0" bIns="0" rtlCol="0" anchor="ctr"/>
          <a:lstStyle/>
          <a:p>
            <a:pPr algn="ctr" indent="0" marL="0">
              <a:buNone/>
            </a:pPr>
            <a:r>
              <a:rPr lang="en-US" sz="2000" dirty="0">
                <a:solidFill>
                  <a:srgbClr val="435466"/>
                </a:solidFill>
                <a:latin typeface="Inter" pitchFamily="34" charset="0"/>
                <a:ea typeface="Inter" pitchFamily="34" charset="-122"/>
                <a:cs typeface="Inter" pitchFamily="34" charset="-120"/>
              </a:rPr>
              <a:t>"rain shimmers"</a:t>
            </a:r>
            <a:endParaRPr lang="en-US" sz="2000" dirty="0"/>
          </a:p>
        </p:txBody>
      </p:sp>
      <p:sp>
        <p:nvSpPr>
          <p:cNvPr id="19" name="Shape 17"/>
          <p:cNvSpPr/>
          <p:nvPr/>
        </p:nvSpPr>
        <p:spPr>
          <a:xfrm>
            <a:off x="9006840" y="3127248"/>
            <a:ext cx="0" cy="457200"/>
          </a:xfrm>
          <a:prstGeom prst="line">
            <a:avLst/>
          </a:prstGeom>
          <a:noFill/>
          <a:ln w="31750">
            <a:solidFill>
              <a:srgbClr val="A9C0D8"/>
            </a:solidFill>
            <a:prstDash val="solid"/>
            <a:tailEnd type="triangle"/>
          </a:ln>
        </p:spPr>
      </p:sp>
      <p:sp>
        <p:nvSpPr>
          <p:cNvPr id="20" name="Text 18"/>
          <p:cNvSpPr txBox="1"/>
          <p:nvPr/>
        </p:nvSpPr>
        <p:spPr>
          <a:xfrm>
            <a:off x="7178040" y="3639312"/>
            <a:ext cx="3657600" cy="274320"/>
          </a:xfrm>
          <a:prstGeom prst="rect">
            <a:avLst/>
          </a:prstGeom>
          <a:noFill/>
          <a:ln/>
        </p:spPr>
        <p:txBody>
          <a:bodyPr wrap="square" lIns="0" tIns="0" rIns="0" bIns="0" rtlCol="0" anchor="t"/>
          <a:lstStyle/>
          <a:p>
            <a:pPr algn="ctr" indent="0" marL="0">
              <a:buNone/>
            </a:pPr>
            <a:r>
              <a:rPr lang="en-US" sz="1300" b="1" dirty="0">
                <a:solidFill>
                  <a:srgbClr val="66768A"/>
                </a:solidFill>
                <a:latin typeface="Inter" pitchFamily="34" charset="0"/>
                <a:ea typeface="Inter" pitchFamily="34" charset="-122"/>
                <a:cs typeface="Inter" pitchFamily="34" charset="-120"/>
              </a:rPr>
              <a:t>IDs</a:t>
            </a:r>
            <a:endParaRPr lang="en-US" sz="1300" dirty="0"/>
          </a:p>
        </p:txBody>
      </p:sp>
      <p:sp>
        <p:nvSpPr>
          <p:cNvPr id="21" name="Text 19"/>
          <p:cNvSpPr txBox="1"/>
          <p:nvPr/>
        </p:nvSpPr>
        <p:spPr>
          <a:xfrm>
            <a:off x="7818120" y="3959352"/>
            <a:ext cx="1097280" cy="594360"/>
          </a:xfrm>
          <a:prstGeom prst="roundRect">
            <a:avLst>
              <a:gd name="adj" fmla="val 15385"/>
            </a:avLst>
          </a:prstGeom>
          <a:solidFill>
            <a:srgbClr val="E8EFF7"/>
          </a:solidFill>
          <a:ln w="15875">
            <a:solidFill>
              <a:srgbClr val="A9C0D8"/>
            </a:solidFill>
          </a:ln>
        </p:spPr>
        <p:txBody>
          <a:bodyPr wrap="square" lIns="0" tIns="0" rIns="0" bIns="0" rtlCol="0" anchor="ctr"/>
          <a:lstStyle/>
          <a:p>
            <a:pPr algn="ctr" indent="0" marL="0">
              <a:buNone/>
            </a:pPr>
            <a:r>
              <a:rPr lang="en-US" sz="2000" b="1" dirty="0">
                <a:solidFill>
                  <a:srgbClr val="435466"/>
                </a:solidFill>
                <a:latin typeface="Inter" pitchFamily="34" charset="0"/>
                <a:ea typeface="Inter" pitchFamily="34" charset="-122"/>
                <a:cs typeface="Inter" pitchFamily="34" charset="-120"/>
              </a:rPr>
              <a:t>1</a:t>
            </a:r>
            <a:endParaRPr lang="en-US" sz="2000" dirty="0"/>
          </a:p>
        </p:txBody>
      </p:sp>
      <p:sp>
        <p:nvSpPr>
          <p:cNvPr id="22" name="Text 20"/>
          <p:cNvSpPr txBox="1"/>
          <p:nvPr/>
        </p:nvSpPr>
        <p:spPr>
          <a:xfrm>
            <a:off x="9098280" y="3959352"/>
            <a:ext cx="1097280" cy="594360"/>
          </a:xfrm>
          <a:prstGeom prst="roundRect">
            <a:avLst>
              <a:gd name="adj" fmla="val 15385"/>
            </a:avLst>
          </a:prstGeom>
          <a:solidFill>
            <a:srgbClr val="F4E4DE"/>
          </a:solidFill>
          <a:ln w="15875">
            <a:solidFill>
              <a:srgbClr val="C98F7D"/>
            </a:solidFill>
          </a:ln>
        </p:spPr>
        <p:txBody>
          <a:bodyPr wrap="square" lIns="0" tIns="0" rIns="0" bIns="0" rtlCol="0" anchor="ctr"/>
          <a:lstStyle/>
          <a:p>
            <a:pPr algn="ctr" indent="0" marL="0">
              <a:buNone/>
            </a:pPr>
            <a:r>
              <a:rPr lang="en-US" sz="2000" b="1" dirty="0">
                <a:solidFill>
                  <a:srgbClr val="435466"/>
                </a:solidFill>
                <a:latin typeface="Inter" pitchFamily="34" charset="0"/>
                <a:ea typeface="Inter" pitchFamily="34" charset="-122"/>
                <a:cs typeface="Inter" pitchFamily="34" charset="-120"/>
              </a:rPr>
              <a:t>3</a:t>
            </a:r>
            <a:endParaRPr lang="en-US" sz="2000" dirty="0"/>
          </a:p>
        </p:txBody>
      </p:sp>
      <p:sp>
        <p:nvSpPr>
          <p:cNvPr id="23" name="Text 21"/>
          <p:cNvSpPr txBox="1"/>
          <p:nvPr/>
        </p:nvSpPr>
        <p:spPr>
          <a:xfrm>
            <a:off x="6629400" y="4800600"/>
            <a:ext cx="4754880" cy="640080"/>
          </a:xfrm>
          <a:prstGeom prst="rect">
            <a:avLst/>
          </a:prstGeom>
          <a:noFill/>
          <a:ln/>
        </p:spPr>
        <p:txBody>
          <a:bodyPr wrap="square" lIns="0" tIns="0" rIns="0" bIns="0" rtlCol="0" anchor="t"/>
          <a:lstStyle/>
          <a:p>
            <a:pPr algn="ctr" indent="0" marL="0">
              <a:buNone/>
            </a:pPr>
            <a:r>
              <a:rPr lang="en-US" sz="1600" dirty="0">
                <a:solidFill>
                  <a:srgbClr val="66768A"/>
                </a:solidFill>
                <a:latin typeface="Inter" pitchFamily="34" charset="0"/>
                <a:ea typeface="Inter" pitchFamily="34" charset="-122"/>
                <a:cs typeface="Inter" pitchFamily="34" charset="-120"/>
              </a:rPr>
              <a:t>"shimmers" is not in the vocabulary, so it becomes &lt;|unk|&gt;.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txBox="1"/>
          <p:nvPr/>
        </p:nvSpPr>
        <p:spPr>
          <a:xfrm>
            <a:off x="11155680" y="6446520"/>
            <a:ext cx="548640" cy="228600"/>
          </a:xfrm>
          <a:prstGeom prst="rect">
            <a:avLst/>
          </a:prstGeom>
          <a:noFill/>
          <a:ln/>
        </p:spPr>
        <p:txBody>
          <a:bodyPr wrap="square" lIns="0" tIns="0" rIns="0" bIns="0" rtlCol="0" anchor="ctr"/>
          <a:lstStyle/>
          <a:p>
            <a:pPr algn="r" indent="0" marL="0">
              <a:buNone/>
            </a:pPr>
            <a:r>
              <a:rPr lang="en-US" sz="1100" dirty="0">
                <a:solidFill>
                  <a:srgbClr val="66768A"/>
                </a:solidFill>
                <a:latin typeface="Inter" pitchFamily="34" charset="0"/>
                <a:ea typeface="Inter" pitchFamily="34" charset="-122"/>
                <a:cs typeface="Inter" pitchFamily="34" charset="-120"/>
              </a:rPr>
              <a:t>6</a:t>
            </a:r>
            <a:endParaRPr lang="en-US" sz="1100" dirty="0"/>
          </a:p>
        </p:txBody>
      </p:sp>
      <p:sp>
        <p:nvSpPr>
          <p:cNvPr id="3" name="Text 1"/>
          <p:cNvSpPr txBox="1"/>
          <p:nvPr/>
        </p:nvSpPr>
        <p:spPr>
          <a:xfrm>
            <a:off x="640080" y="411480"/>
            <a:ext cx="10881360" cy="731520"/>
          </a:xfrm>
          <a:prstGeom prst="rect">
            <a:avLst/>
          </a:prstGeom>
          <a:noFill/>
          <a:ln/>
        </p:spPr>
        <p:txBody>
          <a:bodyPr wrap="square" lIns="0" tIns="0" rIns="0" bIns="0" rtlCol="0" anchor="ctr"/>
          <a:lstStyle/>
          <a:p>
            <a:pPr indent="0" marL="0">
              <a:buNone/>
            </a:pPr>
            <a:r>
              <a:rPr lang="en-US" sz="3600" b="1" dirty="0">
                <a:solidFill>
                  <a:srgbClr val="435466"/>
                </a:solidFill>
                <a:latin typeface="Inter" pitchFamily="34" charset="0"/>
                <a:ea typeface="Inter" pitchFamily="34" charset="-122"/>
                <a:cs typeface="Inter" pitchFamily="34" charset="-120"/>
              </a:rPr>
              <a:t>Why tokenizers matter for LLMs</a:t>
            </a:r>
            <a:endParaRPr lang="en-US" sz="3600" dirty="0"/>
          </a:p>
        </p:txBody>
      </p:sp>
      <p:sp>
        <p:nvSpPr>
          <p:cNvPr id="4" name="Text 2"/>
          <p:cNvSpPr txBox="1"/>
          <p:nvPr/>
        </p:nvSpPr>
        <p:spPr>
          <a:xfrm>
            <a:off x="640080" y="1097280"/>
            <a:ext cx="10881360" cy="320040"/>
          </a:xfrm>
          <a:prstGeom prst="rect">
            <a:avLst/>
          </a:prstGeom>
          <a:noFill/>
          <a:ln/>
        </p:spPr>
        <p:txBody>
          <a:bodyPr wrap="square" lIns="0" tIns="0" rIns="0" bIns="0" rtlCol="0" anchor="t"/>
          <a:lstStyle/>
          <a:p>
            <a:pPr indent="0" marL="0">
              <a:buNone/>
            </a:pPr>
            <a:r>
              <a:rPr lang="en-US" sz="1600" dirty="0">
                <a:solidFill>
                  <a:srgbClr val="66768A"/>
                </a:solidFill>
                <a:latin typeface="Inter" pitchFamily="34" charset="0"/>
                <a:ea typeface="Inter" pitchFamily="34" charset="-122"/>
                <a:cs typeface="Inter" pitchFamily="34" charset="-120"/>
              </a:rPr>
              <a:t>LLM = large language model. The tokenizer is one part: it works at the start and the end.</a:t>
            </a:r>
            <a:endParaRPr lang="en-US" sz="1600" dirty="0"/>
          </a:p>
        </p:txBody>
      </p:sp>
      <p:sp>
        <p:nvSpPr>
          <p:cNvPr id="5" name="Text 3"/>
          <p:cNvSpPr txBox="1"/>
          <p:nvPr/>
        </p:nvSpPr>
        <p:spPr>
          <a:xfrm>
            <a:off x="609448" y="2834640"/>
            <a:ext cx="1188720" cy="960120"/>
          </a:xfrm>
          <a:prstGeom prst="roundRect">
            <a:avLst>
              <a:gd name="adj" fmla="val 14286"/>
            </a:avLst>
          </a:prstGeom>
          <a:solidFill>
            <a:srgbClr val="E4ECE7"/>
          </a:solidFill>
          <a:ln w="15875">
            <a:solidFill>
              <a:srgbClr val="8FA99B"/>
            </a:solidFill>
          </a:ln>
        </p:spPr>
        <p:txBody>
          <a:bodyPr wrap="square" lIns="1016" tIns="1016" rIns="1016" bIns="1016" rtlCol="0" anchor="ctr"/>
          <a:lstStyle/>
          <a:p>
            <a:pPr algn="ctr" indent="0" marL="0">
              <a:buNone/>
            </a:pPr>
            <a:r>
              <a:rPr lang="en-US" sz="1600" b="1" dirty="0">
                <a:solidFill>
                  <a:srgbClr val="435466"/>
                </a:solidFill>
                <a:latin typeface="Inter" pitchFamily="34" charset="0"/>
                <a:ea typeface="Inter" pitchFamily="34" charset="-122"/>
                <a:cs typeface="Inter" pitchFamily="34" charset="-120"/>
              </a:rPr>
              <a:t>Text</a:t>
            </a:r>
            <a:endParaRPr lang="en-US" sz="1600" dirty="0"/>
          </a:p>
        </p:txBody>
      </p:sp>
      <p:sp>
        <p:nvSpPr>
          <p:cNvPr id="6" name="Shape 4"/>
          <p:cNvSpPr/>
          <p:nvPr/>
        </p:nvSpPr>
        <p:spPr>
          <a:xfrm>
            <a:off x="1853032" y="3314700"/>
            <a:ext cx="301752" cy="0"/>
          </a:xfrm>
          <a:prstGeom prst="line">
            <a:avLst/>
          </a:prstGeom>
          <a:noFill/>
          <a:ln w="31750">
            <a:solidFill>
              <a:srgbClr val="A9C0D8"/>
            </a:solidFill>
            <a:prstDash val="solid"/>
            <a:tailEnd type="triangle"/>
          </a:ln>
        </p:spPr>
      </p:sp>
      <p:sp>
        <p:nvSpPr>
          <p:cNvPr id="7" name="Text 5"/>
          <p:cNvSpPr txBox="1"/>
          <p:nvPr/>
        </p:nvSpPr>
        <p:spPr>
          <a:xfrm>
            <a:off x="2209648" y="2834640"/>
            <a:ext cx="1463040" cy="960120"/>
          </a:xfrm>
          <a:prstGeom prst="roundRect">
            <a:avLst>
              <a:gd name="adj" fmla="val 14286"/>
            </a:avLst>
          </a:prstGeom>
          <a:solidFill>
            <a:srgbClr val="A9C0D8"/>
          </a:solidFill>
          <a:ln w="15875">
            <a:solidFill>
              <a:srgbClr val="A9C0D8"/>
            </a:solidFill>
          </a:ln>
        </p:spPr>
        <p:txBody>
          <a:bodyPr wrap="square" lIns="1016" tIns="1016" rIns="1016" bIns="1016" rtlCol="0" anchor="ctr"/>
          <a:lstStyle/>
          <a:p>
            <a:pPr algn="ctr" indent="0" marL="0">
              <a:buNone/>
            </a:pPr>
            <a:r>
              <a:rPr lang="en-US" sz="1600" b="1" dirty="0">
                <a:solidFill>
                  <a:srgbClr val="435466"/>
                </a:solidFill>
                <a:latin typeface="Inter" pitchFamily="34" charset="0"/>
                <a:ea typeface="Inter" pitchFamily="34" charset="-122"/>
                <a:cs typeface="Inter" pitchFamily="34" charset="-120"/>
              </a:rPr>
              <a:t>Tokenizer</a:t>
            </a:r>
            <a:endParaRPr lang="en-US" sz="1600" dirty="0"/>
          </a:p>
          <a:p>
            <a:pPr algn="ctr" indent="0" marL="0">
              <a:buNone/>
            </a:pPr>
            <a:r>
              <a:rPr lang="en-US" sz="1600" b="1" dirty="0">
                <a:solidFill>
                  <a:srgbClr val="435466"/>
                </a:solidFill>
                <a:latin typeface="Inter" pitchFamily="34" charset="0"/>
                <a:ea typeface="Inter" pitchFamily="34" charset="-122"/>
                <a:cs typeface="Inter" pitchFamily="34" charset="-120"/>
              </a:rPr>
              <a:t>encode</a:t>
            </a:r>
            <a:endParaRPr lang="en-US" sz="1600" dirty="0"/>
          </a:p>
        </p:txBody>
      </p:sp>
      <p:sp>
        <p:nvSpPr>
          <p:cNvPr id="8" name="Shape 6"/>
          <p:cNvSpPr/>
          <p:nvPr/>
        </p:nvSpPr>
        <p:spPr>
          <a:xfrm>
            <a:off x="3727552" y="3314700"/>
            <a:ext cx="804672" cy="0"/>
          </a:xfrm>
          <a:prstGeom prst="line">
            <a:avLst/>
          </a:prstGeom>
          <a:noFill/>
          <a:ln w="31750">
            <a:solidFill>
              <a:srgbClr val="A9C0D8"/>
            </a:solidFill>
            <a:prstDash val="solid"/>
            <a:tailEnd type="triangle"/>
          </a:ln>
        </p:spPr>
      </p:sp>
      <p:sp>
        <p:nvSpPr>
          <p:cNvPr id="9" name="Text 7"/>
          <p:cNvSpPr txBox="1"/>
          <p:nvPr/>
        </p:nvSpPr>
        <p:spPr>
          <a:xfrm>
            <a:off x="3672688" y="2747772"/>
            <a:ext cx="914400" cy="475488"/>
          </a:xfrm>
          <a:prstGeom prst="rect">
            <a:avLst/>
          </a:prstGeom>
          <a:noFill/>
          <a:ln/>
        </p:spPr>
        <p:txBody>
          <a:bodyPr wrap="square" lIns="0" tIns="0" rIns="0" bIns="0" rtlCol="0" anchor="b"/>
          <a:lstStyle/>
          <a:p>
            <a:pPr algn="ctr" indent="0" marL="0">
              <a:buNone/>
            </a:pPr>
            <a:r>
              <a:rPr lang="en-US" sz="1200" dirty="0">
                <a:solidFill>
                  <a:srgbClr val="66768A"/>
                </a:solidFill>
                <a:latin typeface="Inter" pitchFamily="34" charset="0"/>
                <a:ea typeface="Inter" pitchFamily="34" charset="-122"/>
                <a:cs typeface="Inter" pitchFamily="34" charset="-120"/>
              </a:rPr>
              <a:t>token IDs</a:t>
            </a:r>
            <a:endParaRPr lang="en-US" sz="1200" dirty="0"/>
          </a:p>
        </p:txBody>
      </p:sp>
      <p:sp>
        <p:nvSpPr>
          <p:cNvPr id="10" name="Shape 8"/>
          <p:cNvSpPr/>
          <p:nvPr/>
        </p:nvSpPr>
        <p:spPr>
          <a:xfrm>
            <a:off x="4587088" y="1600200"/>
            <a:ext cx="3017520" cy="3429000"/>
          </a:xfrm>
          <a:prstGeom prst="roundRect">
            <a:avLst>
              <a:gd name="adj" fmla="val 4545"/>
            </a:avLst>
          </a:prstGeom>
          <a:solidFill>
            <a:srgbClr val="FFFFFF"/>
          </a:solidFill>
          <a:ln w="15875">
            <a:solidFill>
              <a:srgbClr val="435466"/>
            </a:solidFill>
            <a:prstDash val="solid"/>
          </a:ln>
          <a:effectLst>
            <a:outerShdw sx="100000" sy="100000" kx="0" ky="0" algn="bl" rotWithShape="0" blurRad="101600" dist="25400" dir="5400000">
              <a:srgbClr val="435466">
                <a:alpha val="8000"/>
              </a:srgbClr>
            </a:outerShdw>
          </a:effectLst>
        </p:spPr>
      </p:sp>
      <p:sp>
        <p:nvSpPr>
          <p:cNvPr id="11" name="Text 9"/>
          <p:cNvSpPr txBox="1"/>
          <p:nvPr/>
        </p:nvSpPr>
        <p:spPr>
          <a:xfrm>
            <a:off x="4769968" y="1737360"/>
            <a:ext cx="2651760" cy="365760"/>
          </a:xfrm>
          <a:prstGeom prst="rect">
            <a:avLst/>
          </a:prstGeom>
          <a:noFill/>
          <a:ln/>
        </p:spPr>
        <p:txBody>
          <a:bodyPr wrap="square" lIns="0" tIns="0" rIns="0" bIns="0" rtlCol="0" anchor="ctr"/>
          <a:lstStyle/>
          <a:p>
            <a:pPr algn="ctr" indent="0" marL="0">
              <a:buNone/>
            </a:pPr>
            <a:r>
              <a:rPr lang="en-US" sz="1500" b="1" dirty="0">
                <a:solidFill>
                  <a:srgbClr val="435466"/>
                </a:solidFill>
                <a:latin typeface="Inter" pitchFamily="34" charset="0"/>
                <a:ea typeface="Inter" pitchFamily="34" charset="-122"/>
                <a:cs typeface="Inter" pitchFamily="34" charset="-120"/>
              </a:rPr>
              <a:t>Language model </a:t>
            </a:r>
            <a:pPr algn="ctr" indent="0" marL="0">
              <a:buNone/>
            </a:pPr>
            <a:r>
              <a:rPr lang="en-US" sz="1200" dirty="0">
                <a:solidFill>
                  <a:srgbClr val="66768A"/>
                </a:solidFill>
                <a:latin typeface="Inter" pitchFamily="34" charset="0"/>
                <a:ea typeface="Inter" pitchFamily="34" charset="-122"/>
                <a:cs typeface="Inter" pitchFamily="34" charset="-120"/>
              </a:rPr>
              <a:t>e.g. GPT</a:t>
            </a:r>
            <a:endParaRPr lang="en-US" sz="1500" dirty="0"/>
          </a:p>
        </p:txBody>
      </p:sp>
      <p:sp>
        <p:nvSpPr>
          <p:cNvPr id="12" name="Text 10"/>
          <p:cNvSpPr txBox="1"/>
          <p:nvPr/>
        </p:nvSpPr>
        <p:spPr>
          <a:xfrm>
            <a:off x="4815688" y="2240280"/>
            <a:ext cx="2560320" cy="548640"/>
          </a:xfrm>
          <a:prstGeom prst="roundRect">
            <a:avLst>
              <a:gd name="adj" fmla="val 16667"/>
            </a:avLst>
          </a:prstGeom>
          <a:solidFill>
            <a:srgbClr val="FAF7F2"/>
          </a:solidFill>
          <a:ln w="12700">
            <a:solidFill>
              <a:srgbClr val="D9E1E8"/>
            </a:solidFill>
          </a:ln>
        </p:spPr>
        <p:txBody>
          <a:bodyPr wrap="square" lIns="508" tIns="508" rIns="508" bIns="508" rtlCol="0" anchor="ctr"/>
          <a:lstStyle/>
          <a:p>
            <a:pPr algn="ctr" indent="0" marL="0">
              <a:buNone/>
            </a:pPr>
            <a:r>
              <a:rPr lang="en-US" sz="1400" b="1" dirty="0">
                <a:solidFill>
                  <a:srgbClr val="435466"/>
                </a:solidFill>
                <a:latin typeface="Inter" pitchFamily="34" charset="0"/>
                <a:ea typeface="Inter" pitchFamily="34" charset="-122"/>
                <a:cs typeface="Inter" pitchFamily="34" charset="-120"/>
              </a:rPr>
              <a:t>Embeddings</a:t>
            </a:r>
            <a:endParaRPr lang="en-US" sz="1400" dirty="0"/>
          </a:p>
          <a:p>
            <a:pPr algn="ctr" indent="0" marL="0">
              <a:buNone/>
            </a:pPr>
            <a:r>
              <a:rPr lang="en-US" sz="1200" dirty="0">
                <a:solidFill>
                  <a:srgbClr val="66768A"/>
                </a:solidFill>
                <a:latin typeface="Inter" pitchFamily="34" charset="0"/>
                <a:ea typeface="Inter" pitchFamily="34" charset="-122"/>
                <a:cs typeface="Inter" pitchFamily="34" charset="-120"/>
              </a:rPr>
              <a:t>give each ID meaning</a:t>
            </a:r>
            <a:endParaRPr lang="en-US" sz="1400" dirty="0"/>
          </a:p>
        </p:txBody>
      </p:sp>
      <p:sp>
        <p:nvSpPr>
          <p:cNvPr id="13" name="Shape 11"/>
          <p:cNvSpPr/>
          <p:nvPr/>
        </p:nvSpPr>
        <p:spPr>
          <a:xfrm>
            <a:off x="6095848" y="2788920"/>
            <a:ext cx="0" cy="137160"/>
          </a:xfrm>
          <a:prstGeom prst="line">
            <a:avLst/>
          </a:prstGeom>
          <a:noFill/>
          <a:ln w="31750">
            <a:solidFill>
              <a:srgbClr val="A9C0D8"/>
            </a:solidFill>
            <a:prstDash val="solid"/>
            <a:tailEnd type="triangle"/>
          </a:ln>
        </p:spPr>
      </p:sp>
      <p:sp>
        <p:nvSpPr>
          <p:cNvPr id="14" name="Text 12"/>
          <p:cNvSpPr txBox="1"/>
          <p:nvPr/>
        </p:nvSpPr>
        <p:spPr>
          <a:xfrm>
            <a:off x="4815688" y="2926080"/>
            <a:ext cx="2560320" cy="548640"/>
          </a:xfrm>
          <a:prstGeom prst="roundRect">
            <a:avLst>
              <a:gd name="adj" fmla="val 16667"/>
            </a:avLst>
          </a:prstGeom>
          <a:solidFill>
            <a:srgbClr val="FAF7F2"/>
          </a:solidFill>
          <a:ln w="12700">
            <a:solidFill>
              <a:srgbClr val="D9E1E8"/>
            </a:solidFill>
          </a:ln>
        </p:spPr>
        <p:txBody>
          <a:bodyPr wrap="square" lIns="508" tIns="508" rIns="508" bIns="508" rtlCol="0" anchor="ctr"/>
          <a:lstStyle/>
          <a:p>
            <a:pPr algn="ctr" indent="0" marL="0">
              <a:buNone/>
            </a:pPr>
            <a:r>
              <a:rPr lang="en-US" sz="1400" b="1" dirty="0">
                <a:solidFill>
                  <a:srgbClr val="435466"/>
                </a:solidFill>
                <a:latin typeface="Inter" pitchFamily="34" charset="0"/>
                <a:ea typeface="Inter" pitchFamily="34" charset="-122"/>
                <a:cs typeface="Inter" pitchFamily="34" charset="-120"/>
              </a:rPr>
              <a:t>Transformer blocks</a:t>
            </a:r>
            <a:endParaRPr lang="en-US" sz="1400" dirty="0"/>
          </a:p>
          <a:p>
            <a:pPr algn="ctr" indent="0" marL="0">
              <a:buNone/>
            </a:pPr>
            <a:r>
              <a:rPr lang="en-US" sz="1200" dirty="0">
                <a:solidFill>
                  <a:srgbClr val="66768A"/>
                </a:solidFill>
                <a:latin typeface="Inter" pitchFamily="34" charset="0"/>
                <a:ea typeface="Inter" pitchFamily="34" charset="-122"/>
                <a:cs typeface="Inter" pitchFamily="34" charset="-120"/>
              </a:rPr>
              <a:t>read the context</a:t>
            </a:r>
            <a:endParaRPr lang="en-US" sz="1400" dirty="0"/>
          </a:p>
        </p:txBody>
      </p:sp>
      <p:sp>
        <p:nvSpPr>
          <p:cNvPr id="15" name="Shape 13"/>
          <p:cNvSpPr/>
          <p:nvPr/>
        </p:nvSpPr>
        <p:spPr>
          <a:xfrm>
            <a:off x="6095848" y="3474720"/>
            <a:ext cx="0" cy="137160"/>
          </a:xfrm>
          <a:prstGeom prst="line">
            <a:avLst/>
          </a:prstGeom>
          <a:noFill/>
          <a:ln w="31750">
            <a:solidFill>
              <a:srgbClr val="A9C0D8"/>
            </a:solidFill>
            <a:prstDash val="solid"/>
            <a:tailEnd type="triangle"/>
          </a:ln>
        </p:spPr>
      </p:sp>
      <p:sp>
        <p:nvSpPr>
          <p:cNvPr id="16" name="Text 14"/>
          <p:cNvSpPr txBox="1"/>
          <p:nvPr/>
        </p:nvSpPr>
        <p:spPr>
          <a:xfrm>
            <a:off x="4815688" y="3611880"/>
            <a:ext cx="2560320" cy="548640"/>
          </a:xfrm>
          <a:prstGeom prst="roundRect">
            <a:avLst>
              <a:gd name="adj" fmla="val 16667"/>
            </a:avLst>
          </a:prstGeom>
          <a:solidFill>
            <a:srgbClr val="FAF7F2"/>
          </a:solidFill>
          <a:ln w="12700">
            <a:solidFill>
              <a:srgbClr val="D9E1E8"/>
            </a:solidFill>
          </a:ln>
        </p:spPr>
        <p:txBody>
          <a:bodyPr wrap="square" lIns="508" tIns="508" rIns="508" bIns="508" rtlCol="0" anchor="ctr"/>
          <a:lstStyle/>
          <a:p>
            <a:pPr algn="ctr" indent="0" marL="0">
              <a:buNone/>
            </a:pPr>
            <a:r>
              <a:rPr lang="en-US" sz="1400" b="1" dirty="0">
                <a:solidFill>
                  <a:srgbClr val="435466"/>
                </a:solidFill>
                <a:latin typeface="Inter" pitchFamily="34" charset="0"/>
                <a:ea typeface="Inter" pitchFamily="34" charset="-122"/>
                <a:cs typeface="Inter" pitchFamily="34" charset="-120"/>
              </a:rPr>
              <a:t>Output layer</a:t>
            </a:r>
            <a:endParaRPr lang="en-US" sz="1400" dirty="0"/>
          </a:p>
          <a:p>
            <a:pPr algn="ctr" indent="0" marL="0">
              <a:buNone/>
            </a:pPr>
            <a:r>
              <a:rPr lang="en-US" sz="1200" dirty="0">
                <a:solidFill>
                  <a:srgbClr val="66768A"/>
                </a:solidFill>
                <a:latin typeface="Inter" pitchFamily="34" charset="0"/>
                <a:ea typeface="Inter" pitchFamily="34" charset="-122"/>
                <a:cs typeface="Inter" pitchFamily="34" charset="-120"/>
              </a:rPr>
              <a:t>score every possible token</a:t>
            </a:r>
            <a:endParaRPr lang="en-US" sz="1400" dirty="0"/>
          </a:p>
        </p:txBody>
      </p:sp>
      <p:sp>
        <p:nvSpPr>
          <p:cNvPr id="17" name="Shape 15"/>
          <p:cNvSpPr/>
          <p:nvPr/>
        </p:nvSpPr>
        <p:spPr>
          <a:xfrm>
            <a:off x="6095848" y="4160520"/>
            <a:ext cx="0" cy="137160"/>
          </a:xfrm>
          <a:prstGeom prst="line">
            <a:avLst/>
          </a:prstGeom>
          <a:noFill/>
          <a:ln w="31750">
            <a:solidFill>
              <a:srgbClr val="A9C0D8"/>
            </a:solidFill>
            <a:prstDash val="solid"/>
            <a:tailEnd type="triangle"/>
          </a:ln>
        </p:spPr>
      </p:sp>
      <p:sp>
        <p:nvSpPr>
          <p:cNvPr id="18" name="Text 16"/>
          <p:cNvSpPr txBox="1"/>
          <p:nvPr/>
        </p:nvSpPr>
        <p:spPr>
          <a:xfrm>
            <a:off x="4815688" y="4297680"/>
            <a:ext cx="2560320" cy="548640"/>
          </a:xfrm>
          <a:prstGeom prst="roundRect">
            <a:avLst>
              <a:gd name="adj" fmla="val 16667"/>
            </a:avLst>
          </a:prstGeom>
          <a:solidFill>
            <a:srgbClr val="FAF7F2"/>
          </a:solidFill>
          <a:ln w="12700">
            <a:solidFill>
              <a:srgbClr val="D9E1E8"/>
            </a:solidFill>
          </a:ln>
        </p:spPr>
        <p:txBody>
          <a:bodyPr wrap="square" lIns="508" tIns="508" rIns="508" bIns="508" rtlCol="0" anchor="ctr"/>
          <a:lstStyle/>
          <a:p>
            <a:pPr algn="ctr" indent="0" marL="0">
              <a:buNone/>
            </a:pPr>
            <a:r>
              <a:rPr lang="en-US" sz="1400" b="1" dirty="0">
                <a:solidFill>
                  <a:srgbClr val="435466"/>
                </a:solidFill>
                <a:latin typeface="Inter" pitchFamily="34" charset="0"/>
                <a:ea typeface="Inter" pitchFamily="34" charset="-122"/>
                <a:cs typeface="Inter" pitchFamily="34" charset="-120"/>
              </a:rPr>
              <a:t>Sampling</a:t>
            </a:r>
            <a:endParaRPr lang="en-US" sz="1400" dirty="0"/>
          </a:p>
          <a:p>
            <a:pPr algn="ctr" indent="0" marL="0">
              <a:buNone/>
            </a:pPr>
            <a:r>
              <a:rPr lang="en-US" sz="1200" dirty="0">
                <a:solidFill>
                  <a:srgbClr val="66768A"/>
                </a:solidFill>
                <a:latin typeface="Inter" pitchFamily="34" charset="0"/>
                <a:ea typeface="Inter" pitchFamily="34" charset="-122"/>
                <a:cs typeface="Inter" pitchFamily="34" charset="-120"/>
              </a:rPr>
              <a:t>pick the next token</a:t>
            </a:r>
            <a:endParaRPr lang="en-US" sz="1400" dirty="0"/>
          </a:p>
        </p:txBody>
      </p:sp>
      <p:sp>
        <p:nvSpPr>
          <p:cNvPr id="19" name="Shape 17"/>
          <p:cNvSpPr/>
          <p:nvPr/>
        </p:nvSpPr>
        <p:spPr>
          <a:xfrm>
            <a:off x="7659472" y="3314700"/>
            <a:ext cx="804672" cy="0"/>
          </a:xfrm>
          <a:prstGeom prst="line">
            <a:avLst/>
          </a:prstGeom>
          <a:noFill/>
          <a:ln w="31750">
            <a:solidFill>
              <a:srgbClr val="A9C0D8"/>
            </a:solidFill>
            <a:prstDash val="solid"/>
            <a:tailEnd type="triangle"/>
          </a:ln>
        </p:spPr>
      </p:sp>
      <p:sp>
        <p:nvSpPr>
          <p:cNvPr id="20" name="Text 18"/>
          <p:cNvSpPr txBox="1"/>
          <p:nvPr/>
        </p:nvSpPr>
        <p:spPr>
          <a:xfrm>
            <a:off x="7604608" y="2747772"/>
            <a:ext cx="914400" cy="475488"/>
          </a:xfrm>
          <a:prstGeom prst="rect">
            <a:avLst/>
          </a:prstGeom>
          <a:noFill/>
          <a:ln/>
        </p:spPr>
        <p:txBody>
          <a:bodyPr wrap="square" lIns="0" tIns="0" rIns="0" bIns="0" rtlCol="0" anchor="b"/>
          <a:lstStyle/>
          <a:p>
            <a:pPr algn="ctr" indent="0" marL="0">
              <a:buNone/>
            </a:pPr>
            <a:r>
              <a:rPr lang="en-US" sz="1200" dirty="0">
                <a:solidFill>
                  <a:srgbClr val="66768A"/>
                </a:solidFill>
                <a:latin typeface="Inter" pitchFamily="34" charset="0"/>
                <a:ea typeface="Inter" pitchFamily="34" charset="-122"/>
                <a:cs typeface="Inter" pitchFamily="34" charset="-120"/>
              </a:rPr>
              <a:t>next-token ID</a:t>
            </a:r>
            <a:endParaRPr lang="en-US" sz="1200" dirty="0"/>
          </a:p>
        </p:txBody>
      </p:sp>
      <p:sp>
        <p:nvSpPr>
          <p:cNvPr id="21" name="Text 19"/>
          <p:cNvSpPr txBox="1"/>
          <p:nvPr/>
        </p:nvSpPr>
        <p:spPr>
          <a:xfrm>
            <a:off x="8519008" y="2834640"/>
            <a:ext cx="1463040" cy="960120"/>
          </a:xfrm>
          <a:prstGeom prst="roundRect">
            <a:avLst>
              <a:gd name="adj" fmla="val 14286"/>
            </a:avLst>
          </a:prstGeom>
          <a:solidFill>
            <a:srgbClr val="A9C0D8"/>
          </a:solidFill>
          <a:ln w="15875">
            <a:solidFill>
              <a:srgbClr val="A9C0D8"/>
            </a:solidFill>
          </a:ln>
        </p:spPr>
        <p:txBody>
          <a:bodyPr wrap="square" lIns="1016" tIns="1016" rIns="1016" bIns="1016" rtlCol="0" anchor="ctr"/>
          <a:lstStyle/>
          <a:p>
            <a:pPr algn="ctr" indent="0" marL="0">
              <a:buNone/>
            </a:pPr>
            <a:r>
              <a:rPr lang="en-US" sz="1600" b="1" dirty="0">
                <a:solidFill>
                  <a:srgbClr val="435466"/>
                </a:solidFill>
                <a:latin typeface="Inter" pitchFamily="34" charset="0"/>
                <a:ea typeface="Inter" pitchFamily="34" charset="-122"/>
                <a:cs typeface="Inter" pitchFamily="34" charset="-120"/>
              </a:rPr>
              <a:t>Tokenizer</a:t>
            </a:r>
            <a:endParaRPr lang="en-US" sz="1600" dirty="0"/>
          </a:p>
          <a:p>
            <a:pPr algn="ctr" indent="0" marL="0">
              <a:buNone/>
            </a:pPr>
            <a:r>
              <a:rPr lang="en-US" sz="1600" b="1" dirty="0">
                <a:solidFill>
                  <a:srgbClr val="435466"/>
                </a:solidFill>
                <a:latin typeface="Inter" pitchFamily="34" charset="0"/>
                <a:ea typeface="Inter" pitchFamily="34" charset="-122"/>
                <a:cs typeface="Inter" pitchFamily="34" charset="-120"/>
              </a:rPr>
              <a:t>decode</a:t>
            </a:r>
            <a:endParaRPr lang="en-US" sz="1600" dirty="0"/>
          </a:p>
        </p:txBody>
      </p:sp>
      <p:sp>
        <p:nvSpPr>
          <p:cNvPr id="22" name="Shape 20"/>
          <p:cNvSpPr/>
          <p:nvPr/>
        </p:nvSpPr>
        <p:spPr>
          <a:xfrm>
            <a:off x="10036912" y="3314700"/>
            <a:ext cx="301752" cy="0"/>
          </a:xfrm>
          <a:prstGeom prst="line">
            <a:avLst/>
          </a:prstGeom>
          <a:noFill/>
          <a:ln w="31750">
            <a:solidFill>
              <a:srgbClr val="A9C0D8"/>
            </a:solidFill>
            <a:prstDash val="solid"/>
            <a:tailEnd type="triangle"/>
          </a:ln>
        </p:spPr>
      </p:sp>
      <p:sp>
        <p:nvSpPr>
          <p:cNvPr id="23" name="Text 21"/>
          <p:cNvSpPr txBox="1"/>
          <p:nvPr/>
        </p:nvSpPr>
        <p:spPr>
          <a:xfrm>
            <a:off x="10393528" y="2834640"/>
            <a:ext cx="1188720" cy="960120"/>
          </a:xfrm>
          <a:prstGeom prst="roundRect">
            <a:avLst>
              <a:gd name="adj" fmla="val 14286"/>
            </a:avLst>
          </a:prstGeom>
          <a:solidFill>
            <a:srgbClr val="E4ECE7"/>
          </a:solidFill>
          <a:ln w="15875">
            <a:solidFill>
              <a:srgbClr val="8FA99B"/>
            </a:solidFill>
          </a:ln>
        </p:spPr>
        <p:txBody>
          <a:bodyPr wrap="square" lIns="1016" tIns="1016" rIns="1016" bIns="1016" rtlCol="0" anchor="ctr"/>
          <a:lstStyle/>
          <a:p>
            <a:pPr algn="ctr" indent="0" marL="0">
              <a:buNone/>
            </a:pPr>
            <a:r>
              <a:rPr lang="en-US" sz="1600" b="1" dirty="0">
                <a:solidFill>
                  <a:srgbClr val="435466"/>
                </a:solidFill>
                <a:latin typeface="Inter" pitchFamily="34" charset="0"/>
                <a:ea typeface="Inter" pitchFamily="34" charset="-122"/>
                <a:cs typeface="Inter" pitchFamily="34" charset="-120"/>
              </a:rPr>
              <a:t>Text</a:t>
            </a:r>
            <a:endParaRPr lang="en-US" sz="1600" dirty="0"/>
          </a:p>
        </p:txBody>
      </p:sp>
      <p:sp>
        <p:nvSpPr>
          <p:cNvPr id="24" name="Text 22"/>
          <p:cNvSpPr txBox="1"/>
          <p:nvPr/>
        </p:nvSpPr>
        <p:spPr>
          <a:xfrm>
            <a:off x="9936328" y="3931920"/>
            <a:ext cx="1645920" cy="320040"/>
          </a:xfrm>
          <a:prstGeom prst="rect">
            <a:avLst/>
          </a:prstGeom>
          <a:noFill/>
          <a:ln/>
        </p:spPr>
        <p:txBody>
          <a:bodyPr wrap="square" lIns="0" tIns="0" rIns="0" bIns="0" rtlCol="0" anchor="t"/>
          <a:lstStyle/>
          <a:p>
            <a:pPr algn="r" indent="0" marL="0">
              <a:buNone/>
            </a:pPr>
            <a:r>
              <a:rPr lang="en-US" sz="1300" i="1" dirty="0">
                <a:solidFill>
                  <a:srgbClr val="66768A"/>
                </a:solidFill>
                <a:latin typeface="Inter" pitchFamily="34" charset="0"/>
                <a:ea typeface="Inter" pitchFamily="34" charset="-122"/>
                <a:cs typeface="Inter" pitchFamily="34" charset="-120"/>
              </a:rPr>
              <a:t>Repeats for each new token.</a:t>
            </a:r>
            <a:endParaRPr lang="en-US" sz="1300" dirty="0"/>
          </a:p>
        </p:txBody>
      </p:sp>
      <p:sp>
        <p:nvSpPr>
          <p:cNvPr id="25" name="Shape 23"/>
          <p:cNvSpPr/>
          <p:nvPr/>
        </p:nvSpPr>
        <p:spPr>
          <a:xfrm>
            <a:off x="640080" y="5303520"/>
            <a:ext cx="10908792" cy="868680"/>
          </a:xfrm>
          <a:prstGeom prst="roundRect">
            <a:avLst>
              <a:gd name="adj" fmla="val 15789"/>
            </a:avLst>
          </a:prstGeom>
          <a:solidFill>
            <a:srgbClr val="E4ECE7"/>
          </a:solidFill>
          <a:ln w="15875">
            <a:solidFill>
              <a:srgbClr val="8FA99B"/>
            </a:solidFill>
            <a:prstDash val="solid"/>
          </a:ln>
          <a:effectLst>
            <a:outerShdw sx="100000" sy="100000" kx="0" ky="0" algn="bl" rotWithShape="0" blurRad="101600" dist="25400" dir="5400000">
              <a:srgbClr val="435466">
                <a:alpha val="8000"/>
              </a:srgbClr>
            </a:outerShdw>
          </a:effectLst>
        </p:spPr>
      </p:sp>
      <p:sp>
        <p:nvSpPr>
          <p:cNvPr id="26" name="Shape 24"/>
          <p:cNvSpPr/>
          <p:nvPr/>
        </p:nvSpPr>
        <p:spPr>
          <a:xfrm>
            <a:off x="914400" y="5463540"/>
            <a:ext cx="548640" cy="548640"/>
          </a:xfrm>
          <a:prstGeom prst="ellipse">
            <a:avLst/>
          </a:prstGeom>
          <a:solidFill>
            <a:srgbClr val="FFFFFF"/>
          </a:solidFill>
          <a:ln w="15875">
            <a:solidFill>
              <a:srgbClr val="8FA99B"/>
            </a:solidFill>
            <a:prstDash val="solid"/>
          </a:ln>
        </p:spPr>
      </p:sp>
      <p:pic>
        <p:nvPicPr>
          <p:cNvPr id="27" name="Image 0" descr="preencoded.png">    </p:cNvPr>
          <p:cNvPicPr>
            <a:picLocks noChangeAspect="1"/>
          </p:cNvPicPr>
          <p:nvPr/>
        </p:nvPicPr>
        <p:blipFill>
          <a:blip r:embed="rId1"/>
          <a:stretch>
            <a:fillRect/>
          </a:stretch>
        </p:blipFill>
        <p:spPr>
          <a:xfrm>
            <a:off x="1042416" y="5591556"/>
            <a:ext cx="292608" cy="292608"/>
          </a:xfrm>
          <a:prstGeom prst="rect">
            <a:avLst/>
          </a:prstGeom>
        </p:spPr>
      </p:pic>
      <p:sp>
        <p:nvSpPr>
          <p:cNvPr id="28" name="Text 25"/>
          <p:cNvSpPr txBox="1"/>
          <p:nvPr/>
        </p:nvSpPr>
        <p:spPr>
          <a:xfrm>
            <a:off x="1691640" y="5413248"/>
            <a:ext cx="9628632" cy="649224"/>
          </a:xfrm>
          <a:prstGeom prst="rect">
            <a:avLst/>
          </a:prstGeom>
          <a:noFill/>
          <a:ln/>
        </p:spPr>
        <p:txBody>
          <a:bodyPr wrap="square" lIns="0" tIns="0" rIns="0" bIns="0" rtlCol="0" anchor="ctr"/>
          <a:lstStyle/>
          <a:p>
            <a:pPr indent="0" marL="0">
              <a:buNone/>
            </a:pPr>
            <a:r>
              <a:rPr lang="en-US" sz="1200" b="1" spc="200" kern="0" dirty="0">
                <a:solidFill>
                  <a:srgbClr val="435466"/>
                </a:solidFill>
                <a:latin typeface="Inter" pitchFamily="34" charset="0"/>
                <a:ea typeface="Inter" pitchFamily="34" charset="-122"/>
                <a:cs typeface="Inter" pitchFamily="34" charset="-120"/>
              </a:rPr>
              <a:t>TAKEAWAY</a:t>
            </a:r>
            <a:endParaRPr lang="en-US" sz="1800" dirty="0"/>
          </a:p>
          <a:p>
            <a:pPr indent="0" marL="0">
              <a:buNone/>
            </a:pPr>
            <a:r>
              <a:rPr lang="en-US" sz="1900" dirty="0">
                <a:solidFill>
                  <a:srgbClr val="435466"/>
                </a:solidFill>
                <a:latin typeface="Inter" pitchFamily="34" charset="0"/>
                <a:ea typeface="Inter" pitchFamily="34" charset="-122"/>
                <a:cs typeface="Inter" pitchFamily="34" charset="-120"/>
              </a:rPr>
              <a:t>Before an LLM can generate language, it must first turn language into tokens.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Tokenizers: How Language Becomes Numbers</dc:title>
  <dc:subject>PptxGenJS Presentation</dc:subject>
  <dc:creator>PptxGenJS</dc:creator>
  <cp:lastModifiedBy>PptxGenJS</cp:lastModifiedBy>
  <cp:revision>1</cp:revision>
  <dcterms:created xsi:type="dcterms:W3CDTF">2026-09-24T09:04:28Z</dcterms:created>
  <dcterms:modified xsi:type="dcterms:W3CDTF">2026-09-24T09:04:28Z</dcterms:modified>
</cp:coreProperties>
</file>